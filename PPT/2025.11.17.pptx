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6" r:id="rId4"/>
    <p:sldId id="258" r:id="rId5"/>
    <p:sldId id="265" r:id="rId6"/>
    <p:sldId id="259" r:id="rId7"/>
    <p:sldId id="260" r:id="rId8"/>
    <p:sldId id="279" r:id="rId9"/>
    <p:sldId id="267" r:id="rId10"/>
    <p:sldId id="261" r:id="rId11"/>
    <p:sldId id="270" r:id="rId12"/>
    <p:sldId id="262" r:id="rId13"/>
    <p:sldId id="271" r:id="rId14"/>
    <p:sldId id="268" r:id="rId15"/>
    <p:sldId id="272" r:id="rId16"/>
    <p:sldId id="273" r:id="rId17"/>
    <p:sldId id="274" r:id="rId18"/>
    <p:sldId id="275" r:id="rId19"/>
    <p:sldId id="277" r:id="rId20"/>
    <p:sldId id="278" r:id="rId21"/>
    <p:sldId id="276" r:id="rId22"/>
    <p:sldId id="269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67"/>
    <p:restoredTop sz="94630"/>
  </p:normalViewPr>
  <p:slideViewPr>
    <p:cSldViewPr snapToGrid="0">
      <p:cViewPr varScale="1">
        <p:scale>
          <a:sx n="134" d="100"/>
          <a:sy n="134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C3DC0-213D-A146-AD26-8DEB5663FF84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7152A6-A2BF-304F-8477-7DC366E59B4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73976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F23986-5072-B737-5898-E4D5C4414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5D8D15-8AEC-F9F7-09C8-3BBAFF70DD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A7C871-240B-5311-AC89-18EF61707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33E3-F0F7-3D44-BD14-3D47BD28CFE2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0B7483-EB2D-673B-F6A7-28D38781F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05E7B3-BB74-FB76-37B2-D75EFB367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C6D47-5028-5E45-B6BF-3CF089F0806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2954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07F46C-4EF1-34BB-D7E2-4894FB365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42EFFA-78DA-23FA-47D4-9A475A510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D12DCD-F302-D925-6CBF-5204A2A10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33E3-F0F7-3D44-BD14-3D47BD28CFE2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EA313B-A4E8-9194-3F41-C6CBD98BC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C48360-1663-CDDB-F9AD-5516BBE35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C6D47-5028-5E45-B6BF-3CF089F0806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1770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03013D-9F44-E65D-7E1C-9A28B1D33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F1D561-6805-3D46-0852-A8903947E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C79AE3-675B-DFD2-DBF5-821E55B82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33E3-F0F7-3D44-BD14-3D47BD28CFE2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98B131-B657-DBEC-EBD4-7BD1160D6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09F5A5-EE4D-1F1C-4A1A-52C430379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C6D47-5028-5E45-B6BF-3CF089F0806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2508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FAEE93-3C58-10D5-B322-63FE4BD25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ED632A-1E17-8641-C137-319B0AADD2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71280F-ABE5-EC45-88C6-AEA84E222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5D1DB1-5575-44B8-D63C-90801B6D2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33E3-F0F7-3D44-BD14-3D47BD28CFE2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001C50-5B00-B599-291F-1F2133722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CAC9EA-B013-335B-4083-C66C9E127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C6D47-5028-5E45-B6BF-3CF089F0806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5057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D16B8C-47FA-1894-39A5-3168A92DE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4D203F-509C-D4D0-4602-9852298A7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105DE4-09BD-09DE-5C52-C3EE2E371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A14F62-8D57-554C-B6D7-7F62FDEA47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DFF2915-9BB8-928D-039D-4648E39705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1438BD4-AD71-8B19-FB24-DC5E0A58C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33E3-F0F7-3D44-BD14-3D47BD28CFE2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E72ECEB-BC85-908E-6518-F6DB43A7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6EA7895-FAC2-31FD-983A-1CBC67DD2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C6D47-5028-5E45-B6BF-3CF089F0806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2082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320F7F-7132-23A1-B970-9BC0D7930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1727F4-1CDD-9F45-2243-95F759816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33E3-F0F7-3D44-BD14-3D47BD28CFE2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05E6C40-0872-84BD-C857-2613F06D6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3109A7-1BB2-7468-C954-C8D870FBA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C6D47-5028-5E45-B6BF-3CF089F0806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4361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E92E44-8DF0-4D4E-EEC6-83A2B2310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33E3-F0F7-3D44-BD14-3D47BD28CFE2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9611FF-5828-836F-197B-2DC4BFB5B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F2B94A-26AD-DC73-B8EC-751DF161B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C6D47-5028-5E45-B6BF-3CF089F0806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1490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057461-D82A-1968-C0A5-8AE0C2C1B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C41588-1776-0363-8B0F-6CF591206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1A36F9-0A39-97D5-3BE8-23D99347C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D56673-8E90-EC5A-832B-2A587C5CA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33E3-F0F7-3D44-BD14-3D47BD28CFE2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EFB1F6-FB09-D8F8-C535-3DEC5ACA8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0356C3-3832-5DBE-E49E-3B939B8F5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C6D47-5028-5E45-B6BF-3CF089F0806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2232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660CF7-E268-AB0D-2DC1-8162B5032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2569CD-2CF8-FCA0-9221-B4D5608156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D4E654-750A-5CBA-B686-6DA75B68C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49A7F2-0FF0-0EE3-255A-17896E0C5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33E3-F0F7-3D44-BD14-3D47BD28CFE2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946BDA-4F7F-C262-86DB-8D05B4FDC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C8C147-8D99-DCFE-4F59-36E6929F7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C6D47-5028-5E45-B6BF-3CF089F0806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9943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A8E4D1-5CEE-0C1C-0084-95D1098A8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EC72B9-47EA-43E1-439B-FBE93839D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98D0B5-1E13-85A1-CB5C-FF400B94F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33E3-F0F7-3D44-BD14-3D47BD28CFE2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1697FC-3F39-D3BD-95F9-25E5B0778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E20066-A9B7-C9F5-E794-8248DA372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C6D47-5028-5E45-B6BF-3CF089F0806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454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2F13CBA-A099-D42C-F8F9-5F6791964C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4318C9-A4D4-0030-C139-7ADCA8257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20D20A-B44E-4DD2-79E1-A6E414F4B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033E3-F0F7-3D44-BD14-3D47BD28CFE2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BBD18C-EBF9-2C6E-24E1-51C4F0D01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6529FE-7701-161B-9450-069C6E04C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C6D47-5028-5E45-B6BF-3CF089F0806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6554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F85B080-3C38-EDE8-4970-165302DF3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71CB5B-5A84-604F-6301-8A1F18AFA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E8A6FC-A0AF-5122-5CCD-06F1899EC7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6033E3-F0F7-3D44-BD14-3D47BD28CFE2}" type="datetimeFigureOut">
              <a:rPr kumimoji="1" lang="zh-CN" altLang="en-US" smtClean="0"/>
              <a:t>2025/11/16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7C0987-77E1-84A1-1C25-9FA61DD2D3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8005CB-79AD-9FBC-3C3E-C27115A4E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EC6D47-5028-5E45-B6BF-3CF089F0806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0100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形用户界面, 文本, 信件, 电子邮件&#10;&#10;AI 生成的内容可能不正确。">
            <a:extLst>
              <a:ext uri="{FF2B5EF4-FFF2-40B4-BE49-F238E27FC236}">
                <a16:creationId xmlns:a16="http://schemas.microsoft.com/office/drawing/2014/main" id="{85F5D862-EB0A-8865-BBB4-681FB2CC7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5094"/>
            <a:ext cx="12192000" cy="415126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9A1DA3D-D925-8444-957D-E94396AF2F1B}"/>
              </a:ext>
            </a:extLst>
          </p:cNvPr>
          <p:cNvSpPr txBox="1"/>
          <p:nvPr/>
        </p:nvSpPr>
        <p:spPr>
          <a:xfrm>
            <a:off x="347241" y="324091"/>
            <a:ext cx="2777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/>
              <a:t>VLDB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2025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30269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A5DCE6C-22BE-50AC-82E0-63CBE250E63B}"/>
              </a:ext>
            </a:extLst>
          </p:cNvPr>
          <p:cNvSpPr/>
          <p:nvPr/>
        </p:nvSpPr>
        <p:spPr>
          <a:xfrm>
            <a:off x="0" y="0"/>
            <a:ext cx="12192000" cy="12233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1CE2B5-3173-294A-D7A7-506794236035}"/>
              </a:ext>
            </a:extLst>
          </p:cNvPr>
          <p:cNvSpPr txBox="1"/>
          <p:nvPr/>
        </p:nvSpPr>
        <p:spPr>
          <a:xfrm>
            <a:off x="160637" y="226938"/>
            <a:ext cx="55358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 dirty="0">
                <a:solidFill>
                  <a:schemeClr val="bg1"/>
                </a:solidFill>
              </a:rPr>
              <a:t>Design goals</a:t>
            </a:r>
            <a:endParaRPr kumimoji="1"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B863D7B-6B1A-B3EE-6DE1-6ED44306DFD4}"/>
              </a:ext>
            </a:extLst>
          </p:cNvPr>
          <p:cNvSpPr txBox="1"/>
          <p:nvPr/>
        </p:nvSpPr>
        <p:spPr>
          <a:xfrm>
            <a:off x="506627" y="1618735"/>
            <a:ext cx="1130643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/>
              <a:t>1. aim to implement a </a:t>
            </a:r>
            <a:r>
              <a:rPr kumimoji="1" lang="en-US" altLang="zh-CN" sz="2000" b="1" dirty="0"/>
              <a:t>disk-based</a:t>
            </a:r>
            <a:r>
              <a:rPr kumimoji="1" lang="en-US" altLang="zh-CN" sz="2000" dirty="0"/>
              <a:t> vector index that leverages the core storage and query processing capabilities of the underlying GDBMS.</a:t>
            </a:r>
          </a:p>
          <a:p>
            <a:endParaRPr kumimoji="1" lang="en-US" altLang="zh-CN" sz="2000" dirty="0"/>
          </a:p>
          <a:p>
            <a:endParaRPr kumimoji="1" lang="en-US" altLang="zh-CN" sz="2000" dirty="0"/>
          </a:p>
          <a:p>
            <a:endParaRPr kumimoji="1" lang="en-US" altLang="zh-CN" sz="2000" dirty="0"/>
          </a:p>
          <a:p>
            <a:r>
              <a:rPr kumimoji="1" lang="en-US" altLang="zh-CN" sz="2000" dirty="0"/>
              <a:t>2. aim to efficiently evaluate </a:t>
            </a:r>
            <a:r>
              <a:rPr kumimoji="1" lang="en-US" altLang="zh-CN" sz="2000" b="1" dirty="0"/>
              <a:t>predicate-agnostic</a:t>
            </a:r>
            <a:r>
              <a:rPr kumimoji="1" lang="en-US" altLang="zh-CN" sz="2000" dirty="0"/>
              <a:t> </a:t>
            </a:r>
            <a:r>
              <a:rPr kumimoji="1" lang="en-US" altLang="zh-CN" sz="2000" dirty="0" err="1"/>
              <a:t>kNN</a:t>
            </a:r>
            <a:r>
              <a:rPr kumimoji="1" lang="en-US" altLang="zh-CN" sz="2000" dirty="0"/>
              <a:t> queries, i.e., </a:t>
            </a:r>
            <a:r>
              <a:rPr kumimoji="1" lang="en-US" altLang="zh-CN" sz="2000" dirty="0" err="1"/>
              <a:t>kNN</a:t>
            </a:r>
            <a:r>
              <a:rPr kumimoji="1" lang="en-US" altLang="zh-CN" sz="2000" dirty="0"/>
              <a:t> queries over arbitrary subsets S of vectors V</a:t>
            </a:r>
            <a:r>
              <a:rPr kumimoji="1" lang="zh-CN" altLang="en-US" sz="2000" dirty="0"/>
              <a:t>，</a:t>
            </a:r>
            <a:r>
              <a:rPr kumimoji="1" lang="en" altLang="zh-CN" sz="2000" dirty="0"/>
              <a:t>that performs </a:t>
            </a:r>
            <a:r>
              <a:rPr kumimoji="1" lang="en" altLang="zh-CN" sz="2000" b="1" dirty="0"/>
              <a:t>robustly</a:t>
            </a:r>
            <a:r>
              <a:rPr kumimoji="1" lang="en" altLang="zh-CN" sz="2000" dirty="0"/>
              <a:t> under queries that contain both attribute </a:t>
            </a:r>
            <a:r>
              <a:rPr kumimoji="1" lang="en" altLang="zh-CN" sz="2000" b="1" dirty="0"/>
              <a:t>filtering</a:t>
            </a:r>
            <a:r>
              <a:rPr kumimoji="1" lang="en" altLang="zh-CN" sz="2000" dirty="0"/>
              <a:t> and </a:t>
            </a:r>
            <a:r>
              <a:rPr kumimoji="1" lang="en" altLang="zh-CN" sz="2000" b="1" dirty="0"/>
              <a:t>joins</a:t>
            </a:r>
            <a:r>
              <a:rPr kumimoji="1" lang="en" altLang="zh-CN" sz="2000" dirty="0"/>
              <a:t>, and whose selected subsets have different </a:t>
            </a:r>
            <a:r>
              <a:rPr kumimoji="1" lang="en" altLang="zh-CN" sz="2000" b="1" dirty="0" err="1"/>
              <a:t>selectivities</a:t>
            </a:r>
            <a:r>
              <a:rPr kumimoji="1" lang="en" altLang="zh-CN" sz="2000" dirty="0"/>
              <a:t> and </a:t>
            </a:r>
            <a:r>
              <a:rPr kumimoji="1" lang="en" altLang="zh-CN" sz="2000" b="1" dirty="0"/>
              <a:t>correlations</a:t>
            </a:r>
            <a:r>
              <a:rPr kumimoji="1" lang="en" altLang="zh-CN" sz="2000" dirty="0"/>
              <a:t> to the query vector </a:t>
            </a:r>
            <a:r>
              <a:rPr kumimoji="1" lang="en" altLang="zh-CN" sz="2000" dirty="0" err="1"/>
              <a:t>vQ</a:t>
            </a:r>
            <a:r>
              <a:rPr kumimoji="1" lang="en" altLang="zh-CN" sz="2000" dirty="0"/>
              <a:t> .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33397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759AE-9F6F-3BC7-9DFC-B72C8EA0F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1FDED0A-C28B-7553-9AB8-C694F9540CD2}"/>
              </a:ext>
            </a:extLst>
          </p:cNvPr>
          <p:cNvSpPr/>
          <p:nvPr/>
        </p:nvSpPr>
        <p:spPr>
          <a:xfrm>
            <a:off x="0" y="0"/>
            <a:ext cx="12192000" cy="12233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A9E676F-C7D8-3D60-1B8F-94EB0D04C8C2}"/>
              </a:ext>
            </a:extLst>
          </p:cNvPr>
          <p:cNvSpPr txBox="1"/>
          <p:nvPr/>
        </p:nvSpPr>
        <p:spPr>
          <a:xfrm>
            <a:off x="160637" y="226938"/>
            <a:ext cx="91377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4400" b="1" dirty="0" err="1">
                <a:solidFill>
                  <a:schemeClr val="bg1"/>
                </a:solidFill>
              </a:rPr>
              <a:t>Selectivities</a:t>
            </a:r>
            <a:r>
              <a:rPr kumimoji="1" lang="en" altLang="zh-CN" sz="4400" dirty="0">
                <a:solidFill>
                  <a:schemeClr val="bg1"/>
                </a:solidFill>
              </a:rPr>
              <a:t> and </a:t>
            </a:r>
            <a:r>
              <a:rPr kumimoji="1" lang="en" altLang="zh-CN" sz="4400" b="1" dirty="0">
                <a:solidFill>
                  <a:schemeClr val="bg1"/>
                </a:solidFill>
              </a:rPr>
              <a:t>correlations</a:t>
            </a:r>
            <a:endParaRPr kumimoji="1" lang="zh-CN" altLang="en-US" sz="4400" dirty="0">
              <a:solidFill>
                <a:schemeClr val="bg1"/>
              </a:solidFill>
            </a:endParaRPr>
          </a:p>
        </p:txBody>
      </p:sp>
      <p:pic>
        <p:nvPicPr>
          <p:cNvPr id="9" name="图片 8" descr="图片包含 图示&#10;&#10;AI 生成的内容可能不正确。">
            <a:extLst>
              <a:ext uri="{FF2B5EF4-FFF2-40B4-BE49-F238E27FC236}">
                <a16:creationId xmlns:a16="http://schemas.microsoft.com/office/drawing/2014/main" id="{FA61A5EA-7905-CC4A-4514-BF50BB54D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791" y="1925691"/>
            <a:ext cx="5809072" cy="346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447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6D9F7-087F-833C-5BBC-D87903568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F7230C7-EBCA-FBF6-075B-48B075E1A368}"/>
              </a:ext>
            </a:extLst>
          </p:cNvPr>
          <p:cNvSpPr/>
          <p:nvPr/>
        </p:nvSpPr>
        <p:spPr>
          <a:xfrm>
            <a:off x="0" y="0"/>
            <a:ext cx="12192000" cy="12233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2C9856-4127-DAAE-C794-19399A66AAAB}"/>
              </a:ext>
            </a:extLst>
          </p:cNvPr>
          <p:cNvSpPr txBox="1"/>
          <p:nvPr/>
        </p:nvSpPr>
        <p:spPr>
          <a:xfrm>
            <a:off x="160637" y="226938"/>
            <a:ext cx="55358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 dirty="0">
                <a:solidFill>
                  <a:schemeClr val="bg1"/>
                </a:solidFill>
              </a:rPr>
              <a:t>Index</a:t>
            </a:r>
            <a:r>
              <a:rPr kumimoji="1" lang="zh-CN" altLang="en-US" sz="4400" dirty="0">
                <a:solidFill>
                  <a:schemeClr val="bg1"/>
                </a:solidFill>
              </a:rPr>
              <a:t> </a:t>
            </a:r>
            <a:r>
              <a:rPr kumimoji="1" lang="en-US" altLang="zh-CN" sz="4400" dirty="0">
                <a:solidFill>
                  <a:schemeClr val="bg1"/>
                </a:solidFill>
              </a:rPr>
              <a:t>design</a:t>
            </a:r>
            <a:endParaRPr kumimoji="1" lang="zh-CN" altLang="en-US" sz="4400" dirty="0">
              <a:solidFill>
                <a:schemeClr val="bg1"/>
              </a:solidFill>
            </a:endParaRPr>
          </a:p>
        </p:txBody>
      </p:sp>
      <p:pic>
        <p:nvPicPr>
          <p:cNvPr id="7" name="图片 6" descr="图表, 雷达图&#10;&#10;AI 生成的内容可能不正确。">
            <a:extLst>
              <a:ext uri="{FF2B5EF4-FFF2-40B4-BE49-F238E27FC236}">
                <a16:creationId xmlns:a16="http://schemas.microsoft.com/office/drawing/2014/main" id="{5E2C6ED8-987A-807D-EBE4-B88B0336B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38" y="1450257"/>
            <a:ext cx="2514600" cy="2705100"/>
          </a:xfrm>
          <a:prstGeom prst="rect">
            <a:avLst/>
          </a:prstGeom>
        </p:spPr>
      </p:pic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54E233BD-9100-D5DC-B3B1-209252010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838" y="4160045"/>
            <a:ext cx="2159000" cy="444500"/>
          </a:xfrm>
          <a:prstGeom prst="rect">
            <a:avLst/>
          </a:prstGeom>
        </p:spPr>
      </p:pic>
      <p:pic>
        <p:nvPicPr>
          <p:cNvPr id="13" name="图片 12" descr="文本&#10;&#10;AI 生成的内容可能不正确。">
            <a:extLst>
              <a:ext uri="{FF2B5EF4-FFF2-40B4-BE49-F238E27FC236}">
                <a16:creationId xmlns:a16="http://schemas.microsoft.com/office/drawing/2014/main" id="{4E10440F-DA83-BD64-6E06-BB09987EC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762" y="1435723"/>
            <a:ext cx="6045200" cy="505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787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D3129-B135-7512-ED98-6E6C026AB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D5B6445-3705-848B-3DF2-3DE79370628F}"/>
              </a:ext>
            </a:extLst>
          </p:cNvPr>
          <p:cNvSpPr/>
          <p:nvPr/>
        </p:nvSpPr>
        <p:spPr>
          <a:xfrm>
            <a:off x="0" y="0"/>
            <a:ext cx="12192000" cy="12233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5A4E71-4C41-AE52-9CDD-AA81C6C959F4}"/>
              </a:ext>
            </a:extLst>
          </p:cNvPr>
          <p:cNvSpPr txBox="1"/>
          <p:nvPr/>
        </p:nvSpPr>
        <p:spPr>
          <a:xfrm>
            <a:off x="160637" y="226938"/>
            <a:ext cx="55358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 dirty="0">
                <a:solidFill>
                  <a:schemeClr val="bg1"/>
                </a:solidFill>
              </a:rPr>
              <a:t>Index</a:t>
            </a:r>
            <a:r>
              <a:rPr kumimoji="1" lang="zh-CN" altLang="en-US" sz="4400" dirty="0">
                <a:solidFill>
                  <a:schemeClr val="bg1"/>
                </a:solidFill>
              </a:rPr>
              <a:t> </a:t>
            </a:r>
            <a:r>
              <a:rPr kumimoji="1" lang="en-US" altLang="zh-CN" sz="4400" dirty="0">
                <a:solidFill>
                  <a:schemeClr val="bg1"/>
                </a:solidFill>
              </a:rPr>
              <a:t>design</a:t>
            </a:r>
            <a:endParaRPr kumimoji="1" lang="zh-CN" altLang="en-US" sz="4400" dirty="0">
              <a:solidFill>
                <a:schemeClr val="bg1"/>
              </a:solidFill>
            </a:endParaRPr>
          </a:p>
        </p:txBody>
      </p:sp>
      <p:pic>
        <p:nvPicPr>
          <p:cNvPr id="7" name="图片 6" descr="图表, 雷达图&#10;&#10;AI 生成的内容可能不正确。">
            <a:extLst>
              <a:ext uri="{FF2B5EF4-FFF2-40B4-BE49-F238E27FC236}">
                <a16:creationId xmlns:a16="http://schemas.microsoft.com/office/drawing/2014/main" id="{A5686A5F-7BD5-777F-018C-0D539327A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38" y="1450257"/>
            <a:ext cx="2514600" cy="2705100"/>
          </a:xfrm>
          <a:prstGeom prst="rect">
            <a:avLst/>
          </a:prstGeom>
        </p:spPr>
      </p:pic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C567E32E-BFFB-F655-B138-2BC6AE189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838" y="4160045"/>
            <a:ext cx="2159000" cy="444500"/>
          </a:xfrm>
          <a:prstGeom prst="rect">
            <a:avLst/>
          </a:prstGeom>
        </p:spPr>
      </p:pic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CB11F586-762D-31CD-47C5-F8624EF5B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4962" y="1723081"/>
            <a:ext cx="5791200" cy="3708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47D0946-8426-EA27-5B65-FC6B783892D8}"/>
              </a:ext>
            </a:extLst>
          </p:cNvPr>
          <p:cNvSpPr txBox="1"/>
          <p:nvPr/>
        </p:nvSpPr>
        <p:spPr>
          <a:xfrm>
            <a:off x="818634" y="5793428"/>
            <a:ext cx="11043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The efs parameter controls the trade-off between search accuracy and latency.</a:t>
            </a:r>
          </a:p>
        </p:txBody>
      </p:sp>
    </p:spTree>
    <p:extLst>
      <p:ext uri="{BB962C8B-B14F-4D97-AF65-F5344CB8AC3E}">
        <p14:creationId xmlns:p14="http://schemas.microsoft.com/office/powerpoint/2010/main" val="3002105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67B60-4716-7231-6760-038BC9B40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38ED4BE-9FA7-7B3D-36E7-17EFCB08BEFB}"/>
              </a:ext>
            </a:extLst>
          </p:cNvPr>
          <p:cNvSpPr/>
          <p:nvPr/>
        </p:nvSpPr>
        <p:spPr>
          <a:xfrm>
            <a:off x="0" y="0"/>
            <a:ext cx="12192000" cy="12233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838A7F-BBF8-20BD-6192-60C6BCA1084E}"/>
              </a:ext>
            </a:extLst>
          </p:cNvPr>
          <p:cNvSpPr txBox="1"/>
          <p:nvPr/>
        </p:nvSpPr>
        <p:spPr>
          <a:xfrm>
            <a:off x="160637" y="226938"/>
            <a:ext cx="95147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 dirty="0">
                <a:solidFill>
                  <a:schemeClr val="bg1"/>
                </a:solidFill>
              </a:rPr>
              <a:t>Predicate-agnostic </a:t>
            </a:r>
            <a:r>
              <a:rPr kumimoji="1" lang="en-US" altLang="zh-CN" sz="4400" dirty="0" err="1">
                <a:solidFill>
                  <a:schemeClr val="bg1"/>
                </a:solidFill>
              </a:rPr>
              <a:t>kNN</a:t>
            </a:r>
            <a:r>
              <a:rPr kumimoji="1" lang="en-US" altLang="zh-CN" sz="4400" dirty="0">
                <a:solidFill>
                  <a:schemeClr val="bg1"/>
                </a:solidFill>
              </a:rPr>
              <a:t> search</a:t>
            </a:r>
            <a:endParaRPr kumimoji="1" lang="zh-CN" altLang="en-US" sz="4400" dirty="0">
              <a:solidFill>
                <a:schemeClr val="bg1"/>
              </a:solidFill>
            </a:endParaRPr>
          </a:p>
        </p:txBody>
      </p:sp>
      <p:pic>
        <p:nvPicPr>
          <p:cNvPr id="7" name="图片 6" descr="图片包含 游戏机&#10;&#10;AI 生成的内容可能不正确。">
            <a:extLst>
              <a:ext uri="{FF2B5EF4-FFF2-40B4-BE49-F238E27FC236}">
                <a16:creationId xmlns:a16="http://schemas.microsoft.com/office/drawing/2014/main" id="{29EC5A10-149E-3065-1170-8037FBDAD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1541" y="4230762"/>
            <a:ext cx="4927600" cy="24003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7B7DA77-CB62-D8F1-1BBE-ABB28E32BF84}"/>
              </a:ext>
            </a:extLst>
          </p:cNvPr>
          <p:cNvSpPr txBox="1"/>
          <p:nvPr/>
        </p:nvSpPr>
        <p:spPr>
          <a:xfrm>
            <a:off x="605480" y="1705232"/>
            <a:ext cx="110963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kumimoji="1" lang="en-US" altLang="zh-CN" sz="2000" b="1" dirty="0"/>
              <a:t>Postfiltering approaches</a:t>
            </a:r>
            <a:r>
              <a:rPr kumimoji="1" lang="zh-CN" altLang="en-US" sz="2000" dirty="0"/>
              <a:t>：</a:t>
            </a:r>
            <a:r>
              <a:rPr kumimoji="1" lang="en-US" altLang="zh-CN" sz="2000" dirty="0"/>
              <a:t>continuously find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from nearest to furthest to </a:t>
            </a:r>
            <a:r>
              <a:rPr kumimoji="1" lang="en-US" altLang="zh-CN" sz="2000" dirty="0" err="1"/>
              <a:t>vQ</a:t>
            </a:r>
            <a:r>
              <a:rPr kumimoji="1" lang="zh-CN" altLang="en-US" sz="2000" dirty="0"/>
              <a:t>，</a:t>
            </a:r>
            <a:r>
              <a:rPr kumimoji="1" lang="en" altLang="zh-CN" sz="2000" dirty="0"/>
              <a:t>and check if each streamed vector is in S, until k such vectors are found.</a:t>
            </a:r>
          </a:p>
          <a:p>
            <a:pPr marL="457200" indent="-457200">
              <a:buAutoNum type="arabicPeriod"/>
            </a:pPr>
            <a:endParaRPr kumimoji="1" lang="en" altLang="zh-CN" sz="2000" dirty="0"/>
          </a:p>
          <a:p>
            <a:pPr marL="457200" indent="-457200">
              <a:buAutoNum type="arabicPeriod"/>
            </a:pPr>
            <a:r>
              <a:rPr kumimoji="1" lang="en-US" altLang="zh-CN" sz="2000" b="1" dirty="0"/>
              <a:t>Prefiltering approaches</a:t>
            </a:r>
            <a:r>
              <a:rPr kumimoji="1" lang="zh-CN" altLang="en-US" sz="2000" dirty="0"/>
              <a:t>：</a:t>
            </a:r>
            <a:r>
              <a:rPr kumimoji="1" lang="en" altLang="zh-CN" sz="2000" dirty="0"/>
              <a:t>compute the subset S first and then pass S to the </a:t>
            </a:r>
            <a:r>
              <a:rPr kumimoji="1" lang="en" altLang="zh-CN" sz="2000" dirty="0" err="1"/>
              <a:t>kNN</a:t>
            </a:r>
            <a:r>
              <a:rPr kumimoji="1" lang="en" altLang="zh-CN" sz="2000" dirty="0"/>
              <a:t> search algorithm, which finds the </a:t>
            </a:r>
            <a:r>
              <a:rPr kumimoji="1" lang="en" altLang="zh-CN" sz="2000" dirty="0" err="1"/>
              <a:t>kNNs</a:t>
            </a:r>
            <a:r>
              <a:rPr kumimoji="1" lang="en" altLang="zh-CN" sz="2000" dirty="0"/>
              <a:t> of </a:t>
            </a:r>
            <a:r>
              <a:rPr kumimoji="1" lang="en" altLang="zh-CN" sz="2000" dirty="0" err="1"/>
              <a:t>vQ</a:t>
            </a:r>
            <a:r>
              <a:rPr kumimoji="1" lang="en" altLang="zh-CN" sz="2000" dirty="0"/>
              <a:t> only within S.</a:t>
            </a:r>
            <a:endParaRPr kumimoji="1" lang="en-US" altLang="zh-CN" sz="2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9BF372-7553-8E14-B385-F982C9D8EFD4}"/>
              </a:ext>
            </a:extLst>
          </p:cNvPr>
          <p:cNvSpPr txBox="1"/>
          <p:nvPr/>
        </p:nvSpPr>
        <p:spPr>
          <a:xfrm>
            <a:off x="605480" y="4923080"/>
            <a:ext cx="63415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2000" dirty="0"/>
              <a:t>V’s neighbors in GH that are actually in S can be very </a:t>
            </a:r>
            <a:r>
              <a:rPr kumimoji="1" lang="en" altLang="zh-CN" sz="2000" b="1" dirty="0"/>
              <a:t>sparse</a:t>
            </a:r>
            <a:r>
              <a:rPr kumimoji="1" lang="en" altLang="zh-CN" sz="2000" dirty="0"/>
              <a:t> or v can even be </a:t>
            </a:r>
            <a:r>
              <a:rPr kumimoji="1" lang="en" altLang="zh-CN" sz="2000" b="1" dirty="0"/>
              <a:t>disconnected</a:t>
            </a:r>
            <a:r>
              <a:rPr kumimoji="1" lang="en" altLang="zh-CN" sz="2000" dirty="0"/>
              <a:t> from other vectors in S.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9465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43510-2872-EBA9-9A3C-792C864F3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9320D0F-C91D-EF54-7DC0-A7E4A74FB67E}"/>
              </a:ext>
            </a:extLst>
          </p:cNvPr>
          <p:cNvSpPr/>
          <p:nvPr/>
        </p:nvSpPr>
        <p:spPr>
          <a:xfrm>
            <a:off x="0" y="0"/>
            <a:ext cx="12192000" cy="12233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D82E96-7D27-57A9-349F-474D31423007}"/>
              </a:ext>
            </a:extLst>
          </p:cNvPr>
          <p:cNvSpPr txBox="1"/>
          <p:nvPr/>
        </p:nvSpPr>
        <p:spPr>
          <a:xfrm>
            <a:off x="160637" y="226938"/>
            <a:ext cx="94465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 dirty="0">
                <a:solidFill>
                  <a:schemeClr val="bg1"/>
                </a:solidFill>
              </a:rPr>
              <a:t>FILTERED SEARCH HEURISTICS</a:t>
            </a:r>
            <a:endParaRPr kumimoji="1" lang="zh-CN" altLang="en-US" sz="4400" dirty="0">
              <a:solidFill>
                <a:schemeClr val="bg1"/>
              </a:solidFill>
            </a:endParaRPr>
          </a:p>
        </p:txBody>
      </p:sp>
      <p:pic>
        <p:nvPicPr>
          <p:cNvPr id="3" name="图片 2" descr="表格&#10;&#10;AI 生成的内容可能不正确。">
            <a:extLst>
              <a:ext uri="{FF2B5EF4-FFF2-40B4-BE49-F238E27FC236}">
                <a16:creationId xmlns:a16="http://schemas.microsoft.com/office/drawing/2014/main" id="{FF63EBEA-191D-237C-3334-E04A4BD63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99" y="1285860"/>
            <a:ext cx="5537200" cy="2755900"/>
          </a:xfrm>
          <a:prstGeom prst="rect">
            <a:avLst/>
          </a:prstGeom>
        </p:spPr>
      </p:pic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54CD6AA9-54DC-8DD9-86C1-3618650CE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41" y="1306983"/>
            <a:ext cx="5410200" cy="29210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4CF0DF8-80A0-09CB-F90B-DA40D4CFACF5}"/>
              </a:ext>
            </a:extLst>
          </p:cNvPr>
          <p:cNvSpPr/>
          <p:nvPr/>
        </p:nvSpPr>
        <p:spPr>
          <a:xfrm>
            <a:off x="815249" y="1707613"/>
            <a:ext cx="5001658" cy="11457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4" name="图片 13" descr="图示&#10;&#10;AI 生成的内容可能不正确。">
            <a:extLst>
              <a:ext uri="{FF2B5EF4-FFF2-40B4-BE49-F238E27FC236}">
                <a16:creationId xmlns:a16="http://schemas.microsoft.com/office/drawing/2014/main" id="{CCE39A49-ABC9-0990-1E83-4617BEDF7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825" y="4004633"/>
            <a:ext cx="4229100" cy="255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03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5C5B0-53B6-8FDD-BF6C-AC87B6702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7FB2A32-C3E8-1779-F264-E349B781CA6A}"/>
              </a:ext>
            </a:extLst>
          </p:cNvPr>
          <p:cNvSpPr/>
          <p:nvPr/>
        </p:nvSpPr>
        <p:spPr>
          <a:xfrm>
            <a:off x="0" y="0"/>
            <a:ext cx="12192000" cy="12233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4D20102-583F-3C87-7898-4498D486B35A}"/>
              </a:ext>
            </a:extLst>
          </p:cNvPr>
          <p:cNvSpPr txBox="1"/>
          <p:nvPr/>
        </p:nvSpPr>
        <p:spPr>
          <a:xfrm>
            <a:off x="160637" y="226938"/>
            <a:ext cx="94465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 dirty="0">
                <a:solidFill>
                  <a:schemeClr val="bg1"/>
                </a:solidFill>
              </a:rPr>
              <a:t>Adaptive Algorithms</a:t>
            </a:r>
            <a:endParaRPr kumimoji="1" lang="zh-CN" altLang="en-US" sz="4400" dirty="0">
              <a:solidFill>
                <a:schemeClr val="bg1"/>
              </a:solidFill>
            </a:endParaRPr>
          </a:p>
        </p:txBody>
      </p:sp>
      <p:pic>
        <p:nvPicPr>
          <p:cNvPr id="9" name="图片 8" descr="图表, 图示, 折线图&#10;&#10;AI 生成的内容可能不正确。">
            <a:extLst>
              <a:ext uri="{FF2B5EF4-FFF2-40B4-BE49-F238E27FC236}">
                <a16:creationId xmlns:a16="http://schemas.microsoft.com/office/drawing/2014/main" id="{6BB062D3-3D70-3A3E-DD89-2AE5BE1D0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436" y="2234507"/>
            <a:ext cx="4982758" cy="259871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1EB9AB5-12F8-20F3-C049-938203DA5ED0}"/>
              </a:ext>
            </a:extLst>
          </p:cNvPr>
          <p:cNvSpPr txBox="1"/>
          <p:nvPr/>
        </p:nvSpPr>
        <p:spPr>
          <a:xfrm>
            <a:off x="1532097" y="5152413"/>
            <a:ext cx="67035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l-GR" altLang="zh-CN" sz="2000" dirty="0"/>
              <a:t>σ</a:t>
            </a:r>
            <a:r>
              <a:rPr kumimoji="1" lang="en" altLang="zh-CN" sz="2000" dirty="0"/>
              <a:t>g = |S |/|V |</a:t>
            </a:r>
            <a:r>
              <a:rPr kumimoji="1" lang="zh-CN" altLang="en-US" sz="2000" dirty="0"/>
              <a:t>（</a:t>
            </a:r>
            <a:r>
              <a:rPr kumimoji="1" lang="en-US" altLang="zh-CN" sz="2000" dirty="0"/>
              <a:t>global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selectivity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endParaRPr kumimoji="1" lang="en-US" altLang="zh-CN" sz="2000" dirty="0"/>
          </a:p>
          <a:p>
            <a:endParaRPr kumimoji="1" lang="en-US" altLang="zh-CN" sz="2000" dirty="0"/>
          </a:p>
          <a:p>
            <a:r>
              <a:rPr kumimoji="1" lang="el-GR" altLang="zh-CN" sz="2000" dirty="0"/>
              <a:t>σ</a:t>
            </a:r>
            <a:r>
              <a:rPr kumimoji="1" lang="en" altLang="zh-CN" sz="2000" dirty="0"/>
              <a:t>l =  |S(</a:t>
            </a:r>
            <a:r>
              <a:rPr kumimoji="1" lang="en" altLang="zh-CN" sz="2000" dirty="0" err="1"/>
              <a:t>nbrs</a:t>
            </a:r>
            <a:r>
              <a:rPr kumimoji="1" lang="en" altLang="zh-CN" sz="2000" dirty="0"/>
              <a:t>(</a:t>
            </a:r>
            <a:r>
              <a:rPr kumimoji="1" lang="en" altLang="zh-CN" sz="2000" dirty="0" err="1"/>
              <a:t>cmin</a:t>
            </a:r>
            <a:r>
              <a:rPr kumimoji="1" lang="en" altLang="zh-CN" sz="2000" dirty="0"/>
              <a:t>))|/|</a:t>
            </a:r>
            <a:r>
              <a:rPr kumimoji="1" lang="en" altLang="zh-CN" sz="2000" dirty="0" err="1"/>
              <a:t>nbrs</a:t>
            </a:r>
            <a:r>
              <a:rPr kumimoji="1" lang="en" altLang="zh-CN" sz="2000" dirty="0"/>
              <a:t>(</a:t>
            </a:r>
            <a:r>
              <a:rPr kumimoji="1" lang="en" altLang="zh-CN" sz="2000" dirty="0" err="1"/>
              <a:t>cmin</a:t>
            </a:r>
            <a:r>
              <a:rPr kumimoji="1" lang="en" altLang="zh-CN" sz="2000" dirty="0"/>
              <a:t>)|</a:t>
            </a:r>
            <a:r>
              <a:rPr kumimoji="1" lang="zh-CN" altLang="en-US" sz="2000" dirty="0"/>
              <a:t>（</a:t>
            </a:r>
            <a:r>
              <a:rPr kumimoji="1" lang="en-US" altLang="zh-CN" sz="2000" dirty="0"/>
              <a:t>local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selectivity</a:t>
            </a:r>
            <a:r>
              <a:rPr kumimoji="1" lang="zh-CN" altLang="en-US" sz="2000" dirty="0"/>
              <a:t>）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AA5FB49E-121D-F4EE-29E5-FEFDF9D22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850" y="2775908"/>
            <a:ext cx="4229100" cy="2556784"/>
          </a:xfrm>
          <a:prstGeom prst="rect">
            <a:avLst/>
          </a:prstGeom>
        </p:spPr>
      </p:pic>
      <p:pic>
        <p:nvPicPr>
          <p:cNvPr id="11" name="图片 10" descr="文本&#10;&#10;AI 生成的内容可能不正确。">
            <a:extLst>
              <a:ext uri="{FF2B5EF4-FFF2-40B4-BE49-F238E27FC236}">
                <a16:creationId xmlns:a16="http://schemas.microsoft.com/office/drawing/2014/main" id="{EF95DBF6-A2D7-43BF-F8AC-2EB4A0E44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125" y="1328183"/>
            <a:ext cx="5111750" cy="80146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4703A51-1B2E-35F8-8053-A67BB59D4C72}"/>
              </a:ext>
            </a:extLst>
          </p:cNvPr>
          <p:cNvSpPr txBox="1"/>
          <p:nvPr/>
        </p:nvSpPr>
        <p:spPr>
          <a:xfrm>
            <a:off x="3883490" y="3666724"/>
            <a:ext cx="669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</a:rPr>
              <a:t>50%</a:t>
            </a:r>
            <a:endParaRPr kumimoji="1" lang="zh-CN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324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FDC19-DCCF-E679-F230-6D9E4F7D7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754BD42-E3FC-6F95-7A7B-7D94199788AF}"/>
              </a:ext>
            </a:extLst>
          </p:cNvPr>
          <p:cNvSpPr/>
          <p:nvPr/>
        </p:nvSpPr>
        <p:spPr>
          <a:xfrm>
            <a:off x="0" y="0"/>
            <a:ext cx="12192000" cy="12233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207A64-DF05-1F51-4CC2-A0BB2AD7EA7E}"/>
              </a:ext>
            </a:extLst>
          </p:cNvPr>
          <p:cNvSpPr txBox="1"/>
          <p:nvPr/>
        </p:nvSpPr>
        <p:spPr>
          <a:xfrm>
            <a:off x="160637" y="226938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 dirty="0">
                <a:solidFill>
                  <a:schemeClr val="bg1"/>
                </a:solidFill>
              </a:rPr>
              <a:t>Implementation of </a:t>
            </a:r>
            <a:r>
              <a:rPr kumimoji="1" lang="en-US" altLang="zh-CN" sz="4400" dirty="0" err="1">
                <a:solidFill>
                  <a:schemeClr val="bg1"/>
                </a:solidFill>
              </a:rPr>
              <a:t>NaviX</a:t>
            </a:r>
            <a:r>
              <a:rPr kumimoji="1" lang="en-US" altLang="zh-CN" sz="4400" dirty="0">
                <a:solidFill>
                  <a:schemeClr val="bg1"/>
                </a:solidFill>
              </a:rPr>
              <a:t> in Kuzu</a:t>
            </a:r>
            <a:endParaRPr kumimoji="1"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B762245-97A6-7DEB-0EB9-44698D5C5DC4}"/>
              </a:ext>
            </a:extLst>
          </p:cNvPr>
          <p:cNvSpPr txBox="1"/>
          <p:nvPr/>
        </p:nvSpPr>
        <p:spPr>
          <a:xfrm>
            <a:off x="659219" y="2487280"/>
            <a:ext cx="1097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/>
              <a:t>1.</a:t>
            </a:r>
            <a:r>
              <a:rPr kumimoji="1" lang="en" altLang="zh-CN" sz="2000" dirty="0"/>
              <a:t>Index creation is executed as a standalone CALL function in Cypher.</a:t>
            </a:r>
            <a:endParaRPr kumimoji="1"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B57176F-EDCB-1777-C777-EF6C98CAF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48" y="2887390"/>
            <a:ext cx="5588000" cy="5969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855248E-ABB6-3C84-82A8-FD8B8E73238B}"/>
              </a:ext>
            </a:extLst>
          </p:cNvPr>
          <p:cNvSpPr txBox="1"/>
          <p:nvPr/>
        </p:nvSpPr>
        <p:spPr>
          <a:xfrm>
            <a:off x="659219" y="3484290"/>
            <a:ext cx="110578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/>
              <a:t>2. 2-level HNSW implementation. GL (for lower level) and GU (for upper level</a:t>
            </a:r>
            <a:r>
              <a:rPr kumimoji="1" lang="zh-CN" altLang="en-US" sz="2000" dirty="0"/>
              <a:t>）</a:t>
            </a:r>
            <a:r>
              <a:rPr kumimoji="1" lang="en-US" altLang="zh-CN" sz="2000" dirty="0"/>
              <a:t>constructed in memory, all accesses to the vectors, happen through the </a:t>
            </a:r>
            <a:r>
              <a:rPr kumimoji="1" lang="en-US" altLang="zh-CN" sz="2000" b="1" dirty="0"/>
              <a:t>buffer manager</a:t>
            </a:r>
            <a:r>
              <a:rPr kumimoji="1" lang="en-US" altLang="zh-CN" sz="2000" dirty="0"/>
              <a:t>.</a:t>
            </a:r>
          </a:p>
          <a:p>
            <a:endParaRPr kumimoji="1" lang="en-US" altLang="zh-CN" sz="2000" dirty="0"/>
          </a:p>
          <a:p>
            <a:r>
              <a:rPr kumimoji="1" lang="en-US" altLang="zh-CN" sz="2000" dirty="0"/>
              <a:t>3. tolerate possible data race</a:t>
            </a:r>
          </a:p>
          <a:p>
            <a:endParaRPr kumimoji="1" lang="en-US" altLang="zh-CN" sz="2000" dirty="0"/>
          </a:p>
          <a:p>
            <a:r>
              <a:rPr kumimoji="1" lang="en-US" altLang="zh-CN" sz="2000" dirty="0"/>
              <a:t>4. Once GL is </a:t>
            </a:r>
            <a:r>
              <a:rPr kumimoji="1" lang="en-US" altLang="zh-CN" sz="2000" dirty="0" err="1"/>
              <a:t>contructed</a:t>
            </a:r>
            <a:r>
              <a:rPr kumimoji="1" lang="en-US" altLang="zh-CN" sz="2000" dirty="0"/>
              <a:t>, we pass it to Kuzu’s CSR construction pipeline.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EB8F29-B529-8A82-74DD-13457E413CEA}"/>
              </a:ext>
            </a:extLst>
          </p:cNvPr>
          <p:cNvSpPr txBox="1"/>
          <p:nvPr/>
        </p:nvSpPr>
        <p:spPr>
          <a:xfrm>
            <a:off x="659219" y="1488558"/>
            <a:ext cx="6539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2800" b="1" dirty="0"/>
              <a:t>Index Creation</a:t>
            </a:r>
            <a:endParaRPr kumimoji="1"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627775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0F9C8-C3F1-8DF3-4AFF-174CA1B2B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993ED77-A0C5-D5E8-BBD7-F68E6559FC3A}"/>
              </a:ext>
            </a:extLst>
          </p:cNvPr>
          <p:cNvSpPr/>
          <p:nvPr/>
        </p:nvSpPr>
        <p:spPr>
          <a:xfrm>
            <a:off x="0" y="0"/>
            <a:ext cx="12192000" cy="12233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CDA72B-729D-F60C-8D83-1DEC234FAE4B}"/>
              </a:ext>
            </a:extLst>
          </p:cNvPr>
          <p:cNvSpPr txBox="1"/>
          <p:nvPr/>
        </p:nvSpPr>
        <p:spPr>
          <a:xfrm>
            <a:off x="160637" y="226938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 dirty="0">
                <a:solidFill>
                  <a:schemeClr val="bg1"/>
                </a:solidFill>
              </a:rPr>
              <a:t>Implementation of </a:t>
            </a:r>
            <a:r>
              <a:rPr kumimoji="1" lang="en-US" altLang="zh-CN" sz="4400" dirty="0" err="1">
                <a:solidFill>
                  <a:schemeClr val="bg1"/>
                </a:solidFill>
              </a:rPr>
              <a:t>NaviX</a:t>
            </a:r>
            <a:r>
              <a:rPr kumimoji="1" lang="en-US" altLang="zh-CN" sz="4400" dirty="0">
                <a:solidFill>
                  <a:schemeClr val="bg1"/>
                </a:solidFill>
              </a:rPr>
              <a:t> in Kuzu</a:t>
            </a:r>
            <a:endParaRPr kumimoji="1"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A94957-D136-C657-A2F5-2A8C9DDD166D}"/>
              </a:ext>
            </a:extLst>
          </p:cNvPr>
          <p:cNvSpPr txBox="1"/>
          <p:nvPr/>
        </p:nvSpPr>
        <p:spPr>
          <a:xfrm>
            <a:off x="659219" y="1488558"/>
            <a:ext cx="6539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2800" b="1" dirty="0"/>
              <a:t>Index Search Query Syntax and Plan</a:t>
            </a:r>
            <a:endParaRPr kumimoji="1" lang="zh-CN" altLang="en-US" sz="2800" b="1" dirty="0"/>
          </a:p>
        </p:txBody>
      </p:sp>
      <p:pic>
        <p:nvPicPr>
          <p:cNvPr id="10" name="图片 9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7F3678A7-EE4C-B746-32BE-F54229220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19" y="2055628"/>
            <a:ext cx="5295900" cy="13589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E17723C-6FF9-24D9-A480-CC8F6311C02F}"/>
              </a:ext>
            </a:extLst>
          </p:cNvPr>
          <p:cNvSpPr txBox="1"/>
          <p:nvPr/>
        </p:nvSpPr>
        <p:spPr>
          <a:xfrm>
            <a:off x="659219" y="5214679"/>
            <a:ext cx="106644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All accesses to the persisted adjacency lists of vectors (GL) in the index and to the actual vectors happen through the buffer manager of the system.</a:t>
            </a:r>
          </a:p>
        </p:txBody>
      </p:sp>
      <p:pic>
        <p:nvPicPr>
          <p:cNvPr id="16" name="图片 15" descr="图示&#10;&#10;AI 生成的内容可能不正确。">
            <a:extLst>
              <a:ext uri="{FF2B5EF4-FFF2-40B4-BE49-F238E27FC236}">
                <a16:creationId xmlns:a16="http://schemas.microsoft.com/office/drawing/2014/main" id="{4C5D9DA8-5AFE-963E-A86C-62038D67E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637" y="2055628"/>
            <a:ext cx="5524500" cy="26416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65ADDAFE-35A1-0E37-55D4-A870AD0A5E81}"/>
              </a:ext>
            </a:extLst>
          </p:cNvPr>
          <p:cNvSpPr txBox="1"/>
          <p:nvPr/>
        </p:nvSpPr>
        <p:spPr>
          <a:xfrm>
            <a:off x="659219" y="3592642"/>
            <a:ext cx="48378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The first subplan evaluates QS and uses Kuzu’s Node-Masker operator to create a node semimask.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980725F-D4AC-A926-0386-513D216CF605}"/>
              </a:ext>
            </a:extLst>
          </p:cNvPr>
          <p:cNvSpPr/>
          <p:nvPr/>
        </p:nvSpPr>
        <p:spPr>
          <a:xfrm>
            <a:off x="659219" y="2573079"/>
            <a:ext cx="2569666" cy="2276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397475EA-12A1-82FD-A554-FA5AF0E467A0}"/>
              </a:ext>
            </a:extLst>
          </p:cNvPr>
          <p:cNvCxnSpPr>
            <a:stCxn id="20" idx="3"/>
          </p:cNvCxnSpPr>
          <p:nvPr/>
        </p:nvCxnSpPr>
        <p:spPr>
          <a:xfrm flipV="1">
            <a:off x="3228885" y="2686923"/>
            <a:ext cx="3193180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235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E824B-8F81-AAA2-E9EA-5D912337C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B94B246-D8DF-EBFC-D1B1-4751DE87F98B}"/>
              </a:ext>
            </a:extLst>
          </p:cNvPr>
          <p:cNvSpPr/>
          <p:nvPr/>
        </p:nvSpPr>
        <p:spPr>
          <a:xfrm>
            <a:off x="0" y="0"/>
            <a:ext cx="12192000" cy="12233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6214B6-8B4A-4C58-285E-B1D5D7A7E396}"/>
              </a:ext>
            </a:extLst>
          </p:cNvPr>
          <p:cNvSpPr txBox="1"/>
          <p:nvPr/>
        </p:nvSpPr>
        <p:spPr>
          <a:xfrm>
            <a:off x="160637" y="226938"/>
            <a:ext cx="55358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 dirty="0">
                <a:solidFill>
                  <a:schemeClr val="bg1"/>
                </a:solidFill>
              </a:rPr>
              <a:t>Evaluation</a:t>
            </a:r>
            <a:endParaRPr kumimoji="1"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7FB2464-AFF2-AAE3-69E9-7C8E63903B34}"/>
              </a:ext>
            </a:extLst>
          </p:cNvPr>
          <p:cNvSpPr txBox="1"/>
          <p:nvPr/>
        </p:nvSpPr>
        <p:spPr>
          <a:xfrm>
            <a:off x="637953" y="1450257"/>
            <a:ext cx="6145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sz="2800" b="1" dirty="0"/>
              <a:t>Datasets</a:t>
            </a:r>
          </a:p>
        </p:txBody>
      </p:sp>
      <p:pic>
        <p:nvPicPr>
          <p:cNvPr id="5" name="图片 4" descr="表格&#10;&#10;AI 生成的内容可能不正确。">
            <a:extLst>
              <a:ext uri="{FF2B5EF4-FFF2-40B4-BE49-F238E27FC236}">
                <a16:creationId xmlns:a16="http://schemas.microsoft.com/office/drawing/2014/main" id="{2FA85A89-27A8-AB53-C94B-0531B8C79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19" y="2200415"/>
            <a:ext cx="4267200" cy="1574800"/>
          </a:xfrm>
          <a:prstGeom prst="rect">
            <a:avLst/>
          </a:prstGeom>
        </p:spPr>
      </p:pic>
      <p:pic>
        <p:nvPicPr>
          <p:cNvPr id="8" name="图片 7" descr="图示&#10;&#10;AI 生成的内容可能不正确。">
            <a:extLst>
              <a:ext uri="{FF2B5EF4-FFF2-40B4-BE49-F238E27FC236}">
                <a16:creationId xmlns:a16="http://schemas.microsoft.com/office/drawing/2014/main" id="{BEEDD266-E373-82D0-A085-12676C70B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464" y="1973477"/>
            <a:ext cx="49022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108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891CB-E2DB-9368-3238-C942836FC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B9B9F73-56C1-7392-F5D6-AFE407D1C13D}"/>
              </a:ext>
            </a:extLst>
          </p:cNvPr>
          <p:cNvSpPr/>
          <p:nvPr/>
        </p:nvSpPr>
        <p:spPr>
          <a:xfrm>
            <a:off x="0" y="0"/>
            <a:ext cx="12192000" cy="12233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8DAD5E-E7B8-5278-F87C-2BB8B67D371C}"/>
              </a:ext>
            </a:extLst>
          </p:cNvPr>
          <p:cNvSpPr txBox="1"/>
          <p:nvPr/>
        </p:nvSpPr>
        <p:spPr>
          <a:xfrm>
            <a:off x="160637" y="226938"/>
            <a:ext cx="55358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 dirty="0">
                <a:solidFill>
                  <a:schemeClr val="bg1"/>
                </a:solidFill>
              </a:rPr>
              <a:t>Evaluation</a:t>
            </a:r>
            <a:endParaRPr kumimoji="1"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F1877F-C069-2849-BBD5-A32C100C576F}"/>
              </a:ext>
            </a:extLst>
          </p:cNvPr>
          <p:cNvSpPr txBox="1"/>
          <p:nvPr/>
        </p:nvSpPr>
        <p:spPr>
          <a:xfrm>
            <a:off x="637953" y="1450257"/>
            <a:ext cx="6145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sz="2800" b="1" dirty="0"/>
              <a:t>Query Workloads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2636808-AC18-7F15-5874-65DCAD1F49C7}"/>
              </a:ext>
            </a:extLst>
          </p:cNvPr>
          <p:cNvSpPr txBox="1"/>
          <p:nvPr/>
        </p:nvSpPr>
        <p:spPr>
          <a:xfrm>
            <a:off x="648585" y="3467240"/>
            <a:ext cx="6145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Uncorrelated Workloads:</a:t>
            </a:r>
          </a:p>
        </p:txBody>
      </p:sp>
      <p:pic>
        <p:nvPicPr>
          <p:cNvPr id="15" name="图片 14" descr="图片包含 文本&#10;&#10;AI 生成的内容可能不正确。">
            <a:extLst>
              <a:ext uri="{FF2B5EF4-FFF2-40B4-BE49-F238E27FC236}">
                <a16:creationId xmlns:a16="http://schemas.microsoft.com/office/drawing/2014/main" id="{093C1094-C42C-EAD4-5E51-4E6E06520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53" y="4109824"/>
            <a:ext cx="4978400" cy="7747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F62B819-DFB1-F08F-B221-2ACB57A53745}"/>
              </a:ext>
            </a:extLst>
          </p:cNvPr>
          <p:cNvSpPr txBox="1"/>
          <p:nvPr/>
        </p:nvSpPr>
        <p:spPr>
          <a:xfrm>
            <a:off x="6175911" y="3467240"/>
            <a:ext cx="6145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Wiki Positively </a:t>
            </a:r>
            <a:r>
              <a:rPr lang="zh-CN" altLang="en-US" sz="2000" dirty="0"/>
              <a:t>Correlated</a:t>
            </a:r>
            <a:r>
              <a:rPr lang="zh-CN" altLang="en-US" dirty="0"/>
              <a:t> Workload:</a:t>
            </a:r>
          </a:p>
        </p:txBody>
      </p:sp>
      <p:pic>
        <p:nvPicPr>
          <p:cNvPr id="19" name="图片 18" descr="图形用户界面, 文本&#10;&#10;AI 生成的内容可能不正确。">
            <a:extLst>
              <a:ext uri="{FF2B5EF4-FFF2-40B4-BE49-F238E27FC236}">
                <a16:creationId xmlns:a16="http://schemas.microsoft.com/office/drawing/2014/main" id="{97120C87-450B-C0A4-E562-FBD462EE5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911" y="4107048"/>
            <a:ext cx="4648200" cy="95250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4FE1BA00-D468-8769-782B-647B150C178B}"/>
              </a:ext>
            </a:extLst>
          </p:cNvPr>
          <p:cNvSpPr txBox="1"/>
          <p:nvPr/>
        </p:nvSpPr>
        <p:spPr>
          <a:xfrm>
            <a:off x="643524" y="5234572"/>
            <a:ext cx="10105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vQ</a:t>
            </a:r>
            <a:r>
              <a:rPr lang="en-US" altLang="zh-CN" dirty="0"/>
              <a:t>: </a:t>
            </a:r>
            <a:r>
              <a:rPr lang="zh-CN" altLang="en-US" dirty="0"/>
              <a:t>used OpenAI’s </a:t>
            </a:r>
            <a:r>
              <a:rPr lang="zh-CN" altLang="en-US" sz="2000" dirty="0"/>
              <a:t>o1</a:t>
            </a:r>
            <a:r>
              <a:rPr lang="zh-CN" altLang="en-US" dirty="0"/>
              <a:t> model to generate questions about p using these chunks as context.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87F82BE-F4B3-6587-D0D9-E03C40FA2CED}"/>
              </a:ext>
            </a:extLst>
          </p:cNvPr>
          <p:cNvSpPr txBox="1"/>
          <p:nvPr/>
        </p:nvSpPr>
        <p:spPr>
          <a:xfrm>
            <a:off x="637953" y="5803157"/>
            <a:ext cx="61668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Wiki Negatively </a:t>
            </a:r>
            <a:r>
              <a:rPr lang="zh-CN" altLang="en-US" sz="2000" dirty="0"/>
              <a:t>Correlated</a:t>
            </a:r>
            <a:r>
              <a:rPr lang="zh-CN" altLang="en-US" dirty="0"/>
              <a:t> Workload: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34E97B6-08EE-E86B-B119-8EC297120BCF}"/>
              </a:ext>
            </a:extLst>
          </p:cNvPr>
          <p:cNvSpPr txBox="1"/>
          <p:nvPr/>
        </p:nvSpPr>
        <p:spPr>
          <a:xfrm>
            <a:off x="637953" y="6261730"/>
            <a:ext cx="10324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vQ</a:t>
            </a:r>
            <a:r>
              <a:rPr lang="en-US" altLang="zh-CN" dirty="0"/>
              <a:t>: </a:t>
            </a:r>
            <a:r>
              <a:rPr lang="zh-CN" altLang="en-US" dirty="0"/>
              <a:t>we prompt o1 to generate questions about non-people entities</a:t>
            </a:r>
            <a:r>
              <a:rPr lang="en-US" altLang="zh-CN" dirty="0"/>
              <a:t>.</a:t>
            </a:r>
            <a:endParaRPr lang="zh-CN" altLang="en-US" dirty="0"/>
          </a:p>
        </p:txBody>
      </p:sp>
      <p:pic>
        <p:nvPicPr>
          <p:cNvPr id="5" name="图片 4" descr="表格&#10;&#10;AI 生成的内容可能不正确。">
            <a:extLst>
              <a:ext uri="{FF2B5EF4-FFF2-40B4-BE49-F238E27FC236}">
                <a16:creationId xmlns:a16="http://schemas.microsoft.com/office/drawing/2014/main" id="{1E58BB50-3E04-042B-1D9D-14B82363B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2054" y="1692569"/>
            <a:ext cx="4267714" cy="155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86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135AA-5907-D8E9-8F50-441497EAB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B9500FA-0BE6-E757-0784-3D4D40B6C0BF}"/>
              </a:ext>
            </a:extLst>
          </p:cNvPr>
          <p:cNvSpPr/>
          <p:nvPr/>
        </p:nvSpPr>
        <p:spPr>
          <a:xfrm>
            <a:off x="0" y="0"/>
            <a:ext cx="12192000" cy="12233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F4B68D-F5D8-C762-E14E-08E3A1DC63C8}"/>
              </a:ext>
            </a:extLst>
          </p:cNvPr>
          <p:cNvSpPr txBox="1"/>
          <p:nvPr/>
        </p:nvSpPr>
        <p:spPr>
          <a:xfrm>
            <a:off x="160637" y="226938"/>
            <a:ext cx="55358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 dirty="0">
                <a:solidFill>
                  <a:schemeClr val="bg1"/>
                </a:solidFill>
              </a:rPr>
              <a:t>Evaluation</a:t>
            </a:r>
            <a:endParaRPr kumimoji="1"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359A512-DDE4-7225-E3B9-9FC7FA224A04}"/>
              </a:ext>
            </a:extLst>
          </p:cNvPr>
          <p:cNvSpPr txBox="1"/>
          <p:nvPr/>
        </p:nvSpPr>
        <p:spPr>
          <a:xfrm>
            <a:off x="637953" y="1450257"/>
            <a:ext cx="6145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sz="2800" b="1" dirty="0"/>
              <a:t>Query Workloads</a:t>
            </a:r>
          </a:p>
        </p:txBody>
      </p:sp>
      <p:pic>
        <p:nvPicPr>
          <p:cNvPr id="8" name="图片 7" descr="表格&#10;&#10;AI 生成的内容可能不正确。">
            <a:extLst>
              <a:ext uri="{FF2B5EF4-FFF2-40B4-BE49-F238E27FC236}">
                <a16:creationId xmlns:a16="http://schemas.microsoft.com/office/drawing/2014/main" id="{5CAE839D-4F50-4A7B-B673-901F76751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2433379"/>
            <a:ext cx="5638800" cy="25654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520B803-1EFB-FA26-89C6-43131839F74B}"/>
              </a:ext>
            </a:extLst>
          </p:cNvPr>
          <p:cNvSpPr txBox="1"/>
          <p:nvPr/>
        </p:nvSpPr>
        <p:spPr>
          <a:xfrm>
            <a:off x="5199321" y="5407743"/>
            <a:ext cx="6145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ce = σvq /σ</a:t>
            </a:r>
          </a:p>
        </p:txBody>
      </p:sp>
    </p:spTree>
    <p:extLst>
      <p:ext uri="{BB962C8B-B14F-4D97-AF65-F5344CB8AC3E}">
        <p14:creationId xmlns:p14="http://schemas.microsoft.com/office/powerpoint/2010/main" val="2859447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E7C3C-705E-DABD-0D48-62EBEEBB7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C82BA9C-88F2-7AA1-BCD6-06F06CF64C36}"/>
              </a:ext>
            </a:extLst>
          </p:cNvPr>
          <p:cNvSpPr/>
          <p:nvPr/>
        </p:nvSpPr>
        <p:spPr>
          <a:xfrm>
            <a:off x="0" y="0"/>
            <a:ext cx="12192000" cy="12233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6B0984-9AC3-2AA1-477A-B16FB49FC80F}"/>
              </a:ext>
            </a:extLst>
          </p:cNvPr>
          <p:cNvSpPr txBox="1"/>
          <p:nvPr/>
        </p:nvSpPr>
        <p:spPr>
          <a:xfrm>
            <a:off x="160637" y="226938"/>
            <a:ext cx="55358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 dirty="0">
                <a:solidFill>
                  <a:schemeClr val="bg1"/>
                </a:solidFill>
              </a:rPr>
              <a:t>Evaluation</a:t>
            </a:r>
            <a:endParaRPr kumimoji="1"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08E9A1-7245-BC8B-021E-84A282886470}"/>
              </a:ext>
            </a:extLst>
          </p:cNvPr>
          <p:cNvSpPr txBox="1"/>
          <p:nvPr/>
        </p:nvSpPr>
        <p:spPr>
          <a:xfrm>
            <a:off x="637953" y="1450257"/>
            <a:ext cx="6145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800" b="1" dirty="0"/>
              <a:t>Evaluation metric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F741FAA-C046-CF74-F558-EBBDA25ABBFB}"/>
              </a:ext>
            </a:extLst>
          </p:cNvPr>
          <p:cNvSpPr txBox="1"/>
          <p:nvPr/>
        </p:nvSpPr>
        <p:spPr>
          <a:xfrm>
            <a:off x="818707" y="2441575"/>
            <a:ext cx="6145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adjust the efs parameter to stay within 1% of </a:t>
            </a:r>
            <a:r>
              <a:rPr lang="en" altLang="zh-CN" sz="2000" dirty="0"/>
              <a:t>95% recall</a:t>
            </a:r>
            <a:endParaRPr lang="zh-CN" altLang="en-US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4F5D298-A467-24CC-AFC3-F66FBC2202C0}"/>
              </a:ext>
            </a:extLst>
          </p:cNvPr>
          <p:cNvSpPr txBox="1"/>
          <p:nvPr/>
        </p:nvSpPr>
        <p:spPr>
          <a:xfrm>
            <a:off x="818706" y="3244333"/>
            <a:ext cx="1027105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If a baseline gives higher recall than 95% with the minimum efs value, then we match that for all other baselines. 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If a baseline fails to reach 95% recall even at efs 1000, we mark that point with a cross sign in our figures.</a:t>
            </a:r>
          </a:p>
        </p:txBody>
      </p:sp>
    </p:spTree>
    <p:extLst>
      <p:ext uri="{BB962C8B-B14F-4D97-AF65-F5344CB8AC3E}">
        <p14:creationId xmlns:p14="http://schemas.microsoft.com/office/powerpoint/2010/main" val="1506151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57A52-7269-A8D9-2C07-671CB2062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E4C2D2C-1D73-B90F-06FE-FDD7A944ACB2}"/>
              </a:ext>
            </a:extLst>
          </p:cNvPr>
          <p:cNvSpPr/>
          <p:nvPr/>
        </p:nvSpPr>
        <p:spPr>
          <a:xfrm>
            <a:off x="0" y="0"/>
            <a:ext cx="12192000" cy="12233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3955DD0-2048-DFA5-74FB-EAD0461733CC}"/>
              </a:ext>
            </a:extLst>
          </p:cNvPr>
          <p:cNvSpPr txBox="1"/>
          <p:nvPr/>
        </p:nvSpPr>
        <p:spPr>
          <a:xfrm>
            <a:off x="160637" y="226938"/>
            <a:ext cx="55358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 dirty="0">
                <a:solidFill>
                  <a:schemeClr val="bg1"/>
                </a:solidFill>
              </a:rPr>
              <a:t>Evaluation</a:t>
            </a:r>
            <a:endParaRPr kumimoji="1"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581E1F3-06F6-FA04-904D-66406F721CF6}"/>
              </a:ext>
            </a:extLst>
          </p:cNvPr>
          <p:cNvSpPr txBox="1"/>
          <p:nvPr/>
        </p:nvSpPr>
        <p:spPr>
          <a:xfrm>
            <a:off x="637952" y="1450257"/>
            <a:ext cx="76235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sz="2800" b="1" dirty="0"/>
              <a:t>Prefiltering Fixed Heuristics and Adaptive-G</a:t>
            </a:r>
          </a:p>
        </p:txBody>
      </p:sp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5A94E1EA-9BC4-D378-CCC0-B0515A0B2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79" y="1973477"/>
            <a:ext cx="10616970" cy="2292978"/>
          </a:xfrm>
          <a:prstGeom prst="rect">
            <a:avLst/>
          </a:prstGeom>
        </p:spPr>
      </p:pic>
      <p:pic>
        <p:nvPicPr>
          <p:cNvPr id="9" name="图片 8" descr="图表, 折线图&#10;&#10;AI 生成的内容可能不正确。">
            <a:extLst>
              <a:ext uri="{FF2B5EF4-FFF2-40B4-BE49-F238E27FC236}">
                <a16:creationId xmlns:a16="http://schemas.microsoft.com/office/drawing/2014/main" id="{71C85982-3024-7804-DDA1-4F20DEB82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014" y="4340943"/>
            <a:ext cx="56769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272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EF0E4-A319-DF80-4683-D1989F54D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DDD6730-A91F-F1E5-9354-9ADC76D5C76D}"/>
              </a:ext>
            </a:extLst>
          </p:cNvPr>
          <p:cNvSpPr/>
          <p:nvPr/>
        </p:nvSpPr>
        <p:spPr>
          <a:xfrm>
            <a:off x="0" y="0"/>
            <a:ext cx="12192000" cy="12233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1015CE-962E-D3DA-2D7A-F873F30ABFBF}"/>
              </a:ext>
            </a:extLst>
          </p:cNvPr>
          <p:cNvSpPr txBox="1"/>
          <p:nvPr/>
        </p:nvSpPr>
        <p:spPr>
          <a:xfrm>
            <a:off x="160637" y="226938"/>
            <a:ext cx="55358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 dirty="0">
                <a:solidFill>
                  <a:schemeClr val="bg1"/>
                </a:solidFill>
              </a:rPr>
              <a:t>Evaluation</a:t>
            </a:r>
            <a:endParaRPr kumimoji="1"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66F0BA-5855-F8FA-EA97-B0FF2085C5AC}"/>
              </a:ext>
            </a:extLst>
          </p:cNvPr>
          <p:cNvSpPr txBox="1"/>
          <p:nvPr/>
        </p:nvSpPr>
        <p:spPr>
          <a:xfrm>
            <a:off x="637952" y="1450257"/>
            <a:ext cx="76235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sz="2800" b="1" dirty="0"/>
              <a:t>Adaptive-G and </a:t>
            </a:r>
            <a:r>
              <a:rPr lang="en" altLang="zh-CN" sz="2800" b="1" dirty="0" err="1"/>
              <a:t>NaviX</a:t>
            </a:r>
            <a:endParaRPr lang="en" altLang="zh-CN" sz="2800" b="1" dirty="0"/>
          </a:p>
        </p:txBody>
      </p:sp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BBA7D1C9-1079-D8EE-79F9-C1FA0D8AA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2" y="2433341"/>
            <a:ext cx="11507165" cy="244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064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BAB4F-B9BE-3B11-2FA8-00EACD193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500CCC2-4C07-9C8F-4CB3-14BE9863F088}"/>
              </a:ext>
            </a:extLst>
          </p:cNvPr>
          <p:cNvSpPr/>
          <p:nvPr/>
        </p:nvSpPr>
        <p:spPr>
          <a:xfrm>
            <a:off x="0" y="0"/>
            <a:ext cx="12192000" cy="12233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A3DE60-EFE7-7E23-F9E9-0DC8234FA39B}"/>
              </a:ext>
            </a:extLst>
          </p:cNvPr>
          <p:cNvSpPr txBox="1"/>
          <p:nvPr/>
        </p:nvSpPr>
        <p:spPr>
          <a:xfrm>
            <a:off x="160637" y="226938"/>
            <a:ext cx="55358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 dirty="0">
                <a:solidFill>
                  <a:schemeClr val="bg1"/>
                </a:solidFill>
              </a:rPr>
              <a:t>Evaluation</a:t>
            </a:r>
            <a:endParaRPr kumimoji="1"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6826EF-19E2-539B-953D-DC9D227E4200}"/>
              </a:ext>
            </a:extLst>
          </p:cNvPr>
          <p:cNvSpPr txBox="1"/>
          <p:nvPr/>
        </p:nvSpPr>
        <p:spPr>
          <a:xfrm>
            <a:off x="637951" y="1450257"/>
            <a:ext cx="109728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sz="2800" b="1" dirty="0" err="1"/>
              <a:t>Weaviate</a:t>
            </a:r>
            <a:r>
              <a:rPr lang="en" altLang="zh-CN" sz="2800" b="1" dirty="0"/>
              <a:t> and Milvus(specialized vector databases)</a:t>
            </a:r>
          </a:p>
        </p:txBody>
      </p:sp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24C58A76-5ACD-14F1-68E9-A939AF421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37" y="1986154"/>
            <a:ext cx="11932876" cy="2031704"/>
          </a:xfrm>
          <a:prstGeom prst="rect">
            <a:avLst/>
          </a:prstGeom>
        </p:spPr>
      </p:pic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34124090-2E2C-7CDB-A250-58256BCFC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075" y="4017858"/>
            <a:ext cx="5778500" cy="22479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B1ED986-5E74-1DB0-1600-E4E380FE671A}"/>
              </a:ext>
            </a:extLst>
          </p:cNvPr>
          <p:cNvSpPr txBox="1"/>
          <p:nvPr/>
        </p:nvSpPr>
        <p:spPr>
          <a:xfrm>
            <a:off x="637951" y="6332433"/>
            <a:ext cx="111109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These systems do not support joins, so we compare their behavior only on uncorrelated workloads.</a:t>
            </a:r>
          </a:p>
        </p:txBody>
      </p:sp>
    </p:spTree>
    <p:extLst>
      <p:ext uri="{BB962C8B-B14F-4D97-AF65-F5344CB8AC3E}">
        <p14:creationId xmlns:p14="http://schemas.microsoft.com/office/powerpoint/2010/main" val="2266850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0BFBE-F48E-74F0-470E-C3EB75FBA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936639D-9EE2-064C-A637-E55D50277018}"/>
              </a:ext>
            </a:extLst>
          </p:cNvPr>
          <p:cNvSpPr/>
          <p:nvPr/>
        </p:nvSpPr>
        <p:spPr>
          <a:xfrm>
            <a:off x="0" y="0"/>
            <a:ext cx="12192000" cy="12233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73E5CB-2EEF-82C9-A1D5-5922DDE759ED}"/>
              </a:ext>
            </a:extLst>
          </p:cNvPr>
          <p:cNvSpPr txBox="1"/>
          <p:nvPr/>
        </p:nvSpPr>
        <p:spPr>
          <a:xfrm>
            <a:off x="160637" y="226938"/>
            <a:ext cx="55358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 dirty="0">
                <a:solidFill>
                  <a:schemeClr val="bg1"/>
                </a:solidFill>
              </a:rPr>
              <a:t>Evaluation</a:t>
            </a:r>
            <a:endParaRPr kumimoji="1"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1E83CD-3FAE-81F1-D45E-472B84211FC9}"/>
              </a:ext>
            </a:extLst>
          </p:cNvPr>
          <p:cNvSpPr txBox="1"/>
          <p:nvPr/>
        </p:nvSpPr>
        <p:spPr>
          <a:xfrm>
            <a:off x="637952" y="1450257"/>
            <a:ext cx="76235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sz="2800" b="1" dirty="0"/>
              <a:t>ACORN(in-memory FAISS HNSW index)</a:t>
            </a:r>
          </a:p>
        </p:txBody>
      </p:sp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B598915F-E146-BBCB-32DA-11F4EFC7C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00" y="2100467"/>
            <a:ext cx="10899999" cy="1933255"/>
          </a:xfrm>
          <a:prstGeom prst="rect">
            <a:avLst/>
          </a:prstGeom>
        </p:spPr>
      </p:pic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25401757-4904-FF6C-10C8-64D6558C0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7264" y="4160712"/>
            <a:ext cx="5637472" cy="231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46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7AFD4-0CBB-42A9-C109-6DED9946A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8552A69-6DBC-C196-72B9-C23F6A1B2A09}"/>
              </a:ext>
            </a:extLst>
          </p:cNvPr>
          <p:cNvSpPr/>
          <p:nvPr/>
        </p:nvSpPr>
        <p:spPr>
          <a:xfrm>
            <a:off x="0" y="0"/>
            <a:ext cx="12192000" cy="12233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D60AA8-FC95-5977-8E2B-AD3B6CC12733}"/>
              </a:ext>
            </a:extLst>
          </p:cNvPr>
          <p:cNvSpPr txBox="1"/>
          <p:nvPr/>
        </p:nvSpPr>
        <p:spPr>
          <a:xfrm>
            <a:off x="160637" y="226938"/>
            <a:ext cx="55358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 dirty="0">
                <a:solidFill>
                  <a:schemeClr val="bg1"/>
                </a:solidFill>
              </a:rPr>
              <a:t>Evaluation</a:t>
            </a:r>
            <a:endParaRPr kumimoji="1"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9E2F28-303B-E3EF-1F54-6AC5D99C3DA4}"/>
              </a:ext>
            </a:extLst>
          </p:cNvPr>
          <p:cNvSpPr txBox="1"/>
          <p:nvPr/>
        </p:nvSpPr>
        <p:spPr>
          <a:xfrm>
            <a:off x="637952" y="1450257"/>
            <a:ext cx="76235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sz="2800" b="1" dirty="0" err="1"/>
              <a:t>iRangeGraph</a:t>
            </a:r>
            <a:endParaRPr lang="en" altLang="zh-CN" sz="2800" b="1" dirty="0"/>
          </a:p>
        </p:txBody>
      </p:sp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AC2FF959-DCC2-E342-3C58-B564A977B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534" y="2169465"/>
            <a:ext cx="6190931" cy="2519069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42F113A-5D29-0A56-BBA3-A6F99420D9BB}"/>
              </a:ext>
            </a:extLst>
          </p:cNvPr>
          <p:cNvSpPr txBox="1"/>
          <p:nvPr/>
        </p:nvSpPr>
        <p:spPr>
          <a:xfrm>
            <a:off x="871870" y="4884522"/>
            <a:ext cx="102497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iRangeGraph constructs segmented proximity graphs as sub-indices for different ranges and merges them during search time to support arbitrary ranges.</a:t>
            </a:r>
          </a:p>
        </p:txBody>
      </p:sp>
    </p:spTree>
    <p:extLst>
      <p:ext uri="{BB962C8B-B14F-4D97-AF65-F5344CB8AC3E}">
        <p14:creationId xmlns:p14="http://schemas.microsoft.com/office/powerpoint/2010/main" val="936749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52D63-FC35-A2FB-3C84-4BCB8674E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AC84F8C-CFA9-EB87-1200-88E710EBB606}"/>
              </a:ext>
            </a:extLst>
          </p:cNvPr>
          <p:cNvSpPr/>
          <p:nvPr/>
        </p:nvSpPr>
        <p:spPr>
          <a:xfrm>
            <a:off x="0" y="0"/>
            <a:ext cx="12192000" cy="12233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A64E3A-1ECB-EF20-0300-D0AF9AA24649}"/>
              </a:ext>
            </a:extLst>
          </p:cNvPr>
          <p:cNvSpPr txBox="1"/>
          <p:nvPr/>
        </p:nvSpPr>
        <p:spPr>
          <a:xfrm>
            <a:off x="160637" y="226938"/>
            <a:ext cx="55358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 dirty="0">
                <a:solidFill>
                  <a:schemeClr val="bg1"/>
                </a:solidFill>
              </a:rPr>
              <a:t>Evaluation</a:t>
            </a:r>
            <a:endParaRPr kumimoji="1"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4463A1-7B45-E40A-89FB-7B842713D93F}"/>
              </a:ext>
            </a:extLst>
          </p:cNvPr>
          <p:cNvSpPr txBox="1"/>
          <p:nvPr/>
        </p:nvSpPr>
        <p:spPr>
          <a:xfrm>
            <a:off x="637952" y="1450257"/>
            <a:ext cx="100477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sz="2800" b="1" dirty="0" err="1"/>
              <a:t>PGVectorScale</a:t>
            </a:r>
            <a:r>
              <a:rPr lang="en" altLang="zh-CN" sz="2800" b="1" dirty="0"/>
              <a:t> and </a:t>
            </a:r>
            <a:r>
              <a:rPr lang="en" altLang="zh-CN" sz="2800" b="1" dirty="0" err="1"/>
              <a:t>Vbase</a:t>
            </a:r>
            <a:r>
              <a:rPr lang="en" altLang="zh-CN" sz="2800" b="1" dirty="0"/>
              <a:t>(postfiltering-based systems)</a:t>
            </a:r>
          </a:p>
        </p:txBody>
      </p:sp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21F5BE50-9403-62F7-9026-C431E9268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52" y="2200415"/>
            <a:ext cx="10686895" cy="19464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1D49F3F-5DC0-8234-2CD5-74EE6EE034C2}"/>
              </a:ext>
            </a:extLst>
          </p:cNvPr>
          <p:cNvSpPr txBox="1"/>
          <p:nvPr/>
        </p:nvSpPr>
        <p:spPr>
          <a:xfrm>
            <a:off x="641498" y="4373849"/>
            <a:ext cx="54545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high-selectivity levels, postfiltering approaches have an advantage over prefiltering appraoches.</a:t>
            </a:r>
          </a:p>
        </p:txBody>
      </p:sp>
      <p:pic>
        <p:nvPicPr>
          <p:cNvPr id="11" name="图片 10" descr="文本&#10;&#10;AI 生成的内容可能不正确。">
            <a:extLst>
              <a:ext uri="{FF2B5EF4-FFF2-40B4-BE49-F238E27FC236}">
                <a16:creationId xmlns:a16="http://schemas.microsoft.com/office/drawing/2014/main" id="{A61DF667-DE00-F54E-9BCC-E66CE9890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384" y="4146911"/>
            <a:ext cx="5664200" cy="1270000"/>
          </a:xfrm>
          <a:prstGeom prst="rect">
            <a:avLst/>
          </a:prstGeom>
        </p:spPr>
      </p:pic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2702E224-B241-FEAF-FB66-39BABC68CCF9}"/>
              </a:ext>
            </a:extLst>
          </p:cNvPr>
          <p:cNvCxnSpPr>
            <a:cxnSpLocks/>
          </p:cNvCxnSpPr>
          <p:nvPr/>
        </p:nvCxnSpPr>
        <p:spPr>
          <a:xfrm flipV="1">
            <a:off x="9462977" y="3742660"/>
            <a:ext cx="223283" cy="5103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6685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E2BB6-A05A-4CEB-1569-E16F599F0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7DCB4BB-D2BB-179D-E705-97B58A96A29B}"/>
              </a:ext>
            </a:extLst>
          </p:cNvPr>
          <p:cNvSpPr/>
          <p:nvPr/>
        </p:nvSpPr>
        <p:spPr>
          <a:xfrm>
            <a:off x="0" y="0"/>
            <a:ext cx="12192000" cy="12233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866EB8-F7BA-7A34-F84F-3B95F6F7214C}"/>
              </a:ext>
            </a:extLst>
          </p:cNvPr>
          <p:cNvSpPr txBox="1"/>
          <p:nvPr/>
        </p:nvSpPr>
        <p:spPr>
          <a:xfrm>
            <a:off x="160637" y="226938"/>
            <a:ext cx="55358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 dirty="0">
                <a:solidFill>
                  <a:schemeClr val="bg1"/>
                </a:solidFill>
              </a:rPr>
              <a:t>Evaluation</a:t>
            </a:r>
            <a:endParaRPr kumimoji="1"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7735C4F-364D-19DD-7302-0E8D21A26EE3}"/>
              </a:ext>
            </a:extLst>
          </p:cNvPr>
          <p:cNvSpPr txBox="1"/>
          <p:nvPr/>
        </p:nvSpPr>
        <p:spPr>
          <a:xfrm>
            <a:off x="637952" y="1450257"/>
            <a:ext cx="76235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sz="2800" b="1" dirty="0" err="1"/>
              <a:t>DiskANN</a:t>
            </a:r>
            <a:r>
              <a:rPr lang="en" altLang="zh-CN" sz="2800" b="1" dirty="0"/>
              <a:t> and Filtered-</a:t>
            </a:r>
            <a:r>
              <a:rPr lang="en" altLang="zh-CN" sz="2800" b="1" dirty="0" err="1"/>
              <a:t>DiskANN</a:t>
            </a:r>
            <a:r>
              <a:rPr lang="en" altLang="zh-CN" sz="2800" b="1" dirty="0"/>
              <a:t>(disk-based)</a:t>
            </a:r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F8BDF25F-A997-409A-82A8-449278468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550" y="1953500"/>
            <a:ext cx="6531049" cy="275854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24B4742-5018-AF54-6673-BBEF49A5E1E1}"/>
              </a:ext>
            </a:extLst>
          </p:cNvPr>
          <p:cNvSpPr txBox="1"/>
          <p:nvPr/>
        </p:nvSpPr>
        <p:spPr>
          <a:xfrm>
            <a:off x="965791" y="4611231"/>
            <a:ext cx="1026041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NaviX-cold:</a:t>
            </a:r>
            <a:r>
              <a:rPr lang="en-US" altLang="zh-CN" sz="2000" dirty="0"/>
              <a:t> </a:t>
            </a:r>
            <a:r>
              <a:rPr lang="en" altLang="zh-CN" sz="2000" dirty="0"/>
              <a:t>just measure the first cold run of each query.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sz="2000" dirty="0" err="1"/>
              <a:t>NaviX</a:t>
            </a:r>
            <a:r>
              <a:rPr lang="en" altLang="zh-CN" sz="2000" dirty="0"/>
              <a:t>-cold-quant: similar to </a:t>
            </a:r>
            <a:r>
              <a:rPr lang="en" altLang="zh-CN" sz="2000" dirty="0" err="1"/>
              <a:t>DiskANN</a:t>
            </a:r>
            <a:r>
              <a:rPr lang="en" altLang="zh-CN" sz="2000" dirty="0"/>
              <a:t>(</a:t>
            </a:r>
            <a:r>
              <a:rPr lang="en" altLang="zh-CN" sz="2000" b="1" dirty="0"/>
              <a:t>vectors compressed in memory, performs I/</a:t>
            </a:r>
            <a:r>
              <a:rPr lang="en" altLang="zh-CN" sz="2000" b="1" dirty="0" err="1"/>
              <a:t>Os</a:t>
            </a:r>
            <a:r>
              <a:rPr lang="en" altLang="zh-CN" sz="2000" b="1" dirty="0"/>
              <a:t> only to read adjacency lists</a:t>
            </a:r>
            <a:r>
              <a:rPr lang="en" altLang="zh-CN" sz="2000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sz="2000" dirty="0"/>
              <a:t>NaviX-warm-quant-1GB: We give a small amount buffer manager space to </a:t>
            </a:r>
            <a:r>
              <a:rPr lang="en" altLang="zh-CN" sz="2000" dirty="0" err="1"/>
              <a:t>NaviX</a:t>
            </a:r>
            <a:r>
              <a:rPr lang="en" altLang="zh-CN" sz="2000" dirty="0"/>
              <a:t>-cold-</a:t>
            </a:r>
            <a:r>
              <a:rPr lang="en" altLang="zh-CN" sz="2000" dirty="0" err="1"/>
              <a:t>quant,and</a:t>
            </a:r>
            <a:r>
              <a:rPr lang="en" altLang="zh-CN" sz="2000" dirty="0"/>
              <a:t> the adjacency lists are partially cached.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sz="2000" dirty="0"/>
              <a:t>NaviX-warm-quant-10GB: We give enough buffer manager space to Kuzu to cache most or all of the adjacency lists.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87827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106C8-80A8-D3BA-3114-2F0C1BF1A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4777D1D-FD29-426F-3F28-97E2817DAACE}"/>
              </a:ext>
            </a:extLst>
          </p:cNvPr>
          <p:cNvSpPr/>
          <p:nvPr/>
        </p:nvSpPr>
        <p:spPr>
          <a:xfrm>
            <a:off x="0" y="0"/>
            <a:ext cx="12192000" cy="12233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93F5975-7DD1-8551-1F84-2A74F6F842E9}"/>
              </a:ext>
            </a:extLst>
          </p:cNvPr>
          <p:cNvSpPr txBox="1"/>
          <p:nvPr/>
        </p:nvSpPr>
        <p:spPr>
          <a:xfrm>
            <a:off x="160637" y="226938"/>
            <a:ext cx="55358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400" dirty="0">
                <a:solidFill>
                  <a:schemeClr val="bg1"/>
                </a:solidFill>
              </a:rPr>
              <a:t>Evaluation</a:t>
            </a:r>
            <a:endParaRPr kumimoji="1"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3454BCB-493C-EF42-26DB-0DDBBA335DD9}"/>
              </a:ext>
            </a:extLst>
          </p:cNvPr>
          <p:cNvSpPr txBox="1"/>
          <p:nvPr/>
        </p:nvSpPr>
        <p:spPr>
          <a:xfrm>
            <a:off x="637953" y="1450257"/>
            <a:ext cx="6145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sz="2800" b="1" dirty="0"/>
              <a:t>Indexing Time (mins)</a:t>
            </a:r>
          </a:p>
        </p:txBody>
      </p:sp>
      <p:pic>
        <p:nvPicPr>
          <p:cNvPr id="5" name="图片 4" descr="表格&#10;&#10;AI 生成的内容可能不正确。">
            <a:extLst>
              <a:ext uri="{FF2B5EF4-FFF2-40B4-BE49-F238E27FC236}">
                <a16:creationId xmlns:a16="http://schemas.microsoft.com/office/drawing/2014/main" id="{04BCF1B6-037A-654C-1010-AC5219D42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614" y="2200415"/>
            <a:ext cx="5727700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822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1028</TotalTime>
  <Words>661</Words>
  <Application>Microsoft Macintosh PowerPoint</Application>
  <PresentationFormat>宽屏</PresentationFormat>
  <Paragraphs>76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陈广泽</dc:creator>
  <cp:lastModifiedBy>陈广泽</cp:lastModifiedBy>
  <cp:revision>5</cp:revision>
  <dcterms:created xsi:type="dcterms:W3CDTF">2025-11-14T07:05:09Z</dcterms:created>
  <dcterms:modified xsi:type="dcterms:W3CDTF">2025-11-16T15:50:52Z</dcterms:modified>
</cp:coreProperties>
</file>