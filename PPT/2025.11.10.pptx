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32EEF-890A-42C4-B649-4D22CB3F94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06391-5292-4495-A79D-8DDE00D261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98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56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6CA6-02D1-6418-6849-F391781A8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CCA9CB-5316-71C4-B992-EBE7CC515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2852D7-0B47-AB12-C02D-FDB80E199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74BE73-D867-3579-2808-4AF3D6AF3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565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9A87-48E6-BE71-D46E-D56F0628C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D01FB7-79BE-C78C-2EC9-FB34A1AEC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4FDF6A-04CC-CFF9-3A20-201495ACA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984B49-26C8-6A9C-75EE-C57EDDA19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954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A247-802D-D3F1-8186-9750EA224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B37917-D3FD-52E4-3DF5-B53002EA5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25A4BC-D990-E24F-4B2C-CF57EBCBF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577E67-4105-B34D-C860-E37625533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002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A7BD-3BF0-D636-401D-D99FE2077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1C2C84-1516-C7F1-D8D3-CDEA5D57F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C7DC88-C318-6158-5154-B93C48F5F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E761B3-CE62-D9D8-AF60-5D3624BE5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702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3042-C7B0-E5ED-9B4B-43C823A37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407B91-5784-E549-BF33-7EFE2A1D6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67FA3B-CCB1-B251-5A8D-01B95A356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693ECE-0753-C9C7-FFA3-3973E8C99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431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1E23-566B-65FD-6C23-CC8CA1B43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800BDA-D94B-63F9-15D4-4FDDC181F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96CFDF-F79E-A6F4-45AF-F2014787E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A93BFD-6D44-355E-0C04-BC750AA10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808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DCA73-AD5C-0255-C658-8F44568D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6D2521-7C19-6B87-9253-C46BCDACF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6B5693-85E2-B386-864A-7D801406C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EC3B83-DFB4-9226-74E7-04B7C415E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17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01AD5-76FC-1423-150D-4859EC5C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905A34-B2D7-6852-9329-C4A852F5D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FAB301-67E9-0297-76FD-56C023C62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B008F6-CD19-FCAA-3B2B-9C38E1CBB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668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7AA3-5775-DBA8-1253-1D0A5BCD7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CF6FBE-EE5B-F554-C5C7-639D05B8A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3543F9-C3FC-7448-8DAE-B095BDD7F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07AFBB-4E3F-386B-F70D-42FECED08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069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F100E-292C-0465-FF9D-6521165C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545EE5-BB80-F916-DFE3-4F9AA1D40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8C4D23-052B-E39E-11F4-8D4F33B55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9B8B22-8A06-8EBF-5155-EA9148CF4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785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D736-8F2F-5A72-1390-F3AFEB5FD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A70C49-060A-ACE0-96D3-20BD7F3AD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D6177C-84E7-E721-CD65-5ACC4C7AB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5D486A-17AF-9D94-5BC6-BA26708F1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745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EB92-AAE9-7B76-9892-0B15614E7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55592E-467B-8679-9D5A-816C09A61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E6C4BD-B22A-C941-63ED-EA4854574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BF065D-7A83-18C4-60AA-D7CDEA699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835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6315C-9F05-C973-D575-D2485622E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AC8438-0695-6CD2-54F6-F2254132F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B66FC3-4B29-DD96-87DE-A631C2A5A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3D7E6E-53DB-2185-6BB6-95609B993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430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93CDE-F2E7-BF54-5CB7-2CB18F10E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420EFB-8930-768C-3668-134617F7B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E07BC2-09E8-9428-94B6-EB5D9B8B1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DF633D-94E9-CBFD-36A4-5C7EF94DE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318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88DD-B85D-350E-D49D-1213162D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B19AC0-AD62-3AC7-7551-F26303231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FF8361-874C-DDD6-8EC8-BA17198EB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498F88-4B64-AEEE-3086-3C54A3016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899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90ED-AA01-A8FA-5A61-075848BAA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2C332C-E08D-C98E-5A4A-E88597A75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B7D24B-F43C-354C-15A3-89F0A872C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2A0541-85E7-C8F6-6197-F30A3C2D8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66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5487-3305-F435-EE82-CA6B673C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91271B-D351-EC3A-F95C-4BE2B8635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67BC05-4EB5-BC44-B3B1-D4B91A551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2D8C03-B720-2D58-7F73-E71AEDB1A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107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DF571-6DB9-5C3A-7269-95B81EC2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1567AB-A5DB-FEC8-C42D-95F88BF5A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33547C-7E3B-295A-2C31-98D848BD4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EC1443-869D-A6DE-4D95-F5B9169FA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612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BB280-68EE-8691-31F4-E6B28641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F30BFB-41DA-49DB-0E1D-D4B6BE0F2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A68E0C-1902-36F0-6135-EA62CABF2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D9F8DD-FECC-A29C-A338-0B7E87233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673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2CE58-01C7-ED4B-2D18-1C077E12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CF7FA6-536D-CD8A-0A34-B0D0B4697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104000-B4B2-0A9F-900C-3677F0FDA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0E9B43-ED80-9CC3-D8EA-DC35AA687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6623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67381-EEF4-C938-B231-8309F823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FC738D-AC71-ED24-1685-17F303A72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EA6D84-73E8-D49E-3639-F0B4843CE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A274B8-DC50-29E0-EA84-F823A47CF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06391-5292-4495-A79D-8DDE00D2615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152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BFCFE-8366-77BF-8CA5-210EB951D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52CEC7-74AC-7CC1-CD64-456A29E31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AD5D97-34E0-39F7-0FB9-84052778D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584E45-1E98-323F-9CCB-2A8134FB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4FE8D3-EADC-B941-B687-ED476FFA8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84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8B9CE-62D8-6AA5-2F73-E73954C9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BD6476-5A61-9D32-F991-25D10C26E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45FDE-5D05-20F0-9657-8AA0AB0B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FB5002-C9A3-E4D6-9F90-0CF21C12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7DB610-6D38-1684-7D44-C058A1BD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94C6B-21B2-A12D-8AC0-AB7A5846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CE5402-E1D8-55FA-C5EB-787FE9F25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7530B-FA91-5B4B-DC09-C815B06F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B5F274-1A72-1774-14E4-0158D7FFD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8BAD71-DAA5-3A95-662F-72710826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336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9E38D-6E58-0B92-E170-B29809D3B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49AC4D-0882-B0B2-EE39-6E4BDB8DE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CEFE48-869A-3C38-70EA-A50E1B4FD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6914B8-2BE4-70D7-6D64-AED9A310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35F442-CB5B-B225-00D8-8D08A518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B265A5-517E-82CD-89E8-7094B1A2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772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C4DC4-2EE7-3221-B598-D97C7F5B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05E8E0-C646-AEC0-7291-C1F96A4AC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3B54A9-8A93-1EA3-EDB0-823CF907A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63C6DB-AA0A-6940-DA59-A4AAAEB78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453F4E-4570-6B4C-A1FB-406681114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256636-2086-813E-2548-B701B3F51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6768A6-C1E0-3A98-C35B-A5111EBF8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8BAA0C-CD70-1154-3B3C-F7F1935E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E5A2B-CF49-4AA6-CCF3-A682F50F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A89861-998E-A7D0-EABF-5715BDAB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70755B-B072-5A9D-8889-FCDD65DF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FA9C6A-5D0D-CA5F-19D5-638C67D0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64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A485C7-7E62-34FB-128F-5D9EC239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D181DE-812E-2668-99CA-9FBA18E2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BB024C-DA21-C315-5DFF-05DFEE324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1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94BAB-6588-8DB1-EA89-DAAB6ED96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578783-7677-E5CA-C266-26C694523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5A2D32-956B-2444-B4A8-1ACAD9E9D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E23E34-9299-A116-FD55-358EC9EE6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BCCBA2-6D76-AB6D-20EC-1037819B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C84B69-63BB-BAAF-CC61-8503DC399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258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DFF28-0CD7-6AE9-5763-711B68B0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ABC792-A4D7-8F96-5B0C-7C8513340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CADEB5-25DC-094B-9475-B6AD4919E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E20404-89B8-E609-B75E-8344BEB4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7F0CFB-1562-BCDE-6093-259BB4C76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BF13E5-10BD-7641-C76A-C5E6E782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754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4D489-D55C-363C-4465-27D939880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7079DD-29A6-14AE-9EC8-FFBF679A9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087E80-A499-3D4E-6847-34F75708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B7D08-029F-86C8-C83D-6F29C096B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334A2B-D310-DEE7-3929-9818300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047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F38884-CA17-B693-72EB-69EA170A2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BB3506-434A-C3BE-59D9-98338D561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58E68F-699C-4382-788F-2D165E98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FAAB25-B4C2-4289-85BD-65E149114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A34B14-1DE0-1896-BBEE-1A5883341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84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360EAA-4AB5-88D6-871E-C5584A194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F5A50E-9D9D-1239-55EC-CD902662A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41D05C-0361-0F88-7DD6-1AC373BD1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1BEAB-A107-4AAD-BC42-DD2D39381B8C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933480-9103-C420-FDAB-AB43B179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8784F9-6548-74A3-093C-BF1527CD4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6435B-1ABE-41F4-A701-1A1C603C08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15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tmp"/><Relationship Id="rId4" Type="http://schemas.openxmlformats.org/officeDocument/2006/relationships/image" Target="../media/image16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tm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3E1D28-A93C-BBC0-ABB9-2CDEE0131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9915"/>
            <a:ext cx="12192000" cy="340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41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B9F13-9513-0869-AEB5-60EA1DBB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6859772" cy="75502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72D7C6-BAD3-AC57-C425-423A8D0ED6BC}"/>
              </a:ext>
            </a:extLst>
          </p:cNvPr>
          <p:cNvSpPr txBox="1"/>
          <p:nvPr/>
        </p:nvSpPr>
        <p:spPr>
          <a:xfrm>
            <a:off x="958703" y="1325526"/>
            <a:ext cx="1058825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🔍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The Core Challenge in Database Research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Understanding real-world problems is a cornerstone of database research.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However, gaining visibility into relevant production workloads remains a significant challenge.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Most real-world query patterns are locked away in proprietary applications or on-premises infrastructure.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Cloud data platforms offers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unprecedented visibility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into true workload patterns.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📊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The Limitations of Synthetic Benchmarks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community relies on synthetic benchmarks (TPC-H, TPC-DS,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Clickbench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 to evaluate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They fall short of capturing the full diversity and dynamics of actual workloads, leaving many critical patterns unexplored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13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D6213-3674-2F16-8AD8-64774676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D4348-E8DF-E686-6428-AB688B13E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6859772" cy="75502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86345D-A4C2-E7DD-86A3-F61F9BB86C52}"/>
              </a:ext>
            </a:extLst>
          </p:cNvPr>
          <p:cNvSpPr txBox="1"/>
          <p:nvPr/>
        </p:nvSpPr>
        <p:spPr>
          <a:xfrm>
            <a:off x="958703" y="1290084"/>
            <a:ext cx="1058825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🎯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Our Two-Fold Contribution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Detailed Analysis of SQL Patterns</a:t>
            </a:r>
          </a:p>
          <a:p>
            <a:pPr marL="457200" indent="-457200">
              <a:buAutoNum type="arabicPeriod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We provide an in-depth examination of query properties (filters, joins, aggregations).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We focus on previously underexplored aspects and real-world SQL query texts/plans.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2. Identification of Benchmark Gaps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By comparing our findings with the TPC-DS benchmark, we highlight opportunities to broaden its scope.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We uncover unique, practically relevant query patterns absent from standard benchmarks.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39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BFB54-D782-FAC8-FF83-9E283DA66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0B122-D363-480C-E845-476834AF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6859772" cy="75502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B9E00E-7A7C-3A80-5A31-D39C00E7AC49}"/>
              </a:ext>
            </a:extLst>
          </p:cNvPr>
          <p:cNvSpPr txBox="1"/>
          <p:nvPr/>
        </p:nvSpPr>
        <p:spPr>
          <a:xfrm>
            <a:off x="958703" y="1003115"/>
            <a:ext cx="105882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📅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Data Source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Snowflake's internal warehouse,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Snowhouse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Duration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7 days (October 21 to 27, 2024).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667 million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production queries from a single cloud region.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🎯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Workload Filtering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Focused exclusively on queries from the most popular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BI tools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Accounted for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&gt;60%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of all BI queries during the week, ensuring representativeness.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Deliberately excluded other use cases (e.g., ETL, data engineering) to maintain workload consistency.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🔬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Analysis Approach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Draws on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occurrence-based metrics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(e.g., distribution of query types).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Query attributes (e.g., number of joins) extracted directly from optimized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query plans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Excluded: Memory/CPU consumption &amp; detailed execution times.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822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4E739-9501-AEC5-1070-3E22D0F3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CB86E-A75E-6FF9-4B37-E66B86280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6859772" cy="75502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Workload Patterns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9E83F7-1B6A-2901-0936-12A093286DFE}"/>
              </a:ext>
            </a:extLst>
          </p:cNvPr>
          <p:cNvSpPr txBox="1"/>
          <p:nvPr/>
        </p:nvSpPr>
        <p:spPr>
          <a:xfrm>
            <a:off x="958703" y="1003115"/>
            <a:ext cx="10588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1. Statement Types.</a:t>
            </a:r>
          </a:p>
          <a:p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FB24A9-211C-DAE9-8BC7-3D7ACDF79544}"/>
              </a:ext>
            </a:extLst>
          </p:cNvPr>
          <p:cNvSpPr txBox="1"/>
          <p:nvPr/>
        </p:nvSpPr>
        <p:spPr>
          <a:xfrm>
            <a:off x="958703" y="4083013"/>
            <a:ext cx="105882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Metadata Query Prevalence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High proportion of SHOW commands underscores critical role of catalog performance for BI tools.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DDL Queries Outnumber DML Queries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Data is often restructured for analysis.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Read-Heavy Nature of BI Workloads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This trend reflects the BI-centric nature of our workload.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390122-3554-0C58-2427-B861C4365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150" y="1003115"/>
            <a:ext cx="4778905" cy="340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8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F605-6EF6-CDCF-7C06-C9DF5D45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6FC0A-93F0-25D8-54DF-8941E417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6859772" cy="75502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Workload Patterns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822A7B-1129-5872-F74D-05FE6912683E}"/>
              </a:ext>
            </a:extLst>
          </p:cNvPr>
          <p:cNvSpPr txBox="1"/>
          <p:nvPr/>
        </p:nvSpPr>
        <p:spPr>
          <a:xfrm>
            <a:off x="958703" y="1003115"/>
            <a:ext cx="10588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2. SQL Features.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38D0CC-E0F7-BF2F-C54A-5AA475DB8C21}"/>
              </a:ext>
            </a:extLst>
          </p:cNvPr>
          <p:cNvSpPr txBox="1"/>
          <p:nvPr/>
        </p:nvSpPr>
        <p:spPr>
          <a:xfrm>
            <a:off x="958703" y="3331646"/>
            <a:ext cx="10588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3. Physical Operators.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BF4828-0844-5939-D287-0966CC392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899" y="1403225"/>
            <a:ext cx="4248368" cy="16764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040182B-22A2-3E82-B480-55916BD3BD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76" y="4003585"/>
            <a:ext cx="5486655" cy="226102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1B6C4FB-A2D1-B295-6D8A-B91DE62FBE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331" y="3931562"/>
            <a:ext cx="5970872" cy="205811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AFE48D8-C6B1-F553-B86A-FDF1D23A3D01}"/>
              </a:ext>
            </a:extLst>
          </p:cNvPr>
          <p:cNvSpPr/>
          <p:nvPr/>
        </p:nvSpPr>
        <p:spPr>
          <a:xfrm>
            <a:off x="6252831" y="4793802"/>
            <a:ext cx="2728136" cy="2743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DA2F8AC-F502-86DD-5BDC-04351272F27D}"/>
              </a:ext>
            </a:extLst>
          </p:cNvPr>
          <p:cNvSpPr/>
          <p:nvPr/>
        </p:nvSpPr>
        <p:spPr>
          <a:xfrm>
            <a:off x="682257" y="5068186"/>
            <a:ext cx="2259417" cy="2410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E14287-F8F8-C822-A5D4-BE7DFEC5E99D}"/>
              </a:ext>
            </a:extLst>
          </p:cNvPr>
          <p:cNvSpPr/>
          <p:nvPr/>
        </p:nvSpPr>
        <p:spPr>
          <a:xfrm>
            <a:off x="682257" y="5593744"/>
            <a:ext cx="2259417" cy="2410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55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D99E-04E9-7B31-6B3A-A24FF184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48663-B931-AA5A-2DB8-5DF34EBC0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Query Complexity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7293B4-8CEA-1F92-0619-AF83DB456B2C}"/>
              </a:ext>
            </a:extLst>
          </p:cNvPr>
          <p:cNvSpPr txBox="1"/>
          <p:nvPr/>
        </p:nvSpPr>
        <p:spPr>
          <a:xfrm>
            <a:off x="958703" y="1003115"/>
            <a:ext cx="48962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 quantify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query complexity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we analyze two metrics: </a:t>
            </a:r>
          </a:p>
          <a:p>
            <a:pPr marL="457200" indent="-457200">
              <a:buAutoNum type="arabicParenBoth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SQL statement length</a:t>
            </a:r>
          </a:p>
          <a:p>
            <a:pPr marL="457200" indent="-457200">
              <a:buAutoNum type="arabicParenBoth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number of physical operators and expressions in the execution plan.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7974C0-BD6D-7CAB-8433-6051A5704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24" y="3091185"/>
            <a:ext cx="4464279" cy="32132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58E9AD0-364C-12C4-12D7-B254A285D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3" b="1400"/>
          <a:stretch>
            <a:fillRect/>
          </a:stretch>
        </p:blipFill>
        <p:spPr>
          <a:xfrm>
            <a:off x="6337007" y="935663"/>
            <a:ext cx="4756805" cy="592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70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C344-ECE8-CDC1-7965-A7012E8F3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08ADD-543C-C9D4-4E62-2765DEB82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SELECT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4CDC6E-089C-8DC1-BBAE-F3428CB42FD8}"/>
              </a:ext>
            </a:extLst>
          </p:cNvPr>
          <p:cNvSpPr txBox="1"/>
          <p:nvPr/>
        </p:nvSpPr>
        <p:spPr>
          <a:xfrm>
            <a:off x="918848" y="1003115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Scalar Expressions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0F74C2-EB98-5635-6C19-1287249BB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59" y="1758138"/>
            <a:ext cx="5264765" cy="23543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53CF2A-E62B-6A0B-8F06-886A8925AA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80"/>
          <a:stretch>
            <a:fillRect/>
          </a:stretch>
        </p:blipFill>
        <p:spPr>
          <a:xfrm>
            <a:off x="6939255" y="1114442"/>
            <a:ext cx="4508732" cy="319685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B5B9A3F-A4FB-9E72-CC58-EDD493E61220}"/>
              </a:ext>
            </a:extLst>
          </p:cNvPr>
          <p:cNvSpPr txBox="1"/>
          <p:nvPr/>
        </p:nvSpPr>
        <p:spPr>
          <a:xfrm>
            <a:off x="497959" y="4531446"/>
            <a:ext cx="5364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These functions reflect the application-driven nature of modern workloads, where logic and transformation are frequently pushed into the database.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702481-D77D-E22A-045E-B7523DD60FBD}"/>
              </a:ext>
            </a:extLst>
          </p:cNvPr>
          <p:cNvSpPr txBox="1"/>
          <p:nvPr/>
        </p:nvSpPr>
        <p:spPr>
          <a:xfrm>
            <a:off x="6511185" y="4531446"/>
            <a:ext cx="53648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Such deeply nested expressions highlight the challenges posed by hierarchical conditions and complex transformations, which place increased demands on query planners and execution engines.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917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0BDA-A0CB-1080-8393-E8363A52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7EE7C-28C3-146A-D796-577E520C5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SELECT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E58F48-AF1E-9495-5435-6AE898396F9B}"/>
              </a:ext>
            </a:extLst>
          </p:cNvPr>
          <p:cNvSpPr txBox="1"/>
          <p:nvPr/>
        </p:nvSpPr>
        <p:spPr>
          <a:xfrm>
            <a:off x="918848" y="1003115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 startAt="2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Aggregate Expressions.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8214E9-BBBA-88A5-C9B0-5086DA2F165B}"/>
              </a:ext>
            </a:extLst>
          </p:cNvPr>
          <p:cNvSpPr txBox="1"/>
          <p:nvPr/>
        </p:nvSpPr>
        <p:spPr>
          <a:xfrm>
            <a:off x="6383595" y="2915297"/>
            <a:ext cx="48940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These differences highlight the limitations of TPC-DS in representing the functional and data type diversity of real-world workloads, where non-numeric data and less conventional functions like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anyvalue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play a critical role.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6C7226-5671-905D-F88F-F83B9CDD4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18" y="1659769"/>
            <a:ext cx="4578585" cy="133356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7C16B1F-8D89-3DE5-CC01-9A70541643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69" y="3244235"/>
            <a:ext cx="4559534" cy="336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4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0108-E5F8-AE29-4A76-E87A50B6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46581-3C86-CA07-FD4A-D3A63850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FROM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4F8ED9-760F-9858-27BB-3CE5C3F43F26}"/>
              </a:ext>
            </a:extLst>
          </p:cNvPr>
          <p:cNvSpPr txBox="1"/>
          <p:nvPr/>
        </p:nvSpPr>
        <p:spPr>
          <a:xfrm>
            <a:off x="6567893" y="1526017"/>
            <a:ext cx="48940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Efficient implementations of all join types, particularly outer and semi joins, are essential to handle the diverse and complex scenarios found in real-world queries.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4C9510-9897-23CD-9978-359EE260E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70" y="1717463"/>
            <a:ext cx="4172164" cy="13399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F509A31-5E5D-2C7A-B1F4-61B19AE72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81" y="3805744"/>
            <a:ext cx="5167650" cy="22913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B89AFEF-A0BD-EFF3-AA9F-CC9A2A765B63}"/>
              </a:ext>
            </a:extLst>
          </p:cNvPr>
          <p:cNvSpPr txBox="1"/>
          <p:nvPr/>
        </p:nvSpPr>
        <p:spPr>
          <a:xfrm>
            <a:off x="6567893" y="4225782"/>
            <a:ext cx="48940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TPC-DS queries rarely exceed ten joins, underrepresenting the occasional complexity of real-world workloads.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0FE3DB-E88B-3597-7E20-9FD7BB9D21ED}"/>
              </a:ext>
            </a:extLst>
          </p:cNvPr>
          <p:cNvSpPr txBox="1"/>
          <p:nvPr/>
        </p:nvSpPr>
        <p:spPr>
          <a:xfrm>
            <a:off x="918848" y="1125907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Join Types.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162426-D863-C0B1-97BD-8C49BC27678D}"/>
              </a:ext>
            </a:extLst>
          </p:cNvPr>
          <p:cNvSpPr txBox="1"/>
          <p:nvPr/>
        </p:nvSpPr>
        <p:spPr>
          <a:xfrm>
            <a:off x="918848" y="3248828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 startAt="2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Number of Joins per Query.</a:t>
            </a:r>
          </a:p>
        </p:txBody>
      </p:sp>
    </p:spTree>
    <p:extLst>
      <p:ext uri="{BB962C8B-B14F-4D97-AF65-F5344CB8AC3E}">
        <p14:creationId xmlns:p14="http://schemas.microsoft.com/office/powerpoint/2010/main" val="163395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48C1C-6F05-91FC-697B-6E16C17E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B94CD-8A21-61FA-D2CD-608256B6E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FROM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25B075-561E-676C-4E2B-BD7D0F570C23}"/>
              </a:ext>
            </a:extLst>
          </p:cNvPr>
          <p:cNvSpPr txBox="1"/>
          <p:nvPr/>
        </p:nvSpPr>
        <p:spPr>
          <a:xfrm>
            <a:off x="989344" y="5265669"/>
            <a:ext cx="10323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Expanding benchmarks like TPC-DS to include a broader variety of key types, particularly text keys, would enhance their ability to model the complexities of real-world analytical workloads and provide a more comprehensive foundation for evaluating join algorithms.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FE8D01-7C7C-236D-D653-20BEFBDDB0A8}"/>
              </a:ext>
            </a:extLst>
          </p:cNvPr>
          <p:cNvSpPr txBox="1"/>
          <p:nvPr/>
        </p:nvSpPr>
        <p:spPr>
          <a:xfrm>
            <a:off x="1053527" y="1131843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3.    Join Key Types.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5A06C8E-EBAD-BB3C-A747-D62EABE68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80"/>
          <a:stretch>
            <a:fillRect/>
          </a:stretch>
        </p:blipFill>
        <p:spPr>
          <a:xfrm>
            <a:off x="1053527" y="1660681"/>
            <a:ext cx="4534133" cy="33190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BD6E443-82AF-BBD2-E42D-4B9968FC8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67"/>
          <a:stretch>
            <a:fillRect/>
          </a:stretch>
        </p:blipFill>
        <p:spPr>
          <a:xfrm>
            <a:off x="6620239" y="1660681"/>
            <a:ext cx="4534133" cy="325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95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694F-31E8-53D2-4E87-71F5C81C2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04CF2-0B79-ADD2-5A6C-56D07B0D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FROM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2A153C-EEE6-6DCC-D8A4-936258CE56F7}"/>
              </a:ext>
            </a:extLst>
          </p:cNvPr>
          <p:cNvSpPr txBox="1"/>
          <p:nvPr/>
        </p:nvSpPr>
        <p:spPr>
          <a:xfrm>
            <a:off x="961379" y="4670916"/>
            <a:ext cx="53189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TPC-DS queries tend to focus on large inputs exceeding 10 million rows but underrepresent smaller and mid-sized joins.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Real-world workloads, in contrast, demand join algorithms capable of handling diverse input sizes.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5C9AE5-DB89-9F04-FC6D-26EC8AE508D4}"/>
              </a:ext>
            </a:extLst>
          </p:cNvPr>
          <p:cNvSpPr txBox="1"/>
          <p:nvPr/>
        </p:nvSpPr>
        <p:spPr>
          <a:xfrm>
            <a:off x="1053527" y="1003115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4.    Join Input Cardinalities.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E663C8-ED9F-876E-9364-2BCF84B34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27" y="1403225"/>
            <a:ext cx="4711942" cy="31815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F101A60-E926-78CB-2ACF-EBFC67B75429}"/>
              </a:ext>
            </a:extLst>
          </p:cNvPr>
          <p:cNvSpPr txBox="1"/>
          <p:nvPr/>
        </p:nvSpPr>
        <p:spPr>
          <a:xfrm>
            <a:off x="6791564" y="1003115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5.    Join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Selectivities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F1D77F2-EA50-1339-7A37-23532F240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112" y="3625703"/>
            <a:ext cx="4673840" cy="14478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94E5EE3-CB62-DB77-05C1-64998B1CF3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712" y="1645633"/>
            <a:ext cx="5393057" cy="158666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874088B-B7D6-38BE-A7DC-C5C11D8AF3FD}"/>
              </a:ext>
            </a:extLst>
          </p:cNvPr>
          <p:cNvSpPr txBox="1"/>
          <p:nvPr/>
        </p:nvSpPr>
        <p:spPr>
          <a:xfrm>
            <a:off x="6708185" y="5113039"/>
            <a:ext cx="5483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Reflecting an underrepresentation of scenarios where join outputs expand significantly.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278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B17AC-3328-F4C0-D82C-8FFDC562B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E63F-E925-50E0-2007-E215FC52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WHERE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AE474D-EFBD-1262-4413-32EB5FF966CF}"/>
              </a:ext>
            </a:extLst>
          </p:cNvPr>
          <p:cNvSpPr txBox="1"/>
          <p:nvPr/>
        </p:nvSpPr>
        <p:spPr>
          <a:xfrm>
            <a:off x="989344" y="5265669"/>
            <a:ext cx="5028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Reliance on flexible, domain-specific text representations challenges optimizers.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59C013-2C6B-4FF0-6436-1B7F6F324DE5}"/>
              </a:ext>
            </a:extLst>
          </p:cNvPr>
          <p:cNvSpPr txBox="1"/>
          <p:nvPr/>
        </p:nvSpPr>
        <p:spPr>
          <a:xfrm>
            <a:off x="1053527" y="1131843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1.    Filtered Column Types.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C5DEC8-98BB-B34B-519B-D339E6E8B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27" y="1660681"/>
            <a:ext cx="4483330" cy="336567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C94978E-2380-991B-6DF6-1D5192FB18D1}"/>
              </a:ext>
            </a:extLst>
          </p:cNvPr>
          <p:cNvSpPr txBox="1"/>
          <p:nvPr/>
        </p:nvSpPr>
        <p:spPr>
          <a:xfrm>
            <a:off x="6458411" y="1131843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2.    Common Predicate Functions.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187032-2D2C-5515-14E2-7681F5178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145" y="1849637"/>
            <a:ext cx="4661140" cy="227976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128A313-A7DA-E427-8A7F-3C88D9035D48}"/>
              </a:ext>
            </a:extLst>
          </p:cNvPr>
          <p:cNvSpPr txBox="1"/>
          <p:nvPr/>
        </p:nvSpPr>
        <p:spPr>
          <a:xfrm>
            <a:off x="6308866" y="4819392"/>
            <a:ext cx="57413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Future optimizations could explore hardware-accelerated techniques (e.g., SIMD) or algorithms tailored for text filtering to address the unique challenges posed by real-world workloads.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277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3106D-819D-1DA6-1AAA-8D85BB78C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BBED7-FF4B-31C9-69EA-916D0B65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WHERE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8581D6-59BD-0CBA-C57C-C75390E22445}"/>
              </a:ext>
            </a:extLst>
          </p:cNvPr>
          <p:cNvSpPr txBox="1"/>
          <p:nvPr/>
        </p:nvSpPr>
        <p:spPr>
          <a:xfrm>
            <a:off x="989344" y="5265669"/>
            <a:ext cx="5028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presence of deeply nested filters in real-world workloads highlights opportunities for advanced optimization.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115E1D-4955-E6F5-E0AD-7473D6FA80B1}"/>
              </a:ext>
            </a:extLst>
          </p:cNvPr>
          <p:cNvSpPr txBox="1"/>
          <p:nvPr/>
        </p:nvSpPr>
        <p:spPr>
          <a:xfrm>
            <a:off x="1053527" y="1131843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3.    Nesting Depth of Filters.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89B274-FE77-846A-8D3B-82CBAE812330}"/>
              </a:ext>
            </a:extLst>
          </p:cNvPr>
          <p:cNvSpPr txBox="1"/>
          <p:nvPr/>
        </p:nvSpPr>
        <p:spPr>
          <a:xfrm>
            <a:off x="6458411" y="1131843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4.    Selectivity Distribution.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0A0F6A-7093-220E-8BA5-7EAB3C162AA3}"/>
              </a:ext>
            </a:extLst>
          </p:cNvPr>
          <p:cNvSpPr txBox="1"/>
          <p:nvPr/>
        </p:nvSpPr>
        <p:spPr>
          <a:xfrm>
            <a:off x="6308866" y="4819392"/>
            <a:ext cx="57413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broader selectivity patterns in real-world workloads highlight the need for adaptive query optimization strategies.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DDBC8D-97CC-7FAF-4350-E8E161ED5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44" y="1635033"/>
            <a:ext cx="4661140" cy="358793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5FE2356-406A-074C-72A8-CD4D1D6C2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411" y="2038608"/>
            <a:ext cx="4699242" cy="20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70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B4F85-ACD8-A3F5-B93A-58062B7EF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3BB91-D43D-A6D5-9D3D-0A0DC84F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GROUP BY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E7354C-5391-A3B8-48E8-211FEB4DE2FB}"/>
              </a:ext>
            </a:extLst>
          </p:cNvPr>
          <p:cNvSpPr txBox="1"/>
          <p:nvPr/>
        </p:nvSpPr>
        <p:spPr>
          <a:xfrm>
            <a:off x="6617899" y="1661161"/>
            <a:ext cx="4199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Aside from its lack of queries with a large number of grouping keys, TPC-DS captures the distribution of smaller groupings reasonably well.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9FBFD0-BE11-DB1A-1717-49B47AB5B10C}"/>
              </a:ext>
            </a:extLst>
          </p:cNvPr>
          <p:cNvSpPr txBox="1"/>
          <p:nvPr/>
        </p:nvSpPr>
        <p:spPr>
          <a:xfrm>
            <a:off x="1053527" y="1131843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1. Distribution of Number of Grouping Keys.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1AA5BF-C24A-8136-6BCD-2213F7165EC0}"/>
              </a:ext>
            </a:extLst>
          </p:cNvPr>
          <p:cNvSpPr txBox="1"/>
          <p:nvPr/>
        </p:nvSpPr>
        <p:spPr>
          <a:xfrm>
            <a:off x="1053527" y="3084628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2. Grouping Key Cardinalities.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F54E27-11E1-04F9-87D8-AA01B082E6D8}"/>
              </a:ext>
            </a:extLst>
          </p:cNvPr>
          <p:cNvSpPr txBox="1"/>
          <p:nvPr/>
        </p:nvSpPr>
        <p:spPr>
          <a:xfrm>
            <a:off x="6209629" y="4091863"/>
            <a:ext cx="57413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This difference highlights how TPC-DS skews toward large cardinality scenarios, underrepresenting the more common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smallto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-medium cardinalities seen in real-world workloads.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FF22E5-75D8-BC90-691F-5E68D9064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55" y="1531953"/>
            <a:ext cx="3632387" cy="135262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EF8992D-25B9-3054-B3B6-B00BA9CCD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27" y="3449242"/>
            <a:ext cx="4445228" cy="33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0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F59AB-8BB7-1558-7DB3-069E31829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0723E-6A42-92C5-8728-5B46B29B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ORDER BY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1C598E-0BCE-AFE6-F13F-6C8F3593856F}"/>
              </a:ext>
            </a:extLst>
          </p:cNvPr>
          <p:cNvSpPr txBox="1"/>
          <p:nvPr/>
        </p:nvSpPr>
        <p:spPr>
          <a:xfrm>
            <a:off x="833787" y="4943077"/>
            <a:ext cx="49361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While our workload is largely aligned with TPC-DS, it includes sorting on timestamp columns, which TPC-DS lacks.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4C5AD8-8E71-8B35-B916-70486D1D36E9}"/>
              </a:ext>
            </a:extLst>
          </p:cNvPr>
          <p:cNvSpPr txBox="1"/>
          <p:nvPr/>
        </p:nvSpPr>
        <p:spPr>
          <a:xfrm>
            <a:off x="6484735" y="4943077"/>
            <a:ext cx="5741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Reflecting a focus on small-scale sorting.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1BDBF60-BCC2-7C91-F2D4-6BE644881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05"/>
          <a:stretch>
            <a:fillRect/>
          </a:stretch>
        </p:blipFill>
        <p:spPr>
          <a:xfrm>
            <a:off x="903181" y="1182774"/>
            <a:ext cx="4610337" cy="32970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D6E3E88-13EC-80E8-C825-074D0FD93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>
            <a:fillRect/>
          </a:stretch>
        </p:blipFill>
        <p:spPr>
          <a:xfrm>
            <a:off x="6484735" y="1076448"/>
            <a:ext cx="4610337" cy="329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04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5117-59B3-449D-9EA6-765620171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25A73-1ABE-A239-8020-19C849184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LIMIT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FC42EB-2D76-B5DA-848C-550B9E9A2A9C}"/>
              </a:ext>
            </a:extLst>
          </p:cNvPr>
          <p:cNvSpPr txBox="1"/>
          <p:nvPr/>
        </p:nvSpPr>
        <p:spPr>
          <a:xfrm>
            <a:off x="6209629" y="1933134"/>
            <a:ext cx="55741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Further investigation revealed that some business intelligence (BI) tools set large default limits to ensure that desktop data visualization applications receive a sufficient amount of data.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E9427D-BF09-4677-5037-1AE754D0F96D}"/>
              </a:ext>
            </a:extLst>
          </p:cNvPr>
          <p:cNvSpPr txBox="1"/>
          <p:nvPr/>
        </p:nvSpPr>
        <p:spPr>
          <a:xfrm>
            <a:off x="1053527" y="1131843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1.    Limit Without Order By.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A669F3-C39C-0566-42BD-B4A251F2BC5D}"/>
              </a:ext>
            </a:extLst>
          </p:cNvPr>
          <p:cNvSpPr txBox="1"/>
          <p:nvPr/>
        </p:nvSpPr>
        <p:spPr>
          <a:xfrm>
            <a:off x="1053527" y="3945214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2.    Limit With Order By (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TopK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Queries).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1D094C-B5E2-6981-04D8-0FD3C0903A9F}"/>
              </a:ext>
            </a:extLst>
          </p:cNvPr>
          <p:cNvSpPr txBox="1"/>
          <p:nvPr/>
        </p:nvSpPr>
        <p:spPr>
          <a:xfrm>
            <a:off x="6209629" y="4666021"/>
            <a:ext cx="57413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This indicates that top-k queries, often considered lightweight operations, must also adapt to a range of scenarios from returning no data at all to delivering extensive result sets.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3AAED5-0822-1ECE-4AE7-D60BB513B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625" y="1586202"/>
            <a:ext cx="4413477" cy="230516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4F6AD6B-5CA2-AC0E-F24F-586594391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625" y="4399168"/>
            <a:ext cx="4546834" cy="20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24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CE87C-39C8-F5F9-8ECB-2B6152D34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F3AC1-2F68-4B13-75DC-47D13B95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Patterns: UNION ALL Clause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D24F41-C763-31B9-5152-B2EA371A4327}"/>
              </a:ext>
            </a:extLst>
          </p:cNvPr>
          <p:cNvSpPr txBox="1"/>
          <p:nvPr/>
        </p:nvSpPr>
        <p:spPr>
          <a:xfrm>
            <a:off x="521899" y="5172520"/>
            <a:ext cx="5574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Emphasizing the importance of ensuring efficient plan execution even for queries with extensive query blocks.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8BAE1E-632D-4207-C6E2-4FF085F74913}"/>
              </a:ext>
            </a:extLst>
          </p:cNvPr>
          <p:cNvSpPr txBox="1"/>
          <p:nvPr/>
        </p:nvSpPr>
        <p:spPr>
          <a:xfrm>
            <a:off x="1053527" y="1131843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1. Distribution of Union All Operators.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0B03D8-FE14-6F7F-FC8C-5AA64935876A}"/>
              </a:ext>
            </a:extLst>
          </p:cNvPr>
          <p:cNvSpPr txBox="1"/>
          <p:nvPr/>
        </p:nvSpPr>
        <p:spPr>
          <a:xfrm>
            <a:off x="6405248" y="1131843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2. Distribution of Number of Input Links.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DB340A-2080-1D61-8BE6-555190958EB2}"/>
              </a:ext>
            </a:extLst>
          </p:cNvPr>
          <p:cNvSpPr txBox="1"/>
          <p:nvPr/>
        </p:nvSpPr>
        <p:spPr>
          <a:xfrm>
            <a:off x="6230894" y="4202762"/>
            <a:ext cx="57413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This one-percent tail of highly complex operators indicates that systems must efficiently handle cases where numerous input streams merge into a single result set.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ACFA38-39C7-EA1B-3D3F-DDCDDAF1B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77" y="1580087"/>
            <a:ext cx="4407126" cy="33529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20BF1DE-0B0F-49A3-441C-4ABD35F17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817" y="2238750"/>
            <a:ext cx="4699242" cy="14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43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88E8-CE53-240B-2EBA-6DE80883D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64C08-D5BB-255D-C171-FF2CC80D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OUTLOOK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EE54B8-31A9-BA35-527C-6645A2F58526}"/>
              </a:ext>
            </a:extLst>
          </p:cNvPr>
          <p:cNvSpPr txBox="1"/>
          <p:nvPr/>
        </p:nvSpPr>
        <p:spPr>
          <a:xfrm>
            <a:off x="682257" y="1003115"/>
            <a:ext cx="5574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Extending TPC-DS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6E9865-D8AA-0B5E-C4D6-B81A82F150BB}"/>
              </a:ext>
            </a:extLst>
          </p:cNvPr>
          <p:cNvSpPr txBox="1"/>
          <p:nvPr/>
        </p:nvSpPr>
        <p:spPr>
          <a:xfrm>
            <a:off x="876318" y="1593508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1.    Metadata Queries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7A4C4E-AECB-F0F6-2CD8-A2F608E17D50}"/>
              </a:ext>
            </a:extLst>
          </p:cNvPr>
          <p:cNvSpPr txBox="1"/>
          <p:nvPr/>
        </p:nvSpPr>
        <p:spPr>
          <a:xfrm>
            <a:off x="876318" y="3645840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2.    Expressions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9C04DD-CC8A-8EED-7C5A-6907A24BD426}"/>
              </a:ext>
            </a:extLst>
          </p:cNvPr>
          <p:cNvSpPr txBox="1"/>
          <p:nvPr/>
        </p:nvSpPr>
        <p:spPr>
          <a:xfrm>
            <a:off x="1281675" y="2158009"/>
            <a:ext cx="104991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Finding: Metadata queries (e.g., SHOW) are a critical component (31% of all statements).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Gap: Completely absent in TPC-DS.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Recommendation: Incorporate metadata-heavy queries to evaluate catalog performance, caching, and indexing.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DBB6AB-182A-DF0D-D915-29C7C8CC1E01}"/>
              </a:ext>
            </a:extLst>
          </p:cNvPr>
          <p:cNvSpPr txBox="1"/>
          <p:nvPr/>
        </p:nvSpPr>
        <p:spPr>
          <a:xfrm>
            <a:off x="1281675" y="4210342"/>
            <a:ext cx="102652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Finding: Production workloads frequently feature deeply nested expressions (some &gt;100 depth).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Gap: TPC-DS does not account for such deep nesting, limiting its ability to stress-test query optimizers.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Recommendation: Expand benchmarks to include complex, deeply nested expression patterns.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956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7062F-9692-28FC-97A8-7B794F61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BF569-2160-8ADE-05A8-1FEC3AA8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OUTLOOK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1C8DAD-5909-573C-6953-ECCFD424ACBA}"/>
              </a:ext>
            </a:extLst>
          </p:cNvPr>
          <p:cNvSpPr txBox="1"/>
          <p:nvPr/>
        </p:nvSpPr>
        <p:spPr>
          <a:xfrm>
            <a:off x="682257" y="1003115"/>
            <a:ext cx="5574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Extending TPC-DS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716467-F0CD-FDA6-EE85-F141FCB51621}"/>
              </a:ext>
            </a:extLst>
          </p:cNvPr>
          <p:cNvSpPr txBox="1"/>
          <p:nvPr/>
        </p:nvSpPr>
        <p:spPr>
          <a:xfrm>
            <a:off x="876318" y="1593508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3.    Joins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1536FF-4E49-BA49-3086-AE52EFF1DFB6}"/>
              </a:ext>
            </a:extLst>
          </p:cNvPr>
          <p:cNvSpPr txBox="1"/>
          <p:nvPr/>
        </p:nvSpPr>
        <p:spPr>
          <a:xfrm>
            <a:off x="876318" y="3886844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4.    Aggregations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CBEAA6-E946-A936-128E-62C8C436985F}"/>
              </a:ext>
            </a:extLst>
          </p:cNvPr>
          <p:cNvSpPr txBox="1"/>
          <p:nvPr/>
        </p:nvSpPr>
        <p:spPr>
          <a:xfrm>
            <a:off x="1281675" y="2158009"/>
            <a:ext cx="104991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Finding: A long tail of join complexity exists (e.g., &gt;500 joins), with heavy use of outer joins (37%) and text-based keys (~50%).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Gap: TPC-DS underrepresents large join graphs, focuses on inner joins, and uses primarily integer keys.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Recommendation: Include diverse join types, exploding joins, and text-key joins.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82D030-774B-DD24-C277-9E0CAB6F6B30}"/>
              </a:ext>
            </a:extLst>
          </p:cNvPr>
          <p:cNvSpPr txBox="1"/>
          <p:nvPr/>
        </p:nvSpPr>
        <p:spPr>
          <a:xfrm>
            <a:off x="1281675" y="4522230"/>
            <a:ext cx="102652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Finding: Aggregations like ANY_VALUE (58%) and those involving text-based columns (34%) are common.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Gap: TPC-DS is dominated by SUM/COUNT on numeric data, with minimal use of ANY_VALUE.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Recommendation: Add queries with ANY_VALUE and aggregations on non-numeric data types.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18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AF6F9-554B-B328-3AB4-2296A747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90414-E23E-A598-2839-25009AE8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OUTLOOK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2392F7-2BCF-D90D-4CA4-DB6D5F00F901}"/>
              </a:ext>
            </a:extLst>
          </p:cNvPr>
          <p:cNvSpPr txBox="1"/>
          <p:nvPr/>
        </p:nvSpPr>
        <p:spPr>
          <a:xfrm>
            <a:off x="682257" y="1003115"/>
            <a:ext cx="5574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Extending TPC-DS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B1301D-F691-512E-E059-9F5D7007B938}"/>
              </a:ext>
            </a:extLst>
          </p:cNvPr>
          <p:cNvSpPr txBox="1"/>
          <p:nvPr/>
        </p:nvSpPr>
        <p:spPr>
          <a:xfrm>
            <a:off x="876318" y="1593508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5.    Limit and Top-K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3ECF59-9660-5945-082B-F4FD5AB9D85B}"/>
              </a:ext>
            </a:extLst>
          </p:cNvPr>
          <p:cNvSpPr txBox="1"/>
          <p:nvPr/>
        </p:nvSpPr>
        <p:spPr>
          <a:xfrm>
            <a:off x="876318" y="3886844"/>
            <a:ext cx="639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6.    Union All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8CFD99-C525-731D-A165-07A65D326630}"/>
              </a:ext>
            </a:extLst>
          </p:cNvPr>
          <p:cNvSpPr txBox="1"/>
          <p:nvPr/>
        </p:nvSpPr>
        <p:spPr>
          <a:xfrm>
            <a:off x="1281675" y="2158009"/>
            <a:ext cx="104991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Finding: LIMIT often requests large result sets (78% return &gt;1M rows). Top-K queries show high variability.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Gap: TPC-DS does not account for these large-result scenarios.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Recommendation: Include large-result LIMIT queries to test performance under high-output conditions.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30DFE4-7A57-2E8D-5E1B-336C621F7520}"/>
              </a:ext>
            </a:extLst>
          </p:cNvPr>
          <p:cNvSpPr txBox="1"/>
          <p:nvPr/>
        </p:nvSpPr>
        <p:spPr>
          <a:xfrm>
            <a:off x="1281675" y="4522230"/>
            <a:ext cx="102652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Finding: Production workloads exceed TPC-DS limits, with 2.7% of queries containing &gt;10 operators and 0.4% exceeding 100 input links.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Gap: TPC-DS has a much lower upper bound for UNION ALL complexity.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Recommendation: Incorporate queries with extensive UNION ALL usage to test inter-operator parallelism.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297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0B74B-349A-39D3-2EFB-2E2DB2945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CF690-1937-9695-F954-81FA8209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OUTLOOK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1D2C9A-3B4D-34FA-D0EC-DDC55FFC79FD}"/>
              </a:ext>
            </a:extLst>
          </p:cNvPr>
          <p:cNvSpPr txBox="1"/>
          <p:nvPr/>
        </p:nvSpPr>
        <p:spPr>
          <a:xfrm>
            <a:off x="682257" y="1003115"/>
            <a:ext cx="5574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Unusual but Not Uncommon Queries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8A99F7-59AE-C3EA-C62D-96902FCE2B41}"/>
              </a:ext>
            </a:extLst>
          </p:cNvPr>
          <p:cNvSpPr txBox="1"/>
          <p:nvPr/>
        </p:nvSpPr>
        <p:spPr>
          <a:xfrm>
            <a:off x="682257" y="1582261"/>
            <a:ext cx="104991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Identifying Significant Outliers: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Employed Isolation Forests to identify the top 1% of outlier queries.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Even at cloud scale, 1% represents a substantial number of queries that can influence system design.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40FE40-BBB1-279D-ADB3-43F48DB02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08" y="3086501"/>
            <a:ext cx="6636091" cy="18796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00B4F41-EFB2-FC98-35D9-EBB2B15A5641}"/>
              </a:ext>
            </a:extLst>
          </p:cNvPr>
          <p:cNvSpPr txBox="1"/>
          <p:nvPr/>
        </p:nvSpPr>
        <p:spPr>
          <a:xfrm>
            <a:off x="682253" y="5275739"/>
            <a:ext cx="10499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These findings reinforce the need for robust query processing and resource management strategies capable of efficiently handling diverse and challenging workloads.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656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A3A03-0DDD-5D9A-38DB-FEE18141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87570-876B-4F78-DA9E-E2001084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E4440F-56C5-C9C0-AF60-6BE87813644C}"/>
              </a:ext>
            </a:extLst>
          </p:cNvPr>
          <p:cNvSpPr txBox="1"/>
          <p:nvPr/>
        </p:nvSpPr>
        <p:spPr>
          <a:xfrm>
            <a:off x="682257" y="854259"/>
            <a:ext cx="5574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Workload Analysis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03F3C0-F093-A417-5E38-336B3425D60C}"/>
              </a:ext>
            </a:extLst>
          </p:cNvPr>
          <p:cNvSpPr txBox="1"/>
          <p:nvPr/>
        </p:nvSpPr>
        <p:spPr>
          <a:xfrm>
            <a:off x="682257" y="1315924"/>
            <a:ext cx="1049919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Snowset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Vuppalapati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et al.)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Focus: Published statistics for 70M queries from Snowflake.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Contribution: Identified research opportunities based on query characteristics, workload patterns, and system performance.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Our Complement: We focus on core relational operators and explicit comparison with TPC-DS.</a:t>
            </a:r>
          </a:p>
          <a:p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Redset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(van Renen et al.)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Focus: Extensive analysis of Amazon Redshift fleet; addressed data characteristics (table properties, data skew, value distributions).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Contribution: Published an anonymized query log dataset.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Our Complement: We investigate how queries are structured (e.g., 31% metadata queries, 78% LIMITs &gt;1M rows), providing query-level insights absent from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Redset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TracEx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(Durner et al.)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Focus: A workload exploration tool for detailed analysis of query traces.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Finding: Compared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Snowset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with TPC-DS and concluded TPC-DS lacks comprehensive coverage.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Alignment: This conclusion is consistent with our findings.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700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959AD-6DC3-C145-6217-E2A5FC32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9F4C1-5278-B27D-F5CC-CFB4DD039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A54351-FEDC-641A-162C-73AD15C13E29}"/>
              </a:ext>
            </a:extLst>
          </p:cNvPr>
          <p:cNvSpPr txBox="1"/>
          <p:nvPr/>
        </p:nvSpPr>
        <p:spPr>
          <a:xfrm>
            <a:off x="682257" y="901364"/>
            <a:ext cx="5574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Benchmarks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103459-C351-38BC-29EB-33E70D3F0520}"/>
              </a:ext>
            </a:extLst>
          </p:cNvPr>
          <p:cNvSpPr txBox="1"/>
          <p:nvPr/>
        </p:nvSpPr>
        <p:spPr>
          <a:xfrm>
            <a:off x="682257" y="1535664"/>
            <a:ext cx="1049919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Benchmarks for Cloud Databases (Binnig et al.)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Argument: Cloud benchmarks must account for scalability, elasticity, fault tolerance, and pay-as-you-go pricing.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The Elasticity Test (Poggi et al.)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Contribution: An extension to TPC benchmarks for cloud environments, emphasizing elasticity and SLA-based metrics.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Cloud Analytics Benchmark - CAB (van Renen et al.)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Motivation: Proposed to address shortcomings of TPC-DS and TPC-H when compared to real-world cloud workloads (using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Snowset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Goal: Enable more accurate evaluation of performance and cost-effectiveness in the cloud. </a:t>
            </a:r>
          </a:p>
        </p:txBody>
      </p:sp>
    </p:spTree>
    <p:extLst>
      <p:ext uri="{BB962C8B-B14F-4D97-AF65-F5344CB8AC3E}">
        <p14:creationId xmlns:p14="http://schemas.microsoft.com/office/powerpoint/2010/main" val="2679109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4D7DE-7DA0-002D-2E87-0ADBCAB14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2161E-9E37-D54C-B36E-9E575396D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7" y="248092"/>
            <a:ext cx="9468292" cy="75502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2A04B1-DF3E-A242-4FA6-4409894D52CA}"/>
              </a:ext>
            </a:extLst>
          </p:cNvPr>
          <p:cNvSpPr txBox="1"/>
          <p:nvPr/>
        </p:nvSpPr>
        <p:spPr>
          <a:xfrm>
            <a:off x="1150090" y="917912"/>
            <a:ext cx="1049919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📈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Workload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 long tail of complex queries challenges systems at scale.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Even rare patterns are frequent enough to impact design.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🔍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Key Query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Prevalent use of conditional logic, text processing, and deep nesting.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Enables algorithm evaluation against real-world patterns.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⚠️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TPC-DS Gaps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Missing Metadata Queries (31% of workload).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Underrepresented Complexities (expressions, joins).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Lack of Diversity in operators and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selectivities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🚀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Benchmark Evolution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Evolve benchmarks to reflect modern workload diversity.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Incorporate metadata, complex joins, and mixed filters.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🎯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Contribution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Guides the development of robust and scalable systems for real-world analytics.</a:t>
            </a:r>
          </a:p>
        </p:txBody>
      </p:sp>
    </p:spTree>
    <p:extLst>
      <p:ext uri="{BB962C8B-B14F-4D97-AF65-F5344CB8AC3E}">
        <p14:creationId xmlns:p14="http://schemas.microsoft.com/office/powerpoint/2010/main" val="875965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1834</Words>
  <Application>Microsoft Office PowerPoint</Application>
  <PresentationFormat>宽屏</PresentationFormat>
  <Paragraphs>208</Paragraphs>
  <Slides>25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等线</vt:lpstr>
      <vt:lpstr>等线 Light</vt:lpstr>
      <vt:lpstr>Arial</vt:lpstr>
      <vt:lpstr>Times New Roman</vt:lpstr>
      <vt:lpstr>Wingdings</vt:lpstr>
      <vt:lpstr>Office 主题​​</vt:lpstr>
      <vt:lpstr>PowerPoint 演示文稿</vt:lpstr>
      <vt:lpstr>Introduction</vt:lpstr>
      <vt:lpstr>Introduction</vt:lpstr>
      <vt:lpstr>Methodology</vt:lpstr>
      <vt:lpstr>General Workload Patterns</vt:lpstr>
      <vt:lpstr>General Workload Patterns</vt:lpstr>
      <vt:lpstr>Understanding Query Complexity</vt:lpstr>
      <vt:lpstr>Query Patterns: SELECT Clause</vt:lpstr>
      <vt:lpstr>Query Patterns: SELECT Clause</vt:lpstr>
      <vt:lpstr>Query Patterns: FROM Clause</vt:lpstr>
      <vt:lpstr>Query Patterns: FROM Clause</vt:lpstr>
      <vt:lpstr>Query Patterns: FROM Clause</vt:lpstr>
      <vt:lpstr>Query Patterns: WHERE Clause</vt:lpstr>
      <vt:lpstr>Query Patterns: WHERE Clause</vt:lpstr>
      <vt:lpstr>Query Patterns: GROUP BY Clause</vt:lpstr>
      <vt:lpstr>Query Patterns: ORDER BY Clause</vt:lpstr>
      <vt:lpstr>Query Patterns: LIMIT Clause</vt:lpstr>
      <vt:lpstr>Query Patterns: UNION ALL Clause</vt:lpstr>
      <vt:lpstr>DISCUSSION AND OUTLOOK</vt:lpstr>
      <vt:lpstr>DISCUSSION AND OUTLOOK</vt:lpstr>
      <vt:lpstr>DISCUSSION AND OUTLOOK</vt:lpstr>
      <vt:lpstr>DISCUSSION AND OUTLOOK</vt:lpstr>
      <vt:lpstr>RELATED WORK</vt:lpstr>
      <vt:lpstr>RELATED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 xiang</dc:creator>
  <cp:lastModifiedBy>xinyu xiang</cp:lastModifiedBy>
  <cp:revision>6</cp:revision>
  <dcterms:created xsi:type="dcterms:W3CDTF">2025-11-09T13:13:53Z</dcterms:created>
  <dcterms:modified xsi:type="dcterms:W3CDTF">2025-11-09T19:39:52Z</dcterms:modified>
</cp:coreProperties>
</file>