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9" r:id="rId4"/>
    <p:sldId id="271" r:id="rId5"/>
    <p:sldId id="261" r:id="rId6"/>
    <p:sldId id="274" r:id="rId7"/>
    <p:sldId id="264" r:id="rId8"/>
    <p:sldId id="262" r:id="rId9"/>
    <p:sldId id="276" r:id="rId10"/>
    <p:sldId id="277" r:id="rId11"/>
    <p:sldId id="275" r:id="rId12"/>
    <p:sldId id="263" r:id="rId13"/>
    <p:sldId id="265" r:id="rId14"/>
    <p:sldId id="266" r:id="rId15"/>
    <p:sldId id="267" r:id="rId16"/>
    <p:sldId id="278" r:id="rId17"/>
    <p:sldId id="268" r:id="rId18"/>
    <p:sldId id="279" r:id="rId19"/>
    <p:sldId id="269" r:id="rId20"/>
    <p:sldId id="270" r:id="rId21"/>
    <p:sldId id="281" r:id="rId22"/>
    <p:sldId id="282" r:id="rId23"/>
    <p:sldId id="283" r:id="rId24"/>
    <p:sldId id="280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1491" autoAdjust="0"/>
  </p:normalViewPr>
  <p:slideViewPr>
    <p:cSldViewPr snapToGrid="0">
      <p:cViewPr varScale="1">
        <p:scale>
          <a:sx n="90" d="100"/>
          <a:sy n="90" d="100"/>
        </p:scale>
        <p:origin x="63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5389C2-EA28-414D-A763-BD4477F475D7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903FEF-3B2D-458A-A4BA-904EA5F6656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70495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149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异常诊断和根因分析的介绍主要依托 </a:t>
            </a:r>
            <a:r>
              <a:rPr lang="en-US" altLang="zh-CN" dirty="0"/>
              <a:t>D-Bot </a:t>
            </a:r>
            <a:r>
              <a:rPr lang="zh-CN" altLang="en-US" dirty="0"/>
              <a:t>介绍，这篇论文由 周煊赫，李国良等发表在 </a:t>
            </a:r>
            <a:r>
              <a:rPr lang="en-US" altLang="zh-CN" dirty="0"/>
              <a:t>VLDB 2024</a:t>
            </a:r>
            <a:r>
              <a:rPr lang="zh-CN" altLang="en-US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027905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这篇文章的 </a:t>
            </a:r>
            <a:r>
              <a:rPr lang="en-US" altLang="zh-CN" dirty="0"/>
              <a:t>Introduction </a:t>
            </a:r>
            <a:r>
              <a:rPr lang="zh-CN" altLang="en-US" dirty="0"/>
              <a:t>逻辑很清晰，下面对 </a:t>
            </a:r>
            <a:r>
              <a:rPr lang="en-US" altLang="zh-CN" dirty="0"/>
              <a:t>introduction </a:t>
            </a:r>
            <a:r>
              <a:rPr lang="zh-CN" altLang="en-US" dirty="0"/>
              <a:t>的每一部分逐步介绍。</a:t>
            </a:r>
            <a:endParaRPr lang="en-US" altLang="zh-CN" dirty="0"/>
          </a:p>
          <a:p>
            <a:r>
              <a:rPr lang="zh-CN" altLang="en-US" dirty="0"/>
              <a:t>首先简单几句话引入，数据库诊断是检测，分析，解决数据库异常。数据库异常种类繁多并伴随复杂的关联关系，使得简单规则难以实施。</a:t>
            </a:r>
            <a:endParaRPr lang="en-US" altLang="zh-CN" dirty="0"/>
          </a:p>
          <a:p>
            <a:r>
              <a:rPr lang="zh-CN" altLang="en-US" dirty="0"/>
              <a:t>数据库厂商记录了九百多起异常事件，有慢查询，配置不合理，内部统计质量问题，插入大量数据等问题。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88203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下面举了一个</a:t>
            </a:r>
            <a:r>
              <a:rPr lang="en-US" altLang="zh-CN" dirty="0"/>
              <a:t>DBA</a:t>
            </a:r>
            <a:r>
              <a:rPr lang="zh-CN" altLang="en-US" dirty="0"/>
              <a:t>进行异常诊断的例子。</a:t>
            </a:r>
            <a:endParaRPr lang="en-US" altLang="zh-CN" dirty="0"/>
          </a:p>
          <a:p>
            <a:r>
              <a:rPr lang="zh-CN" altLang="en-US" dirty="0"/>
              <a:t>当客户报告一个数据库性能异常，</a:t>
            </a:r>
            <a:r>
              <a:rPr lang="en-US" altLang="zh-CN" dirty="0"/>
              <a:t>DBA</a:t>
            </a:r>
            <a:r>
              <a:rPr lang="zh-CN" altLang="en-US" dirty="0"/>
              <a:t>检查触发的报警，例如</a:t>
            </a:r>
            <a:r>
              <a:rPr lang="en-US" altLang="zh-CN" dirty="0"/>
              <a:t>CPU</a:t>
            </a:r>
            <a:r>
              <a:rPr lang="zh-CN" altLang="en-US" dirty="0"/>
              <a:t>利用率过高，然后</a:t>
            </a:r>
            <a:r>
              <a:rPr lang="en-US" altLang="zh-CN" dirty="0"/>
              <a:t>DBA</a:t>
            </a:r>
            <a:r>
              <a:rPr lang="zh-CN" altLang="en-US" dirty="0"/>
              <a:t>分析相关的指标，例如执行的查询。然后对该异常事件进行分析，找到</a:t>
            </a:r>
            <a:r>
              <a:rPr lang="en-US" altLang="zh-CN" dirty="0"/>
              <a:t>TOP-k</a:t>
            </a:r>
            <a:r>
              <a:rPr lang="zh-CN" altLang="en-US" dirty="0"/>
              <a:t>个慢</a:t>
            </a:r>
            <a:r>
              <a:rPr lang="en-US" altLang="zh-CN" dirty="0"/>
              <a:t>SQL</a:t>
            </a:r>
            <a:r>
              <a:rPr lang="zh-CN" altLang="en-US" dirty="0"/>
              <a:t>。</a:t>
            </a:r>
            <a:endParaRPr lang="en-US" altLang="zh-CN" dirty="0"/>
          </a:p>
          <a:p>
            <a:r>
              <a:rPr lang="zh-CN" altLang="en-US" dirty="0"/>
              <a:t>针对慢</a:t>
            </a:r>
            <a:r>
              <a:rPr lang="en-US" altLang="zh-CN" dirty="0"/>
              <a:t>SQL</a:t>
            </a:r>
            <a:r>
              <a:rPr lang="zh-CN" altLang="en-US" dirty="0"/>
              <a:t>进行优化。最后将该案例写成一个报告。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05052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人工异常分析的局限性：</a:t>
            </a:r>
            <a:r>
              <a:rPr lang="en-US" altLang="zh-CN" dirty="0"/>
              <a:t>1 </a:t>
            </a:r>
            <a:r>
              <a:rPr lang="zh-CN" altLang="en-US" dirty="0"/>
              <a:t>培养一个资深</a:t>
            </a:r>
            <a:r>
              <a:rPr lang="en-US" altLang="zh-CN" dirty="0"/>
              <a:t>DBA</a:t>
            </a:r>
            <a:r>
              <a:rPr lang="zh-CN" altLang="en-US" dirty="0"/>
              <a:t>时间成本高，</a:t>
            </a:r>
            <a:r>
              <a:rPr lang="en-US" altLang="zh-CN" dirty="0"/>
              <a:t>2 </a:t>
            </a:r>
            <a:r>
              <a:rPr lang="zh-CN" altLang="en-US" dirty="0"/>
              <a:t>人力难以管理海量数据库实例，</a:t>
            </a:r>
            <a:r>
              <a:rPr lang="en-US" altLang="zh-CN" dirty="0"/>
              <a:t>3 </a:t>
            </a:r>
            <a:r>
              <a:rPr lang="zh-CN" altLang="en-US" dirty="0"/>
              <a:t>可能无法对紧急或者跨模块事件及时响应。</a:t>
            </a:r>
            <a:endParaRPr lang="en-US" altLang="zh-CN" dirty="0"/>
          </a:p>
          <a:p>
            <a:r>
              <a:rPr lang="zh-CN" altLang="en-US" dirty="0"/>
              <a:t>半自动诊断工具：缺乏领域知识，泛化能力较差，没有推理能力。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98273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诊断系统目标：准确的逻辑推理，自动分析解决异常，高泛化性。</a:t>
            </a:r>
            <a:endParaRPr lang="en-US" altLang="zh-CN" dirty="0"/>
          </a:p>
          <a:p>
            <a:r>
              <a:rPr lang="zh-CN" altLang="en-US" dirty="0"/>
              <a:t>使用</a:t>
            </a:r>
            <a:r>
              <a:rPr lang="en-US" altLang="zh-CN" dirty="0"/>
              <a:t>LLM</a:t>
            </a:r>
            <a:r>
              <a:rPr lang="zh-CN" altLang="en-US" dirty="0"/>
              <a:t>搭建诊断系统需要面临的挑战：从长文档中提取知识并与异常场景匹配。解决推理过早终止和幻觉问题。设计多智能体协同机制。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22623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贡献是，一个诊断框架，框架中三个点，</a:t>
            </a:r>
            <a:r>
              <a:rPr lang="en-US" altLang="zh-CN" dirty="0"/>
              <a:t>prompt</a:t>
            </a:r>
            <a:r>
              <a:rPr lang="zh-CN" altLang="en-US" dirty="0"/>
              <a:t>设计，树状推理链路，多智能体协作机制。最后是 </a:t>
            </a:r>
            <a:r>
              <a:rPr lang="en-US" altLang="zh-CN" dirty="0"/>
              <a:t>D-bot </a:t>
            </a:r>
            <a:r>
              <a:rPr lang="zh-CN" altLang="en-US" dirty="0"/>
              <a:t>性能优于其他方法。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2241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首先总结了数据库异常，例如查询执行慢，资源耗尽，数据库失去响应（长时查询，死锁，资源争用，频繁上下文切换），数据库崩溃（如磁盘空间已满）。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737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论文也总结了许多根因：负载并发过高，查询算子问题（复杂的查询条件），查询计划低效，数据陈旧，索引缺失和配置不当，后台任务争抢资源。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0681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一些解决方法有：</a:t>
            </a:r>
            <a:r>
              <a:rPr lang="en-US" altLang="zh-CN" dirty="0"/>
              <a:t>SQL</a:t>
            </a:r>
            <a:r>
              <a:rPr lang="zh-CN" altLang="en-US" dirty="0"/>
              <a:t>重写，参数调优，索引调优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6223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当收到内存使用率过高的异常告警时，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首先检查异常发生时的系统负载（例如，内存使用量指标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node_memory_total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）。数据证实存在异常的内存占用（超过 </a:t>
            </a:r>
            <a:r>
              <a:rPr lang="en-US" altLang="zh-CN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90%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为了理解这一现象，我们进一步获取相关内存指标（例如 </a:t>
            </a:r>
            <a:r>
              <a:rPr lang="en-US" altLang="zh-CN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node_memory_inactive_anon_bytes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）。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对这些指标的分析表明，过高的内存使用可能是由向表中插入数据的密集工作负载引起的。</a:t>
            </a:r>
            <a:endParaRPr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为了解决这个问题，我们研究是否可以采用优化策略来帮助降低内存消耗（例如，将表数据划分为分区）。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4785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/>
              <a:t>离线准备</a:t>
            </a:r>
            <a:endParaRPr lang="en-US" altLang="zh-CN" b="0" dirty="0"/>
          </a:p>
          <a:p>
            <a:r>
              <a:rPr lang="zh-CN" altLang="en-US" b="0" dirty="0"/>
              <a:t>提示词构建</a:t>
            </a:r>
            <a:endParaRPr lang="en-US" altLang="zh-CN" b="0" dirty="0"/>
          </a:p>
          <a:p>
            <a:r>
              <a:rPr lang="zh-CN" altLang="en-US" b="0" dirty="0"/>
              <a:t>树状搜索诊断</a:t>
            </a:r>
            <a:endParaRPr lang="en-US" altLang="zh-CN" b="0" dirty="0"/>
          </a:p>
          <a:p>
            <a:r>
              <a:rPr lang="zh-CN" altLang="en-US" b="0" dirty="0"/>
              <a:t>多智能体协作</a:t>
            </a:r>
            <a:br>
              <a:rPr lang="en-US" altLang="zh-CN" b="1" dirty="0"/>
            </a:b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556579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规定了知识的格式：异常名字，异常描述，相关度量指标，分析步骤。</a:t>
            </a:r>
            <a:endParaRPr lang="en-US" altLang="zh-CN" dirty="0"/>
          </a:p>
          <a:p>
            <a:r>
              <a:rPr lang="zh-CN" altLang="en-US" dirty="0"/>
              <a:t>对文档知识的抽取，首先按照章节拆分，然后对每一个章节建立一个索引，最后对相似章节进行合并。</a:t>
            </a:r>
            <a:endParaRPr lang="en-US" altLang="zh-CN" dirty="0"/>
          </a:p>
          <a:p>
            <a:r>
              <a:rPr lang="zh-CN" altLang="en-US" dirty="0"/>
              <a:t>工具这边是对工具进行分级，检测工具这边更多的是查询统计信息。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19092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Prompt </a:t>
            </a:r>
            <a:r>
              <a:rPr lang="zh-CN" altLang="en-US" dirty="0"/>
              <a:t>包括五个部分：</a:t>
            </a:r>
            <a:endParaRPr lang="en-US" altLang="zh-CN" dirty="0"/>
          </a:p>
          <a:p>
            <a:r>
              <a:rPr lang="en-US" altLang="zh-CN" dirty="0"/>
              <a:t>LLM</a:t>
            </a:r>
            <a:r>
              <a:rPr lang="zh-CN" altLang="en-US" dirty="0"/>
              <a:t>的角色任务推理过程，对异常的描述，相关的诊断工具（由一个微调的模型推荐），相关的知识（由相似性算法搜索），历史信息。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287044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构建树状的思考链，首先构建异常状况的提示词给到</a:t>
            </a:r>
            <a:r>
              <a:rPr lang="en-US" altLang="zh-CN" dirty="0"/>
              <a:t>LLM</a:t>
            </a:r>
            <a:r>
              <a:rPr lang="zh-CN" altLang="en-US" dirty="0"/>
              <a:t>，生成初步分析结果，作为思考的起点。</a:t>
            </a:r>
            <a:endParaRPr lang="en-US" altLang="zh-CN" dirty="0"/>
          </a:p>
          <a:p>
            <a:r>
              <a:rPr lang="zh-CN" altLang="en-US" dirty="0"/>
              <a:t>对于不同的叶节点，从三个维度打分，</a:t>
            </a:r>
            <a:endParaRPr lang="en-US" altLang="zh-CN" dirty="0"/>
          </a:p>
          <a:p>
            <a:r>
              <a:rPr lang="zh-CN" altLang="en-US" dirty="0"/>
              <a:t>带有解决方案的根据解决方案的提升效果打分，否则为</a:t>
            </a:r>
            <a:r>
              <a:rPr lang="en-US" altLang="zh-CN" dirty="0"/>
              <a:t>0</a:t>
            </a:r>
            <a:r>
              <a:rPr lang="zh-CN" altLang="en-US" dirty="0"/>
              <a:t>，</a:t>
            </a:r>
            <a:endParaRPr lang="en-US" altLang="zh-CN" dirty="0"/>
          </a:p>
          <a:p>
            <a:r>
              <a:rPr lang="zh-CN" altLang="en-US" dirty="0"/>
              <a:t>其他智能体投票打分，</a:t>
            </a:r>
            <a:endParaRPr lang="en-US" altLang="zh-CN" dirty="0"/>
          </a:p>
          <a:p>
            <a:r>
              <a:rPr lang="zh-CN" altLang="en-US" dirty="0"/>
              <a:t>祖先节点选择频次。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46093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从得分最高的叶结点中扩展子节点：大模型根据携带历史信息的 </a:t>
            </a:r>
            <a:r>
              <a:rPr lang="en-US" altLang="zh-CN" dirty="0"/>
              <a:t>prompt </a:t>
            </a:r>
            <a:r>
              <a:rPr lang="zh-CN" altLang="en-US" dirty="0"/>
              <a:t>产生输出，验证输出是否符合格式，建立节点，保存结果。</a:t>
            </a:r>
            <a:endParaRPr lang="en-US" altLang="zh-CN" dirty="0"/>
          </a:p>
          <a:p>
            <a:r>
              <a:rPr lang="zh-CN" altLang="en-US" dirty="0"/>
              <a:t>利用大语言模型（</a:t>
            </a:r>
            <a:r>
              <a:rPr lang="en-US" altLang="zh-CN" dirty="0"/>
              <a:t>LLM</a:t>
            </a:r>
            <a:r>
              <a:rPr lang="zh-CN" altLang="en-US" dirty="0"/>
              <a:t>）重新评估执行该输出的收益。</a:t>
            </a:r>
            <a:endParaRPr lang="en-US" altLang="zh-CN" dirty="0"/>
          </a:p>
          <a:p>
            <a:r>
              <a:rPr lang="zh-CN" altLang="en-US" dirty="0"/>
              <a:t>被判定为不包含有效信息的节点将被标记为 “待剪枝”。</a:t>
            </a:r>
            <a:endParaRPr lang="en-US" altLang="zh-CN" dirty="0"/>
          </a:p>
          <a:p>
            <a:r>
              <a:rPr lang="zh-CN" altLang="en-US" dirty="0"/>
              <a:t>重复上面的步骤，输出得分最高的节点内容。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575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7</a:t>
            </a:r>
            <a:r>
              <a:rPr lang="zh-CN" altLang="en-US" dirty="0"/>
              <a:t>个不同的专家，具备不同的领域知识。</a:t>
            </a:r>
            <a:endParaRPr lang="en-US" altLang="zh-CN" dirty="0"/>
          </a:p>
          <a:p>
            <a:r>
              <a:rPr lang="zh-CN" altLang="en-US" dirty="0"/>
              <a:t>将异常转化为结构化的描述，由</a:t>
            </a:r>
            <a:r>
              <a:rPr lang="en-US" altLang="zh-CN" dirty="0"/>
              <a:t>LLM</a:t>
            </a:r>
            <a:r>
              <a:rPr lang="zh-CN" altLang="en-US" dirty="0"/>
              <a:t>将异常分配给相关专家。</a:t>
            </a:r>
            <a:endParaRPr lang="en-US" altLang="zh-CN" dirty="0"/>
          </a:p>
          <a:p>
            <a:r>
              <a:rPr lang="zh-CN" altLang="en-US" dirty="0"/>
              <a:t>不同专家可以同步诊断，非阻塞式的信息共享，不同专家可以接收到其他专家的分析结果。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604376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信息总结，同行评审，诊断反馈。</a:t>
            </a:r>
            <a:endParaRPr lang="en-US" altLang="zh-CN" dirty="0"/>
          </a:p>
          <a:p>
            <a:r>
              <a:rPr lang="zh-CN" altLang="en-US" dirty="0"/>
              <a:t>报告生成。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7903FEF-3B2D-458A-A4BA-904EA5F6656E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72824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03AB903-E2E3-6DD8-49B4-6C2952D956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DB5416E-3802-5CB1-CFBA-61782A7F78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DD8C59-1682-2720-7D0A-6EE10F388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25CFE4-805E-C94A-7BCD-07BBAFB8D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008B2AC-FD8C-9FA6-553F-F7C313BF8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1618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44955A-ACEB-5023-A562-9A1D58D4F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39703E-0F7F-BF54-205A-EC3CEFC0A4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4A559B-BA37-0E0B-CA07-1144F30C2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69154A-B896-1372-4C40-2A724C1AE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750E22-E690-BE58-3EDB-839E05815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8951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87E3DD-A7C5-9D48-2902-4D1018411C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6461C2-547E-EDCC-06AC-A401413875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D78FF-755D-81AC-CE93-BEFCA863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E167095-43B8-B567-F6FB-E74DAC7D0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A88110-B62A-FCAB-0B93-BFA2086F2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35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FB02B7-776D-D314-B992-88C43B84B8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F6D581D-D7E2-8A3B-2E39-6A84BBC48F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F9C5486-106B-6CB7-69B8-E712DD8A9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08AA57-7ED6-2A6F-0DAA-594FC7591A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DDE9286-B76A-47FC-8278-39B633B79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C8E95A-F193-3A71-DEF0-BFAC2E236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22572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04B632-55EE-00AE-7E42-9EB208C3D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68C8837-C43B-422E-EF37-1E35D7498E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656D4D0-DE7A-7C7A-CEC6-8A17FFF5FF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83697E5-C3E0-AD6D-39F1-E73917CA8DE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3B3A459-E385-3B12-7C59-52BD042BDF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BD9A1AD-BCB2-7485-1EB2-3B6B9B562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645F006-4C3D-6B00-06E4-D0860C101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71088930-B72F-4FEE-0E89-FCCB596C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3916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852277-18B6-1E57-85ED-0106BECA3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7CCADF2-BA0F-8E7E-4E96-F246FFD1D5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63E4E4D-6D00-2330-44ED-DAA1F0C222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817FC53-C3D1-B88F-26F5-B35AA4B2B7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894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2A51C18-F40D-5436-91D0-59C2DD683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5E1EDA7-B4B7-3134-E8D4-5B8E696CD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72164F5-2249-3476-039E-168FF7458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3388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2EF6DE-28AD-8B1D-7E3D-33FBDCD1F4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71E6BAF-0363-551C-E5AC-D96000ED3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85A7E16-7370-4856-DB5F-8A9F78000C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250F75-366D-55A9-0ABD-4DBEE03B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9AF81F9-3EE9-68CF-5B42-26BDEBF1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E20272D-B231-F357-29A5-A67B1A99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38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0010D2E-0D3C-3230-2674-4C3E1CD3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C6E578B7-A05C-3E7D-F9FE-C528B43BA9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B4F1AA1-CE77-2610-5DCB-722BF3CA50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B0D81E2-A935-24E4-4B22-B60F74D44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85D941-25BA-1A90-4D9E-43172621E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018BB1-51F7-BFF9-A7A6-B16B527BE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946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E31B688-FC6B-9814-D190-F19296E9B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6638B4A-B369-18C9-4A53-DE485BD8CE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94ED81-475E-4695-C45B-6DAD1661E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E09C658-6323-5ECF-54BA-32D9D2796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0ADD39-C158-CAC7-2E04-23E3FE7BA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24246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27F7B24D-4BD2-7055-6885-339B3DD4BDA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89052EA-90CE-31B5-2008-E44EF881E1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296E1E7-FBF7-E1F5-00B3-F6D9AAC84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EA6D6F-1F8E-1F73-90B9-92BC0A5E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8583AC-84FB-5D71-2382-FE41AD44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50916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15F4B5-E7DD-2042-0E5A-4AEEA0F86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7B4AF57-8986-E7B0-5039-26BBC0FD4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C8E1A63-5975-4ED8-8820-328E64A77F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C956CD-B5BB-4EC8-8933-DE25D04A5040}" type="datetimeFigureOut">
              <a:rPr lang="zh-CN" altLang="en-US" smtClean="0"/>
              <a:t>2026/4/20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F04BCAE-E16D-E90B-FBA6-306B968A57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40BC76-8649-F45A-C4EC-F93FCDB151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9D9FC-BB81-47D3-90D1-29F421C6556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35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51E549D4-8634-5285-6BCC-6CEA517E1126}"/>
              </a:ext>
            </a:extLst>
          </p:cNvPr>
          <p:cNvSpPr txBox="1"/>
          <p:nvPr/>
        </p:nvSpPr>
        <p:spPr>
          <a:xfrm>
            <a:off x="1214340" y="2209289"/>
            <a:ext cx="976331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Automated Performance Anomaly Diagnosis and Root Cause Analysis for Database Systems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1EA23FF-330D-6EC7-E60E-9B136FBEBDC1}"/>
              </a:ext>
            </a:extLst>
          </p:cNvPr>
          <p:cNvSpPr txBox="1"/>
          <p:nvPr/>
        </p:nvSpPr>
        <p:spPr>
          <a:xfrm>
            <a:off x="3213367" y="4902740"/>
            <a:ext cx="57652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dirty="0"/>
              <a:t>曹品善                                                        </a:t>
            </a:r>
            <a:r>
              <a:rPr lang="en-US" altLang="zh-CN" sz="2000" dirty="0"/>
              <a:t>2026.3.30 </a:t>
            </a:r>
            <a:endParaRPr lang="zh-CN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61308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F2F3736-F619-9DD9-5930-8D79DB341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6275" y="1804253"/>
            <a:ext cx="9039449" cy="2831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193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4CD14-991A-871B-E3D4-C7A8E7B51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7C13C93-1C60-61EF-CB10-8B012F53C439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Introduction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E6F0B81-A9A6-6EE0-9E65-FD3722B82665}"/>
              </a:ext>
            </a:extLst>
          </p:cNvPr>
          <p:cNvSpPr txBox="1"/>
          <p:nvPr/>
        </p:nvSpPr>
        <p:spPr>
          <a:xfrm>
            <a:off x="1076814" y="1146341"/>
            <a:ext cx="930070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/>
              <a:t>Database diagnosis </a:t>
            </a:r>
            <a:r>
              <a:rPr lang="en-US" altLang="zh-CN" sz="2000" b="1" dirty="0"/>
              <a:t>detects, analyzes and resolves </a:t>
            </a:r>
            <a:r>
              <a:rPr lang="en-US" altLang="zh-CN" sz="2000" dirty="0"/>
              <a:t>database anomalies to ensure high data availability and workload performance.</a:t>
            </a:r>
          </a:p>
          <a:p>
            <a:endParaRPr lang="en-US" altLang="zh-CN" sz="2000" dirty="0"/>
          </a:p>
          <a:p>
            <a:r>
              <a:rPr lang="en-US" altLang="zh-CN" sz="2000" dirty="0"/>
              <a:t>Database anomalies are diverse with complex module correlations, making predefined rule-based diagnosis infeasible and the task highly challenging.</a:t>
            </a:r>
          </a:p>
          <a:p>
            <a:endParaRPr lang="en-US" altLang="zh-CN" sz="2000" dirty="0"/>
          </a:p>
          <a:p>
            <a:r>
              <a:rPr lang="en-US" altLang="zh-CN" sz="2000" dirty="0"/>
              <a:t>A database vendor recorded over 900 multi-facet anomaly events in 3 months (e.g., slow queries, improper configurations).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E2B8BA9-2B33-2412-4E67-B9363A15BF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540"/>
          <a:stretch>
            <a:fillRect/>
          </a:stretch>
        </p:blipFill>
        <p:spPr>
          <a:xfrm>
            <a:off x="7272242" y="3700886"/>
            <a:ext cx="2559092" cy="27699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46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0F77E-1AA2-94E5-9995-9AF822FC80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F43E00B-4F38-AF21-5951-C79A38CB47DB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Introduction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DE091AF-FE15-9931-2A35-ECB3948C1349}"/>
              </a:ext>
            </a:extLst>
          </p:cNvPr>
          <p:cNvSpPr txBox="1"/>
          <p:nvPr/>
        </p:nvSpPr>
        <p:spPr>
          <a:xfrm>
            <a:off x="1002618" y="863590"/>
            <a:ext cx="10186763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Anomaly Notification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    Users report abnormal database performance (e.g., routine queries 120% slower than normal).</a:t>
            </a:r>
          </a:p>
          <a:p>
            <a:r>
              <a:rPr lang="en-US" altLang="zh-CN" b="1" dirty="0"/>
              <a:t>Alert Detection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    DBAs check triggered alerts (e.g., a "CPU High" alert with total CPU usage exceeding 90% for 2 minutes).</a:t>
            </a:r>
          </a:p>
          <a:p>
            <a:r>
              <a:rPr lang="en-US" altLang="zh-CN" b="1" dirty="0"/>
              <a:t>Metric Analysis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    DBAs analyze relevant metrics (e.g., running/blocked processes, query calls).</a:t>
            </a:r>
          </a:p>
          <a:p>
            <a:r>
              <a:rPr lang="en-US" altLang="zh-CN" b="1" dirty="0"/>
              <a:t>Event Analysis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    DBAs retrieve top-k slow query statistics and find a single query consuming nearly 60% of CPU time.</a:t>
            </a:r>
          </a:p>
          <a:p>
            <a:r>
              <a:rPr lang="en-US" altLang="zh-CN" b="1" dirty="0"/>
              <a:t>Optimization Advice</a:t>
            </a:r>
            <a:r>
              <a:rPr lang="en-US" altLang="zh-CN" dirty="0"/>
              <a:t>: </a:t>
            </a:r>
          </a:p>
          <a:p>
            <a:r>
              <a:rPr lang="en-US" altLang="zh-CN" dirty="0"/>
              <a:t>    DBAs propose optimizations (e.g., index update, SQL rewrite) based on experience/tools.</a:t>
            </a:r>
          </a:p>
          <a:p>
            <a:r>
              <a:rPr lang="en-US" altLang="zh-CN" b="1" dirty="0"/>
              <a:t>Report Writing: </a:t>
            </a:r>
          </a:p>
          <a:p>
            <a:r>
              <a:rPr lang="en-US" altLang="zh-CN" dirty="0"/>
              <a:t>    DBAs need to write diagnosis reports including root causes and detailed diagnosis.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899B634-C8B8-DAC4-1BDC-51A18E53D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5449" y="4279910"/>
            <a:ext cx="3814823" cy="23241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5255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A86276-3C50-3A27-12D7-F2C1CBF6E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61529C3-9A4A-5642-B591-A2418D788CA7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Introduction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99F48E-00F9-310E-957B-035A8D5A5C72}"/>
              </a:ext>
            </a:extLst>
          </p:cNvPr>
          <p:cNvSpPr txBox="1"/>
          <p:nvPr/>
        </p:nvSpPr>
        <p:spPr>
          <a:xfrm>
            <a:off x="1333780" y="1136731"/>
            <a:ext cx="9353675" cy="47089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Limited capabilities of human DBAs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Training a qualified DBA requires months to years of learning relevant documents and hands-on practice, with </a:t>
            </a:r>
            <a:r>
              <a:rPr lang="en-US" altLang="zh-CN" b="1" dirty="0"/>
              <a:t>high time costs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It is nearly impossible to deploy enough DBAs to manage </a:t>
            </a:r>
            <a:r>
              <a:rPr lang="en-US" altLang="zh-CN" b="1" dirty="0"/>
              <a:t>massive database instances</a:t>
            </a:r>
            <a:r>
              <a:rPr lang="en-US" altLang="zh-CN" dirty="0"/>
              <a:t> (e.g., millions of cloud instances).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Human DBAs cannot provide timely responses for </a:t>
            </a:r>
            <a:r>
              <a:rPr lang="en-US" altLang="zh-CN" b="1" dirty="0"/>
              <a:t>urgent/cross-module correlated anomalies</a:t>
            </a:r>
            <a:r>
              <a:rPr lang="en-US" altLang="zh-CN" dirty="0"/>
              <a:t>, potentially leading to huge financial losses.</a:t>
            </a:r>
          </a:p>
          <a:p>
            <a:endParaRPr lang="en-US" altLang="zh-CN" dirty="0"/>
          </a:p>
          <a:p>
            <a:r>
              <a:rPr lang="en-US" altLang="zh-CN" sz="2400" b="1" dirty="0"/>
              <a:t>Semi-automatic diagnosis tools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Built on empirical rules or small-scale ML models (e.g., classifiers), </a:t>
            </a:r>
            <a:r>
              <a:rPr lang="en-US" altLang="zh-CN" b="1" dirty="0"/>
              <a:t>lacking</a:t>
            </a:r>
            <a:r>
              <a:rPr lang="en-US" altLang="zh-CN" dirty="0"/>
              <a:t> scenario understanding and the ability to utilize professional </a:t>
            </a:r>
            <a:r>
              <a:rPr lang="en-US" altLang="zh-CN" b="1" dirty="0"/>
              <a:t>diagnosis knowledge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Poor generalization </a:t>
            </a:r>
            <a:r>
              <a:rPr lang="en-US" altLang="zh-CN" dirty="0"/>
              <a:t>to scenario changes: manual rule update/verification for new database versions is tedious; ML models need redesign of input metrics/labels and retraining for new scenarios.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 human-like </a:t>
            </a:r>
            <a:r>
              <a:rPr lang="en-US" altLang="zh-CN" b="1" dirty="0"/>
              <a:t>inference ability </a:t>
            </a:r>
            <a:r>
              <a:rPr lang="en-US" altLang="zh-CN" dirty="0"/>
              <a:t>(e.g., recursively exploring system views based on initial results to infer root causes).</a:t>
            </a:r>
          </a:p>
        </p:txBody>
      </p:sp>
    </p:spTree>
    <p:extLst>
      <p:ext uri="{BB962C8B-B14F-4D97-AF65-F5344CB8AC3E}">
        <p14:creationId xmlns:p14="http://schemas.microsoft.com/office/powerpoint/2010/main" val="11456252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35FF-BFD4-9C81-79D0-C5A11BD5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96C6063-6E34-8486-BBD3-77382579E67E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Introduction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755CFC6-D240-52AE-A5AE-454DE62ABCB1}"/>
              </a:ext>
            </a:extLst>
          </p:cNvPr>
          <p:cNvSpPr txBox="1"/>
          <p:nvPr/>
        </p:nvSpPr>
        <p:spPr>
          <a:xfrm>
            <a:off x="1502528" y="1028343"/>
            <a:ext cx="9186943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Target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Precise Diagnosis</a:t>
            </a:r>
            <a:r>
              <a:rPr lang="en-US" altLang="zh-CN" dirty="0"/>
              <a:t>: Utilize tools to gather scenario information/derive optimization advice, and conduct </a:t>
            </a:r>
            <a:r>
              <a:rPr lang="en-US" altLang="zh-CN" b="1" dirty="0"/>
              <a:t>logical reasoning to make diagnosis plans </a:t>
            </a:r>
            <a:r>
              <a:rPr lang="en-US" altLang="zh-CN" dirty="0"/>
              <a:t>(unsupported by traditional methods).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Expense and Time Saving</a:t>
            </a:r>
            <a:r>
              <a:rPr lang="en-US" altLang="zh-CN" dirty="0"/>
              <a:t>: Alleviate human </a:t>
            </a:r>
            <a:r>
              <a:rPr lang="en-US" altLang="zh-CN" dirty="0" err="1"/>
              <a:t>DBAs’</a:t>
            </a:r>
            <a:r>
              <a:rPr lang="en-US" altLang="zh-CN" dirty="0"/>
              <a:t> on-call duties by automatically resolving typical anomalies that empirical rules cannot handle.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High Generalizability</a:t>
            </a:r>
            <a:r>
              <a:rPr lang="en-US" altLang="zh-CN" dirty="0"/>
              <a:t>: Flexibly analyze unseen anomalies based on diagnosis documents (new metrics/views/logs) and past experience.</a:t>
            </a:r>
          </a:p>
          <a:p>
            <a:endParaRPr lang="en-US" altLang="zh-CN" dirty="0"/>
          </a:p>
          <a:p>
            <a:r>
              <a:rPr lang="en-US" altLang="zh-CN" sz="2400" b="1" dirty="0"/>
              <a:t>Challenge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C1 (Enhance LLM’s diagnosis problem understanding): </a:t>
            </a:r>
            <a:r>
              <a:rPr lang="en-US" altLang="zh-CN" b="1" dirty="0"/>
              <a:t>Extract useful knowledge </a:t>
            </a:r>
            <a:r>
              <a:rPr lang="en-US" altLang="zh-CN" dirty="0"/>
              <a:t>from long documents, match knowledge with anomaly context, and retrieve applicable database tools effectively.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C2 (Improve single-cause anomaly diagnosis performance): Address LLM’s early stop problem in interactive diagnosis and hallucination issue to </a:t>
            </a:r>
            <a:r>
              <a:rPr lang="en-US" altLang="zh-CN" b="1" dirty="0"/>
              <a:t>ensure in-depth, reasonable analysis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C3 (Enhance multi-cause anomaly diagnosis capability): Design an efficient mechanism for </a:t>
            </a:r>
            <a:r>
              <a:rPr lang="en-US" altLang="zh-CN" b="1" dirty="0"/>
              <a:t>multiple LLMs to collaborate</a:t>
            </a:r>
            <a:r>
              <a:rPr lang="en-US" altLang="zh-CN" dirty="0"/>
              <a:t>, improving accuracy and efficiency for complex anomalies with fine-grained critical metrics.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821758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429EAA-A39F-5167-53AD-9C065683B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00C617E-014B-23A3-B3EA-0D70FB1293DA}"/>
              </a:ext>
            </a:extLst>
          </p:cNvPr>
          <p:cNvSpPr txBox="1"/>
          <p:nvPr/>
        </p:nvSpPr>
        <p:spPr>
          <a:xfrm>
            <a:off x="499731" y="265814"/>
            <a:ext cx="5038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Introduction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EB91747-D8A8-549F-5AD0-A04A41AC6D99}"/>
              </a:ext>
            </a:extLst>
          </p:cNvPr>
          <p:cNvSpPr txBox="1"/>
          <p:nvPr/>
        </p:nvSpPr>
        <p:spPr>
          <a:xfrm>
            <a:off x="1571307" y="1525259"/>
            <a:ext cx="8564913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Contributions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Designed an LLM-based database </a:t>
            </a:r>
            <a:r>
              <a:rPr lang="en-US" altLang="zh-CN" b="1" dirty="0"/>
              <a:t>diagnosis framework </a:t>
            </a:r>
            <a:r>
              <a:rPr lang="en-US" altLang="zh-CN" dirty="0"/>
              <a:t>to achieve precise, efficient and generalizable database anomaly diagnosis.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Proposed a context-aware </a:t>
            </a:r>
            <a:r>
              <a:rPr lang="en-US" altLang="zh-CN" b="1" dirty="0"/>
              <a:t>diagnosis prompting method</a:t>
            </a:r>
            <a:r>
              <a:rPr lang="en-US" altLang="zh-CN" dirty="0"/>
              <a:t>, empowering LLMs with document knowledge matching and fine-tuned tool retrieval.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Propose a </a:t>
            </a:r>
            <a:r>
              <a:rPr lang="en-US" altLang="zh-CN" b="1" dirty="0"/>
              <a:t>tree-search-based root cause analysis method </a:t>
            </a:r>
            <a:r>
              <a:rPr lang="en-US" altLang="zh-CN" dirty="0"/>
              <a:t>to guide LLMs in multi-step analysis, significantly improving diagnosis performance.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Designed a </a:t>
            </a:r>
            <a:r>
              <a:rPr lang="en-US" altLang="zh-CN" b="1" dirty="0"/>
              <a:t>collaborative diagnosis mechanism </a:t>
            </a:r>
            <a:r>
              <a:rPr lang="en-US" altLang="zh-CN" dirty="0"/>
              <a:t>for multiple LLMs to analyze complex anomalies asynchronously (cross review, result sharing), boosting diagnosis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Conducted extensive experiments on real benchmarks, verifying D-Bot’s ability to identify root causes of unseen anomalies and its </a:t>
            </a:r>
            <a:r>
              <a:rPr lang="en-US" altLang="zh-CN" b="1" dirty="0"/>
              <a:t>outperformance</a:t>
            </a:r>
            <a:r>
              <a:rPr lang="en-US" altLang="zh-CN" dirty="0"/>
              <a:t> over traditional methods and vanilla LLMs (e.g., GPT-4).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14164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EDA924-DC5F-BD1D-6EC3-BF1CB71D05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1A19FB2-FF51-47C9-7FD8-7A4F5703408F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Preliminaries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E955F1D-9E7B-928A-1551-DC1E4931C8DF}"/>
              </a:ext>
            </a:extLst>
          </p:cNvPr>
          <p:cNvSpPr txBox="1"/>
          <p:nvPr/>
        </p:nvSpPr>
        <p:spPr>
          <a:xfrm>
            <a:off x="1663912" y="1166842"/>
            <a:ext cx="8864175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Database Performance Anomalies</a:t>
            </a:r>
          </a:p>
          <a:p>
            <a:endParaRPr lang="en-US" altLang="zh-CN" dirty="0"/>
          </a:p>
          <a:p>
            <a:r>
              <a:rPr lang="en-US" altLang="zh-CN" b="1" dirty="0"/>
              <a:t>Slow Query Execution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Longer-than-expected response time. Slow queries sharply increase CPU usage and query duration, while the number of active processes remains low.</a:t>
            </a:r>
          </a:p>
          <a:p>
            <a:r>
              <a:rPr lang="en-US" altLang="zh-CN" b="1" dirty="0"/>
              <a:t>Full Resource Usage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System resources (CPU, memory) are exhausted, blocking new requests or causing failures (e.g., insert errors due to OOM). High concurrency drives high resource usage and a large rise in active processes.</a:t>
            </a:r>
          </a:p>
          <a:p>
            <a:r>
              <a:rPr lang="en-US" altLang="zh-CN" b="1" dirty="0"/>
              <a:t>Database Hanging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Database becomes unresponsive, typically caused by long-running queries, deadlocks, or resource contention. High CPU consumption occurs with frequent process interrupts and context switching.</a:t>
            </a:r>
          </a:p>
          <a:p>
            <a:r>
              <a:rPr lang="en-US" altLang="zh-CN" b="1" dirty="0"/>
              <a:t>Database Crashing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Unexpected shutdown making data inaccessible. A common cause is full disk space, which prevents writes and essential operations, leading to database failure.</a:t>
            </a:r>
          </a:p>
        </p:txBody>
      </p:sp>
    </p:spTree>
    <p:extLst>
      <p:ext uri="{BB962C8B-B14F-4D97-AF65-F5344CB8AC3E}">
        <p14:creationId xmlns:p14="http://schemas.microsoft.com/office/powerpoint/2010/main" val="757724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8168B-9152-0774-32B2-946CDE6D50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8CA824E-3078-0A44-F263-EBCC2420DD04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Preliminaries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A831D58-74C9-7811-ADC9-F76862649618}"/>
              </a:ext>
            </a:extLst>
          </p:cNvPr>
          <p:cNvSpPr txBox="1"/>
          <p:nvPr/>
        </p:nvSpPr>
        <p:spPr>
          <a:xfrm>
            <a:off x="1462261" y="974159"/>
            <a:ext cx="9267477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Root Causes</a:t>
            </a:r>
          </a:p>
          <a:p>
            <a:endParaRPr lang="en-US" altLang="zh-CN" dirty="0"/>
          </a:p>
          <a:p>
            <a:r>
              <a:rPr lang="en-US" altLang="zh-CN" b="1" dirty="0"/>
              <a:t>Concurrency Workloads</a:t>
            </a:r>
          </a:p>
          <a:p>
            <a:r>
              <a:rPr lang="en-US" altLang="zh-CN" dirty="0"/>
              <a:t>    Severe resource contention among concurrent operations leads to system performance degradation.</a:t>
            </a:r>
          </a:p>
          <a:p>
            <a:r>
              <a:rPr lang="en-US" altLang="zh-CN" b="1" dirty="0"/>
              <a:t>Query Operator Issues</a:t>
            </a:r>
          </a:p>
          <a:p>
            <a:r>
              <a:rPr lang="en-US" altLang="zh-CN" dirty="0"/>
              <a:t>    Large-scale inserts, massive data fetching, and complex predicates overload database processing.</a:t>
            </a:r>
          </a:p>
          <a:p>
            <a:r>
              <a:rPr lang="en-US" altLang="zh-CN" b="1" dirty="0"/>
              <a:t>Planning &amp; Execution Inefficiencies</a:t>
            </a:r>
          </a:p>
          <a:p>
            <a:r>
              <a:rPr lang="en-US" altLang="zh-CN" dirty="0"/>
              <a:t>    Abnormally long query planning and extended database wait times indicate suboptimal execution logic.</a:t>
            </a:r>
          </a:p>
          <a:p>
            <a:r>
              <a:rPr lang="en-US" altLang="zh-CN" b="1" dirty="0"/>
              <a:t>Data-Specific Issues</a:t>
            </a:r>
          </a:p>
          <a:p>
            <a:r>
              <a:rPr lang="en-US" altLang="zh-CN" dirty="0"/>
              <a:t>    Data corruption, dead tuples, and stale physical storage data cause performance anomalies.</a:t>
            </a:r>
          </a:p>
          <a:p>
            <a:r>
              <a:rPr lang="en-US" altLang="zh-CN" b="1" dirty="0"/>
              <a:t>Schema &amp; Configuration Issues</a:t>
            </a:r>
          </a:p>
          <a:p>
            <a:r>
              <a:rPr lang="en-US" altLang="zh-CN" dirty="0"/>
              <a:t>    Missing indexes, improper database settings (e.g., small shared buffers) affect optimization and memory management.</a:t>
            </a:r>
          </a:p>
          <a:p>
            <a:r>
              <a:rPr lang="en-US" altLang="zh-CN" b="1" dirty="0"/>
              <a:t>Harmful Background Tasks</a:t>
            </a:r>
          </a:p>
          <a:p>
            <a:r>
              <a:rPr lang="en-US" altLang="zh-CN" dirty="0"/>
              <a:t>    Over-frequent maintenance jobs (e.g., vacuum) compete for resources with user queries and hurt performance.</a:t>
            </a:r>
          </a:p>
        </p:txBody>
      </p:sp>
    </p:spTree>
    <p:extLst>
      <p:ext uri="{BB962C8B-B14F-4D97-AF65-F5344CB8AC3E}">
        <p14:creationId xmlns:p14="http://schemas.microsoft.com/office/powerpoint/2010/main" val="32353830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0C873-8A89-9E07-C72F-665639260F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9D7DC30-6036-5E21-C012-C22B4D8449AC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Preliminaries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6063A7B-02F4-2C97-EBE8-6C74F722546C}"/>
              </a:ext>
            </a:extLst>
          </p:cNvPr>
          <p:cNvSpPr txBox="1"/>
          <p:nvPr/>
        </p:nvSpPr>
        <p:spPr>
          <a:xfrm>
            <a:off x="1663912" y="1305341"/>
            <a:ext cx="8864175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Optimization actions</a:t>
            </a:r>
          </a:p>
          <a:p>
            <a:endParaRPr lang="en-US" altLang="zh-CN" dirty="0"/>
          </a:p>
          <a:p>
            <a:r>
              <a:rPr lang="en-US" altLang="zh-CN" b="1" dirty="0"/>
              <a:t>Query Rewrite Tools</a:t>
            </a:r>
          </a:p>
          <a:p>
            <a:r>
              <a:rPr lang="en-US" altLang="zh-CN" dirty="0"/>
              <a:t>    Optimize slow queries via external logical transformation rules (e.g., ~120 rules in Calcite), compensating for weak database internal optimization on complex predicates.</a:t>
            </a:r>
          </a:p>
          <a:p>
            <a:endParaRPr lang="en-US" altLang="zh-CN" dirty="0"/>
          </a:p>
          <a:p>
            <a:r>
              <a:rPr lang="en-US" altLang="zh-CN" b="1" dirty="0"/>
              <a:t>Knob Tuning Tools</a:t>
            </a:r>
          </a:p>
          <a:p>
            <a:r>
              <a:rPr lang="en-US" altLang="zh-CN" dirty="0"/>
              <a:t>    Fix configuration-related failures and poor performance using rule-based suggestions. Example: increase MySQL </a:t>
            </a:r>
            <a:r>
              <a:rPr lang="en-US" altLang="zh-CN" dirty="0" err="1"/>
              <a:t>innodb_buffer_pool_size</a:t>
            </a:r>
            <a:r>
              <a:rPr lang="en-US" altLang="zh-CN" dirty="0"/>
              <a:t> by 5% if memory usage &lt; 60%.</a:t>
            </a:r>
          </a:p>
          <a:p>
            <a:endParaRPr lang="en-US" altLang="zh-CN" dirty="0"/>
          </a:p>
          <a:p>
            <a:r>
              <a:rPr lang="en-US" altLang="zh-CN" b="1" dirty="0"/>
              <a:t>Index Tuning Tools</a:t>
            </a:r>
          </a:p>
          <a:p>
            <a:r>
              <a:rPr lang="en-US" altLang="zh-CN" dirty="0"/>
              <a:t>    Generate high-potential indexes based on tuning rules, such as building composite indexes for columns in the same query predicate.</a:t>
            </a:r>
          </a:p>
          <a:p>
            <a:endParaRPr lang="en-US" altLang="zh-CN" dirty="0"/>
          </a:p>
          <a:p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6138868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9D0B8-A2BB-BEAF-3CCF-6579CEAB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EBBEE6ED-4B5A-F927-C40F-E13DCEAE1213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Preliminaries</a:t>
            </a:r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2A736B3-FFE5-6A3B-F6B1-D18F86C93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12" y="1600200"/>
            <a:ext cx="10535975" cy="4234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6048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2C9782-1219-1258-F28F-FD4A635A1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1E56459-B3B8-23D9-569C-093CE3415485}"/>
              </a:ext>
            </a:extLst>
          </p:cNvPr>
          <p:cNvSpPr txBox="1"/>
          <p:nvPr/>
        </p:nvSpPr>
        <p:spPr>
          <a:xfrm>
            <a:off x="499731" y="265814"/>
            <a:ext cx="26475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Overview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E0005C8-F47A-4E72-6F84-6755C9663385}"/>
              </a:ext>
            </a:extLst>
          </p:cNvPr>
          <p:cNvSpPr txBox="1"/>
          <p:nvPr/>
        </p:nvSpPr>
        <p:spPr>
          <a:xfrm>
            <a:off x="1939094" y="1138898"/>
            <a:ext cx="802846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Offline Preparation</a:t>
            </a:r>
            <a:r>
              <a:rPr lang="en-US" altLang="zh-CN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Diagnosis Prompt Generation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Tree-Search Based Diagnosis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Collaborative Diagnosis Mechanism</a:t>
            </a:r>
            <a:r>
              <a:rPr lang="en-US" altLang="zh-CN" dirty="0"/>
              <a:t>.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825F2AC-E631-F382-A6D4-2F58B96E2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393" y="2458822"/>
            <a:ext cx="8899214" cy="3841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2136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4B221-72C2-E0BE-BCA4-F5CD63311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830ADCF-EE44-C2F9-8A85-290AB8650313}"/>
              </a:ext>
            </a:extLst>
          </p:cNvPr>
          <p:cNvSpPr txBox="1"/>
          <p:nvPr/>
        </p:nvSpPr>
        <p:spPr>
          <a:xfrm>
            <a:off x="499731" y="265814"/>
            <a:ext cx="355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Offline Preparation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9C274D1-C825-DBF0-8200-97F75D42BE4B}"/>
              </a:ext>
            </a:extLst>
          </p:cNvPr>
          <p:cNvSpPr txBox="1"/>
          <p:nvPr/>
        </p:nvSpPr>
        <p:spPr>
          <a:xfrm>
            <a:off x="1183531" y="1034509"/>
            <a:ext cx="9899516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Document Learning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Knowledge Format: Name, Content, Metrics, Steps.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Knowledge Extraction: 1) Chapter Splitting, 2) Summary Tree Construction, 3) Knowledge Extraction.</a:t>
            </a:r>
          </a:p>
          <a:p>
            <a:r>
              <a:rPr lang="en-US" altLang="zh-CN" dirty="0"/>
              <a:t>    </a:t>
            </a:r>
            <a:r>
              <a:rPr lang="en-US" altLang="zh-CN" dirty="0" err="1"/>
              <a:t>p_summarize</a:t>
            </a:r>
            <a:r>
              <a:rPr lang="en-US" altLang="zh-CN" dirty="0"/>
              <a:t> = “Summarize the provided chunk briefly · · · Your summary will serve as an index for others to find technical details related to database maintenance · · · Pay attention to examples even if the chunks cover other topics.”</a:t>
            </a:r>
          </a:p>
          <a:p>
            <a:endParaRPr lang="en-US" altLang="zh-CN" dirty="0"/>
          </a:p>
          <a:p>
            <a:r>
              <a:rPr lang="en-US" altLang="zh-CN" sz="2400" b="1" dirty="0"/>
              <a:t>Tools Preparation</a:t>
            </a:r>
            <a:endParaRPr lang="en-US" altLang="zh-CN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Structured hierarchy - “categories-tools-APIs”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Utilization specification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153AD79-63F4-DBDD-DDEC-FE3163C2FA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2708" y="2808051"/>
            <a:ext cx="4220442" cy="3570051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44CCA0E6-94F2-74C2-F4E0-94A7D8C5B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0867" t="76191" r="31043" b="6261"/>
          <a:stretch>
            <a:fillRect/>
          </a:stretch>
        </p:blipFill>
        <p:spPr>
          <a:xfrm>
            <a:off x="1304106" y="4682245"/>
            <a:ext cx="4505187" cy="121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956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2A5B2-CF92-DBA0-E934-307C5FE63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3B89071B-2AB6-95FE-0E7F-3AF6448A5A5F}"/>
              </a:ext>
            </a:extLst>
          </p:cNvPr>
          <p:cNvSpPr txBox="1"/>
          <p:nvPr/>
        </p:nvSpPr>
        <p:spPr>
          <a:xfrm>
            <a:off x="499730" y="265814"/>
            <a:ext cx="5161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Diagnosis Prompt Generation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2B92982-0484-2C3F-A9EE-C443873500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" t="24" r="59822" b="5994"/>
          <a:stretch>
            <a:fillRect/>
          </a:stretch>
        </p:blipFill>
        <p:spPr>
          <a:xfrm>
            <a:off x="6879873" y="1220140"/>
            <a:ext cx="4825743" cy="487586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284D6161-D5D9-0DC5-BC56-37363156D1E2}"/>
              </a:ext>
            </a:extLst>
          </p:cNvPr>
          <p:cNvSpPr txBox="1"/>
          <p:nvPr/>
        </p:nvSpPr>
        <p:spPr>
          <a:xfrm>
            <a:off x="1047343" y="1383162"/>
            <a:ext cx="554152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Each prompt integrates five main parts: </a:t>
            </a:r>
          </a:p>
          <a:p>
            <a:endParaRPr lang="en-US" altLang="zh-CN" dirty="0"/>
          </a:p>
          <a:p>
            <a:r>
              <a:rPr lang="en-US" altLang="zh-CN" dirty="0"/>
              <a:t>(</a:t>
            </a:r>
            <a:r>
              <a:rPr lang="en-US" altLang="zh-CN" dirty="0" err="1"/>
              <a:t>i</a:t>
            </a:r>
            <a:r>
              <a:rPr lang="en-US" altLang="zh-CN" dirty="0"/>
              <a:t>) </a:t>
            </a:r>
            <a:r>
              <a:rPr lang="en-US" altLang="zh-CN" b="1" dirty="0"/>
              <a:t>Role description</a:t>
            </a:r>
            <a:r>
              <a:rPr lang="en-US" altLang="zh-CN" dirty="0"/>
              <a:t>, which outlines the expertise and duties of the LLM. </a:t>
            </a:r>
          </a:p>
          <a:p>
            <a:r>
              <a:rPr lang="en-US" altLang="zh-CN" dirty="0"/>
              <a:t>(ii) </a:t>
            </a:r>
            <a:r>
              <a:rPr lang="en-US" altLang="zh-CN" b="1" dirty="0"/>
              <a:t>Anomaly description </a:t>
            </a:r>
            <a:r>
              <a:rPr lang="en-US" altLang="zh-CN" dirty="0"/>
              <a:t>that provides the details of triggered alerts (e.g., occurring time, anomaly summary, severity level). </a:t>
            </a:r>
          </a:p>
          <a:p>
            <a:r>
              <a:rPr lang="en-US" altLang="zh-CN" dirty="0"/>
              <a:t>(iii) </a:t>
            </a:r>
            <a:r>
              <a:rPr lang="en-US" altLang="zh-CN" b="1" dirty="0"/>
              <a:t>Diagnosis tools </a:t>
            </a:r>
            <a:r>
              <a:rPr lang="en-US" altLang="zh-CN" dirty="0"/>
              <a:t>(e.g., monitoring, indexing, query optimization) matched to the diagnosis context through a fine-tuned Sentence-BERT model. </a:t>
            </a:r>
          </a:p>
          <a:p>
            <a:r>
              <a:rPr lang="en-US" altLang="zh-CN" dirty="0"/>
              <a:t>(iv) </a:t>
            </a:r>
            <a:r>
              <a:rPr lang="en-US" altLang="zh-CN" b="1" dirty="0"/>
              <a:t>Knowledge</a:t>
            </a:r>
            <a:r>
              <a:rPr lang="en-US" altLang="zh-CN" dirty="0"/>
              <a:t> chunks pinpointed with keyword search methods (e.g., BM25). </a:t>
            </a:r>
          </a:p>
          <a:p>
            <a:r>
              <a:rPr lang="en-US" altLang="zh-CN" dirty="0"/>
              <a:t>(v) </a:t>
            </a:r>
            <a:r>
              <a:rPr lang="en-US" altLang="zh-CN" b="1" dirty="0"/>
              <a:t>Historical message </a:t>
            </a:r>
            <a:r>
              <a:rPr lang="en-US" altLang="zh-CN" dirty="0"/>
              <a:t>that supply essential background information (e.g., previous tool calling results) to aid the following tree-search-based diagnosis.</a:t>
            </a:r>
          </a:p>
        </p:txBody>
      </p:sp>
    </p:spTree>
    <p:extLst>
      <p:ext uri="{BB962C8B-B14F-4D97-AF65-F5344CB8AC3E}">
        <p14:creationId xmlns:p14="http://schemas.microsoft.com/office/powerpoint/2010/main" val="8420364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F140B-2618-2AF3-3B89-CA2FF451A3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1591973-277F-05C0-3D1C-3110885A7C3F}"/>
              </a:ext>
            </a:extLst>
          </p:cNvPr>
          <p:cNvSpPr txBox="1"/>
          <p:nvPr/>
        </p:nvSpPr>
        <p:spPr>
          <a:xfrm>
            <a:off x="499730" y="265814"/>
            <a:ext cx="544062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Tree Search for LLM Diagnosis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F6C0933-6B79-1DEC-D949-32B803B6AF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08" t="3182" r="30762" b="4644"/>
          <a:stretch>
            <a:fillRect/>
          </a:stretch>
        </p:blipFill>
        <p:spPr>
          <a:xfrm>
            <a:off x="8216628" y="1486924"/>
            <a:ext cx="3372256" cy="46379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6FE3FBB-CED5-3FCD-28A5-CBBF33432381}"/>
              </a:ext>
            </a:extLst>
          </p:cNvPr>
          <p:cNvSpPr txBox="1"/>
          <p:nvPr/>
        </p:nvSpPr>
        <p:spPr>
          <a:xfrm>
            <a:off x="1238655" y="1305341"/>
            <a:ext cx="669262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 1: Tree Initialization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Build a search tree with an Action Input root node, including task objectives, domain knowledge (e.g., diagnosis steps), and available tool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Guides the LLM to explore actions and expand tree nodes.</a:t>
            </a:r>
          </a:p>
          <a:p>
            <a:endParaRPr lang="en-US" altLang="zh-CN" dirty="0"/>
          </a:p>
          <a:p>
            <a:r>
              <a:rPr lang="en-US" altLang="zh-CN" b="1" dirty="0"/>
              <a:t>Step 2: Tree Node Scoring</a:t>
            </a:r>
          </a:p>
          <a:p>
            <a:r>
              <a:rPr lang="en-US" altLang="zh-CN" dirty="0"/>
              <a:t>Evaluate leaf node benefit scores based on three metrics: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Instant Benefit</a:t>
            </a:r>
            <a:r>
              <a:rPr lang="en-US" altLang="zh-CN" dirty="0"/>
              <a:t>: Derived from workload cost reduction after applying solutions in the database; zero if no solution exists.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Long-term Benefit</a:t>
            </a:r>
            <a:r>
              <a:rPr lang="en-US" altLang="zh-CN" dirty="0"/>
              <a:t>: Assessed by knowledge-augmented LLM via voting, considering task proximity, performance, and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Selection Frequency</a:t>
            </a:r>
            <a:r>
              <a:rPr lang="en-US" altLang="zh-CN" dirty="0"/>
              <a:t>: Calculated as the maximum ancestor selection count + 1.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Overall scores are computed using the UCT formula.</a:t>
            </a:r>
          </a:p>
        </p:txBody>
      </p:sp>
    </p:spTree>
    <p:extLst>
      <p:ext uri="{BB962C8B-B14F-4D97-AF65-F5344CB8AC3E}">
        <p14:creationId xmlns:p14="http://schemas.microsoft.com/office/powerpoint/2010/main" val="1366987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64509-BD25-430F-5209-46AE876F0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FE50267-4B9A-3471-5142-F4C864990AF5}"/>
              </a:ext>
            </a:extLst>
          </p:cNvPr>
          <p:cNvSpPr txBox="1"/>
          <p:nvPr/>
        </p:nvSpPr>
        <p:spPr>
          <a:xfrm>
            <a:off x="499730" y="265814"/>
            <a:ext cx="57973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Tree Search for LLM Diagnosis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B6B7C39-D6EE-4E75-FAA1-11A103A55EF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0308" t="3182" r="30762" b="4644"/>
          <a:stretch>
            <a:fillRect/>
          </a:stretch>
        </p:blipFill>
        <p:spPr>
          <a:xfrm>
            <a:off x="8313906" y="1396586"/>
            <a:ext cx="3372256" cy="4637915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00AD9D39-12B9-02A8-D2FA-9C2ADB5D9310}"/>
              </a:ext>
            </a:extLst>
          </p:cNvPr>
          <p:cNvSpPr txBox="1"/>
          <p:nvPr/>
        </p:nvSpPr>
        <p:spPr>
          <a:xfrm>
            <a:off x="992221" y="1037888"/>
            <a:ext cx="69390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 3: Tree Node Generation</a:t>
            </a:r>
          </a:p>
          <a:p>
            <a:r>
              <a:rPr lang="en-US" altLang="zh-CN" dirty="0"/>
              <a:t>Expand child nodes from the highest-scoring leaf node via four sub-steps: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Action Generation</a:t>
            </a:r>
            <a:r>
              <a:rPr lang="en-US" altLang="zh-CN" dirty="0"/>
              <a:t>: LLM generates a new action message.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Action Validation</a:t>
            </a:r>
            <a:r>
              <a:rPr lang="en-US" altLang="zh-CN" dirty="0"/>
              <a:t>: Check format (Thought / Action / Action Input); retry up to 3 times if invalid.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Node Creation</a:t>
            </a:r>
            <a:r>
              <a:rPr lang="en-US" altLang="zh-CN" dirty="0"/>
              <a:t>: New node stores parent state, LLM message, and execution/knowledge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Tree Expansion</a:t>
            </a:r>
            <a:r>
              <a:rPr lang="en-US" altLang="zh-CN" dirty="0"/>
              <a:t>: Attach the new node as a child and update the search tree.</a:t>
            </a:r>
          </a:p>
          <a:p>
            <a:endParaRPr lang="en-US" altLang="zh-CN" dirty="0"/>
          </a:p>
          <a:p>
            <a:r>
              <a:rPr lang="en-US" altLang="zh-CN" b="1" dirty="0"/>
              <a:t>Step 4: Existing Node Reflection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 re-evaluates action benefits along the root-to-selected path.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Useless nodes are marked for pruning to improve efficiency.</a:t>
            </a:r>
          </a:p>
          <a:p>
            <a:endParaRPr lang="en-US" altLang="zh-CN" dirty="0"/>
          </a:p>
          <a:p>
            <a:r>
              <a:rPr lang="en-US" altLang="zh-CN" b="1" dirty="0"/>
              <a:t>Step 5: Terminal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Repeat Steps 2–4.Terminate after a fixed number of non-improving iterations (e.g., 20 steps).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Output root causes and solutions from the highest-scoring leaf node.</a:t>
            </a:r>
          </a:p>
        </p:txBody>
      </p:sp>
    </p:spTree>
    <p:extLst>
      <p:ext uri="{BB962C8B-B14F-4D97-AF65-F5344CB8AC3E}">
        <p14:creationId xmlns:p14="http://schemas.microsoft.com/office/powerpoint/2010/main" val="2184964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C1F1AD-3D5A-8FAF-2514-C7D52C75F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82D8BB-E47F-9EEF-6613-BF222A3AD852}"/>
              </a:ext>
            </a:extLst>
          </p:cNvPr>
          <p:cNvSpPr txBox="1"/>
          <p:nvPr/>
        </p:nvSpPr>
        <p:spPr>
          <a:xfrm>
            <a:off x="499731" y="265814"/>
            <a:ext cx="53822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Collaborative Database Diagnosis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9D9809DA-88CE-AB5B-E01F-3DE0826854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74"/>
          <a:stretch>
            <a:fillRect/>
          </a:stretch>
        </p:blipFill>
        <p:spPr>
          <a:xfrm>
            <a:off x="7782128" y="1102928"/>
            <a:ext cx="3728936" cy="51714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5D3CE15-6CB8-E0EF-BCAB-95E78B38750A}"/>
              </a:ext>
            </a:extLst>
          </p:cNvPr>
          <p:cNvSpPr txBox="1"/>
          <p:nvPr/>
        </p:nvSpPr>
        <p:spPr>
          <a:xfrm>
            <a:off x="1141376" y="1326762"/>
            <a:ext cx="649807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 1: Expert Preparation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Initialize 7 LLM experts based on knowledge clustering.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Each expert is assigned specialized knowledge and corresponding tools.</a:t>
            </a:r>
          </a:p>
          <a:p>
            <a:r>
              <a:rPr lang="en-US" altLang="zh-CN" b="1" dirty="0"/>
              <a:t>Step 2: Expert Assignment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Generate a structured anomaly description (time, alert type, severity).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 LLM-based assigner selects the most relevant experts (e.g., CPU Expert for high load, Memory Expert for OOM).</a:t>
            </a:r>
          </a:p>
          <a:p>
            <a:r>
              <a:rPr lang="en-US" altLang="zh-CN" b="1" dirty="0"/>
              <a:t>Step 3: Asynchronous Diagnosis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Selected experts perform diagnosis in parallel.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publish-subscribe asynchronous mechanism enables efficient, non-blocking information sharing (metrics, tool outputs, findings).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Event-driven notifications allow experts to react to others’ analysis in real time.</a:t>
            </a:r>
          </a:p>
        </p:txBody>
      </p:sp>
    </p:spTree>
    <p:extLst>
      <p:ext uri="{BB962C8B-B14F-4D97-AF65-F5344CB8AC3E}">
        <p14:creationId xmlns:p14="http://schemas.microsoft.com/office/powerpoint/2010/main" val="36956938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A49E6F-31CE-A0C3-1A1D-8BE886AC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33FD4BA-1EF5-EEED-994E-845F1B833AD9}"/>
              </a:ext>
            </a:extLst>
          </p:cNvPr>
          <p:cNvSpPr txBox="1"/>
          <p:nvPr/>
        </p:nvSpPr>
        <p:spPr>
          <a:xfrm>
            <a:off x="499730" y="265814"/>
            <a:ext cx="55962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Collaborative Database Diagnosis</a:t>
            </a:r>
            <a:endParaRPr lang="zh-CN" altLang="en-US" sz="2800" b="1" dirty="0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CD02D8E1-0EA0-D652-ED27-F081D9C2232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8874"/>
          <a:stretch>
            <a:fillRect/>
          </a:stretch>
        </p:blipFill>
        <p:spPr>
          <a:xfrm>
            <a:off x="7782128" y="1102928"/>
            <a:ext cx="3728936" cy="517149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9A0C80F9-1C99-0DA4-1984-A479D17B58B3}"/>
              </a:ext>
            </a:extLst>
          </p:cNvPr>
          <p:cNvSpPr txBox="1"/>
          <p:nvPr/>
        </p:nvSpPr>
        <p:spPr>
          <a:xfrm>
            <a:off x="1115437" y="1379438"/>
            <a:ext cx="62257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Step 4: Cross Review &amp; Summarization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Incremental Message Summarization:</a:t>
            </a:r>
            <a:r>
              <a:rPr lang="zh-CN" altLang="en-US" b="1" dirty="0"/>
              <a:t> </a:t>
            </a:r>
            <a:r>
              <a:rPr lang="en-US" altLang="zh-CN" dirty="0"/>
              <a:t>LLM progressively condenses long diagnostic records into compact summaries to retain key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Review Advice: </a:t>
            </a:r>
            <a:r>
              <a:rPr lang="en-US" altLang="zh-CN" dirty="0"/>
              <a:t>Experts review peers’ results and provide correction or improvement suggestions.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Diagnosis Refinement: </a:t>
            </a:r>
            <a:r>
              <a:rPr lang="en-US" altLang="zh-CN" dirty="0"/>
              <a:t>Each expert revises conclusions, adds new inferences, and calls additional tools based on feedback.</a:t>
            </a:r>
          </a:p>
          <a:p>
            <a:endParaRPr lang="en-US" altLang="zh-CN" dirty="0"/>
          </a:p>
          <a:p>
            <a:r>
              <a:rPr lang="en-US" altLang="zh-CN" b="1" dirty="0"/>
              <a:t>Step 5: Report Generation</a:t>
            </a:r>
          </a:p>
          <a:p>
            <a:r>
              <a:rPr lang="en-US" altLang="zh-CN" dirty="0"/>
              <a:t>Generate a complete anomaly diagnosis report including: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Anomaly title, time, and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Identified root causes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Recommended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Summarized diagnosis process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813963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4FF4A-8418-F546-83D1-B243A2675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02B20496-5EDA-778A-C99C-DE0B73440801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Experiment Results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5F87472-5D80-BB49-9E87-045C3DBE0055}"/>
              </a:ext>
            </a:extLst>
          </p:cNvPr>
          <p:cNvSpPr txBox="1"/>
          <p:nvPr/>
        </p:nvSpPr>
        <p:spPr>
          <a:xfrm>
            <a:off x="1302773" y="1256098"/>
            <a:ext cx="8528647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Environment Setup</a:t>
            </a:r>
          </a:p>
          <a:p>
            <a:endParaRPr lang="en-US" altLang="zh-CN" dirty="0"/>
          </a:p>
          <a:p>
            <a:r>
              <a:rPr lang="en-US" altLang="zh-CN" sz="2000" b="1" dirty="0"/>
              <a:t>PostgreSQL 12.5</a:t>
            </a:r>
          </a:p>
          <a:p>
            <a:r>
              <a:rPr lang="en-US" altLang="zh-CN" dirty="0"/>
              <a:t>    (</a:t>
            </a:r>
            <a:r>
              <a:rPr lang="en-US" altLang="zh-CN" dirty="0" err="1"/>
              <a:t>i</a:t>
            </a:r>
            <a:r>
              <a:rPr lang="en-US" altLang="zh-CN" dirty="0"/>
              <a:t>) the </a:t>
            </a:r>
            <a:r>
              <a:rPr lang="en-US" altLang="zh-CN" dirty="0" err="1"/>
              <a:t>pg_stat_statements</a:t>
            </a:r>
            <a:r>
              <a:rPr lang="en-US" altLang="zh-CN" dirty="0"/>
              <a:t> plugin for tracking frequent queries, </a:t>
            </a:r>
          </a:p>
          <a:p>
            <a:r>
              <a:rPr lang="en-US" altLang="zh-CN" dirty="0"/>
              <a:t>    (ii) the </a:t>
            </a:r>
            <a:r>
              <a:rPr lang="en-US" altLang="zh-CN" dirty="0" err="1"/>
              <a:t>hypopg</a:t>
            </a:r>
            <a:r>
              <a:rPr lang="en-US" altLang="zh-CN" dirty="0"/>
              <a:t> plugin for creating hypothetical indexes.</a:t>
            </a:r>
          </a:p>
          <a:p>
            <a:endParaRPr lang="en-US" altLang="zh-CN" dirty="0"/>
          </a:p>
          <a:p>
            <a:r>
              <a:rPr lang="en-US" altLang="zh-CN" sz="2000" b="1" dirty="0"/>
              <a:t>LLM</a:t>
            </a:r>
            <a:r>
              <a:rPr lang="en-US" altLang="zh-CN" b="1" dirty="0"/>
              <a:t> (</a:t>
            </a:r>
            <a:r>
              <a:rPr lang="en-US" altLang="zh-CN" dirty="0"/>
              <a:t>temperature = 0</a:t>
            </a:r>
            <a:r>
              <a:rPr lang="en-US" altLang="zh-CN" b="1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GPT-4-0613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gpt-3.5-turbo16k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  <a:p>
            <a:r>
              <a:rPr lang="en-US" altLang="zh-CN" sz="2000" b="1" dirty="0"/>
              <a:t>Ablation Methods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 Knowledge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No Tree 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Single Agent</a:t>
            </a:r>
          </a:p>
        </p:txBody>
      </p:sp>
    </p:spTree>
    <p:extLst>
      <p:ext uri="{BB962C8B-B14F-4D97-AF65-F5344CB8AC3E}">
        <p14:creationId xmlns:p14="http://schemas.microsoft.com/office/powerpoint/2010/main" val="336721890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7BD3B2-480C-F21F-6E28-2A557B2F16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1689E8AC-848F-1333-3ACD-5003850CFB2B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Experiment Results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EB70645-1FDA-4FE0-DB53-EA68C1FBC43E}"/>
              </a:ext>
            </a:extLst>
          </p:cNvPr>
          <p:cNvSpPr txBox="1"/>
          <p:nvPr/>
        </p:nvSpPr>
        <p:spPr>
          <a:xfrm>
            <a:off x="1147861" y="1211888"/>
            <a:ext cx="989627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Anomaly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There are 254 anomalies with single causes and 285 with multiple causes.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Single-cause anomalies mainly result from “</a:t>
            </a:r>
            <a:r>
              <a:rPr lang="en-US" altLang="zh-CN" b="1" dirty="0"/>
              <a:t>Missing Indexes</a:t>
            </a:r>
            <a:r>
              <a:rPr lang="en-US" altLang="zh-CN" dirty="0"/>
              <a:t>”. Other common causes include “Many Updates” and “Redundant Indexes”, pointing to widespread inefficiencies in database operations and data schemas.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Multi-cause anomalies are more diverse. The combination of “Sync Commits” and “Many Inserts” is the most frequent, occurring twice as often as any other combination like “Poor Join + Many Updates”.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346B436-EA6F-9C4D-587E-EC1FA06C95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084" y="3874845"/>
            <a:ext cx="9811966" cy="2026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3517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2C3870-970D-BB19-F3C6-7FDE9EA2A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6D8A2395-531F-E6C7-1187-14D5AA00B9BB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Experiment Results</a:t>
            </a:r>
            <a:endParaRPr lang="zh-CN" altLang="en-US" sz="28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BECAF18-D0DE-18C5-C5FA-13ABB61B8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6972" y="4348576"/>
            <a:ext cx="4915011" cy="239036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C3D30DE-6AA1-FF55-3922-BA80AAA79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346" y="4989442"/>
            <a:ext cx="5228842" cy="129617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699C9C66-928C-94A8-2C19-A1F9602A6535}"/>
              </a:ext>
            </a:extLst>
          </p:cNvPr>
          <p:cNvSpPr txBox="1"/>
          <p:nvPr/>
        </p:nvSpPr>
        <p:spPr>
          <a:xfrm>
            <a:off x="1147861" y="1020518"/>
            <a:ext cx="9896273" cy="33855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Evaluation Metrics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Result Accuracy (Acc)</a:t>
            </a:r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endParaRPr lang="en-US" altLang="zh-CN" sz="1600" dirty="0"/>
          </a:p>
          <a:p>
            <a:r>
              <a:rPr lang="en-US" altLang="zh-CN" dirty="0"/>
              <a:t>Ac denotes the number of correct causes, Aa denotes the total number of causes, Aw denotes the number of wrongly detected causes, and σ is a hyper-parameter with 0.1 as the default value</a:t>
            </a:r>
          </a:p>
          <a:p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Human Evaluated Accuracy (HEval)</a:t>
            </a:r>
            <a:endParaRPr lang="en-US" altLang="zh-CN" sz="1600" dirty="0"/>
          </a:p>
          <a:p>
            <a:r>
              <a:rPr lang="en-US" altLang="zh-CN" dirty="0"/>
              <a:t>Ac’ in HEval denotes number of causes that (</a:t>
            </a:r>
            <a:r>
              <a:rPr lang="en-US" altLang="zh-CN" dirty="0" err="1"/>
              <a:t>i</a:t>
            </a:r>
            <a:r>
              <a:rPr lang="en-US" altLang="zh-CN" dirty="0"/>
              <a:t>) are correctly detected and (ii) the </a:t>
            </a:r>
            <a:r>
              <a:rPr lang="en-US" altLang="zh-CN" b="1" dirty="0"/>
              <a:t>analysis process </a:t>
            </a:r>
            <a:r>
              <a:rPr lang="en-US" altLang="zh-CN" dirty="0"/>
              <a:t>also makes sense (human evaluation).</a:t>
            </a:r>
            <a:endParaRPr lang="en-US" altLang="zh-CN" sz="16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23479CA-4356-26D3-ABCC-F39FFAF722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927" y="1694042"/>
            <a:ext cx="5249527" cy="987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465032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31322-E6D3-9428-D8D9-0ED9CC761F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9CEC54F5-2F92-1B40-3D71-84D12BBD37AD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Experiment Results</a:t>
            </a:r>
            <a:endParaRPr lang="zh-CN" altLang="en-US" sz="2800" b="1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10F0C8E1-06B9-571C-E580-6AEA43C9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7268" y="1063558"/>
            <a:ext cx="7717463" cy="5321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7273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C858C-950A-A9BF-C9AD-6A84CDC68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0981AD5-1A65-A29A-4C5E-06730C4E35F8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Experiment Results</a:t>
            </a:r>
            <a:endParaRPr lang="zh-CN" altLang="en-US" sz="2800" b="1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56BC157-B9E2-479E-DB2D-38422517DA4B}"/>
              </a:ext>
            </a:extLst>
          </p:cNvPr>
          <p:cNvSpPr txBox="1"/>
          <p:nvPr/>
        </p:nvSpPr>
        <p:spPr>
          <a:xfrm>
            <a:off x="1147863" y="937259"/>
            <a:ext cx="989627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/>
              <a:t>Model Fine-tuning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Recording the diagnosis processes of D-Bot (GPT4) consisting of 5 sub-tasks (e.g., tool calling) and 2819 samples in total. We mix them together as a multi-task finetuning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LLM: Llama 2, </a:t>
            </a:r>
            <a:r>
              <a:rPr lang="en-US" altLang="zh-CN" dirty="0" err="1"/>
              <a:t>CodeLlama</a:t>
            </a:r>
            <a:r>
              <a:rPr lang="en-US" altLang="zh-CN" dirty="0"/>
              <a:t>, </a:t>
            </a:r>
            <a:r>
              <a:rPr lang="en-US" altLang="zh-CN" dirty="0" err="1"/>
              <a:t>Baichuan</a:t>
            </a:r>
            <a:r>
              <a:rPr lang="en-US" altLang="zh-CN" dirty="0"/>
              <a:t>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D-Bot using localized SOTA LLMs can achieve comparable diagnosis performance to D-Bot (GPT-4), but their generalizability is greatly affected by the fine-tuning samples.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11A90939-B880-7972-8AF7-F3EEFE982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336" y="2874149"/>
            <a:ext cx="5084324" cy="3718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4313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AAE60-2C59-06A6-D0F7-936CEC8F6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AE3554DF-0009-7ED1-87C8-B13E82D3AAC5}"/>
              </a:ext>
            </a:extLst>
          </p:cNvPr>
          <p:cNvSpPr txBox="1"/>
          <p:nvPr/>
        </p:nvSpPr>
        <p:spPr>
          <a:xfrm>
            <a:off x="499731" y="265814"/>
            <a:ext cx="44159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/>
              <a:t>Conclusion</a:t>
            </a:r>
            <a:endParaRPr lang="zh-CN" altLang="en-US" sz="2800" b="1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149BEB-7903-873B-E203-C99908CC007C}"/>
              </a:ext>
            </a:extLst>
          </p:cNvPr>
          <p:cNvSpPr txBox="1"/>
          <p:nvPr/>
        </p:nvSpPr>
        <p:spPr>
          <a:xfrm>
            <a:off x="1653703" y="1538487"/>
            <a:ext cx="859925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This paper presents D-Bot, an LLM-based </a:t>
            </a:r>
            <a:r>
              <a:rPr lang="en-US" altLang="zh-CN" b="1" dirty="0"/>
              <a:t>database diagnosis system</a:t>
            </a:r>
            <a:r>
              <a:rPr lang="en-US" altLang="zh-CN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D-Bot extract </a:t>
            </a:r>
            <a:r>
              <a:rPr lang="en-US" altLang="zh-CN" b="1" dirty="0"/>
              <a:t>knowledge</a:t>
            </a:r>
            <a:r>
              <a:rPr lang="en-US" altLang="zh-CN" dirty="0"/>
              <a:t> from documents and integrate </a:t>
            </a:r>
            <a:r>
              <a:rPr lang="en-US" altLang="zh-CN" b="1" dirty="0"/>
              <a:t>tool APIs</a:t>
            </a:r>
            <a:r>
              <a:rPr lang="en-US" altLang="zh-CN" dirty="0"/>
              <a:t> into LLM prompts for online reasoning.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</a:t>
            </a:r>
            <a:r>
              <a:rPr lang="en-US" altLang="zh-CN" b="1" dirty="0"/>
              <a:t>tree-search algorithm </a:t>
            </a:r>
            <a:r>
              <a:rPr lang="en-US" altLang="zh-CN" dirty="0"/>
              <a:t>is proposed to locate root causes and generate solutions accurately.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A </a:t>
            </a:r>
            <a:r>
              <a:rPr lang="en-US" altLang="zh-CN" b="1" dirty="0"/>
              <a:t>multi-LLM collaborative </a:t>
            </a:r>
            <a:r>
              <a:rPr lang="en-US" altLang="zh-CN" dirty="0"/>
              <a:t>mechanism further boosts diagnostic efficiency.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Experiments show D-Bot outperforms baseline methods and human DBAs significantly.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3090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PT default font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9726</TotalTime>
  <Words>2952</Words>
  <Application>Microsoft Office PowerPoint</Application>
  <PresentationFormat>宽屏</PresentationFormat>
  <Paragraphs>261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等线</vt:lpstr>
      <vt:lpstr>微软雅黑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shui ruo</dc:creator>
  <cp:lastModifiedBy>shui ruo</cp:lastModifiedBy>
  <cp:revision>116</cp:revision>
  <dcterms:created xsi:type="dcterms:W3CDTF">2026-03-23T07:36:02Z</dcterms:created>
  <dcterms:modified xsi:type="dcterms:W3CDTF">2026-04-20T05:44:34Z</dcterms:modified>
</cp:coreProperties>
</file>