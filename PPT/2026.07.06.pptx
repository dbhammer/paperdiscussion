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7" name="Shape 1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现有的算法评测主要是在HNSWLib这样的向量检索库里得到的结论，但是无法迁移到数据库中。</a:t>
            </a:r>
          </a:p>
          <a:p>
            <a:pPr/>
            <a:r>
              <a:t>可以看到，在一个pg系统里实现的同样的算法，延迟差异可以高达十倍。</a:t>
            </a:r>
          </a:p>
          <a:p>
            <a:pPr/>
            <a:r>
              <a:t>因此，传统ANN算法里的距离计算次数不再是可靠的性能代理。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4" name="Shape 19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文章试图分析的问题为：在真实数据库系统中，filter-agnostic FVS 策略什么时候有效，什么时候失效，以及背后的原因是什么。</a:t>
            </a:r>
          </a:p>
          <a:p>
            <a:pPr/>
            <a:r>
              <a:t>贡献可以概括成三点。首先，作者在 PostgreSQL / PGVector 体系中实现和评估过滤向量搜索算法。第二，他们设计了 负载生成器 ，可以同时控制 选择性 和 过滤谓词与向量距离之间的相关性。第三，文章在系统层面分析了FVS算法的开销来源。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2" name="Shape 20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Pre-filtering 是先用结构化谓词筛掉不满足条件的 tuple，然后对剩下的数据做 KNN。它在过滤非常 selective 时可能有效，但如果剩余数据很多，exact KNN 会很贵。</a:t>
            </a:r>
          </a:p>
          <a:p>
            <a:pPr/>
            <a:r>
              <a:t>Post-filtering 是先跑 ANN，再对返回结果做 filter；如果结果里不够 k 个满足条件的点，就需要多轮 嗅探。</a:t>
            </a:r>
          </a:p>
          <a:p>
            <a:pPr/>
            <a:r>
              <a:t>Inline filtering 则是把 ANN 遍历 和 过滤检查 耦合起来，在搜索过程中就利用过滤结果。</a:t>
            </a:r>
          </a:p>
          <a:p>
            <a:pPr/>
            <a:r>
              <a:t>本文后面主要聚焦 inline，因为这类方法最能体现向量索引与数据库过滤之间的交互。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9" name="Shape 20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Pre-filtering 对数据库 optimizer 来说相对直接，因为它可以先估计结构化谓词的选择率，再估计剩余数据上的 KNN 成本。Post-filtering 则在 PostgreSQL 里可以被 iterative scan 这种机制覆盖。真正困难的是 inline：它既要保持 ANN 的 navigability，又要在 traversal 过程中处理过滤条件。</a:t>
            </a:r>
          </a:p>
          <a:p>
            <a:pPr/>
          </a:p>
          <a:p>
            <a:pPr/>
            <a:r>
              <a:t>Filter-agnostic 的意义是，索引构建时不依赖具体属性或谓词。这样可以支持任意 filter，不需要为每种属性构建专门索引，也更适合动态更新。</a:t>
            </a:r>
          </a:p>
          <a:p>
            <a:pPr/>
          </a:p>
          <a:p>
            <a:pPr/>
            <a:r>
              <a:t>当 filter 很严格时，pre-filtering 更快，而且它作为执行方法比较容易由 optimizer 估计代价。也就是说，pre-filtering 在数据库里是一个相对成熟、清晰的 plan choice：先用关系谓词缩小数据，再做向量搜索。</a:t>
            </a:r>
          </a:p>
          <a:p>
            <a:pPr/>
            <a:r>
              <a:t>如果 iterative scan 第一轮就找到足够多 filtered results，它和 ordinary post-filtering 等价；如果第一轮不够，它可以 resume index scan，再取下一批候选。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7" name="Shape 21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查询从最高层的 entry point 开始，先进行 zoom-in phase，也就是逐层贪心地向 query vector 更近的节点移动。到达 base layer，也就是 layer 0 后，算法不再只是单路径贪心，而是用 优先队列维护候选节点和当前最优结果，通过扩展邻居来近似找到 kNN。</a:t>
            </a:r>
          </a:p>
          <a:p>
            <a:pPr/>
          </a:p>
          <a:p>
            <a:pPr/>
            <a:r>
              <a:t>构建时对每一个点随机分配层数，而后从顶层开始，贪心搜索该点最近邻点，并作为下一层起始点，直到插入至目标层，在该层构建近邻边，并在底层建立连接。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5" name="Shape 2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这一页讲 filter-first 的 graph-based 方法，代表是 ACORN 和 NaviX。</a:t>
            </a:r>
          </a:p>
          <a:p>
            <a:pPr/>
          </a:p>
          <a:p>
            <a:pPr/>
            <a:r>
              <a:t>ACORN 的基本思路是：尽量只对满足 filter 的节点计算距离，让搜索路径更多地沿着 filter-valid 的节点展开。但如果只看一跳邻居，可能因为满足条件的邻居太少而断掉，所以 ACORN 会在运行时做 2-hop neighbor expansion。</a:t>
            </a:r>
          </a:p>
          <a:p>
            <a:pPr/>
          </a:p>
          <a:p>
            <a:pPr/>
            <a:r>
              <a:t>右图上半部分可以按三个阶段讲。第一步，当前节点收集 direct neighbors 以及部分 two-hop neighbors。第二步，对这些候选节点做 filter checking。第三步，只对通过 filter 的节点计算与 query 的距离，并决定下一跳。这就是 filter-first 的含义：filter 在距离计算之前发生。</a:t>
            </a:r>
          </a:p>
          <a:p>
            <a:pPr/>
          </a:p>
          <a:p>
            <a:pPr/>
            <a:r>
              <a:t>下半部分是 NaviX 的改进点。ACORN 的 2-hop expansion 本身有顺序问题：应该先扩展哪些一跳邻居？Blind 策略是不区分优先级，而 Directed 策略会优先扩展看起来更 promising 的方向。NaviX 本质上是自适应版本，会在 blind、directed、one-hop 之间选择，从而减少无效的 2-hop 开销。</a:t>
            </a:r>
          </a:p>
          <a:p>
            <a:pPr/>
          </a:p>
          <a:p>
            <a:pPr/>
            <a:r>
              <a:t>directed: 先看 1-hop neighbors 哪些更接近 query，然后优先扩展这些高排名 1-hop neighbors 对应的 2-hop neighbors。(中等选择性)</a:t>
            </a:r>
          </a:p>
          <a:p>
            <a:pPr/>
            <a:r>
              <a:t>blind: acorn(严格选择性)</a:t>
            </a:r>
          </a:p>
          <a:p>
            <a:pPr/>
            <a:r>
              <a:t>onehop-s： filter较宽松，1-hop neighbor就大多满足filter了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6" name="Shape 23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Sweeping 属于 traversal-first。它保持原始 unfiltered HNSW 图的导航方式。只有当候选节点要进入结果集合时，才检查 filter。左下图展示的是：先对 直接邻居 计算距离并收集最优候选，然后再对候选集合应用过滤条件，更新结果集合 W。</a:t>
            </a:r>
            <a:r>
              <a:rPr>
                <a:solidFill>
                  <a:srgbClr val="D5D5D5"/>
                </a:solidFill>
              </a:rPr>
              <a:t>它的优点是保留了原图的 navigability，缺点是会对很多最后被过滤掉的节点做无用的 distance computation 和 page access。</a:t>
            </a:r>
            <a:endParaRPr>
              <a:solidFill>
                <a:srgbClr val="D5D5D5"/>
              </a:solidFill>
            </a:endParaRPr>
          </a:p>
          <a:p>
            <a:pPr/>
          </a:p>
          <a:p>
            <a:pPr/>
            <a:r>
              <a:t>iterative scan 更接近 PostgreSQL executor 的处理方式。图里第一轮 index scan 返回一批候选，数据库层再应用 filter。如果过滤后不够 k 个结果，搜索会从 discarded candidate queue D 继续，而不是完全重新开始。这个机制把 HNSW index traversal 和数据库 executor 解耦，但也带来额外的迭代和候选管理开销。</a:t>
            </a:r>
          </a:p>
          <a:p>
            <a:pPr/>
          </a:p>
          <a:p>
            <a:pPr/>
            <a:r>
              <a:t>sweeping：先按原始 unfiltered HNSW 图正常导航，只在候选要进入结果集时检查 filter。</a:t>
            </a:r>
          </a:p>
          <a:p>
            <a:pPr/>
            <a:r>
              <a:t>iterative scan：先做一轮普通 ANN search，拿一批候选；filter 后如果不够 k 个，就从上次中断的 HNSW 状态继续搜索。</a:t>
            </a:r>
          </a:p>
          <a:p>
            <a:pPr/>
            <a:r>
              <a:t>它维护一个 discarded candidate queue D，保存那些已经被访问但暂时没有继续探索的节点。如果第一批候选过滤后不足 k 个，它就从 D 保存的状态恢复搜索。</a:t>
            </a:r>
          </a:p>
          <a:p>
            <a:p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4" name="Shape 24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展示的是三层树结构：root、branch 和 leaf。搜索时，ScaNN 先对 root 和 branch centroid 进行 unfiltered scoring，选出更可能包含近邻的 leaf 区域。到 leaf 层以后，才真正处理具体向量点。</a:t>
            </a:r>
          </a:p>
          <a:p>
            <a:pPr/>
          </a:p>
          <a:p>
            <a:pPr/>
            <a:r>
              <a:t>Filtered ScaNN 的关键是：在 leaf 中只对满足条件的点读取向量并计算距离。因此它不像 graph-based 方法那样依赖邻居跳转，而是依赖 cluster selection 和 leaf-level scan。</a:t>
            </a:r>
            <a:r>
              <a:rPr>
                <a:solidFill>
                  <a:srgbClr val="D5D5D5"/>
                </a:solidFill>
              </a:rPr>
              <a:t>后面实验里它的系统优势主要来自更顺序化的访问模式和更好的 SIMD / cache 利用。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1" name="Shape 2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在 PostgreSQL 里，HNSW 的节点不是存放在简单连续数组里，而是组织在 index pages 中。一个 index page 里通常需要保存高维向量数据、指向 heap tuple 的 heaptid，以及邻居节点的 index tid 或 page pointer。这里的关键约束是：pgvector 要求一个节点的邻居元数据能够放进单个 page。</a:t>
            </a:r>
          </a:p>
          <a:p>
            <a:pPr/>
          </a:p>
          <a:p>
            <a:pPr/>
            <a:r>
              <a:t>𝑀 is the maximum number of connections per layer, 𝐿𝑚𝑎𝑥 is the maximum layer height</a:t>
            </a:r>
          </a:p>
          <a:p>
            <a:pPr/>
          </a:p>
          <a:p>
            <a:pPr/>
            <a:r>
              <a:t>这带来一个 trade-off。M 越大，图的 connectivity 越强，节点邻居更多，召回和导航能力可能更好；但 M 越大，邻居信息占用的 page 空间也越多，会增加 page-level 存储压力和访问成本。另一方面，HNSW 的层数和图结构也影响 navigability。也就是说，在数据库里，图参数不再只是算法参数，还会直接受 page layout 和 tuple structure 影响。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8" name="Shape 25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第一是 space amplification。数据库 page 有 page header，tuple 有复杂结构，不像向量库里可以用紧凑数组存储，所以同样的数据会占更多空间，缓存命中率也可能下降。</a:t>
            </a:r>
          </a:p>
          <a:p>
            <a:pPr/>
          </a:p>
          <a:p>
            <a:pPr/>
            <a:r>
              <a:t>第二是 I/O amplification。图遍历中的每一跳都可能引出多个邻居 page 的随机访问，neighbor fanout 越大，随机 I/O 越明显。</a:t>
            </a:r>
          </a:p>
          <a:p>
            <a:pPr/>
          </a:p>
          <a:p>
            <a:pPr/>
            <a:r>
              <a:t>第三是 double lookup。过滤条件通常依赖 heap tuple 或结构化列，而向量索引里只存 index entry，所以需要先访问 index page，再通过 heaptid 访问 heap 或 filter bitmap。</a:t>
            </a:r>
          </a:p>
          <a:p>
            <a:pPr/>
          </a:p>
          <a:p>
            <a:pPr/>
            <a:r>
              <a:t>第四是 concurrency constraints。PostgreSQL 的标准 executor 不是为细粒度并行向量扫描设计的，所以一些库级优化在数据库里难以直接复现。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5" name="Shape 26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在具体实现上，作者设计了两个优化。</a:t>
            </a:r>
          </a:p>
          <a:p>
            <a:pPr/>
          </a:p>
          <a:p>
            <a:pPr/>
            <a:r>
              <a:t>第一个是 翻译表。它是一个预计算的 内存哈希表，用来把 IndexTID 转换成 HeapTID。对于 ACORN 和 NaviX 这种需要大量检查 2-hop neighbor 的方法，如果每次都为了拿 heaptid 去访问邻居 page，成本会非常高。translation map 可以减少这类 二次页访问。</a:t>
            </a:r>
          </a:p>
          <a:p>
            <a:pPr/>
          </a:p>
          <a:p>
            <a:pPr/>
            <a:r>
              <a:t>第二个是 adaptive expansion。它的动机是：并不是每次都值得做 2-hop expansion。如果当前一跳邻居里已经有足够多满足 filter 的候选，就没有必要再访问更多 2-hop pages。这个优化在 filter-valid 节点比较密集的区域尤其有用，可以避免过度扩展。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3" name="Shape 2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这张图展示了 NaviX、ACORN、Sweeping 和 Iterative Scan 在 PGVector 里的实际 页访问 流程。</a:t>
            </a:r>
          </a:p>
          <a:p>
            <a:pPr/>
          </a:p>
          <a:p>
            <a:pPr/>
            <a:r>
              <a:t>先看上半部分。当前节点 N 的 索引页 里存有自己的 heaptid、embedding vector data，以及 direct neighbors 的 indextids。对于 NaviX / ACORN，每一跳不仅要读 N 的页面，还要访问 A-D 这些 直接邻居 的 index pages，从中拿到它们的 二跳邻居 和自己的 heaptids。然后通过 translation map 把 indextid 映射成 heaptid，再去 in-memory hashmaps 里做 filter check。图中绿色节点 C、E、G、J 是通过 filter 的候选，后续才会被进一步 materialize 和计算距离。</a:t>
            </a:r>
          </a:p>
          <a:p>
            <a:pPr/>
          </a:p>
          <a:p>
            <a:pPr/>
            <a:r>
              <a:t>2-hop expansion 在算法层面看起来只是“多看一些邻居”，但在 PostgreSQL 里意味着多次 pin page、lock page、copy metadata、translation map probing 和 filter bitmap probing。</a:t>
            </a:r>
          </a:p>
          <a:p>
            <a:pPr/>
          </a:p>
          <a:p>
            <a:pPr/>
            <a:r>
              <a:t>中间部分是 Sweeping。它不做 2-hop expansion，而是沿原始 HNSW 图扩展 direct neighbors，并最终进行过滤检查。</a:t>
            </a:r>
            <a:r>
              <a:rPr>
                <a:solidFill>
                  <a:srgbClr val="D5D5D5"/>
                </a:solidFill>
              </a:rPr>
              <a:t>它的开销主要来自对 direct neighbor 页面进行访问、距离计算，以及在候选 promising 时 materialize element。这里的 materialize 可以理解为把候选的必要信息从 page 中拷贝出来，放到本地候选结构或结果结构里，以便后续排序和返回。</a:t>
            </a:r>
            <a:endParaRPr>
              <a:solidFill>
                <a:srgbClr val="D5D5D5"/>
              </a:solidFill>
            </a:endParaRPr>
          </a:p>
          <a:p>
            <a:pPr/>
          </a:p>
          <a:p>
            <a:pPr/>
            <a:r>
              <a:t>下方是 Iterative Scan。它每一轮取一批候选交给数据库 executor 过滤，如果过滤后不足 k 个，就继续下一轮。它的系统开销不是 2-hop expansion，而是多轮 scan 与 executor 之间的交互成本。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28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1" name="Shape 28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可以看到，每个 叶节点对应的页中 中有 heaptids、embedding vector data，以及指向下一页的 pointer。搜索时，ScaNN 先通过 tree traversal 选择 root、branch 和 leaf candidate。到了 leaf 后，算法先读取 heaptids，用 in-memory hashmaps 检查哪些点满足 filter，然后只读取通过过滤的向量数据并做 distance computation。</a:t>
            </a:r>
          </a:p>
          <a:p>
            <a:pPr/>
          </a:p>
          <a:p>
            <a:pPr/>
            <a:r>
              <a:t>这和 graph-based 方法最大的不同是访问模式。Graph traversal 会带来很多随机 page access；ScaNN 则是在选中的 leaf pages 中顺序扫描。顺序 leaf scan 更适合 cache locality，也更容易利用 SIMD 做批量距离计算。</a:t>
            </a:r>
            <a:r>
              <a:rPr>
                <a:solidFill>
                  <a:srgbClr val="D5D5D5"/>
                </a:solidFill>
              </a:rPr>
              <a:t>所以 ScaNN 即使在某些情况下做了更多 filter checks 或 distance computations，也可能在真实 CPU cycles 上更便宜。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30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3" name="Shape 30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生成方式是：对每个 query，先把所有向量按到 query 的距离排序。然后从这个排序列表中采样 row IDs，构造位图。Selectivity 控制采样多少个 row IDs，也就是有多少比例的数据满足过滤条件。Correlation 控制采样的 row IDs 分布在排序列表的哪个位置。</a:t>
            </a:r>
          </a:p>
          <a:p>
            <a:pPr/>
          </a:p>
          <a:p>
            <a:pPr/>
            <a:r>
              <a:t>右图可以这样解释：如果是 positive correlation，满足 filter 的点更集中在 query 附近，所以近邻更可能通过过滤；如果是 negative correlation，离 query 最近的点反而经常不满足过滤条件。下面的表给出了五种相关性：high positive 从最近的前三分之一采样，medium positive 从最近的一半采样，low positive 从全列表中按距离偏置采样，negative 是反向距离偏置，no correlation 则随机采样。这个设计让作者可以系统地构造 easy case 和 hard case，而不是只依赖真实数据中不可控的谓词分布。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1" name="Shape 31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者使用四个数据集，规模是 5M 到 10M vectors，维度从 128 到 1536，距离度量包括 L2距离 和 内积，并且覆盖了文本和多模场景。workload 是 100 个 base queries，乘以 9 个 selectivity，再乘以 5 种 correlation 类型。评价指标是：在达到 95% Recall@10 的条件下比较 QPS。</a:t>
            </a:r>
          </a:p>
          <a:p>
            <a:pPr/>
          </a:p>
          <a:p>
            <a:pPr/>
            <a:r>
              <a:t>Relative costs of distance computations and bitmap probing were calculated, showing the relative cost incurred by queries served by a library.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Shape 3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9" name="Shape 3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407458" indent="-407458">
              <a:buSzPct val="100000"/>
              <a:buAutoNum type="arabicPeriod" startAt="1"/>
            </a:pPr>
            <a:r>
              <a:t> ScaNN 的 sequential access 和 SIMD 在低维时很有效，但维度升高后，每个 page 能容纳的 vector 数量下降，reordering/full vector retrieval 成本上升，graph 的 random access 劣势相对没那么突出。</a:t>
            </a:r>
          </a:p>
          <a:p>
            <a:pPr marL="407458" indent="-407458">
              <a:buSzPct val="100000"/>
              <a:buAutoNum type="arabicPeriod" startAt="1"/>
            </a:pPr>
            <a:r>
              <a:t>因为它们先过滤、少算无效距离；但 selectivity 变高后，大量 neighbor 都满足 filter，维护 predicate subgraph 的成本超过节省的 distance computation，Sweeping/Iterative Scan 这类 traversal-first 方法会更有竞争力</a:t>
            </a:r>
          </a:p>
          <a:p>
            <a:pPr marL="407458" indent="-407458">
              <a:buSzPct val="100000"/>
              <a:buAutoNum type="arabicPeriod" startAt="1"/>
            </a:pPr>
            <a:r>
              <a:t>NaviX-Directed heuristic 会更有方向地扩展 2-hop neighbors，减少无效探索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7" name="Shape 32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过滤优先的 方法在低选择性 下 距离计算次数少 ，因为它们先过滤再算距离；但它们会产生大量 过滤检查 和 页访问。</a:t>
            </a:r>
          </a:p>
          <a:p>
            <a:pPr/>
          </a:p>
          <a:p>
            <a:pPr/>
            <a:r>
              <a:t>Sweeping 这类 traversal-first 方法可能 distance computations 更多，但它保留原图 traversal，某些情况下 hops 或 page access 会更稳定。</a:t>
            </a:r>
          </a:p>
          <a:p>
            <a:pPr/>
          </a:p>
          <a:p>
            <a:pPr/>
            <a:r>
              <a:t>ScaNN 在低 selectivity 下 filter checks 可能很多，因为它会检查 leaf 中的 heaptids；但它的 page accesses 较少，因为 leaf scan 更顺序。</a:t>
            </a:r>
          </a:p>
          <a:p>
            <a:pPr/>
          </a:p>
          <a:p>
            <a:pPr/>
            <a:r>
              <a:t>所以这一页的结论是：内部指标不能跨方法直接比较。一次 distance computation、一次 filter check、一次 random page access 和一次 sequential leaf scan 的代价完全不同。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33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7" name="Shape 33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堆叠柱状图把 CPU 时间拆成不同部分：filter checks、distance computation、vector data retrieval、system overhead、neighbor metadata retrieval、translation map，以及 ScaNN 的 reordering overhead。</a:t>
            </a:r>
          </a:p>
          <a:p>
            <a:pPr/>
          </a:p>
          <a:p>
            <a:pPr/>
            <a:r>
              <a:t>图里可以看到，graph-based 方法的瓶颈不一定是距离计算。对于 NaviX 和 ACORN，neighbor metadata retrieval 和 translation map probing 会占很大比例，尤其是在需要大量 2-hop expansion 的情况下。</a:t>
            </a:r>
          </a:p>
          <a:p>
            <a:pPr/>
          </a:p>
          <a:p>
            <a:pPr/>
            <a:r>
              <a:t>Sweeping 和 Iterative Scan 更容易被系统开销主导，因为它们需要沿图不断访问候选和处理 executor 交互。</a:t>
            </a:r>
          </a:p>
          <a:p>
            <a:pPr/>
          </a:p>
          <a:p>
            <a:pPr/>
            <a:r>
              <a:t>ScaNN 的开销结构不同。它主要来自 reordering 和 batched vector retrieval。Reordering：为了保证 recall，需要把初筛出来的候选用原始 full-precision vector 再算一遍距离，然后重新排序。这一步就是 reordering。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4" name="Shape 34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算法层面更少的 hops、更少的 distance computations，并不一定转化成更高 QPS。ScaNN 在某些 selectivity 下可能做更多 filter checks 或 distance computations，但它经常消耗更少 CPU cycles，因为它更接近顺序访问，cache locality 更好，也更容易做 SIMD 批处理。</a:t>
            </a:r>
          </a:p>
          <a:p>
            <a:pPr/>
          </a:p>
          <a:p>
            <a:pPr/>
            <a:r>
              <a:t>相比之下，graph methods 的问题在于随机访问和元数据访问成本。它们需要不断读取 neighbor metadata，做 indextid 到 heaptid 的映射，还要处理 page pin / lock / materialization。图算法本身可能很高效，但落到数据库 page layout 后，系统税会变得非常明显。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35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2" name="Shape 35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当 k 变大，所有方法都要做更多工作：graph 要遍历更多节点，ScaNN 要扫描更多 叶节点。</a:t>
            </a:r>
          </a:p>
          <a:p>
            <a:pPr/>
            <a:r>
              <a:t>低 selectivity 下，filter-first graph 方法增长较温和，因为它们沿 predicate-induced subgraph 找满足 filter 的点；</a:t>
            </a:r>
          </a:p>
          <a:p>
            <a:pPr/>
            <a:r>
              <a:t>Sweeping 增长非常明显。例如 OpenAI-5M、1% selectivity 下，NaviX hop count 从 12.0 到 22.4，而 Sweeping 从 991.6 到 6307.6；ScaNN leaves scanned 从 122 到 391。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35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0" name="Shape 36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correlation 改变的是“满足 filter 的点在向量空间里的分布”。positive correlation 对 graph 友好；negative correlation 会让 graph 在错误区域浪费 traversal。</a:t>
            </a:r>
          </a:p>
          <a:p>
            <a:pPr/>
          </a:p>
          <a:p>
            <a:pPr/>
            <a:r>
              <a:t>selectivity 越高，满足 filter 的点越多</a:t>
            </a:r>
          </a:p>
          <a:p>
            <a:pPr/>
          </a:p>
          <a:p>
            <a:pPr/>
            <a:r>
              <a:t>低 selectivity 时，filter-first 值得，因为它用大量 filter check 换掉无效距离计算；中等 selectivity 时，两种成本叠加，所以性能可能波动；高 selectivity 时，filter 已经不再强约束搜索，算法退化为普通 HNSW，瓶颈转向距离计算和系统访问成本。</a:t>
            </a:r>
          </a:p>
          <a:p>
            <a:pPr/>
          </a:p>
          <a:p>
            <a:pPr/>
            <a:r>
              <a:t>ScaNN 也不是严格单调。selectivity 超过 50% 后，bitmap 更大，cache 更难容纳，inline-filtering 的 bitmap/filter overhead 上升，所以即使 filter checks 数量下降，QPS 也可能轻微下降。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3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7" name="Shape 3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第一，数据库系统会打破很多 library-level assumptions。在向量库中有效的算法指标，比如 hops 或 distance computations，不能直接解释 PostgreSQL 中的 latency。</a:t>
            </a:r>
          </a:p>
          <a:p>
            <a:pPr/>
          </a:p>
          <a:p>
            <a:pPr/>
            <a:r>
              <a:t>第二，没有明确的 graph vs. tree winner。Graph methods 在某些低 selectivity、高 k、positive correlation 场景下很强；ScaNN 在访问模式、cache locality 和 SIMD 利用上更有系统优势。</a:t>
            </a:r>
          </a:p>
          <a:p>
            <a:pPr/>
          </a:p>
          <a:p>
            <a:pPr/>
            <a:r>
              <a:t>第三，对于 graph-based FVS 来说，减少 hops 仍然是核心设计方向，但这里的 hops 不只是算法概念，而是会放大成 page access、metadata retrieval 和 heap lookup。</a:t>
            </a:r>
          </a:p>
          <a:p>
            <a:pPr/>
          </a:p>
          <a:p>
            <a:pPr/>
            <a:r>
              <a:t>最后，未来的 FVS cost model 应该显式建模 TID indirection、page access、tuple materialization 和 filter bitmap probing。也就是说，数据库里的 filtered vector search 不能只做 ANN 算法优化，还需要系统级 cost model 和 storage-aware 设计。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23500560" y="13212097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23499916" y="1320362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495000" y="13207999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IGMOD’26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SIGMOD’26</a:t>
            </a:r>
          </a:p>
        </p:txBody>
      </p:sp>
      <p:sp>
        <p:nvSpPr>
          <p:cNvPr id="172" name="An In-Depth Study of Filter-Agnostic Vector Search on a PostgreSQL Database System: [Experiments &amp; Analysis]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1877520">
              <a:defRPr spc="-178" sz="8932"/>
            </a:lvl1pPr>
          </a:lstStyle>
          <a:p>
            <a:pPr/>
            <a:r>
              <a:t>An In-Depth Study of Filter-Agnostic Vector Search on a PostgreSQL Database System: [Experiments &amp; Analysis]</a:t>
            </a:r>
          </a:p>
        </p:txBody>
      </p:sp>
      <p:sp>
        <p:nvSpPr>
          <p:cNvPr id="173" name="DUO LU∗, Brown University, USA…"/>
          <p:cNvSpPr txBox="1"/>
          <p:nvPr>
            <p:ph type="subTitle" sz="quarter" idx="1"/>
          </p:nvPr>
        </p:nvSpPr>
        <p:spPr>
          <a:xfrm>
            <a:off x="1201342" y="7223190"/>
            <a:ext cx="21981315" cy="2557024"/>
          </a:xfrm>
          <a:prstGeom prst="rect">
            <a:avLst/>
          </a:prstGeom>
        </p:spPr>
        <p:txBody>
          <a:bodyPr/>
          <a:lstStyle/>
          <a:p>
            <a:pPr defTabSz="330200">
              <a:defRPr sz="2200"/>
            </a:pPr>
            <a:r>
              <a:t>DUO LU∗, Brown University, USA</a:t>
            </a:r>
          </a:p>
          <a:p>
            <a:pPr defTabSz="330200">
              <a:defRPr sz="2200"/>
            </a:pPr>
            <a:r>
              <a:t>HELENA CAMINAL, Google, USA</a:t>
            </a:r>
          </a:p>
          <a:p>
            <a:pPr defTabSz="330200">
              <a:defRPr sz="2200"/>
            </a:pPr>
            <a:r>
              <a:t>MANOS CHATZAKIS∗, Université Paris Cité, LIPADE, France</a:t>
            </a:r>
          </a:p>
          <a:p>
            <a:pPr defTabSz="330200">
              <a:defRPr sz="2200"/>
            </a:pPr>
            <a:r>
              <a:t>YANNIS PAPAKONSTANTINOU, Google, USA</a:t>
            </a:r>
          </a:p>
          <a:p>
            <a:pPr defTabSz="330200">
              <a:defRPr sz="2200"/>
            </a:pPr>
            <a:r>
              <a:t>YANNIS CHRONIS, ETH Zurich &amp; Google, Switzerland</a:t>
            </a:r>
          </a:p>
          <a:p>
            <a:pPr defTabSz="330200">
              <a:defRPr sz="2200"/>
            </a:pPr>
            <a:r>
              <a:t>VAIBHAV JAIN, Google, India</a:t>
            </a:r>
          </a:p>
          <a:p>
            <a:pPr defTabSz="330200">
              <a:defRPr sz="2200"/>
            </a:pPr>
            <a:r>
              <a:t>FATMA ÖZCAN, Google, USA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Backgroun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Background</a:t>
            </a:r>
          </a:p>
        </p:txBody>
      </p:sp>
      <p:sp>
        <p:nvSpPr>
          <p:cNvPr id="17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" name="Filtered Vector Search(FVS) = vector search + structured filter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Filtered Vector Search(FVS) = vector search + structured filters.</a:t>
            </a:r>
          </a:p>
          <a:p>
            <a:pPr/>
            <a:r>
              <a:t>Common in semantic search / RAG / e-commerce.</a:t>
            </a:r>
          </a:p>
          <a:p>
            <a:pPr/>
            <a:r>
              <a:t>Filters change the effective search space.</a:t>
            </a:r>
          </a:p>
        </p:txBody>
      </p:sp>
      <p:sp>
        <p:nvSpPr>
          <p:cNvPr id="178" name="Slide Number"/>
          <p:cNvSpPr txBox="1"/>
          <p:nvPr>
            <p:ph type="sldNum" sz="quarter" idx="2"/>
          </p:nvPr>
        </p:nvSpPr>
        <p:spPr>
          <a:xfrm>
            <a:off x="23552265" y="13207999"/>
            <a:ext cx="253975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Library Results Do Not Transfer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59459">
              <a:defRPr sz="5060"/>
            </a:lvl1pPr>
          </a:lstStyle>
          <a:p>
            <a:pPr/>
            <a:r>
              <a:t>Library Results Do Not Transfer</a:t>
            </a:r>
          </a:p>
        </p:txBody>
      </p:sp>
      <p:sp>
        <p:nvSpPr>
          <p:cNvPr id="181" name="Same HNSW traversal logic behaves differently in HNSWLib and PGVector.…"/>
          <p:cNvSpPr txBox="1"/>
          <p:nvPr>
            <p:ph type="body" sz="quarter" idx="1"/>
          </p:nvPr>
        </p:nvSpPr>
        <p:spPr>
          <a:xfrm>
            <a:off x="1206500" y="4248504"/>
            <a:ext cx="9779000" cy="5916973"/>
          </a:xfrm>
          <a:prstGeom prst="rect">
            <a:avLst/>
          </a:prstGeom>
        </p:spPr>
        <p:txBody>
          <a:bodyPr/>
          <a:lstStyle/>
          <a:p>
            <a:pPr/>
            <a:r>
              <a:t>Same HNSW traversal logic behaves differently in HNSWLib and PGVector.</a:t>
            </a:r>
          </a:p>
          <a:p>
            <a:pPr/>
            <a:r>
              <a:t>Database latency can be up to 10× higher.</a:t>
            </a:r>
          </a:p>
          <a:p>
            <a:pPr/>
            <a:r>
              <a:t>Therefore, distance-computation count is an unreliable proxy.</a:t>
            </a:r>
          </a:p>
        </p:txBody>
      </p:sp>
      <p:sp>
        <p:nvSpPr>
          <p:cNvPr id="182" name="Motiv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Motivation</a:t>
            </a:r>
          </a:p>
        </p:txBody>
      </p:sp>
      <p:sp>
        <p:nvSpPr>
          <p:cNvPr id="183" name="Slide Number"/>
          <p:cNvSpPr txBox="1"/>
          <p:nvPr>
            <p:ph type="sldNum" sz="quarter" idx="2"/>
          </p:nvPr>
        </p:nvSpPr>
        <p:spPr>
          <a:xfrm>
            <a:off x="23558551" y="13207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4" name="CleanShot 2026-07-02 at 16.42.31@2x.png" descr="CleanShot 2026-07-02 at 16.42.31@2x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547912" y="3899513"/>
            <a:ext cx="12195773" cy="5916973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Text 9"/>
          <p:cNvSpPr txBox="1"/>
          <p:nvPr/>
        </p:nvSpPr>
        <p:spPr>
          <a:xfrm>
            <a:off x="14506285" y="9899119"/>
            <a:ext cx="6279027" cy="488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 defTabSz="914400">
              <a:lnSpc>
                <a:spcPct val="100000"/>
              </a:lnSpc>
              <a:spcBef>
                <a:spcPts val="0"/>
              </a:spcBef>
              <a:defRPr i="1" sz="2500">
                <a:solidFill>
                  <a:srgbClr val="5A677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Fig. 1: latency gap varies with selectivity.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search Problem and Contribut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Research Problem and Contributions</a:t>
            </a:r>
          </a:p>
        </p:txBody>
      </p:sp>
      <p:sp>
        <p:nvSpPr>
          <p:cNvPr id="190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1" name="Research Problem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Research Problem</a:t>
            </a:r>
          </a:p>
          <a:p>
            <a:pPr lvl="1"/>
            <a:r>
              <a:t>When and why FVS(Filtered Vector Search) strategies succeed or fail in a real database system.</a:t>
            </a:r>
          </a:p>
          <a:p>
            <a:pPr/>
            <a:r>
              <a:t>Contributions</a:t>
            </a:r>
          </a:p>
          <a:p>
            <a:pPr lvl="1"/>
            <a:r>
              <a:t>In-system evaluation of filter-agnostic FVS algorithms.</a:t>
            </a:r>
          </a:p>
          <a:p>
            <a:pPr lvl="1"/>
            <a:r>
              <a:t>Workload generator controlling selectivity and vector-predicate correlation.</a:t>
            </a:r>
          </a:p>
          <a:p>
            <a:pPr lvl="1"/>
            <a:r>
              <a:t>System-level analysis and guidelines for FVS algorithms.</a:t>
            </a:r>
          </a:p>
        </p:txBody>
      </p:sp>
      <p:sp>
        <p:nvSpPr>
          <p:cNvPr id="192" name="Slide Number"/>
          <p:cNvSpPr txBox="1"/>
          <p:nvPr>
            <p:ph type="sldNum" sz="quarter" idx="2"/>
          </p:nvPr>
        </p:nvSpPr>
        <p:spPr>
          <a:xfrm>
            <a:off x="23558551" y="13207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7" name="Pre-filtering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Pre-filtering</a:t>
            </a:r>
          </a:p>
          <a:p>
            <a:pPr lvl="1"/>
            <a:r>
              <a:t>filter-first, then exact KNN on surviving tuples.</a:t>
            </a:r>
          </a:p>
          <a:p>
            <a:pPr/>
            <a:r>
              <a:t>Post-filtering</a:t>
            </a:r>
          </a:p>
          <a:p>
            <a:pPr lvl="1"/>
            <a:r>
              <a:t>probe ANN first, then filter.</a:t>
            </a:r>
          </a:p>
          <a:p>
            <a:pPr/>
            <a:r>
              <a:t>Inline filtering</a:t>
            </a:r>
          </a:p>
          <a:p>
            <a:pPr lvl="1"/>
            <a:r>
              <a:t>tightly-coupled searching and filtering.</a:t>
            </a:r>
          </a:p>
        </p:txBody>
      </p:sp>
      <p:sp>
        <p:nvSpPr>
          <p:cNvPr id="198" name="FVS Execution Strategi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877520">
              <a:defRPr spc="-130" sz="6544"/>
            </a:lvl1pPr>
          </a:lstStyle>
          <a:p>
            <a:pPr/>
            <a:r>
              <a:t>FVS Execution Strategies</a:t>
            </a:r>
          </a:p>
        </p:txBody>
      </p:sp>
      <p:sp>
        <p:nvSpPr>
          <p:cNvPr id="199" name="Slide Number"/>
          <p:cNvSpPr txBox="1"/>
          <p:nvPr>
            <p:ph type="sldNum" sz="quarter" idx="2"/>
          </p:nvPr>
        </p:nvSpPr>
        <p:spPr>
          <a:xfrm>
            <a:off x="23558551" y="13207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00" name="CleanShot 2026-07-05 at 15.21.38@2x.png" descr="CleanShot 2026-07-05 at 15.21.38@2x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287375" y="3571253"/>
            <a:ext cx="11076763" cy="65734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cope: inline filter-agnostic approach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Scope: inline filter-agnostic approaches</a:t>
            </a:r>
          </a:p>
        </p:txBody>
      </p:sp>
      <p:sp>
        <p:nvSpPr>
          <p:cNvPr id="205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6" name="Why Inline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Why Inline?</a:t>
            </a:r>
          </a:p>
          <a:p>
            <a:pPr lvl="1"/>
            <a:r>
              <a:t>Pre-filtering is straightforward for an optimizer to estimate its cost.</a:t>
            </a:r>
          </a:p>
          <a:p>
            <a:pPr lvl="1"/>
            <a:r>
              <a:t>Post-filtering is subsumed by the iterative scan method.</a:t>
            </a:r>
          </a:p>
          <a:p>
            <a:pPr/>
            <a:r>
              <a:t>Why filter-agnostic?</a:t>
            </a:r>
          </a:p>
          <a:p>
            <a:pPr lvl="1"/>
            <a:r>
              <a:t>Arbitrary filter support.</a:t>
            </a:r>
          </a:p>
          <a:p>
            <a:pPr lvl="1"/>
            <a:r>
              <a:t>Attribute-blind construction.</a:t>
            </a:r>
          </a:p>
          <a:p>
            <a:pPr lvl="1"/>
            <a:r>
              <a:t>Update resilience.</a:t>
            </a:r>
          </a:p>
        </p:txBody>
      </p:sp>
      <p:sp>
        <p:nvSpPr>
          <p:cNvPr id="207" name="Slide Number"/>
          <p:cNvSpPr txBox="1"/>
          <p:nvPr>
            <p:ph type="sldNum" sz="quarter" idx="2"/>
          </p:nvPr>
        </p:nvSpPr>
        <p:spPr>
          <a:xfrm>
            <a:off x="23558551" y="13207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2" name="Zoom-in Phase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Zoom-in Phase</a:t>
            </a:r>
          </a:p>
          <a:p>
            <a:pPr lvl="1"/>
            <a:r>
              <a:t>Greedily search layer by layer.</a:t>
            </a:r>
          </a:p>
          <a:p>
            <a:pPr/>
            <a:r>
              <a:t>Base layer Search</a:t>
            </a:r>
          </a:p>
          <a:p>
            <a:pPr lvl="1"/>
            <a:r>
              <a:t>finds k-NN by exploring layer 0 with priority queues and a set of visited nodes.</a:t>
            </a:r>
          </a:p>
        </p:txBody>
      </p:sp>
      <p:sp>
        <p:nvSpPr>
          <p:cNvPr id="213" name="Unfiltered HNSW Search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926287">
              <a:defRPr spc="-134" sz="6715"/>
            </a:lvl1pPr>
          </a:lstStyle>
          <a:p>
            <a:pPr/>
            <a:r>
              <a:t>Unfiltered HNSW Search</a:t>
            </a:r>
          </a:p>
        </p:txBody>
      </p:sp>
      <p:sp>
        <p:nvSpPr>
          <p:cNvPr id="214" name="Slide Number"/>
          <p:cNvSpPr txBox="1"/>
          <p:nvPr>
            <p:ph type="sldNum" sz="quarter" idx="2"/>
          </p:nvPr>
        </p:nvSpPr>
        <p:spPr>
          <a:xfrm>
            <a:off x="23558551" y="13207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15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201732" y="4107656"/>
            <a:ext cx="9779001" cy="55006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Filter-first(Navix/ACORN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Filter-first(Navix/ACORN)</a:t>
            </a:r>
          </a:p>
        </p:txBody>
      </p:sp>
      <p:sp>
        <p:nvSpPr>
          <p:cNvPr id="220" name="ACORN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603504" indent="-603504" defTabSz="2413955">
              <a:spcBef>
                <a:spcPts val="4400"/>
              </a:spcBef>
              <a:defRPr sz="4752"/>
            </a:pPr>
            <a:r>
              <a:t>ACORN</a:t>
            </a:r>
          </a:p>
          <a:p>
            <a:pPr lvl="1" marL="1207008" indent="-603504" defTabSz="2413955">
              <a:spcBef>
                <a:spcPts val="4400"/>
              </a:spcBef>
              <a:defRPr sz="4752"/>
            </a:pPr>
            <a:r>
              <a:t>run-time 2-hop neighbor expansion.</a:t>
            </a:r>
          </a:p>
          <a:p>
            <a:pPr lvl="1" marL="1207008" indent="-603504" defTabSz="2413955">
              <a:spcBef>
                <a:spcPts val="4400"/>
              </a:spcBef>
              <a:defRPr sz="4752"/>
            </a:pPr>
            <a:r>
              <a:t>compute distances only for filter-passing nodes to determine next hop.</a:t>
            </a:r>
          </a:p>
          <a:p>
            <a:pPr marL="603504" indent="-603504" defTabSz="2413955">
              <a:spcBef>
                <a:spcPts val="4400"/>
              </a:spcBef>
              <a:defRPr sz="4752"/>
            </a:pPr>
            <a:r>
              <a:t>Navix</a:t>
            </a:r>
          </a:p>
          <a:p>
            <a:pPr lvl="1" marL="1207008" indent="-603504" defTabSz="2413955">
              <a:spcBef>
                <a:spcPts val="4400"/>
              </a:spcBef>
              <a:defRPr sz="4752"/>
            </a:pPr>
            <a:r>
              <a:t>adaptive ACORN(blind/directed/onehop-s)</a:t>
            </a:r>
          </a:p>
        </p:txBody>
      </p:sp>
      <p:sp>
        <p:nvSpPr>
          <p:cNvPr id="221" name="Graph-bas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Graph-based</a:t>
            </a:r>
          </a:p>
        </p:txBody>
      </p:sp>
      <p:sp>
        <p:nvSpPr>
          <p:cNvPr id="222" name="Slide Number"/>
          <p:cNvSpPr txBox="1"/>
          <p:nvPr>
            <p:ph type="sldNum" sz="quarter" idx="2"/>
          </p:nvPr>
        </p:nvSpPr>
        <p:spPr>
          <a:xfrm>
            <a:off x="23558551" y="13207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23" name="CleanShot 2026-07-05 at 16.24.11@2x.png" descr="CleanShot 2026-07-05 at 16.24.11@2x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43783" y="3489778"/>
            <a:ext cx="12408107" cy="84979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raversal-first(Sweeping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Traversal-first(Sweeping)</a:t>
            </a:r>
          </a:p>
        </p:txBody>
      </p:sp>
      <p:sp>
        <p:nvSpPr>
          <p:cNvPr id="228" name="Navigate the original unfiltered HNSW graph.…"/>
          <p:cNvSpPr txBox="1"/>
          <p:nvPr>
            <p:ph type="body" sz="quarter" idx="1"/>
          </p:nvPr>
        </p:nvSpPr>
        <p:spPr>
          <a:xfrm>
            <a:off x="1206500" y="4248504"/>
            <a:ext cx="9779000" cy="4413217"/>
          </a:xfrm>
          <a:prstGeom prst="rect">
            <a:avLst/>
          </a:prstGeom>
        </p:spPr>
        <p:txBody>
          <a:bodyPr/>
          <a:lstStyle/>
          <a:p>
            <a:pPr/>
            <a:r>
              <a:t>Navigate the original unfiltered HNSW graph.</a:t>
            </a:r>
          </a:p>
          <a:p>
            <a:pPr/>
            <a:r>
              <a:t>Checking the filter only when the candidate is going into the result set.</a:t>
            </a:r>
          </a:p>
        </p:txBody>
      </p:sp>
      <p:sp>
        <p:nvSpPr>
          <p:cNvPr id="229" name="Graph-bas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Graph-based</a:t>
            </a:r>
          </a:p>
        </p:txBody>
      </p:sp>
      <p:sp>
        <p:nvSpPr>
          <p:cNvPr id="230" name="Slide Number"/>
          <p:cNvSpPr txBox="1"/>
          <p:nvPr>
            <p:ph type="sldNum" sz="quarter" idx="2"/>
          </p:nvPr>
        </p:nvSpPr>
        <p:spPr>
          <a:xfrm>
            <a:off x="23558551" y="13207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31" name="CleanShot 2026-07-05 at 16.48.20@2x.png" descr="CleanShot 2026-07-05 at 16.48.20@2x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60024"/>
          <a:stretch>
            <a:fillRect/>
          </a:stretch>
        </p:blipFill>
        <p:spPr>
          <a:xfrm>
            <a:off x="1006276" y="9011912"/>
            <a:ext cx="10179582" cy="3042297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Iterative Scan"/>
          <p:cNvSpPr txBox="1"/>
          <p:nvPr/>
        </p:nvSpPr>
        <p:spPr>
          <a:xfrm>
            <a:off x="12756298" y="2372962"/>
            <a:ext cx="9779001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Iterative Scan</a:t>
            </a:r>
          </a:p>
        </p:txBody>
      </p:sp>
      <p:sp>
        <p:nvSpPr>
          <p:cNvPr id="233" name="Decouples HNSW index traversal from the database executor…"/>
          <p:cNvSpPr txBox="1"/>
          <p:nvPr/>
        </p:nvSpPr>
        <p:spPr>
          <a:xfrm>
            <a:off x="12461119" y="4248504"/>
            <a:ext cx="9779001" cy="4413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585215" indent="-585215" defTabSz="2340805">
              <a:spcBef>
                <a:spcPts val="4300"/>
              </a:spcBef>
              <a:buSzPct val="123000"/>
              <a:buChar char="•"/>
              <a:tabLst>
                <a:tab pos="0" algn="l"/>
                <a:tab pos="584200" algn="l"/>
              </a:tabLst>
              <a:defRPr sz="4608"/>
            </a:pPr>
            <a:r>
              <a:t>Decouples HNSW index traversal from the database executor</a:t>
            </a:r>
          </a:p>
          <a:p>
            <a:pPr marL="585215" indent="-585215" defTabSz="2340805">
              <a:spcBef>
                <a:spcPts val="4300"/>
              </a:spcBef>
              <a:buSzPct val="123000"/>
              <a:buChar char="•"/>
              <a:tabLst>
                <a:tab pos="0" algn="l"/>
                <a:tab pos="584200" algn="l"/>
              </a:tabLst>
              <a:defRPr sz="4608"/>
            </a:pPr>
            <a:r>
              <a:t>Discarded Candidate Queue (D)</a:t>
            </a:r>
          </a:p>
          <a:p>
            <a:pPr marL="585215" indent="-585215" defTabSz="2340805">
              <a:spcBef>
                <a:spcPts val="4300"/>
              </a:spcBef>
              <a:buSzPct val="123000"/>
              <a:buChar char="•"/>
              <a:tabLst>
                <a:tab pos="0" algn="l"/>
                <a:tab pos="584200" algn="l"/>
              </a:tabLst>
              <a:defRPr sz="4608"/>
            </a:pPr>
            <a:r>
              <a:t>Search resumes from D if initial results are insufficient.</a:t>
            </a:r>
          </a:p>
        </p:txBody>
      </p:sp>
      <p:pic>
        <p:nvPicPr>
          <p:cNvPr id="234" name="f359d499b9273543ea97b08541c64e4d0534ba38165a25f369c5cf359cea99c0.png" descr="f359d499b9273543ea97b08541c64e4d0534ba38165a25f369c5cf359cea99c0.png"/>
          <p:cNvPicPr>
            <a:picLocks noChangeAspect="1"/>
          </p:cNvPicPr>
          <p:nvPr/>
        </p:nvPicPr>
        <p:blipFill>
          <a:blip r:embed="rId4">
            <a:extLst/>
          </a:blip>
          <a:srcRect l="0" t="40064" r="0" b="0"/>
          <a:stretch>
            <a:fillRect/>
          </a:stretch>
        </p:blipFill>
        <p:spPr>
          <a:xfrm>
            <a:off x="12278659" y="8721097"/>
            <a:ext cx="10734200" cy="48099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Filtered ScaNN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Filtered ScaNN</a:t>
            </a:r>
          </a:p>
        </p:txBody>
      </p:sp>
      <p:sp>
        <p:nvSpPr>
          <p:cNvPr id="239" name="Three-level tree structure with root, branch, and leaf nodes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Three-level tree structure with root, branch, and leaf nodes.</a:t>
            </a:r>
          </a:p>
          <a:p>
            <a:pPr/>
            <a:r>
              <a:t>Root, branch, and leaf centroids are scored to select candidates.</a:t>
            </a:r>
          </a:p>
          <a:p>
            <a:pPr/>
            <a:r>
              <a:t>Only passing-filter points in leaves are fetched and scored.</a:t>
            </a:r>
          </a:p>
        </p:txBody>
      </p:sp>
      <p:sp>
        <p:nvSpPr>
          <p:cNvPr id="240" name="Clustering-bas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Clustering-based</a:t>
            </a:r>
          </a:p>
        </p:txBody>
      </p:sp>
      <p:sp>
        <p:nvSpPr>
          <p:cNvPr id="241" name="Slide Number"/>
          <p:cNvSpPr txBox="1"/>
          <p:nvPr>
            <p:ph type="sldNum" sz="quarter" idx="2"/>
          </p:nvPr>
        </p:nvSpPr>
        <p:spPr>
          <a:xfrm>
            <a:off x="23558551" y="13207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42" name="CleanShot 2026-07-05 at 17.19.13@2x.png" descr="CleanShot 2026-07-05 at 17.19.13@2x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008579" y="4865308"/>
            <a:ext cx="11274439" cy="39853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raph-based algorithms in PostgreSQ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Graph-based algorithms in PostgreSQL</a:t>
            </a:r>
          </a:p>
        </p:txBody>
      </p:sp>
      <p:sp>
        <p:nvSpPr>
          <p:cNvPr id="247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8" name="Index pages contain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Index pages contain:</a:t>
            </a:r>
          </a:p>
          <a:p>
            <a:pPr lvl="1"/>
            <a:r>
              <a:t>high-dimensional vector data and a pointer to the heap tuple</a:t>
            </a:r>
          </a:p>
          <a:p>
            <a:pPr lvl="1"/>
            <a:r>
              <a:t>pointers to neighbor pages</a:t>
            </a:r>
          </a:p>
          <a:p>
            <a:pPr/>
            <a:r>
              <a:t>Pgvector enforces a constraint for the neighbor information of a node to fit within a single page. </a:t>
            </a:r>
          </a:p>
          <a:p>
            <a:pPr/>
            <a:r>
              <a:t>Trade-off between the graph’s connectivity(𝑀) and its navigability(𝐿𝑚𝑎𝑥)</a:t>
            </a:r>
          </a:p>
          <a:p>
            <a:pPr marL="0" indent="0" algn="ctr">
              <a:buSzTx/>
              <a:buNone/>
            </a:pPr>
            <a:r>
              <a:t> (𝐿𝑚𝑎𝑥 +2)·𝑀·𝑆𝑝𝑡𝑟 ≤𝑆𝑝𝑎𝑔𝑒</a:t>
            </a:r>
          </a:p>
        </p:txBody>
      </p:sp>
      <p:sp>
        <p:nvSpPr>
          <p:cNvPr id="2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ystem Overhea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System Overhead</a:t>
            </a:r>
          </a:p>
        </p:txBody>
      </p:sp>
      <p:sp>
        <p:nvSpPr>
          <p:cNvPr id="254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5" name="Space Amplification: Page-level headers and complex tuple structures drastically reduce storage density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Space Amplification: Page-level headers and complex tuple structures drastically reduce storage density</a:t>
            </a:r>
          </a:p>
          <a:p>
            <a:pPr/>
            <a:r>
              <a:t>I/O Amplification: Each graph hop multiplies overhead by neighbor fanout, causing random I/O spikes.</a:t>
            </a:r>
          </a:p>
          <a:p>
            <a:pPr/>
            <a:r>
              <a:t>Double Lookups: Filtering inherently requires both an index page access and a separate heap page access.</a:t>
            </a:r>
          </a:p>
          <a:p>
            <a:pPr/>
            <a:r>
              <a:t>Concurrency Constraints: Standard relational executors hinder fine-grained parallel vector scanning.</a:t>
            </a:r>
          </a:p>
        </p:txBody>
      </p:sp>
      <p:sp>
        <p:nvSpPr>
          <p:cNvPr id="2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Optimizat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Optimizations</a:t>
            </a:r>
          </a:p>
        </p:txBody>
      </p:sp>
      <p:sp>
        <p:nvSpPr>
          <p:cNvPr id="261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2" name="Translation Map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Translation Map</a:t>
            </a:r>
          </a:p>
          <a:p>
            <a:pPr lvl="1"/>
            <a:r>
              <a:t>Pre-computed, in-memory hash map translating IndexTIDs to Heap TIDs.</a:t>
            </a:r>
          </a:p>
          <a:p>
            <a:pPr lvl="1"/>
            <a:r>
              <a:t>Eliminates a massive class of secondary page accesses during 2-hop graph explorations.</a:t>
            </a:r>
          </a:p>
          <a:p>
            <a:pPr/>
            <a:r>
              <a:t>Adaptive Expansion</a:t>
            </a:r>
          </a:p>
          <a:p>
            <a:pPr lvl="1"/>
            <a:r>
              <a:t>Intelligently skipping expensive 2-hop checks if 1-hop neighbors already pass the filter.</a:t>
            </a:r>
          </a:p>
          <a:p>
            <a:pPr lvl="1"/>
            <a:r>
              <a:t>Drastically reduces overheads in dense data regions.</a:t>
            </a:r>
          </a:p>
        </p:txBody>
      </p:sp>
      <p:sp>
        <p:nvSpPr>
          <p:cNvPr id="2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8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9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71" name="CleanShot 2026-07-05 at 21.08.25@2x.png" descr="CleanShot 2026-07-05 at 21.08.25@2x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37142" y="1097945"/>
            <a:ext cx="20509716" cy="121966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6" name="Tree traversal selects root/branch/leaf candidates by distance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Tree traversal selects root/branch/leaf candidates by distance.</a:t>
            </a:r>
          </a:p>
          <a:p>
            <a:pPr/>
            <a:r>
              <a:t>Filtering occurs at leaf pages through heaptid probing.</a:t>
            </a:r>
          </a:p>
          <a:p>
            <a:pPr/>
            <a:r>
              <a:t>Sequential leaf scans improve cache locality and SIMD utilization.</a:t>
            </a:r>
          </a:p>
        </p:txBody>
      </p:sp>
      <p:sp>
        <p:nvSpPr>
          <p:cNvPr id="277" name="Filtered ScaN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Filtered ScaNN</a:t>
            </a:r>
          </a:p>
        </p:txBody>
      </p:sp>
      <p:sp>
        <p:nvSpPr>
          <p:cNvPr id="2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79" name="CleanShot 2026-07-05 at 21.53.30@2x.png" descr="CleanShot 2026-07-05 at 21.53.30@2x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850162" y="3150860"/>
            <a:ext cx="11591274" cy="79826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4" name="For each query, sort all vectors by distance to the query vector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For each query, sort all vectors by distance to the query vector.</a:t>
            </a:r>
          </a:p>
          <a:p>
            <a:pPr/>
            <a:r>
              <a:t>Sample row IDs to form the filter-satisfying bitmap.</a:t>
            </a:r>
          </a:p>
          <a:p>
            <a:pPr/>
            <a:r>
              <a:t>Selectivity controls the number of sampled row IDs.</a:t>
            </a:r>
          </a:p>
          <a:p>
            <a:pPr/>
            <a:r>
              <a:t>Correlation controls where sampled row IDs lie in the ranked distance list.</a:t>
            </a:r>
          </a:p>
        </p:txBody>
      </p:sp>
      <p:sp>
        <p:nvSpPr>
          <p:cNvPr id="285" name="Workload Generato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40805">
              <a:defRPr spc="-163" sz="8160"/>
            </a:lvl1pPr>
          </a:lstStyle>
          <a:p>
            <a:pPr/>
            <a:r>
              <a:t>Workload Generator</a:t>
            </a:r>
          </a:p>
        </p:txBody>
      </p:sp>
      <p:sp>
        <p:nvSpPr>
          <p:cNvPr id="2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87" name="CleanShot 2026-07-05 at 12.31.49@2x.png" descr="CleanShot 2026-07-05 at 12.31.49@2x.png"/>
          <p:cNvPicPr>
            <a:picLocks noChangeAspect="1"/>
          </p:cNvPicPr>
          <p:nvPr/>
        </p:nvPicPr>
        <p:blipFill>
          <a:blip r:embed="rId3">
            <a:extLst/>
          </a:blip>
          <a:srcRect l="14655" t="0" r="14655" b="18755"/>
          <a:stretch>
            <a:fillRect/>
          </a:stretch>
        </p:blipFill>
        <p:spPr>
          <a:xfrm>
            <a:off x="12006403" y="3044985"/>
            <a:ext cx="11278749" cy="487809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01" name="Group"/>
          <p:cNvGrpSpPr/>
          <p:nvPr/>
        </p:nvGrpSpPr>
        <p:grpSpPr>
          <a:xfrm>
            <a:off x="12891830" y="8108405"/>
            <a:ext cx="10277763" cy="4349968"/>
            <a:chOff x="0" y="0"/>
            <a:chExt cx="10277762" cy="4349967"/>
          </a:xfrm>
        </p:grpSpPr>
        <p:sp>
          <p:nvSpPr>
            <p:cNvPr id="288" name="Text 7"/>
            <p:cNvSpPr txBox="1"/>
            <p:nvPr/>
          </p:nvSpPr>
          <p:spPr>
            <a:xfrm>
              <a:off x="0" y="0"/>
              <a:ext cx="4518672" cy="656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normAutofit fontScale="100000" lnSpcReduction="0"/>
            </a:bodyPr>
            <a:lstStyle>
              <a:lvl1pPr defTabSz="914400">
                <a:lnSpc>
                  <a:spcPct val="100000"/>
                </a:lnSpc>
                <a:spcBef>
                  <a:spcPts val="0"/>
                </a:spcBef>
                <a:defRPr b="1" sz="2100">
                  <a:solidFill>
                    <a:srgbClr val="0B1F3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Correlation type</a:t>
              </a:r>
            </a:p>
          </p:txBody>
        </p:sp>
        <p:sp>
          <p:nvSpPr>
            <p:cNvPr id="289" name="Text 8"/>
            <p:cNvSpPr txBox="1"/>
            <p:nvPr/>
          </p:nvSpPr>
          <p:spPr>
            <a:xfrm>
              <a:off x="4518669" y="0"/>
              <a:ext cx="5759092" cy="656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normAutofit fontScale="100000" lnSpcReduction="0"/>
            </a:bodyPr>
            <a:lstStyle>
              <a:lvl1pPr defTabSz="914400">
                <a:lnSpc>
                  <a:spcPct val="100000"/>
                </a:lnSpc>
                <a:spcBef>
                  <a:spcPts val="0"/>
                </a:spcBef>
                <a:defRPr b="1" sz="2100">
                  <a:solidFill>
                    <a:srgbClr val="0B1F3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Sampling region</a:t>
              </a:r>
            </a:p>
          </p:txBody>
        </p:sp>
        <p:sp>
          <p:nvSpPr>
            <p:cNvPr id="290" name="Shape 9"/>
            <p:cNvSpPr/>
            <p:nvPr/>
          </p:nvSpPr>
          <p:spPr>
            <a:xfrm>
              <a:off x="0" y="697637"/>
              <a:ext cx="10277762" cy="1"/>
            </a:xfrm>
            <a:prstGeom prst="line">
              <a:avLst/>
            </a:prstGeom>
            <a:noFill/>
            <a:ln w="12700" cap="flat">
              <a:solidFill>
                <a:srgbClr val="C6DAF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lnSpc>
                  <a:spcPct val="100000"/>
                </a:lnSpc>
                <a:spcBef>
                  <a:spcPts val="0"/>
                </a:spcBef>
                <a:defRPr sz="1800"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91" name="Text 10"/>
            <p:cNvSpPr txBox="1"/>
            <p:nvPr/>
          </p:nvSpPr>
          <p:spPr>
            <a:xfrm>
              <a:off x="0" y="738674"/>
              <a:ext cx="4518672" cy="656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normAutofit fontScale="100000" lnSpcReduction="0"/>
            </a:bodyPr>
            <a:lstStyle>
              <a:lvl1pPr defTabSz="914400">
                <a:lnSpc>
                  <a:spcPct val="100000"/>
                </a:lnSpc>
                <a:spcBef>
                  <a:spcPts val="0"/>
                </a:spcBef>
                <a:defRPr b="1" sz="2100">
                  <a:solidFill>
                    <a:srgbClr val="1B243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High positive</a:t>
              </a:r>
            </a:p>
          </p:txBody>
        </p:sp>
        <p:sp>
          <p:nvSpPr>
            <p:cNvPr id="292" name="Text 11"/>
            <p:cNvSpPr txBox="1"/>
            <p:nvPr/>
          </p:nvSpPr>
          <p:spPr>
            <a:xfrm>
              <a:off x="4518669" y="738674"/>
              <a:ext cx="5759092" cy="656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normAutofit fontScale="100000" lnSpcReduction="0"/>
            </a:bodyPr>
            <a:lstStyle>
              <a:lvl1pPr defTabSz="914400">
                <a:lnSpc>
                  <a:spcPct val="100000"/>
                </a:lnSpc>
                <a:spcBef>
                  <a:spcPts val="0"/>
                </a:spcBef>
                <a:defRPr sz="2100">
                  <a:solidFill>
                    <a:srgbClr val="1B243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Closest first third</a:t>
              </a:r>
            </a:p>
          </p:txBody>
        </p:sp>
        <p:sp>
          <p:nvSpPr>
            <p:cNvPr id="293" name="Text 12"/>
            <p:cNvSpPr txBox="1"/>
            <p:nvPr/>
          </p:nvSpPr>
          <p:spPr>
            <a:xfrm>
              <a:off x="0" y="1477347"/>
              <a:ext cx="4518672" cy="656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normAutofit fontScale="100000" lnSpcReduction="0"/>
            </a:bodyPr>
            <a:lstStyle>
              <a:lvl1pPr defTabSz="914400">
                <a:lnSpc>
                  <a:spcPct val="100000"/>
                </a:lnSpc>
                <a:spcBef>
                  <a:spcPts val="0"/>
                </a:spcBef>
                <a:defRPr b="1" sz="2100">
                  <a:solidFill>
                    <a:srgbClr val="1B243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Medium positive</a:t>
              </a:r>
            </a:p>
          </p:txBody>
        </p:sp>
        <p:sp>
          <p:nvSpPr>
            <p:cNvPr id="294" name="Text 13"/>
            <p:cNvSpPr txBox="1"/>
            <p:nvPr/>
          </p:nvSpPr>
          <p:spPr>
            <a:xfrm>
              <a:off x="4518669" y="1477347"/>
              <a:ext cx="5759092" cy="656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normAutofit fontScale="100000" lnSpcReduction="0"/>
            </a:bodyPr>
            <a:lstStyle>
              <a:lvl1pPr defTabSz="914400">
                <a:lnSpc>
                  <a:spcPct val="100000"/>
                </a:lnSpc>
                <a:spcBef>
                  <a:spcPts val="0"/>
                </a:spcBef>
                <a:defRPr sz="2100">
                  <a:solidFill>
                    <a:srgbClr val="1B243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Closest first half</a:t>
              </a:r>
            </a:p>
          </p:txBody>
        </p:sp>
        <p:sp>
          <p:nvSpPr>
            <p:cNvPr id="295" name="Text 14"/>
            <p:cNvSpPr txBox="1"/>
            <p:nvPr/>
          </p:nvSpPr>
          <p:spPr>
            <a:xfrm>
              <a:off x="0" y="2216021"/>
              <a:ext cx="4518672" cy="656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normAutofit fontScale="100000" lnSpcReduction="0"/>
            </a:bodyPr>
            <a:lstStyle>
              <a:lvl1pPr defTabSz="914400">
                <a:lnSpc>
                  <a:spcPct val="100000"/>
                </a:lnSpc>
                <a:spcBef>
                  <a:spcPts val="0"/>
                </a:spcBef>
                <a:defRPr b="1" sz="2100">
                  <a:solidFill>
                    <a:srgbClr val="1B243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Low positive</a:t>
              </a:r>
            </a:p>
          </p:txBody>
        </p:sp>
        <p:sp>
          <p:nvSpPr>
            <p:cNvPr id="296" name="Text 15"/>
            <p:cNvSpPr txBox="1"/>
            <p:nvPr/>
          </p:nvSpPr>
          <p:spPr>
            <a:xfrm>
              <a:off x="4518669" y="2216021"/>
              <a:ext cx="5759092" cy="656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normAutofit fontScale="100000" lnSpcReduction="0"/>
            </a:bodyPr>
            <a:lstStyle>
              <a:lvl1pPr defTabSz="914400">
                <a:lnSpc>
                  <a:spcPct val="100000"/>
                </a:lnSpc>
                <a:spcBef>
                  <a:spcPts val="0"/>
                </a:spcBef>
                <a:defRPr sz="2100">
                  <a:solidFill>
                    <a:srgbClr val="1B243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Full list, distance-biased</a:t>
              </a:r>
            </a:p>
          </p:txBody>
        </p:sp>
        <p:sp>
          <p:nvSpPr>
            <p:cNvPr id="297" name="Text 16"/>
            <p:cNvSpPr txBox="1"/>
            <p:nvPr/>
          </p:nvSpPr>
          <p:spPr>
            <a:xfrm>
              <a:off x="0" y="2954694"/>
              <a:ext cx="4518672" cy="656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normAutofit fontScale="100000" lnSpcReduction="0"/>
            </a:bodyPr>
            <a:lstStyle>
              <a:lvl1pPr defTabSz="914400">
                <a:lnSpc>
                  <a:spcPct val="100000"/>
                </a:lnSpc>
                <a:spcBef>
                  <a:spcPts val="0"/>
                </a:spcBef>
                <a:defRPr b="1" sz="2100">
                  <a:solidFill>
                    <a:srgbClr val="1B243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Negative</a:t>
              </a:r>
            </a:p>
          </p:txBody>
        </p:sp>
        <p:sp>
          <p:nvSpPr>
            <p:cNvPr id="298" name="Text 17"/>
            <p:cNvSpPr txBox="1"/>
            <p:nvPr/>
          </p:nvSpPr>
          <p:spPr>
            <a:xfrm>
              <a:off x="4518669" y="2954694"/>
              <a:ext cx="5759092" cy="656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normAutofit fontScale="100000" lnSpcReduction="0"/>
            </a:bodyPr>
            <a:lstStyle>
              <a:lvl1pPr defTabSz="914400">
                <a:lnSpc>
                  <a:spcPct val="100000"/>
                </a:lnSpc>
                <a:spcBef>
                  <a:spcPts val="0"/>
                </a:spcBef>
                <a:defRPr sz="2100">
                  <a:solidFill>
                    <a:srgbClr val="1B243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Inverse distance-biased</a:t>
              </a:r>
            </a:p>
          </p:txBody>
        </p:sp>
        <p:sp>
          <p:nvSpPr>
            <p:cNvPr id="299" name="Text 16"/>
            <p:cNvSpPr txBox="1"/>
            <p:nvPr/>
          </p:nvSpPr>
          <p:spPr>
            <a:xfrm>
              <a:off x="0" y="3693369"/>
              <a:ext cx="4518672" cy="656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normAutofit fontScale="100000" lnSpcReduction="0"/>
            </a:bodyPr>
            <a:lstStyle>
              <a:lvl1pPr defTabSz="914400">
                <a:lnSpc>
                  <a:spcPct val="100000"/>
                </a:lnSpc>
                <a:spcBef>
                  <a:spcPts val="0"/>
                </a:spcBef>
                <a:defRPr b="1" sz="2100">
                  <a:solidFill>
                    <a:srgbClr val="1B243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No Correlation</a:t>
              </a:r>
            </a:p>
          </p:txBody>
        </p:sp>
        <p:sp>
          <p:nvSpPr>
            <p:cNvPr id="300" name="Text 17"/>
            <p:cNvSpPr txBox="1"/>
            <p:nvPr/>
          </p:nvSpPr>
          <p:spPr>
            <a:xfrm>
              <a:off x="4518671" y="3693369"/>
              <a:ext cx="5759092" cy="656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normAutofit fontScale="100000" lnSpcReduction="0"/>
            </a:bodyPr>
            <a:lstStyle>
              <a:lvl1pPr defTabSz="914400">
                <a:lnSpc>
                  <a:spcPct val="100000"/>
                </a:lnSpc>
                <a:spcBef>
                  <a:spcPts val="0"/>
                </a:spcBef>
                <a:defRPr sz="2100">
                  <a:solidFill>
                    <a:srgbClr val="1B243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Full list, random sampling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Experimental Setu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Experimental Setup</a:t>
            </a:r>
          </a:p>
        </p:txBody>
      </p:sp>
      <p:sp>
        <p:nvSpPr>
          <p:cNvPr id="30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7" name="Four datasets: 5M-10M vectors, 128-1536 dimensions, L2/IP metric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Four datasets: 5M-10M vectors, 128-1536 dimensions, L2/IP metrics</a:t>
            </a:r>
          </a:p>
          <a:p>
            <a:pPr/>
            <a:r>
              <a:t>100 base queries x 9 selectivities x 5 correlations</a:t>
            </a:r>
          </a:p>
          <a:p>
            <a:pPr/>
            <a:r>
              <a:t>Metric: QPS at 95% Recall@10</a:t>
            </a:r>
          </a:p>
        </p:txBody>
      </p:sp>
      <p:sp>
        <p:nvSpPr>
          <p:cNvPr id="3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09" name="CleanShot 2026-07-05 at 22.17.44@2x.png" descr="CleanShot 2026-07-05 at 22.17.44@2x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486918" y="8261350"/>
            <a:ext cx="19410164" cy="32284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4" name="ScaNN is generally better on low-dimensional vectors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ScaNN is generally better on low-dimensional vectors.</a:t>
            </a:r>
          </a:p>
          <a:p>
            <a:pPr/>
            <a:r>
              <a:t>Filter-first graph methods are competitive at low selectivity.</a:t>
            </a:r>
          </a:p>
          <a:p>
            <a:pPr/>
            <a:r>
              <a:t>Traversal-first methods improve at higher selectivity.</a:t>
            </a:r>
          </a:p>
          <a:p>
            <a:pPr/>
            <a:r>
              <a:t>NaviX-Directed outperforms ACORN at low-to-mid selectivities (5%–30%).</a:t>
            </a:r>
          </a:p>
        </p:txBody>
      </p:sp>
      <p:sp>
        <p:nvSpPr>
          <p:cNvPr id="315" name="Performance Resul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43271">
              <a:defRPr spc="-156" sz="7820"/>
            </a:lvl1pPr>
          </a:lstStyle>
          <a:p>
            <a:pPr/>
            <a:r>
              <a:t>Performance Results</a:t>
            </a:r>
          </a:p>
        </p:txBody>
      </p:sp>
      <p:sp>
        <p:nvSpPr>
          <p:cNvPr id="3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17" name="CleanShot 2026-07-05 at 22.23.29@2x.png" descr="CleanShot 2026-07-05 at 22.23.29@2x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844049" y="4194815"/>
            <a:ext cx="13603500" cy="82566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Where Does the Time Go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Where Does the Time Go?</a:t>
            </a:r>
          </a:p>
        </p:txBody>
      </p:sp>
      <p:sp>
        <p:nvSpPr>
          <p:cNvPr id="322" name="Internal index statistic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Internal index statistics</a:t>
            </a:r>
          </a:p>
        </p:txBody>
      </p:sp>
      <p:sp>
        <p:nvSpPr>
          <p:cNvPr id="323" name="Filter-first methods are more efficient than traversal-first methods at low selectivity but require more filter checks and page accesses.…"/>
          <p:cNvSpPr txBox="1"/>
          <p:nvPr>
            <p:ph type="body" sz="half" idx="1"/>
          </p:nvPr>
        </p:nvSpPr>
        <p:spPr>
          <a:xfrm>
            <a:off x="1206500" y="4248504"/>
            <a:ext cx="21971000" cy="3210786"/>
          </a:xfrm>
          <a:prstGeom prst="rect">
            <a:avLst/>
          </a:prstGeom>
        </p:spPr>
        <p:txBody>
          <a:bodyPr/>
          <a:lstStyle/>
          <a:p>
            <a:pPr marL="451104" indent="-451104" defTabSz="1804370">
              <a:spcBef>
                <a:spcPts val="3300"/>
              </a:spcBef>
              <a:defRPr sz="3552"/>
            </a:pPr>
            <a:r>
              <a:t>Filter-first methods are more efficient than traversal-first methods at low selectivity but require more filter checks and page accesses.</a:t>
            </a:r>
          </a:p>
          <a:p>
            <a:pPr marL="451104" indent="-451104" defTabSz="1804370">
              <a:spcBef>
                <a:spcPts val="3300"/>
              </a:spcBef>
              <a:defRPr sz="3552"/>
            </a:pPr>
            <a:r>
              <a:t>ScaNN’s cluster-based architecture results in high filter checks at low selectivity but fewer page accesses.</a:t>
            </a:r>
          </a:p>
          <a:p>
            <a:pPr marL="451104" indent="-451104" defTabSz="1804370">
              <a:spcBef>
                <a:spcPts val="3300"/>
              </a:spcBef>
              <a:defRPr sz="3552"/>
            </a:pPr>
            <a:r>
              <a:t>Internal metrics are not comparable across methods due to cost and access sequence differences.</a:t>
            </a:r>
          </a:p>
        </p:txBody>
      </p:sp>
      <p:sp>
        <p:nvSpPr>
          <p:cNvPr id="3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25" name="CleanShot 2026-07-05 at 22.40.31@2x.png" descr="CleanShot 2026-07-05 at 22.40.31@2x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03310" y="7464788"/>
            <a:ext cx="20577380" cy="58010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CPU breakdown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CPU breakdown</a:t>
            </a:r>
          </a:p>
        </p:txBody>
      </p:sp>
      <p:sp>
        <p:nvSpPr>
          <p:cNvPr id="330" name="Filter-first approaches distribute latency(1% sel), while traversal-first approaches are dominated by system overhead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Filter-first approaches distribute latency(1% sel), while traversal-first approaches are dominated by system overhead.</a:t>
            </a:r>
          </a:p>
          <a:p>
            <a:pPr/>
            <a:r>
              <a:t>System impact increases with filter selectivity.</a:t>
            </a:r>
          </a:p>
          <a:p>
            <a:pPr/>
            <a:r>
              <a:t>ScaNN overhead is reordering and batched vector retrieval.</a:t>
            </a:r>
          </a:p>
        </p:txBody>
      </p:sp>
      <p:sp>
        <p:nvSpPr>
          <p:cNvPr id="331" name="Where the Time Really Go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682453">
              <a:defRPr spc="-117" sz="5865"/>
            </a:lvl1pPr>
          </a:lstStyle>
          <a:p>
            <a:pPr/>
            <a:r>
              <a:t>Where the Time Really Goes</a:t>
            </a:r>
          </a:p>
        </p:txBody>
      </p:sp>
      <p:sp>
        <p:nvSpPr>
          <p:cNvPr id="3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33" name="CleanShot 2026-07-05 at 22.47.17@2x.png" descr="CleanShot 2026-07-05 at 22.47.17@2x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138150" y="3432397"/>
            <a:ext cx="9924523" cy="9781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334" name="CleanShot 2026-07-05 at 22.47.54@2x.png" descr="CleanShot 2026-07-05 at 22.47.54@2x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220586" y="1079594"/>
            <a:ext cx="3630085" cy="1815043"/>
          </a:xfrm>
          <a:prstGeom prst="rect">
            <a:avLst/>
          </a:prstGeom>
          <a:ln w="12700">
            <a:miter lim="400000"/>
          </a:ln>
        </p:spPr>
      </p:pic>
      <p:pic>
        <p:nvPicPr>
          <p:cNvPr id="335" name="CleanShot 2026-07-05 at 22.48.19@2x.png" descr="CleanShot 2026-07-05 at 22.48.19@2x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7997752" y="931437"/>
            <a:ext cx="4636701" cy="21113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raph v.s. Tre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Graph v.s. Tree</a:t>
            </a:r>
          </a:p>
        </p:txBody>
      </p:sp>
      <p:sp>
        <p:nvSpPr>
          <p:cNvPr id="340" name="system-level efficiency can offset algorithmic efficiency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system-level efficiency can offset algorithmic efficiency</a:t>
            </a:r>
          </a:p>
        </p:txBody>
      </p:sp>
      <p:sp>
        <p:nvSpPr>
          <p:cNvPr id="341" name="ScaNN, despite more filter checks and page accesses at low selectivities and more distance computations at high selectivities, often consumes fewer CPU cycles than graph-based method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ScaNN, despite more filter checks and page accesses at low selectivities and more distance computations at high selectivities, often consumes fewer CPU cycles than graph-based methods.</a:t>
            </a:r>
          </a:p>
          <a:p>
            <a:pPr/>
            <a:r>
              <a:t>Memory Access Patterns: sequential vs. random access.</a:t>
            </a:r>
          </a:p>
          <a:p>
            <a:pPr/>
            <a:r>
              <a:t>System tax: translation map overhead and neighbor metadata retrieval.</a:t>
            </a:r>
          </a:p>
          <a:p>
            <a:pPr/>
            <a:r>
              <a:t>Hardware utilization: SIMD vectorization for parallel processing.</a:t>
            </a:r>
          </a:p>
          <a:p>
            <a:pPr/>
            <a:r>
              <a:t>Index footprint and cache locality.</a:t>
            </a:r>
          </a:p>
        </p:txBody>
      </p:sp>
      <p:sp>
        <p:nvSpPr>
          <p:cNvPr id="3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7" name="Graph methods become more competitive under high-k, low-selectivity workloads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585215" indent="-585215" defTabSz="2340805">
              <a:spcBef>
                <a:spcPts val="4300"/>
              </a:spcBef>
              <a:defRPr sz="4608"/>
            </a:pPr>
            <a:r>
              <a:t>Graph methods become more competitive under high-k, low-selectivity workloads.</a:t>
            </a:r>
          </a:p>
          <a:p>
            <a:pPr marL="585215" indent="-585215" defTabSz="2340805">
              <a:spcBef>
                <a:spcPts val="4300"/>
              </a:spcBef>
              <a:defRPr sz="4608"/>
            </a:pPr>
            <a:r>
              <a:t>Increasing k requires more filter-valid neighbors.</a:t>
            </a:r>
          </a:p>
          <a:p>
            <a:pPr marL="585215" indent="-585215" defTabSz="2340805">
              <a:spcBef>
                <a:spcPts val="4300"/>
              </a:spcBef>
              <a:defRPr sz="4608"/>
            </a:pPr>
            <a:r>
              <a:t>Filter-first graph methods scale more gently because they traverse predicate-induced subgraphs.</a:t>
            </a:r>
          </a:p>
          <a:p>
            <a:pPr marL="585215" indent="-585215" defTabSz="2340805">
              <a:spcBef>
                <a:spcPts val="4300"/>
              </a:spcBef>
              <a:defRPr sz="4608"/>
            </a:pPr>
            <a:r>
              <a:t>ScaNN must scan/reorder more leaves as k grows.</a:t>
            </a:r>
          </a:p>
        </p:txBody>
      </p:sp>
      <p:sp>
        <p:nvSpPr>
          <p:cNvPr id="348" name="Sensitivity to Result Size: LIMIT 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438619">
              <a:defRPr spc="-100" sz="5015"/>
            </a:lvl1pPr>
          </a:lstStyle>
          <a:p>
            <a:pPr/>
            <a:r>
              <a:t>Sensitivity to Result Size: LIMIT k</a:t>
            </a:r>
          </a:p>
        </p:txBody>
      </p:sp>
      <p:sp>
        <p:nvSpPr>
          <p:cNvPr id="3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50" name="CleanShot 2026-07-05 at 23.28.23@2x.png" descr="CleanShot 2026-07-05 at 23.28.23@2x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227076" y="2960309"/>
            <a:ext cx="10278605" cy="95638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5" name="Positive correlation: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Positive correlation:</a:t>
            </a:r>
          </a:p>
          <a:p>
            <a:pPr lvl="1"/>
            <a:r>
              <a:t>valid points near query.</a:t>
            </a:r>
          </a:p>
          <a:p>
            <a:pPr lvl="1"/>
            <a:r>
              <a:t>graph traversal works better,</a:t>
            </a:r>
          </a:p>
          <a:p>
            <a:pPr/>
            <a:r>
              <a:t>Negative correlation:</a:t>
            </a:r>
          </a:p>
          <a:p>
            <a:pPr lvl="1"/>
            <a:r>
              <a:t>nearest points often fail filters.</a:t>
            </a:r>
          </a:p>
          <a:p>
            <a:pPr lvl="1"/>
            <a:r>
              <a:t>graph methods degrade.</a:t>
            </a:r>
          </a:p>
          <a:p>
            <a:pPr lvl="1"/>
            <a:r>
              <a:t>ScaNN more robust</a:t>
            </a:r>
          </a:p>
        </p:txBody>
      </p:sp>
      <p:sp>
        <p:nvSpPr>
          <p:cNvPr id="356" name="Correlation Effec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Correlation Effects</a:t>
            </a:r>
          </a:p>
        </p:txBody>
      </p:sp>
      <p:sp>
        <p:nvSpPr>
          <p:cNvPr id="3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58" name="CleanShot 2026-07-05 at 23.40.34@2x.png" descr="CleanShot 2026-07-05 at 23.40.34@2x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11136" y="1822752"/>
            <a:ext cx="8669326" cy="114902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Observations and insigh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Observations and insights</a:t>
            </a:r>
          </a:p>
        </p:txBody>
      </p:sp>
      <p:sp>
        <p:nvSpPr>
          <p:cNvPr id="363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4" name="System implications invalidate some library-level assumption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System implications invalidate some library-level assumptions.</a:t>
            </a:r>
          </a:p>
          <a:p>
            <a:pPr/>
            <a:r>
              <a:t>No Clear Winner: Graph vs. Tree.</a:t>
            </a:r>
          </a:p>
          <a:p>
            <a:pPr/>
            <a:r>
              <a:t>Fewer Hops as the Core Design of Graph.</a:t>
            </a:r>
          </a:p>
          <a:p>
            <a:pPr/>
            <a:r>
              <a:t>Future FVS designs need explicit cost models for TID indirection, page access, materialization, and filter bitmap probing.</a:t>
            </a:r>
          </a:p>
        </p:txBody>
      </p:sp>
      <p:sp>
        <p:nvSpPr>
          <p:cNvPr id="3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