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2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slides/slide22.xml" Type="http://schemas.openxmlformats.org/officeDocument/2006/relationships/slide"/><Relationship Id="rId31" Target="slides/slide23.xml" Type="http://schemas.openxmlformats.org/officeDocument/2006/relationships/slide"/><Relationship Id="rId32" Target="slides/slide24.xml" Type="http://schemas.openxmlformats.org/officeDocument/2006/relationships/slide"/><Relationship Id="rId33" Target="slides/slide25.xml" Type="http://schemas.openxmlformats.org/officeDocument/2006/relationships/slide"/><Relationship Id="rId34" Target="slides/slide26.xml" Type="http://schemas.openxmlformats.org/officeDocument/2006/relationships/slide"/><Relationship Id="rId35" Target="slides/slide27.xml" Type="http://schemas.openxmlformats.org/officeDocument/2006/relationships/slide"/><Relationship Id="rId36" Target="notesSlides/notesSlide1.xml" Type="http://schemas.openxmlformats.org/officeDocument/2006/relationships/notesSlide"/><Relationship Id="rId37" Target="notesSlides/notesSlide2.xml" Type="http://schemas.openxmlformats.org/officeDocument/2006/relationships/notesSlide"/><Relationship Id="rId38" Target="notesSlides/notesSlide3.xml" Type="http://schemas.openxmlformats.org/officeDocument/2006/relationships/notesSlide"/><Relationship Id="rId39" Target="notesSlides/notesSlide4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5.xml" Type="http://schemas.openxmlformats.org/officeDocument/2006/relationships/notesSlide"/><Relationship Id="rId41" Target="notesSlides/notesSlide6.xml" Type="http://schemas.openxmlformats.org/officeDocument/2006/relationships/notesSlide"/><Relationship Id="rId42" Target="notesSlides/notesSlide7.xml" Type="http://schemas.openxmlformats.org/officeDocument/2006/relationships/notesSlide"/><Relationship Id="rId43" Target="notesSlides/notesSlide8.xml" Type="http://schemas.openxmlformats.org/officeDocument/2006/relationships/notesSlide"/><Relationship Id="rId44" Target="notesSlides/notesSlide9.xml" Type="http://schemas.openxmlformats.org/officeDocument/2006/relationships/notesSlide"/><Relationship Id="rId45" Target="notesSlides/notesSlide10.xml" Type="http://schemas.openxmlformats.org/officeDocument/2006/relationships/notesSlide"/><Relationship Id="rId46" Target="notesSlides/notesSlide11.xml" Type="http://schemas.openxmlformats.org/officeDocument/2006/relationships/notesSlide"/><Relationship Id="rId47" Target="notesSlides/notesSlide12.xml" Type="http://schemas.openxmlformats.org/officeDocument/2006/relationships/notesSlide"/><Relationship Id="rId48" Target="notesSlides/notesSlide13.xml" Type="http://schemas.openxmlformats.org/officeDocument/2006/relationships/notesSlide"/><Relationship Id="rId49" Target="notesSlides/notesSlide14.xml" Type="http://schemas.openxmlformats.org/officeDocument/2006/relationships/notesSlide"/><Relationship Id="rId50" Target="notesSlides/notesSlide15.xml" Type="http://schemas.openxmlformats.org/officeDocument/2006/relationships/notesSlide"/><Relationship Id="rId51" Target="notesSlides/notesSlide16.xml" Type="http://schemas.openxmlformats.org/officeDocument/2006/relationships/notesSlide"/><Relationship Id="rId52" Target="notesSlides/notesSlide17.xml" Type="http://schemas.openxmlformats.org/officeDocument/2006/relationships/notesSlide"/><Relationship Id="rId53" Target="notesSlides/notesSlide18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ACORN-1 是 ACORN-G 的一个近似和妥协。它试图在享受“邻居扩展”好处的同时，避免 ACORN-G 惊人的索引成本。
ACORN-G (Graph-time Expansion - 图构建时扩展)
做法: 在构建索引图时，它会把每个节点的邻居数量从标准的 M 扩大到 M * γ。这里的 γ (gamma) 是一个扩展因子，其值通常是最小过滤器特异性的倒数。例如，如果最小特异性是 1%，那么 γ 就是 100。
结果: 构建出一个超密集的图 (overly dense graph)。
优点: 搜索时性能可能不错，因为图本身就包含了足够多的连接。
缺点: 索引构建时间极长，索引体积巨大。这在 Table 1 的 TTI 和 Memory 两列中得到了验证（都是红色或黄色）。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ACORN-1 的核心思想: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不在构建索引时扩展邻居，而是在查询时动态地、即时地收集“邻居的邻居”信息，模拟出一个更密集的图来进行搜索。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3. Scalability (可扩展性)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4. Attribute Dep. (Attribute Dependency - 属性依赖性) -&gt; 构建索引是否依赖属性信息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5. Memory (内存占用)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6. TTI (Total Time to Index - 总索引时间)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br>
              <a:rPr/>
            </a:br>
            <a:r>
              <a:rPr lang="en-US" b="true" i="false" strike="noStrike" u="none" sz="1400">
                <a:solidFill>
                  <a:srgbClr val="000000"/>
                </a:solidFill>
              </a:rPr>
              <a:t>初始化: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起点: 以上一阶段传递下来的那个高质量入口点为起点。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候选队列 C (Candidate Pool): 一个优先队列，按距离查询q的远近排序（近的优先）。放入起点。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结果队列 W (Result Pool): 一个固定大小的优先队列，存放当前找到的最好的k个结果。也放入起点。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已访问集合 V (Visited Set): 记录访问过的节点。</a:t>
            </a:r>
          </a:p>
          <a:p>
            <a:pPr algn="l" indent="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000000"/>
                </a:solidFill>
              </a:rPr>
              <a:t>迭代循环 (Iterative Loop):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只要候选队列C不为空，就继续。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步骤A: 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>选出最佳候选者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从C中取出最顶端（即离q最近）的节点curr。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步骤B: 提前终止判断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如果curr的距离已经比结果队列W中最差的那个还要远，就结束搜索。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步骤C: 探索并更新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遍历curr的所有未被访问过的邻居。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对于每一个邻居，都将它加入到**候选队列C**中。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如果这个邻居比结果队列W中最差的结果还要好，也把它加入到**结果队列W**中（并踢掉W中最差的那个）。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标记curr为已访问。</a:t>
            </a:r>
          </a:p>
          <a:p>
            <a:pPr algn="l" indent="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000000"/>
                </a:solidFill>
              </a:rPr>
              <a:t>返回结果: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循环结束后，**结果队列W**中存放的就是最终的Top-K个最近邻。
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br>
              <a:rPr/>
            </a:br>
            <a:r>
              <a:rPr lang="en-US" b="true" i="false" strike="noStrike" u="none" sz="1400">
                <a:solidFill>
                  <a:srgbClr val="000000"/>
                </a:solidFill>
              </a:rPr>
              <a:t>初始化: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起点: 以上一阶段传递下来的那个高质量入口点为起点。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候选队列 C (Candidate Pool): 一个优先队列，按距离查询q的远近排序（近的优先）。放入起点。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结果队列 W (Result Pool): 一个固定大小的优先队列，存放当前找到的最好的k个结果。也放入起点。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已访问集合 V (Visited Set): 记录访问过的节点。</a:t>
            </a:r>
          </a:p>
          <a:p>
            <a:pPr algn="l" indent="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000000"/>
                </a:solidFill>
              </a:rPr>
              <a:t>迭代循环 (Iterative Loop):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只要候选队列C不为空，就继续。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步骤A: 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>选出最佳候选者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从C中取出最顶端（即离q最近）的节点curr。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步骤B: 提前终止判断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如果curr的距离已经比结果队列W中最差的那个还要远，就结束搜索。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步骤C: 探索并更新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遍历curr的所有未被访问过的邻居。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对于每一个邻居，都将它加入到**候选队列C**中。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如果这个邻居比结果队列W中最差的结果还要好，也把它加入到**结果队列W**中（并踢掉W中最差的那个）。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标记curr为已访问。</a:t>
            </a:r>
          </a:p>
          <a:p>
            <a:pPr algn="l" indent="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000000"/>
                </a:solidFill>
              </a:rPr>
              <a:t>返回结果: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循环结束后，**结果队列W**中存放的就是最终的Top-K个最近邻。
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br>
              <a:rPr/>
            </a:br>
            <a:r>
              <a:rPr lang="en-US" b="true" i="false" strike="noStrike" u="none" sz="1400">
                <a:solidFill>
                  <a:srgbClr val="000000"/>
                </a:solidFill>
              </a:rPr>
              <a:t>初始化: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起点: 以上一阶段传递下来的那个高质量入口点为起点。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候选队列 C (Candidate Pool): 一个优先队列，按距离查询q的远近排序（近的优先）。放入起点。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结果队列 W (Result Pool): 一个固定大小的优先队列，存放当前找到的最好的k个结果。也放入起点。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已访问集合 V (Visited Set): 记录访问过的节点。</a:t>
            </a:r>
          </a:p>
          <a:p>
            <a:pPr algn="l" indent="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000000"/>
                </a:solidFill>
              </a:rPr>
              <a:t>迭代循环 (Iterative Loop):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只要候选队列C不为空，就继续。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步骤A: 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>选出最佳候选者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从C中取出最顶端（即离q最近）的节点curr。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步骤B: 提前终止判断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如果curr的距离已经比结果队列W中最差的那个还要远，就结束搜索。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步骤C: 探索并更新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遍历curr的所有未被访问过的邻居。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对于每一个邻居，都将它加入到**候选队列C**中。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如果这个邻居比结果队列W中最差的结果还要好，也把它加入到**结果队列W**中（并踢掉W中最差的那个）。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标记curr为已访问。</a:t>
            </a:r>
          </a:p>
          <a:p>
            <a:pPr algn="l" indent="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000000"/>
                </a:solidFill>
              </a:rPr>
              <a:t>返回结果: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循环结束后，**结果队列W**中存放的就是最终的Top-K个最近邻。
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br>
              <a:rPr/>
            </a:br>
            <a:r>
              <a:rPr lang="en-US" b="true" i="false" strike="noStrike" u="none" sz="1400">
                <a:solidFill>
                  <a:srgbClr val="000000"/>
                </a:solidFill>
              </a:rPr>
              <a:t>初始化: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起点: 以上一阶段传递下来的那个高质量入口点为起点。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候选队列 C (Candidate Pool): 一个优先队列，按距离查询q的远近排序（近的优先）。放入起点。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结果队列 W (Result Pool): 一个固定大小的优先队列，存放当前找到的最好的k个结果。也放入起点。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已访问集合 V (Visited Set): 记录访问过的节点。</a:t>
            </a:r>
          </a:p>
          <a:p>
            <a:pPr algn="l" indent="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000000"/>
                </a:solidFill>
              </a:rPr>
              <a:t>迭代循环 (Iterative Loop):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只要候选队列C不为空，就继续。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步骤A: 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>选出最佳候选者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从C中取出最顶端（即离q最近）的节点curr。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步骤B: 提前终止判断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如果curr的距离已经比结果队列W中最差的那个还要远，就结束搜索。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步骤C: 探索并更新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遍历curr的所有未被访问过的邻居。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对于每一个邻居，都将它加入到**候选队列C**中。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如果这个邻居比结果队列W中最差的结果还要好，也把它加入到**结果队列W**中（并踢掉W中最差的那个）。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标记curr为已访问。</a:t>
            </a:r>
          </a:p>
          <a:p>
            <a:pPr algn="l" indent="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000000"/>
                </a:solidFill>
              </a:rPr>
              <a:t>返回结果: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循环结束后，**结果队列W**中存放的就是最终的Top-K个最近邻。
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br>
              <a:rPr/>
            </a:br>
            <a:r>
              <a:rPr lang="en-US" b="true" i="false" strike="noStrike" u="none" sz="1400">
                <a:solidFill>
                  <a:srgbClr val="000000"/>
                </a:solidFill>
              </a:rPr>
              <a:t>初始化: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起点: 以上一阶段传递下来的那个高质量入口点为起点。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候选队列 C (Candidate Pool): 一个优先队列，按距离查询q的远近排序（近的优先）。放入起点。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结果队列 W (Result Pool): 一个固定大小的优先队列，存放当前找到的最好的k个结果。也放入起点。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已访问集合 V (Visited Set): 记录访问过的节点。</a:t>
            </a:r>
          </a:p>
          <a:p>
            <a:pPr algn="l" indent="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000000"/>
                </a:solidFill>
              </a:rPr>
              <a:t>迭代循环 (Iterative Loop):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只要候选队列C不为空，就继续。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步骤A: 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>选出最佳候选者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从C中取出最顶端（即离q最近）的节点curr。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步骤B: 提前终止判断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如果curr的距离已经比结果队列W中最差的那个还要远，就结束搜索。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步骤C: 探索并更新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遍历curr的所有未被访问过的邻居。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对于每一个邻居，都将它加入到**候选队列C**中。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如果这个邻居比结果队列W中最差的结果还要好，也把它加入到**结果队列W**中（并踢掉W中最差的那个）。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标记curr为已访问。</a:t>
            </a:r>
          </a:p>
          <a:p>
            <a:pPr algn="l" indent="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000000"/>
                </a:solidFill>
              </a:rPr>
              <a:t>返回结果: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循环结束后，**结果队列W**中存放的就是最终的Top-K个最近邻。
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br>
              <a:rPr/>
            </a:br>
            <a:r>
              <a:rPr lang="en-US" b="true" i="false" strike="noStrike" u="none" sz="1400">
                <a:solidFill>
                  <a:srgbClr val="000000"/>
                </a:solidFill>
              </a:rPr>
              <a:t>初始化: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起点: 以上一阶段传递下来的那个高质量入口点为起点。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候选队列 C (Candidate Pool): 一个优先队列，按距离查询q的远近排序（近的优先）。放入起点。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结果队列 W (Result Pool): 一个固定大小的优先队列，存放当前找到的最好的k个结果。也放入起点。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已访问集合 V (Visited Set): 记录访问过的节点。</a:t>
            </a:r>
          </a:p>
          <a:p>
            <a:pPr algn="l" indent="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000000"/>
                </a:solidFill>
              </a:rPr>
              <a:t>迭代循环 (Iterative Loop):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只要候选队列C不为空，就继续。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步骤A: 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>选出最佳候选者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从C中取出最顶端（即离q最近）的节点curr。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步骤B: 提前终止判断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如果curr的距离已经比结果队列W中最差的那个还要远，就结束搜索。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步骤C: 探索并更新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遍历curr的所有未被访问过的邻居。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对于每一个邻居，都将它加入到**候选队列C**中。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如果这个邻居比结果队列W中最差的结果还要好，也把它加入到**结果队列W**中（并踢掉W中最差的那个）。</a:t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标记curr为已访问。</a:t>
            </a:r>
          </a:p>
          <a:p>
            <a:pPr algn="l" indent="0">
              <a:lnSpc>
                <a:spcPct val="100000"/>
              </a:lnSpc>
            </a:pPr>
            <a:r>
              <a:rPr lang="en-US" b="true" i="false" strike="noStrike" u="none" sz="1400">
                <a:solidFill>
                  <a:srgbClr val="000000"/>
                </a:solidFill>
              </a:rPr>
              <a:t>返回结果:</a:t>
            </a: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indent="0" lvl="1" marL="45720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循环结束后，**结果队列W**中存放的就是最终的Top-K个最近邻。
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br>
              <a:rPr/>
            </a:br>
            <a:r>
              <a:rPr lang="en-US" b="false" i="false" strike="noStrike" u="none" sz="1400">
                <a:solidFill>
                  <a:srgbClr val="000000"/>
                </a:solidFill>
              </a:rPr>
              <a:t>一个具体的例子：勘探“红色T恤”的情报
1. 场景设定
属性字典: [ 红色, 蓝色, T恤, 裤子 ] (p=4)
我们的目标节点: V₀，它是一条蓝色的裤子。
它的原始属性向量 hv₀ 是 [0, 1, 0, 1]。
图的结构: V₀ 连接着 V₁ 和 V₂。而 V₁ 和 V₂ 的邻居中，有很多“红色T恤”。（见下图）
Generated code
      V₃ (红色T恤) [1,0,1,0]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      /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V₀ --- V₁ (蓝色T恤) [0,1,1,0] --- V₄ (红色T恤) [1,0,1,0]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 |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 V₂ (红色裤子) [1,0,0,1] --- V₅ (红色T恤) [1,0,1,0]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    
2. 开始属性扩散：派出侦察兵 (m=2, D=3)
我们为 V₀ 派出2支侦察队，每队走3步。
第一支侦察队 (Random Walk 1)
路径: 假设它随机走出了路径 V₀ -&gt; V₁ -&gt; V₃。
收集情报: 它收集了这3个节点的原始属性向量：
hv₀: [0, 1, 0, 1] (蓝裤子)
hv₁: [0, 1, 1, 0] (蓝T恤)
hv₃: [1, 0, 1, 0] (红T恤)
提交第一份报告 (第一次平均):
对这3个向量按位相加再除以3：
avg_v₁ = ([0,1,0,1] + [0,1,1,0] + [1,0,1,0]) / 3
avg_v₁ = [1, 2, 2, 2] / 3
avg_v₁ = [0.33, 0.67, 0.67, 0.67]
报告解读: 这份报告说：“在我走的这条路上，遇到‘红色’的概率是33%，遇到‘蓝色’的概率是67%，遇到‘T恤’的概率是67%...”。
第二支侦察队 (Random Walk 2)
路径: 假设它随机走出了另一条路径 V₀ -&gt; V₂ -&gt; V₅。
收集情报:
hv₀: [0, 1, 0, 1] (蓝裤子)
hv₂: [1, 0, 0, 1] (红裤子)
hv₅: [1, 0, 1, 0] (红T恤)
提交第二份报告 (第一次平均):
avg_v₂ = ([0,1,0,1] + [1,0,0,1] + [1,0,1,0]) / 3
avg_v₂ = [2, 1, 1, 2] / 3
avg_v₂ = [0.67, 0.33, 0.33, 0.67]
报告解读: 这份报告说：“在我走的这条路上，遇到‘红色’的概率是67%，遇到‘T恤’的概率是33%...”。
3. 生成最终情报地图 (第二次平均)
现在，我们拿到了两份不同的“勘探报告” avg_v₁ 和 avg_v₂。为了得到一个更稳定、更全面的最终情报，我们对这两份报告再做一次平均。
Ev₀ = (avg_v₁ + avg_v₂) / 2
Ev₀ = ([0.33, 0.67, 0.67, 0.67] + [0.67, 0.33, 0.33, 0.67]) / 2
Ev₀ = [1.0, 1.0, 1.0, 1.34] / 2
Ev₀ = [0.5, 0.5, 0.5, 0.67]
解读最终情报 Ev₀
现在我们来看节点 V₀ 的最终“浓缩属性向量” Ev₀ = [0.5, 0.5, 0.5, 0.67]。
原始信息: V₀ 是一条蓝色的裤子 [0, 1, 0, 1]。
浓缩情报: Ev₀ 告诉我们：
关于“红色” (第一维): 值为0.5。这意味着，虽然 V₀ 自己不是红色的，但从它出发，在周围3步之内，有50%的概率能找到红色的东西。
关于“T恤” (第三维): 值为0.5。虽然V₀自己是裤子，但它周围有50%的概率能找到T恤。
这就是情报的来源！
现在，假设一个查询要找“红色的T恤”。当搜索算法评估节点 V₀ 时：
如果只看原始属性: 算法会认为 V₀ 完全不相关。
如果看浓缩属性: 算法会发现 V₀ 在“红色”和“T恤”这两个维度上都有高达0.5的“潜力分”。它就会认为 V₀ 是一个非常有希望的**“中转站”**，并优先考虑朝 V₀ 的方向继续探索。
总结一下“两次平均”的作用:
第一次平均（在单次游走内）: 将一条路径上的离散属性（0/1）转换成了一个连续的概率分布，描述了这条路径的“属性画像”。
第二次平均（在多次游走间）: 将多条不同路径的“属性画像”进行综合，得到一个更稳定、更能代表节点整体周边环境的最终“情报向量”。这消除了单次随机游走的偶然性，使得结果更鲁棒。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通过这个过程，简单的“平均”操作，就成功地将遥远的、多跳之外的属性信息，“扩散”并“编码”到了当前节点的向量表示中。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br>
              <a:rPr/>
            </a:br>
            <a:r>
              <a:rPr lang="en-US" b="false" i="false" strike="noStrike" u="none" sz="1400">
                <a:solidFill>
                  <a:srgbClr val="000000"/>
                </a:solidFill>
              </a:rPr>
              <a:t>一个具体的例子：勘探“红色T恤”的情报
1. 场景设定
属性字典: [ 红色, 蓝色, T恤, 裤子 ] (p=4)
我们的目标节点: V₀，它是一条蓝色的裤子。
它的原始属性向量 hv₀ 是 [0, 1, 0, 1]。
图的结构: V₀ 连接着 V₁ 和 V₂。而 V₁ 和 V₂ 的邻居中，有很多“红色T恤”。（见下图）
Generated code
      V₃ (红色T恤) [1,0,1,0]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      /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V₀ --- V₁ (蓝色T恤) [0,1,1,0] --- V₄ (红色T恤) [1,0,1,0]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 |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 V₂ (红色裤子) [1,0,0,1] --- V₅ (红色T恤) [1,0,1,0]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    
2. 开始属性扩散：派出侦察兵 (m=2, D=3)
我们为 V₀ 派出2支侦察队，每队走3步。
第一支侦察队 (Random Walk 1)
路径: 假设它随机走出了路径 V₀ -&gt; V₁ -&gt; V₃。
收集情报: 它收集了这3个节点的原始属性向量：
hv₀: [0, 1, 0, 1] (蓝裤子)
hv₁: [0, 1, 1, 0] (蓝T恤)
hv₃: [1, 0, 1, 0] (红T恤)
提交第一份报告 (第一次平均):
对这3个向量按位相加再除以3：
avg_v₁ = ([0,1,0,1] + [0,1,1,0] + [1,0,1,0]) / 3
avg_v₁ = [1, 2, 2, 2] / 3
avg_v₁ = [0.33, 0.67, 0.67, 0.67]
报告解读: 这份报告说：“在我走的这条路上，遇到‘红色’的概率是33%，遇到‘蓝色’的概率是67%，遇到‘T恤’的概率是67%...”。
第二支侦察队 (Random Walk 2)
路径: 假设它随机走出了另一条路径 V₀ -&gt; V₂ -&gt; V₅。
收集情报:
hv₀: [0, 1, 0, 1] (蓝裤子)
hv₂: [1, 0, 0, 1] (红裤子)
hv₅: [1, 0, 1, 0] (红T恤)
提交第二份报告 (第一次平均):
avg_v₂ = ([0,1,0,1] + [1,0,0,1] + [1,0,1,0]) / 3
avg_v₂ = [2, 1, 1, 2] / 3
avg_v₂ = [0.67, 0.33, 0.33, 0.67]
报告解读: 这份报告说：“在我走的这条路上，遇到‘红色’的概率是67%，遇到‘T恤’的概率是33%...”。
3. 生成最终情报地图 (第二次平均)
现在，我们拿到了两份不同的“勘探报告” avg_v₁ 和 avg_v₂。为了得到一个更稳定、更全面的最终情报，我们对这两份报告再做一次平均。
Ev₀ = (avg_v₁ + avg_v₂) / 2
Ev₀ = ([0.33, 0.67, 0.67, 0.67] + [0.67, 0.33, 0.33, 0.67]) / 2
Ev₀ = [1.0, 1.0, 1.0, 1.34] / 2
Ev₀ = [0.5, 0.5, 0.5, 0.67]
解读最终情报 Ev₀
现在我们来看节点 V₀ 的最终“浓缩属性向量” Ev₀ = [0.5, 0.5, 0.5, 0.67]。
原始信息: V₀ 是一条蓝色的裤子 [0, 1, 0, 1]。
浓缩情报: Ev₀ 告诉我们：
关于“红色” (第一维): 值为0.5。这意味着，虽然 V₀ 自己不是红色的，但从它出发，在周围3步之内，有50%的概率能找到红色的东西。
关于“T恤” (第三维): 值为0.5。虽然V₀自己是裤子，但它周围有50%的概率能找到T恤。
这就是情报的来源！
现在，假设一个查询要找“红色的T恤”。当搜索算法评估节点 V₀ 时：
如果只看原始属性: 算法会认为 V₀ 完全不相关。
如果看浓缩属性: 算法会发现 V₀ 在“红色”和“T恤”这两个维度上都有高达0.5的“潜力分”。它就会认为 V₀ 是一个非常有希望的**“中转站”**，并优先考虑朝 V₀ 的方向继续探索。
总结一下“两次平均”的作用:
第一次平均（在单次游走内）: 将一条路径上的离散属性（0/1）转换成了一个连续的概率分布，描述了这条路径的“属性画像”。
第二次平均（在多次游走间）: 将多条不同路径的“属性画像”进行综合，得到一个更稳定、更能代表节点整体周边环境的最终“情报向量”。这消除了单次随机游走的偶然性，使得结果更鲁棒。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通过这个过程，简单的“平均”操作，就成功地将遥远的、多跳之外的属性信息，“扩散”并“编码”到了当前节点的向量表示中。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br>
              <a:rPr/>
            </a:br>
            <a:r>
              <a:rPr lang="en-US" b="false" i="false" strike="noStrike" u="none" sz="1400">
                <a:solidFill>
                  <a:srgbClr val="000000"/>
                </a:solidFill>
              </a:rPr>
              <a:t>Where: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μ_j = global mean of attribute j across ALL nodes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σ_j = global std of attribute j across ALL nodes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标准差 = 数据的"分散程度"指标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生活中的例子：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假设我们有两个班级的身高数据：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班级A：170, 171, 169, 170, 170 cm（平均170cm）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班级B：160, 180, 165, 175, 170 cm（平均170cm）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两个班的平均身高都是170cm，但：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班级A的标准差很小（约0.7cm）→ 大家身高很接近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班级B的标准差较大（约7.1cm）→ 身高差异很大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z = 0.0  →  50.0% (平均水平)
z = 0.5  →  69.1% 
z = 0.8  →  78.8% ← 我们的例子
z = 1.0  →  84.1% 
z = 1.5  →  93.3%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z = 2.0  →  97.7%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br>
              <a:rPr/>
            </a:br>
            <a:r>
              <a:rPr lang="en-US" b="false" i="false" strike="noStrike" u="none" sz="1400">
                <a:solidFill>
                  <a:srgbClr val="000000"/>
                </a:solidFill>
              </a:rPr>
              <a:t>问题一：为什么按属性列进行Z-Score归一化？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核心原因：消除不同属性间的分布差异，实现公平比较。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举例说明：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"红色"属性：全局稀少，μ=0.1, σ=0.05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"耐克"属性：全局常见，μ=0.5, σ=0.2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如果某节点的原始分值是：红色=0.2，耐克=0.6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不归一化：无法设统一阈值，0.2看起来比0.6差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Z-Score后：红色=+2.0，耐克=+0.5，红色其实更"有希望"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结果：所有属性都转换到统一的标准正态分布尺度上，可以用同一个阈值τ判断。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问题二：为什么τ=0是合理的剪枝阈值？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统计学含义：Z-Score &gt; 0 = 该属性分值 &gt; 全局平均水平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实际意义：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正值：该邻域的目标属性浓度高于平均→"有希望的方向"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负值：该邻域的目标属性浓度低于平均→"贫瘠区域"，可剪枝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τ=0：保守而高效的平衡点，既不错过机会，又能有效剪枝</a:t>
            </a:r>
            <a:br>
              <a:rPr lang="en-US" b="false" i="false" strike="noStrike" u="none" sz="1400">
                <a:solidFill>
                  <a:srgbClr val="000000"/>
                </a:solidFill>
              </a:rPr>
            </a:br>
            <a:r>
              <a:rPr lang="en-US" b="false" i="false" strike="noStrike" u="none" sz="1400">
                <a:solidFill>
                  <a:srgbClr val="000000"/>
                </a:solidFill>
              </a:rPr>
              <a:t>本质：引导搜索朝向属性"浓度"高于平均水平的区域，这正是RWalks要解决的"引导搜索到有希望区域"的核心思想。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1. 证明目标一：混合距离优于纯向量距离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2. 证明目标二：混合距离能提高整个搜索路径的有效节点比例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3. 证明目标三：带有“属性扩散”的混合距离是最佳策略
要证明什么: 这是最关键的一步。它要证明，使用经过属性扩散（随机游走） 增强的“富集属性” ã(v) 所形成的混合距离，是比使用简单二元属性的混合距离更优的策略。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时间复杂度 (Time Complexity):
索引构建: O(n log n)。因为 RWalks 的属性扩散是 O(n) 的，而基础图（如HNSW）的构建是 O(n log n)，所以总复杂度由后者主导。
查询: O(log n)。因为 RWalks 的修改（混合距离、剪枝）不依赖于数据总量 n，所以平均查询复杂度和原生HNSW保持一致。
空间复杂度 (Space Complexity):
分析了存储图、向量和属性所需的空间。
结论是，由于每个节点只存储有限的边和有限的（富集的）属性，总空间复杂度是 O(n)，即与数据量成线性关系，是可接受的。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Deep (1B)
来源: 从深度神经网络（CNN）的中间层提取的特征向量。
规模: 总共 10亿 (1B) 个向量。实验中会从中提取不同大小的子集（1M, 10M, 50M, 100M）来测试可扩展性 (Scalability)。
维度: 96维。属于中等维度。
用途: 主要用于测试算法在通用特征向量上的性能和可扩展性。
Sift (1B)
来源: 经典的 SIFT 图像特征描述符。是计算机视觉领域非常标准的一个基准测试集。
规模: 总共 10亿 (1B) 个向量。同样，实验中会提取不同大小的子集进行测试。
维度: 128维。
用途: 和 Deep 数据集类似，是另一个标准的、用于测试性能和可扩展性的基准。
Yfcc (100M)
来源: Yahoo Flickr Creative Commons 100M 数据集，包含了大量的图片。这里使用的是经过 CLIP 模型编码后的 200 维嵌入向量。
规模: 实验使用了其中的一个 1000万 (10M) 的子集，这个子集是 NeurIPS BigANN 竞赛中用于过滤搜索赛道的标准 benchmarks。
维度: 200维。
关键特点: 这个数据集自带真实的属性 (Real attributes)。每张图片平均有15个与之关联的标签（属性）。
用途: 这是测试带有真实过滤条件的查询的核心数据集，能够非常真实地模拟现实世界的应用场景。
Arxiv (1.7M)
来源: 来自学术论文网站 arXiv 的论文摘要，经过模型编码后的文本嵌入向量。
规模: 170万 (1.7M) 个向量。
维度: 384维。属于较高维度。
关键特点: 这个数据集也自带真实的属性，每个向量（论文）有一个属性（例如，论文的类别）。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用途: 用于测试算法在文本数据和真实过滤条件下的性能。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Yfcc-Real 数据集的查询是真实世界的查询，其特点是：
多属性 (Multi-attribute): 一个查询可能同时涉及到多个属性的过滤，比如 (tag = 'sky' AND tag = 'blue') 或者 (tag = 'cat' OR tag = 'dog')。
复合逻辑: 这些多属性查询通常以 AND, OR 等复合逻辑形式存在。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而 Filtered-DiskANN 在其原始设计和公开发布的代码中，对过滤器的支持是有限的。根据其论文 [32] 和公开实现，它主要优化和支持的是单属性的等值过滤 (single equality filter)。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3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4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5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6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7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8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9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0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1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xfrm rot="0" flipH="false" flipV="false">
            <a:off x="1198800" y="914400"/>
            <a:ext cx="9799200" cy="2570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90000" rIns="90000" tIns="46800" bIns="46800">
            <a:spAutoFit/>
          </a:bodyPr>
          <a:lstStyle>
            <a:lvl1pPr algn="ctr">
              <a:lnSpc>
                <a:spcPct val="100000"/>
              </a:lnSpc>
              <a:defRPr sz="6000" b="false" i="false" u="none" strike="noStrike" spc="300">
                <a:solidFill>
                  <a:srgbClr val="262626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6000" spc="300">
                <a:solidFill>
                  <a:srgbClr val="262626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7" type="body" sz="quarter" hasCustomPrompt="true"/>
          </p:nvPr>
        </p:nvSpPr>
        <p:spPr>
          <a:xfrm rot="0" flipH="false" flipV="false">
            <a:off x="1198800" y="3560400"/>
            <a:ext cx="9799200" cy="147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0000" rIns="90000" tIns="46800" bIns="46800">
            <a:spAutoFit/>
          </a:bodyPr>
          <a:lstStyle>
            <a:lvl1pPr algn="ctr">
              <a:lnSpc>
                <a:spcPct val="108333"/>
              </a:lnSpc>
              <a:defRPr sz="2400" b="false" i="false" u="none" strike="noStrike" spc="200">
                <a:solidFill>
                  <a:srgbClr val="59595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8333"/>
              </a:lnSpc>
            </a:pPr>
            <a:r>
              <a:rPr lang="en-US" b="false" i="false" strike="noStrike" u="none" sz="2400" spc="20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单击此处编辑母版副标题样式</a:t>
            </a:r>
          </a:p>
        </p:txBody>
      </p:sp>
      <p:sp>
        <p:nvSpPr>
          <p:cNvPr name="AutoShape 4" id="4"/>
          <p:cNvSpPr/>
          <p:nvPr>
            <p:ph idx="8" type="body" sz="quarter"/>
          </p:nvPr>
        </p:nvSpPr>
        <p:spPr>
          <a:xfrm rot="0" flipH="false" flipV="false">
            <a:off x="612000" y="6314400"/>
            <a:ext cx="270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l">
              <a:lnSpc>
                <a:spcPct val="100000"/>
              </a:lnSpc>
              <a:defRPr sz="1000" b="false" i="false" u="none" strike="noStrike" spc="0">
                <a:solidFill>
                  <a:srgbClr val="89898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xfrm rot="0" flipH="false" flipV="false">
            <a:off x="4116000" y="6314400"/>
            <a:ext cx="396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ctr">
              <a:lnSpc>
                <a:spcPct val="100000"/>
              </a:lnSpc>
              <a:defRPr sz="10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898989"/>
                </a:solidFill>
                <a:latin typeface="Noto Sans SC"/>
                <a:ea typeface="Noto Sans SC"/>
                <a:cs typeface="Noto Sans SC"/>
                <a:sym typeface="Noto Sans SC"/>
              </a:rPr>
              <a:t>页脚</a:t>
            </a:r>
          </a:p>
        </p:txBody>
      </p:sp>
      <p:sp>
        <p:nvSpPr>
          <p:cNvPr name="AutoShape 6" id="6"/>
          <p:cNvSpPr/>
          <p:nvPr>
            <p:ph idx="10" type="body" sz="quarter"/>
          </p:nvPr>
        </p:nvSpPr>
        <p:spPr>
          <a:xfrm rot="0" flipH="false" flipV="false">
            <a:off x="8877600" y="6314400"/>
            <a:ext cx="270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r">
              <a:lnSpc>
                <a:spcPct val="100000"/>
              </a:lnSpc>
              <a:defRPr sz="1000" b="false" i="false" u="none" strike="noStrike" spc="0">
                <a:solidFill>
                  <a:srgbClr val="898989">
                    <a:alpha val="100000"/>
                  </a:srgbClr>
                </a:solidFill>
                <a:latin typeface="Noto Sans SC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1" type="body" sz="quarter" hasCustomPrompt="true"/>
          </p:nvPr>
        </p:nvSpPr>
        <p:spPr>
          <a:xfrm rot="0" flipH="false" flipV="false">
            <a:off x="608400" y="608400"/>
            <a:ext cx="10969200" cy="635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0000" rIns="90000" tIns="46800" bIns="46800">
            <a:spAutoFit/>
          </a:bodyPr>
          <a:lstStyle>
            <a:lvl1pPr algn="l">
              <a:lnSpc>
                <a:spcPct val="100000"/>
              </a:lnSpc>
              <a:defRPr sz="3600" b="false" i="false" u="none" strike="noStrike" spc="300">
                <a:solidFill>
                  <a:srgbClr val="262626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 spc="300">
                <a:solidFill>
                  <a:srgbClr val="262626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12" type="body" sz="quarter" hasCustomPrompt="true"/>
          </p:nvPr>
        </p:nvSpPr>
        <p:spPr>
          <a:xfrm rot="0" flipH="false" flipV="false">
            <a:off x="608400" y="1490400"/>
            <a:ext cx="10969200" cy="4759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0000" rIns="90000" tIns="46800" bIns="46800">
            <a:sp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59595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-228600" marL="228600">
              <a:lnSpc>
                <a:spcPct val="133333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8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单击此处编辑母版文本样式</a:t>
            </a:r>
          </a:p>
          <a:p>
            <a:pPr algn="l" indent="-203200" lvl="1" marL="6096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6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第二级</a:t>
            </a:r>
          </a:p>
          <a:p>
            <a:pPr algn="l" indent="-203200" lvl="2" marL="10160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6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第三级</a:t>
            </a:r>
          </a:p>
          <a:p>
            <a:pPr algn="l" indent="-177800" lvl="3" marL="12446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4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第四级</a:t>
            </a:r>
          </a:p>
          <a:p>
            <a:pPr algn="l" indent="-177800" lvl="4" marL="16002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4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第五级</a:t>
            </a:r>
          </a:p>
        </p:txBody>
      </p:sp>
      <p:sp>
        <p:nvSpPr>
          <p:cNvPr name="AutoShape 4" id="4"/>
          <p:cNvSpPr/>
          <p:nvPr>
            <p:ph idx="13" type="body" sz="quarter"/>
          </p:nvPr>
        </p:nvSpPr>
        <p:spPr>
          <a:xfrm rot="0" flipH="false" flipV="false">
            <a:off x="612000" y="6314400"/>
            <a:ext cx="270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l">
              <a:lnSpc>
                <a:spcPct val="100000"/>
              </a:lnSpc>
              <a:defRPr sz="1000" b="false" i="false" u="none" strike="noStrike" spc="0">
                <a:solidFill>
                  <a:srgbClr val="89898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14" type="body" sz="quarter" hasCustomPrompt="true"/>
          </p:nvPr>
        </p:nvSpPr>
        <p:spPr>
          <a:xfrm rot="0" flipH="false" flipV="false">
            <a:off x="4116000" y="6314400"/>
            <a:ext cx="396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ctr">
              <a:lnSpc>
                <a:spcPct val="100000"/>
              </a:lnSpc>
              <a:defRPr sz="10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898989"/>
                </a:solidFill>
                <a:latin typeface="Noto Sans SC"/>
                <a:ea typeface="Noto Sans SC"/>
                <a:cs typeface="Noto Sans SC"/>
                <a:sym typeface="Noto Sans SC"/>
              </a:rPr>
              <a:t>页脚</a:t>
            </a:r>
          </a:p>
        </p:txBody>
      </p:sp>
      <p:sp>
        <p:nvSpPr>
          <p:cNvPr name="AutoShape 6" id="6"/>
          <p:cNvSpPr/>
          <p:nvPr>
            <p:ph idx="15" type="body" sz="quarter"/>
          </p:nvPr>
        </p:nvSpPr>
        <p:spPr>
          <a:xfrm rot="0" flipH="false" flipV="false">
            <a:off x="8877600" y="6314400"/>
            <a:ext cx="270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r">
              <a:lnSpc>
                <a:spcPct val="100000"/>
              </a:lnSpc>
              <a:defRPr sz="1000" b="false" i="false" u="none" strike="noStrike" spc="0">
                <a:solidFill>
                  <a:srgbClr val="898989">
                    <a:alpha val="100000"/>
                  </a:srgbClr>
                </a:solidFill>
                <a:latin typeface="Noto Sans SC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6" type="body" sz="quarter" hasCustomPrompt="true"/>
          </p:nvPr>
        </p:nvSpPr>
        <p:spPr>
          <a:xfrm rot="0" flipH="false" flipV="false">
            <a:off x="1990800" y="3848400"/>
            <a:ext cx="7768800" cy="76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90000" rIns="90000" tIns="46800" bIns="46800">
            <a:spAutoFit/>
          </a:bodyPr>
          <a:lstStyle>
            <a:lvl1pPr algn="l">
              <a:lnSpc>
                <a:spcPct val="100000"/>
              </a:lnSpc>
              <a:defRPr sz="4400" b="false" i="false" u="none" strike="noStrike" spc="300">
                <a:solidFill>
                  <a:srgbClr val="262626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4400" spc="300">
                <a:solidFill>
                  <a:srgbClr val="262626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单击此处编辑标题</a:t>
            </a:r>
          </a:p>
        </p:txBody>
      </p:sp>
      <p:sp>
        <p:nvSpPr>
          <p:cNvPr name="AutoShape 3" id="3"/>
          <p:cNvSpPr/>
          <p:nvPr>
            <p:ph idx="17" type="body" sz="quarter" hasCustomPrompt="true"/>
          </p:nvPr>
        </p:nvSpPr>
        <p:spPr>
          <a:xfrm rot="0" flipH="false" flipV="false">
            <a:off x="1990800" y="4615200"/>
            <a:ext cx="7768800" cy="86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0000" rIns="90000" tIns="46800" bIns="46800">
            <a:sp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59595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33333"/>
              </a:lnSpc>
            </a:pPr>
            <a:r>
              <a:rPr lang="en-US" b="false" i="false" strike="noStrike" u="none" sz="18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单击此处编辑文本</a:t>
            </a:r>
          </a:p>
        </p:txBody>
      </p:sp>
      <p:sp>
        <p:nvSpPr>
          <p:cNvPr name="AutoShape 4" id="4"/>
          <p:cNvSpPr/>
          <p:nvPr>
            <p:ph idx="18" type="body" sz="quarter"/>
          </p:nvPr>
        </p:nvSpPr>
        <p:spPr>
          <a:xfrm rot="0" flipH="false" flipV="false">
            <a:off x="612000" y="6314400"/>
            <a:ext cx="270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l">
              <a:lnSpc>
                <a:spcPct val="100000"/>
              </a:lnSpc>
              <a:defRPr sz="1000" b="false" i="false" u="none" strike="noStrike" spc="0">
                <a:solidFill>
                  <a:srgbClr val="89898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19" type="body" sz="quarter" hasCustomPrompt="true"/>
          </p:nvPr>
        </p:nvSpPr>
        <p:spPr>
          <a:xfrm rot="0" flipH="false" flipV="false">
            <a:off x="4116000" y="6314400"/>
            <a:ext cx="396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ctr">
              <a:lnSpc>
                <a:spcPct val="100000"/>
              </a:lnSpc>
              <a:defRPr sz="10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898989"/>
                </a:solidFill>
                <a:latin typeface="Noto Sans SC"/>
                <a:ea typeface="Noto Sans SC"/>
                <a:cs typeface="Noto Sans SC"/>
                <a:sym typeface="Noto Sans SC"/>
              </a:rPr>
              <a:t>页脚</a:t>
            </a:r>
          </a:p>
        </p:txBody>
      </p:sp>
      <p:sp>
        <p:nvSpPr>
          <p:cNvPr name="AutoShape 6" id="6"/>
          <p:cNvSpPr/>
          <p:nvPr>
            <p:ph idx="20" type="body" sz="quarter"/>
          </p:nvPr>
        </p:nvSpPr>
        <p:spPr>
          <a:xfrm rot="0" flipH="false" flipV="false">
            <a:off x="8877600" y="6314400"/>
            <a:ext cx="270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r">
              <a:lnSpc>
                <a:spcPct val="100000"/>
              </a:lnSpc>
              <a:defRPr sz="1000" b="false" i="false" u="none" strike="noStrike" spc="0">
                <a:solidFill>
                  <a:srgbClr val="898989">
                    <a:alpha val="100000"/>
                  </a:srgbClr>
                </a:solidFill>
                <a:latin typeface="Noto Sans SC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1" type="body" sz="quarter" hasCustomPrompt="true"/>
          </p:nvPr>
        </p:nvSpPr>
        <p:spPr>
          <a:xfrm rot="0" flipH="false" flipV="false">
            <a:off x="608400" y="608400"/>
            <a:ext cx="10969200" cy="635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0000" rIns="90000" tIns="46800" bIns="46800">
            <a:spAutoFit/>
          </a:bodyPr>
          <a:lstStyle>
            <a:lvl1pPr algn="l">
              <a:lnSpc>
                <a:spcPct val="100000"/>
              </a:lnSpc>
              <a:defRPr sz="3600" b="false" i="false" u="none" strike="noStrike" spc="300">
                <a:solidFill>
                  <a:srgbClr val="262626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 spc="300">
                <a:solidFill>
                  <a:srgbClr val="262626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22" type="body" sz="quarter" hasCustomPrompt="true"/>
          </p:nvPr>
        </p:nvSpPr>
        <p:spPr>
          <a:xfrm rot="0" flipH="false" flipV="false">
            <a:off x="608400" y="1501200"/>
            <a:ext cx="5176800" cy="4748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0000" rIns="90000" tIns="46800" bIns="46800">
            <a:sp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59595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-228600" marL="228600">
              <a:lnSpc>
                <a:spcPct val="133333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8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单击此处编辑母版文本样式</a:t>
            </a:r>
          </a:p>
          <a:p>
            <a:pPr algn="l" indent="-203200" lvl="1" marL="6096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6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第二级</a:t>
            </a:r>
          </a:p>
          <a:p>
            <a:pPr algn="l" indent="-203200" lvl="2" marL="10160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6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第三级</a:t>
            </a:r>
          </a:p>
          <a:p>
            <a:pPr algn="l" indent="-177800" lvl="3" marL="12446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4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第四级</a:t>
            </a:r>
          </a:p>
          <a:p>
            <a:pPr algn="l" indent="-177800" lvl="4" marL="16002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4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第五级</a:t>
            </a:r>
          </a:p>
        </p:txBody>
      </p:sp>
      <p:sp>
        <p:nvSpPr>
          <p:cNvPr name="AutoShape 4" id="4"/>
          <p:cNvSpPr/>
          <p:nvPr>
            <p:ph idx="23" type="body" sz="quarter" hasCustomPrompt="true"/>
          </p:nvPr>
        </p:nvSpPr>
        <p:spPr>
          <a:xfrm rot="0" flipH="false" flipV="false">
            <a:off x="6411600" y="1501200"/>
            <a:ext cx="5176800" cy="4748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0000" rIns="90000" tIns="46800" bIns="46800">
            <a:sp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59595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-228600" marL="228600">
              <a:lnSpc>
                <a:spcPct val="133333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8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单击此处编辑母版文本样式</a:t>
            </a:r>
          </a:p>
          <a:p>
            <a:pPr algn="l" indent="-203200" lvl="1" marL="6096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6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第二级</a:t>
            </a:r>
          </a:p>
          <a:p>
            <a:pPr algn="l" indent="-203200" lvl="2" marL="10160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6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第三级</a:t>
            </a:r>
          </a:p>
          <a:p>
            <a:pPr algn="l" indent="-177800" lvl="3" marL="12446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4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第四级</a:t>
            </a:r>
          </a:p>
          <a:p>
            <a:pPr algn="l" indent="-177800" lvl="4" marL="16002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4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第五级</a:t>
            </a:r>
          </a:p>
        </p:txBody>
      </p:sp>
      <p:sp>
        <p:nvSpPr>
          <p:cNvPr name="AutoShape 5" id="5"/>
          <p:cNvSpPr/>
          <p:nvPr>
            <p:ph idx="24" type="body" sz="quarter"/>
          </p:nvPr>
        </p:nvSpPr>
        <p:spPr>
          <a:xfrm rot="0" flipH="false" flipV="false">
            <a:off x="612000" y="6314400"/>
            <a:ext cx="270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l">
              <a:lnSpc>
                <a:spcPct val="100000"/>
              </a:lnSpc>
              <a:defRPr sz="1000" b="false" i="false" u="none" strike="noStrike" spc="0">
                <a:solidFill>
                  <a:srgbClr val="89898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25" type="body" sz="quarter" hasCustomPrompt="true"/>
          </p:nvPr>
        </p:nvSpPr>
        <p:spPr>
          <a:xfrm rot="0" flipH="false" flipV="false">
            <a:off x="4116000" y="6314400"/>
            <a:ext cx="396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ctr">
              <a:lnSpc>
                <a:spcPct val="100000"/>
              </a:lnSpc>
              <a:defRPr sz="10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898989"/>
                </a:solidFill>
                <a:latin typeface="Noto Sans SC"/>
                <a:ea typeface="Noto Sans SC"/>
                <a:cs typeface="Noto Sans SC"/>
                <a:sym typeface="Noto Sans SC"/>
              </a:rPr>
              <a:t>页脚</a:t>
            </a:r>
          </a:p>
        </p:txBody>
      </p:sp>
      <p:sp>
        <p:nvSpPr>
          <p:cNvPr name="AutoShape 7" id="7"/>
          <p:cNvSpPr/>
          <p:nvPr>
            <p:ph idx="26" type="body" sz="quarter"/>
          </p:nvPr>
        </p:nvSpPr>
        <p:spPr>
          <a:xfrm rot="0" flipH="false" flipV="false">
            <a:off x="8877600" y="6314400"/>
            <a:ext cx="270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r">
              <a:lnSpc>
                <a:spcPct val="100000"/>
              </a:lnSpc>
              <a:defRPr sz="1000" b="false" i="false" u="none" strike="noStrike" spc="0">
                <a:solidFill>
                  <a:srgbClr val="898989">
                    <a:alpha val="100000"/>
                  </a:srgbClr>
                </a:solidFill>
                <a:latin typeface="Noto Sans SC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7" type="body" sz="quarter" hasCustomPrompt="true"/>
          </p:nvPr>
        </p:nvSpPr>
        <p:spPr>
          <a:xfrm rot="0" flipH="false" flipV="false">
            <a:off x="608400" y="608400"/>
            <a:ext cx="10969200" cy="635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0000" rIns="90000" tIns="46800" bIns="46800">
            <a:spAutoFit/>
          </a:bodyPr>
          <a:lstStyle>
            <a:lvl1pPr algn="l">
              <a:lnSpc>
                <a:spcPct val="100000"/>
              </a:lnSpc>
              <a:defRPr sz="3600" b="false" i="false" u="none" strike="noStrike" spc="300">
                <a:solidFill>
                  <a:srgbClr val="262626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 spc="300">
                <a:solidFill>
                  <a:srgbClr val="262626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28" type="body" sz="quarter" hasCustomPrompt="true"/>
          </p:nvPr>
        </p:nvSpPr>
        <p:spPr>
          <a:xfrm rot="0" flipH="false" flipV="false">
            <a:off x="608400" y="1429200"/>
            <a:ext cx="5342400" cy="381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101600" rIns="76200" tIns="38100" bIns="38100">
            <a:spAutoFit/>
          </a:bodyPr>
          <a:lstStyle>
            <a:lvl1pPr algn="l">
              <a:lnSpc>
                <a:spcPct val="100000"/>
              </a:lnSpc>
              <a:defRPr sz="2000" b="true" i="false" u="none" strike="noStrike" spc="200">
                <a:solidFill>
                  <a:srgbClr val="404040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true" i="false" strike="noStrike" u="none" sz="2000" spc="200">
                <a:solidFill>
                  <a:srgbClr val="404040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单击此处编辑文本</a:t>
            </a:r>
          </a:p>
        </p:txBody>
      </p:sp>
      <p:sp>
        <p:nvSpPr>
          <p:cNvPr name="AutoShape 4" id="4"/>
          <p:cNvSpPr/>
          <p:nvPr>
            <p:ph idx="29" type="body" sz="quarter" hasCustomPrompt="true"/>
          </p:nvPr>
        </p:nvSpPr>
        <p:spPr>
          <a:xfrm rot="0" flipH="false" flipV="false">
            <a:off x="608400" y="1854000"/>
            <a:ext cx="5342400" cy="4395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101600" rIns="82550" tIns="0" bIns="0">
            <a:sp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59595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-228600" marL="228600">
              <a:lnSpc>
                <a:spcPct val="133333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8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单击此处编辑母版文本样式</a:t>
            </a:r>
          </a:p>
          <a:p>
            <a:pPr algn="l" indent="-203200" lvl="1" marL="6096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6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第二级</a:t>
            </a:r>
          </a:p>
          <a:p>
            <a:pPr algn="l" indent="-203200" lvl="2" marL="10160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6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第三级</a:t>
            </a:r>
          </a:p>
          <a:p>
            <a:pPr algn="l" indent="-177800" lvl="3" marL="12446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4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第四级</a:t>
            </a:r>
          </a:p>
          <a:p>
            <a:pPr algn="l" indent="-177800" lvl="4" marL="16002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4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第五级</a:t>
            </a:r>
          </a:p>
        </p:txBody>
      </p:sp>
      <p:sp>
        <p:nvSpPr>
          <p:cNvPr name="AutoShape 5" id="5"/>
          <p:cNvSpPr/>
          <p:nvPr>
            <p:ph idx="30" type="body" sz="quarter" hasCustomPrompt="true"/>
          </p:nvPr>
        </p:nvSpPr>
        <p:spPr>
          <a:xfrm rot="0" flipH="false" flipV="false">
            <a:off x="6235750" y="1421729"/>
            <a:ext cx="5342400" cy="381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101600" rIns="76200" tIns="38100" bIns="38100">
            <a:spAutoFit/>
          </a:bodyPr>
          <a:lstStyle>
            <a:lvl1pPr algn="l">
              <a:lnSpc>
                <a:spcPct val="100000"/>
              </a:lnSpc>
              <a:defRPr sz="2000" b="true" i="false" u="none" strike="noStrike" spc="200">
                <a:solidFill>
                  <a:srgbClr val="404040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true" i="false" strike="noStrike" u="none" sz="2000" spc="200">
                <a:solidFill>
                  <a:srgbClr val="404040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单击此处编辑文本</a:t>
            </a:r>
          </a:p>
        </p:txBody>
      </p:sp>
      <p:sp>
        <p:nvSpPr>
          <p:cNvPr name="AutoShape 6" id="6"/>
          <p:cNvSpPr/>
          <p:nvPr>
            <p:ph idx="31" type="body" sz="quarter" hasCustomPrompt="true"/>
          </p:nvPr>
        </p:nvSpPr>
        <p:spPr>
          <a:xfrm rot="0" flipH="false" flipV="false">
            <a:off x="6235750" y="1854000"/>
            <a:ext cx="5342400" cy="4395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101600" rIns="82550" tIns="0" bIns="0">
            <a:sp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59595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-228600" marL="228600">
              <a:lnSpc>
                <a:spcPct val="133333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8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单击此处编辑母版文本样式</a:t>
            </a:r>
          </a:p>
          <a:p>
            <a:pPr algn="l" indent="-203200" lvl="1" marL="6096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6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第二级</a:t>
            </a:r>
          </a:p>
          <a:p>
            <a:pPr algn="l" indent="-203200" lvl="2" marL="10160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6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第三级</a:t>
            </a:r>
          </a:p>
          <a:p>
            <a:pPr algn="l" indent="-177800" lvl="3" marL="12446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4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第四级</a:t>
            </a:r>
          </a:p>
          <a:p>
            <a:pPr algn="l" indent="-177800" lvl="4" marL="16002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4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第五级</a:t>
            </a:r>
          </a:p>
        </p:txBody>
      </p:sp>
      <p:sp>
        <p:nvSpPr>
          <p:cNvPr name="AutoShape 7" id="7"/>
          <p:cNvSpPr/>
          <p:nvPr>
            <p:ph idx="32" type="body" sz="quarter"/>
          </p:nvPr>
        </p:nvSpPr>
        <p:spPr>
          <a:xfrm rot="0" flipH="false" flipV="false">
            <a:off x="612000" y="6314400"/>
            <a:ext cx="270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l">
              <a:lnSpc>
                <a:spcPct val="100000"/>
              </a:lnSpc>
              <a:defRPr sz="1000" b="false" i="false" u="none" strike="noStrike" spc="0">
                <a:solidFill>
                  <a:srgbClr val="89898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33" type="body" sz="quarter" hasCustomPrompt="true"/>
          </p:nvPr>
        </p:nvSpPr>
        <p:spPr>
          <a:xfrm rot="0" flipH="false" flipV="false">
            <a:off x="4116000" y="6314400"/>
            <a:ext cx="396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ctr">
              <a:lnSpc>
                <a:spcPct val="100000"/>
              </a:lnSpc>
              <a:defRPr sz="10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898989"/>
                </a:solidFill>
                <a:latin typeface="Noto Sans SC"/>
                <a:ea typeface="Noto Sans SC"/>
                <a:cs typeface="Noto Sans SC"/>
                <a:sym typeface="Noto Sans SC"/>
              </a:rPr>
              <a:t>页脚</a:t>
            </a:r>
          </a:p>
        </p:txBody>
      </p:sp>
      <p:sp>
        <p:nvSpPr>
          <p:cNvPr name="AutoShape 9" id="9"/>
          <p:cNvSpPr/>
          <p:nvPr>
            <p:ph idx="34" type="body" sz="quarter"/>
          </p:nvPr>
        </p:nvSpPr>
        <p:spPr>
          <a:xfrm rot="0" flipH="false" flipV="false">
            <a:off x="8877600" y="6314400"/>
            <a:ext cx="270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r">
              <a:lnSpc>
                <a:spcPct val="100000"/>
              </a:lnSpc>
              <a:defRPr sz="1000" b="false" i="false" u="none" strike="noStrike" spc="0">
                <a:solidFill>
                  <a:srgbClr val="898989">
                    <a:alpha val="100000"/>
                  </a:srgbClr>
                </a:solidFill>
                <a:latin typeface="Noto Sans SC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5" type="body" sz="quarter" hasCustomPrompt="true"/>
          </p:nvPr>
        </p:nvSpPr>
        <p:spPr>
          <a:xfrm rot="0" flipH="false" flipV="false">
            <a:off x="608400" y="608400"/>
            <a:ext cx="10969200" cy="635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0000" rIns="90000" tIns="46800" bIns="46800">
            <a:spAutoFit/>
          </a:bodyPr>
          <a:lstStyle>
            <a:lvl1pPr algn="l">
              <a:lnSpc>
                <a:spcPct val="100000"/>
              </a:lnSpc>
              <a:defRPr sz="3600" b="false" i="false" u="none" strike="noStrike" spc="300">
                <a:solidFill>
                  <a:srgbClr val="262626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 spc="300">
                <a:solidFill>
                  <a:srgbClr val="262626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36" type="body" sz="quarter"/>
          </p:nvPr>
        </p:nvSpPr>
        <p:spPr>
          <a:xfrm rot="0" flipH="false" flipV="false">
            <a:off x="612000" y="6314400"/>
            <a:ext cx="270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l">
              <a:lnSpc>
                <a:spcPct val="100000"/>
              </a:lnSpc>
              <a:defRPr sz="1000" b="false" i="false" u="none" strike="noStrike" spc="0">
                <a:solidFill>
                  <a:srgbClr val="89898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37" type="body" sz="quarter" hasCustomPrompt="true"/>
          </p:nvPr>
        </p:nvSpPr>
        <p:spPr>
          <a:xfrm rot="0" flipH="false" flipV="false">
            <a:off x="4116000" y="6314400"/>
            <a:ext cx="396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ctr">
              <a:lnSpc>
                <a:spcPct val="100000"/>
              </a:lnSpc>
              <a:defRPr sz="10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898989"/>
                </a:solidFill>
                <a:latin typeface="Noto Sans SC"/>
                <a:ea typeface="Noto Sans SC"/>
                <a:cs typeface="Noto Sans SC"/>
                <a:sym typeface="Noto Sans SC"/>
              </a:rPr>
              <a:t>页脚</a:t>
            </a:r>
          </a:p>
        </p:txBody>
      </p:sp>
      <p:sp>
        <p:nvSpPr>
          <p:cNvPr name="AutoShape 5" id="5"/>
          <p:cNvSpPr/>
          <p:nvPr>
            <p:ph idx="38" type="body" sz="quarter"/>
          </p:nvPr>
        </p:nvSpPr>
        <p:spPr>
          <a:xfrm rot="0" flipH="false" flipV="false">
            <a:off x="8877600" y="6314400"/>
            <a:ext cx="270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r">
              <a:lnSpc>
                <a:spcPct val="100000"/>
              </a:lnSpc>
              <a:defRPr sz="1000" b="false" i="false" u="none" strike="noStrike" spc="0">
                <a:solidFill>
                  <a:srgbClr val="898989">
                    <a:alpha val="100000"/>
                  </a:srgbClr>
                </a:solidFill>
                <a:latin typeface="Noto Sans SC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9" type="body" sz="quarter"/>
          </p:nvPr>
        </p:nvSpPr>
        <p:spPr>
          <a:xfrm rot="0" flipH="false" flipV="false">
            <a:off x="612000" y="6314400"/>
            <a:ext cx="270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l">
              <a:lnSpc>
                <a:spcPct val="100000"/>
              </a:lnSpc>
              <a:defRPr sz="1000" b="false" i="false" u="none" strike="noStrike" spc="0">
                <a:solidFill>
                  <a:srgbClr val="89898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40" type="body" sz="quarter" hasCustomPrompt="true"/>
          </p:nvPr>
        </p:nvSpPr>
        <p:spPr>
          <a:xfrm rot="0" flipH="false" flipV="false">
            <a:off x="4116000" y="6314400"/>
            <a:ext cx="396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ctr">
              <a:lnSpc>
                <a:spcPct val="100000"/>
              </a:lnSpc>
              <a:defRPr sz="10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898989"/>
                </a:solidFill>
                <a:latin typeface="Noto Sans SC"/>
                <a:ea typeface="Noto Sans SC"/>
                <a:cs typeface="Noto Sans SC"/>
                <a:sym typeface="Noto Sans SC"/>
              </a:rPr>
              <a:t>页脚</a:t>
            </a:r>
          </a:p>
        </p:txBody>
      </p:sp>
      <p:sp>
        <p:nvSpPr>
          <p:cNvPr name="AutoShape 4" id="4"/>
          <p:cNvSpPr/>
          <p:nvPr>
            <p:ph idx="41" type="body" sz="quarter"/>
          </p:nvPr>
        </p:nvSpPr>
        <p:spPr>
          <a:xfrm rot="0" flipH="false" flipV="false">
            <a:off x="8877600" y="6314400"/>
            <a:ext cx="270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r">
              <a:lnSpc>
                <a:spcPct val="100000"/>
              </a:lnSpc>
              <a:defRPr sz="1000" b="false" i="false" u="none" strike="noStrike" spc="0">
                <a:solidFill>
                  <a:srgbClr val="898989">
                    <a:alpha val="100000"/>
                  </a:srgbClr>
                </a:solidFill>
                <a:latin typeface="Noto Sans SC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2" type="pic" sz="quarter"/>
          </p:nvPr>
        </p:nvSpPr>
        <p:spPr>
          <a:xfrm rot="0" flipH="false" flipV="false">
            <a:off x="608400" y="1555200"/>
            <a:ext cx="5233077" cy="460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3" type="body" sz="quarter" hasCustomPrompt="true"/>
          </p:nvPr>
        </p:nvSpPr>
        <p:spPr>
          <a:xfrm rot="0" flipH="false" flipV="false">
            <a:off x="6350400" y="1555200"/>
            <a:ext cx="5227200" cy="460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0000" rIns="90000" tIns="46800" bIns="46800">
            <a:spAutoFit/>
          </a:bodyPr>
          <a:lstStyle>
            <a:lvl1pPr algn="l">
              <a:lnSpc>
                <a:spcPct val="133333"/>
              </a:lnSpc>
              <a:defRPr sz="1600" b="false" i="false" u="none" strike="noStrike" spc="100">
                <a:solidFill>
                  <a:srgbClr val="59595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33333"/>
              </a:lnSpc>
            </a:pPr>
            <a:r>
              <a:rPr lang="en-US" b="false" i="false" strike="noStrike" u="none" sz="16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单击此处编辑母版文本样式</a:t>
            </a:r>
          </a:p>
        </p:txBody>
      </p:sp>
      <p:sp>
        <p:nvSpPr>
          <p:cNvPr name="AutoShape 4" id="4"/>
          <p:cNvSpPr/>
          <p:nvPr>
            <p:ph idx="44" type="body" sz="quarter"/>
          </p:nvPr>
        </p:nvSpPr>
        <p:spPr>
          <a:xfrm rot="0" flipH="false" flipV="false">
            <a:off x="612000" y="6314400"/>
            <a:ext cx="270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l">
              <a:lnSpc>
                <a:spcPct val="100000"/>
              </a:lnSpc>
              <a:defRPr sz="1000" b="false" i="false" u="none" strike="noStrike" spc="0">
                <a:solidFill>
                  <a:srgbClr val="89898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45" type="body" sz="quarter" hasCustomPrompt="true"/>
          </p:nvPr>
        </p:nvSpPr>
        <p:spPr>
          <a:xfrm rot="0" flipH="false" flipV="false">
            <a:off x="4116000" y="6314400"/>
            <a:ext cx="396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ctr">
              <a:lnSpc>
                <a:spcPct val="100000"/>
              </a:lnSpc>
              <a:defRPr sz="10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898989"/>
                </a:solidFill>
                <a:latin typeface="Noto Sans SC"/>
                <a:ea typeface="Noto Sans SC"/>
                <a:cs typeface="Noto Sans SC"/>
                <a:sym typeface="Noto Sans SC"/>
              </a:rPr>
              <a:t>页脚</a:t>
            </a:r>
          </a:p>
        </p:txBody>
      </p:sp>
      <p:sp>
        <p:nvSpPr>
          <p:cNvPr name="AutoShape 6" id="6"/>
          <p:cNvSpPr/>
          <p:nvPr>
            <p:ph idx="46" type="body" sz="quarter"/>
          </p:nvPr>
        </p:nvSpPr>
        <p:spPr>
          <a:xfrm rot="0" flipH="false" flipV="false">
            <a:off x="8877600" y="6314400"/>
            <a:ext cx="270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r">
              <a:lnSpc>
                <a:spcPct val="100000"/>
              </a:lnSpc>
              <a:defRPr sz="1000" b="false" i="false" u="none" strike="noStrike" spc="0">
                <a:solidFill>
                  <a:srgbClr val="898989">
                    <a:alpha val="100000"/>
                  </a:srgbClr>
                </a:solidFill>
                <a:latin typeface="Noto Sans SC"/>
              </a:defRPr>
            </a:lvl1pPr>
          </a:lstStyle>
          <a:p>
            <a:pPr algn="r"/>
            <a:endParaRPr/>
          </a:p>
        </p:txBody>
      </p:sp>
      <p:sp>
        <p:nvSpPr>
          <p:cNvPr name="AutoShape 7" id="7"/>
          <p:cNvSpPr/>
          <p:nvPr>
            <p:ph idx="47" type="body" sz="quarter" hasCustomPrompt="true"/>
          </p:nvPr>
        </p:nvSpPr>
        <p:spPr>
          <a:xfrm rot="0" flipH="false" flipV="false">
            <a:off x="608400" y="608400"/>
            <a:ext cx="10969200" cy="635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0170" rIns="90170" tIns="46990" bIns="46990">
            <a:spAutoFit/>
          </a:bodyPr>
          <a:lstStyle>
            <a:lvl1pPr algn="l">
              <a:lnSpc>
                <a:spcPct val="100000"/>
              </a:lnSpc>
              <a:defRPr sz="3600" b="false" i="false" u="none" strike="noStrike" spc="300">
                <a:solidFill>
                  <a:srgbClr val="262626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 spc="300">
                <a:solidFill>
                  <a:srgbClr val="262626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8" type="body" sz="quarter" hasCustomPrompt="true"/>
          </p:nvPr>
        </p:nvSpPr>
        <p:spPr>
          <a:xfrm rot="0" flipH="false" flipV="false">
            <a:off x="10234800" y="914400"/>
            <a:ext cx="1044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0000" rIns="90000" tIns="46800" bIns="46800">
            <a:spAutoFit/>
          </a:bodyPr>
          <a:lstStyle>
            <a:lvl1pPr algn="l">
              <a:lnSpc>
                <a:spcPct val="100000"/>
              </a:lnSpc>
              <a:defRPr sz="2800" b="false" i="false" u="none" strike="noStrike" spc="300">
                <a:solidFill>
                  <a:srgbClr val="262626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2800" spc="300">
                <a:solidFill>
                  <a:srgbClr val="262626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单击此处编辑标题</a:t>
            </a:r>
          </a:p>
        </p:txBody>
      </p:sp>
      <p:sp>
        <p:nvSpPr>
          <p:cNvPr name="AutoShape 3" id="3"/>
          <p:cNvSpPr/>
          <p:nvPr>
            <p:ph idx="49" type="body" sz="quarter" hasCustomPrompt="true"/>
          </p:nvPr>
        </p:nvSpPr>
        <p:spPr>
          <a:xfrm rot="0" flipH="false" flipV="false">
            <a:off x="914400" y="914400"/>
            <a:ext cx="9169200" cy="5029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46800" rIns="46800" tIns="46800" bIns="46800">
            <a:spAutoFit/>
          </a:bodyPr>
          <a:lstStyle>
            <a:lvl1pPr algn="l">
              <a:lnSpc>
                <a:spcPct val="133333"/>
              </a:lnSpc>
              <a:defRPr sz="1800" b="false" i="false" u="none" strike="noStrike" spc="300">
                <a:solidFill>
                  <a:srgbClr val="59595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-228600" marL="228600">
              <a:lnSpc>
                <a:spcPct val="133333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800" spc="30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单击此处编辑母版文本样式</a:t>
            </a:r>
          </a:p>
          <a:p>
            <a:pPr algn="l" indent="-203200" lvl="1" marL="6096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600" spc="30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第二级</a:t>
            </a:r>
          </a:p>
          <a:p>
            <a:pPr algn="l" indent="-203200" lvl="2" marL="10160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600" spc="30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第三级</a:t>
            </a:r>
          </a:p>
          <a:p>
            <a:pPr algn="l" indent="-177800" lvl="3" marL="12446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400" spc="30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第四级</a:t>
            </a:r>
          </a:p>
          <a:p>
            <a:pPr algn="l" indent="-177800" lvl="4" marL="16002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400" spc="30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第五级</a:t>
            </a:r>
          </a:p>
        </p:txBody>
      </p:sp>
      <p:sp>
        <p:nvSpPr>
          <p:cNvPr name="AutoShape 4" id="4"/>
          <p:cNvSpPr/>
          <p:nvPr>
            <p:ph idx="50" type="body" sz="quarter"/>
          </p:nvPr>
        </p:nvSpPr>
        <p:spPr>
          <a:xfrm rot="0" flipH="false" flipV="false">
            <a:off x="612000" y="6314400"/>
            <a:ext cx="270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l">
              <a:lnSpc>
                <a:spcPct val="100000"/>
              </a:lnSpc>
              <a:defRPr sz="1000" b="false" i="false" u="none" strike="noStrike" spc="0">
                <a:solidFill>
                  <a:srgbClr val="89898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51" type="body" sz="quarter" hasCustomPrompt="true"/>
          </p:nvPr>
        </p:nvSpPr>
        <p:spPr>
          <a:xfrm rot="0" flipH="false" flipV="false">
            <a:off x="4116000" y="6314400"/>
            <a:ext cx="396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ctr">
              <a:lnSpc>
                <a:spcPct val="100000"/>
              </a:lnSpc>
              <a:defRPr sz="10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898989"/>
                </a:solidFill>
                <a:latin typeface="Noto Sans SC"/>
                <a:ea typeface="Noto Sans SC"/>
                <a:cs typeface="Noto Sans SC"/>
                <a:sym typeface="Noto Sans SC"/>
              </a:rPr>
              <a:t>页脚</a:t>
            </a:r>
          </a:p>
        </p:txBody>
      </p:sp>
      <p:sp>
        <p:nvSpPr>
          <p:cNvPr name="AutoShape 6" id="6"/>
          <p:cNvSpPr/>
          <p:nvPr>
            <p:ph idx="52" type="body" sz="quarter"/>
          </p:nvPr>
        </p:nvSpPr>
        <p:spPr>
          <a:xfrm rot="0" flipH="false" flipV="false">
            <a:off x="8877600" y="6314400"/>
            <a:ext cx="270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r">
              <a:lnSpc>
                <a:spcPct val="100000"/>
              </a:lnSpc>
              <a:defRPr sz="1000" b="false" i="false" u="none" strike="noStrike" spc="0">
                <a:solidFill>
                  <a:srgbClr val="898989">
                    <a:alpha val="100000"/>
                  </a:srgbClr>
                </a:solidFill>
                <a:latin typeface="Noto Sans SC"/>
              </a:defRPr>
            </a:lvl1pPr>
          </a:lstStyle>
          <a:p>
            <a:pPr algn="r"/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3" type="body" sz="quarter"/>
          </p:nvPr>
        </p:nvSpPr>
        <p:spPr>
          <a:xfrm rot="0" flipH="false" flipV="false">
            <a:off x="612000" y="6314400"/>
            <a:ext cx="270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l">
              <a:lnSpc>
                <a:spcPct val="100000"/>
              </a:lnSpc>
              <a:defRPr sz="1000" b="false" i="false" u="none" strike="noStrike" spc="0">
                <a:solidFill>
                  <a:srgbClr val="89898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54" type="body" sz="quarter" hasCustomPrompt="true"/>
          </p:nvPr>
        </p:nvSpPr>
        <p:spPr>
          <a:xfrm rot="0" flipH="false" flipV="false">
            <a:off x="4116000" y="6314400"/>
            <a:ext cx="396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ctr">
              <a:lnSpc>
                <a:spcPct val="100000"/>
              </a:lnSpc>
              <a:defRPr sz="10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898989"/>
                </a:solidFill>
                <a:latin typeface="Noto Sans SC"/>
                <a:ea typeface="Noto Sans SC"/>
                <a:cs typeface="Noto Sans SC"/>
                <a:sym typeface="Noto Sans SC"/>
              </a:rPr>
              <a:t>页脚</a:t>
            </a:r>
          </a:p>
        </p:txBody>
      </p:sp>
      <p:sp>
        <p:nvSpPr>
          <p:cNvPr name="AutoShape 4" id="4"/>
          <p:cNvSpPr/>
          <p:nvPr>
            <p:ph idx="55" type="body" sz="quarter"/>
          </p:nvPr>
        </p:nvSpPr>
        <p:spPr>
          <a:xfrm rot="0" flipH="false" flipV="false">
            <a:off x="8877600" y="6314400"/>
            <a:ext cx="270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r">
              <a:lnSpc>
                <a:spcPct val="100000"/>
              </a:lnSpc>
              <a:defRPr sz="1000" b="false" i="false" u="none" strike="noStrike" spc="0">
                <a:solidFill>
                  <a:srgbClr val="898989">
                    <a:alpha val="100000"/>
                  </a:srgbClr>
                </a:solidFill>
                <a:latin typeface="Noto Sans SC"/>
              </a:defRPr>
            </a:lvl1pPr>
          </a:lstStyle>
          <a:p>
            <a:pPr algn="r"/>
            <a:endParaRPr/>
          </a:p>
        </p:txBody>
      </p:sp>
      <p:sp>
        <p:nvSpPr>
          <p:cNvPr name="AutoShape 5" id="5"/>
          <p:cNvSpPr/>
          <p:nvPr>
            <p:ph idx="56" type="body" sz="quarter" hasCustomPrompt="true"/>
          </p:nvPr>
        </p:nvSpPr>
        <p:spPr>
          <a:xfrm rot="0" flipH="false" flipV="false">
            <a:off x="608400" y="774000"/>
            <a:ext cx="10972800" cy="5482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0000" rIns="90000" tIns="46800" bIns="46800">
            <a:spAutoFit/>
          </a:bodyPr>
          <a:lstStyle>
            <a:lvl1pPr algn="l">
              <a:lnSpc>
                <a:spcPct val="133333"/>
              </a:lnSpc>
              <a:defRPr sz="1800" b="false" i="false" u="none" strike="noStrike" spc="100">
                <a:solidFill>
                  <a:srgbClr val="59595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-228600" marL="228600">
              <a:lnSpc>
                <a:spcPct val="133333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8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单击此处编辑母版文本样式</a:t>
            </a:r>
          </a:p>
          <a:p>
            <a:pPr algn="l" indent="-203200" lvl="1" marL="6096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6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第二级</a:t>
            </a:r>
          </a:p>
          <a:p>
            <a:pPr algn="l" indent="-203200" lvl="2" marL="10160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6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第三级</a:t>
            </a:r>
          </a:p>
          <a:p>
            <a:pPr algn="l" indent="-177800" lvl="3" marL="12446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4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第四级</a:t>
            </a:r>
          </a:p>
          <a:p>
            <a:pPr algn="l" indent="-177800" lvl="4" marL="1600200">
              <a:lnSpc>
                <a:spcPct val="116666"/>
              </a:lnSpc>
              <a:buClr>
                <a:srgbClr val="595959"/>
              </a:buClr>
              <a:buChar char="•"/>
            </a:pPr>
            <a:r>
              <a:rPr lang="en-US" b="false" i="false" strike="noStrike" u="none" sz="1400" spc="15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第五级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7" type="body" sz="quarter"/>
          </p:nvPr>
        </p:nvSpPr>
        <p:spPr>
          <a:xfrm rot="0" flipH="false" flipV="false">
            <a:off x="612000" y="6314400"/>
            <a:ext cx="270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l">
              <a:lnSpc>
                <a:spcPct val="100000"/>
              </a:lnSpc>
              <a:defRPr sz="1000" b="false" i="false" u="none" strike="noStrike" spc="0">
                <a:solidFill>
                  <a:srgbClr val="89898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58" type="body" sz="quarter" hasCustomPrompt="true"/>
          </p:nvPr>
        </p:nvSpPr>
        <p:spPr>
          <a:xfrm rot="0" flipH="false" flipV="false">
            <a:off x="4116000" y="6314400"/>
            <a:ext cx="396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ctr">
              <a:lnSpc>
                <a:spcPct val="100000"/>
              </a:lnSpc>
              <a:defRPr sz="10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898989"/>
                </a:solidFill>
                <a:latin typeface="Noto Sans SC"/>
                <a:ea typeface="Noto Sans SC"/>
                <a:cs typeface="Noto Sans SC"/>
                <a:sym typeface="Noto Sans SC"/>
              </a:rPr>
              <a:t>页脚</a:t>
            </a:r>
          </a:p>
        </p:txBody>
      </p:sp>
      <p:sp>
        <p:nvSpPr>
          <p:cNvPr name="AutoShape 4" id="4"/>
          <p:cNvSpPr/>
          <p:nvPr>
            <p:ph idx="59" type="body" sz="quarter"/>
          </p:nvPr>
        </p:nvSpPr>
        <p:spPr>
          <a:xfrm rot="0" flipH="false" flipV="false">
            <a:off x="8877600" y="6314400"/>
            <a:ext cx="2700000" cy="241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spAutoFit/>
          </a:bodyPr>
          <a:lstStyle>
            <a:lvl1pPr algn="r">
              <a:lnSpc>
                <a:spcPct val="100000"/>
              </a:lnSpc>
              <a:defRPr sz="1000" b="false" i="false" u="none" strike="noStrike" spc="0">
                <a:solidFill>
                  <a:srgbClr val="898989">
                    <a:alpha val="100000"/>
                  </a:srgbClr>
                </a:solidFill>
                <a:latin typeface="Noto Sans SC"/>
              </a:defRPr>
            </a:lvl1pPr>
          </a:lstStyle>
          <a:p>
            <a:pPr algn="r"/>
            <a:endParaRPr/>
          </a:p>
        </p:txBody>
      </p:sp>
      <p:sp>
        <p:nvSpPr>
          <p:cNvPr name="AutoShape 5" id="5"/>
          <p:cNvSpPr/>
          <p:nvPr>
            <p:ph idx="60" type="body" sz="quarter" hasCustomPrompt="true"/>
          </p:nvPr>
        </p:nvSpPr>
        <p:spPr>
          <a:xfrm rot="0" flipH="false" flipV="false">
            <a:off x="1198800" y="2484000"/>
            <a:ext cx="9799200" cy="1003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0000" rIns="90000" tIns="46800" bIns="46800">
            <a:spAutoFit/>
          </a:bodyPr>
          <a:lstStyle>
            <a:lvl1pPr algn="ctr">
              <a:lnSpc>
                <a:spcPct val="100000"/>
              </a:lnSpc>
              <a:defRPr sz="6000" b="false" i="false" u="none" strike="noStrike" spc="300">
                <a:solidFill>
                  <a:srgbClr val="262626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6000" spc="300">
                <a:solidFill>
                  <a:srgbClr val="262626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单击此处编辑标题</a:t>
            </a:r>
          </a:p>
        </p:txBody>
      </p:sp>
      <p:sp>
        <p:nvSpPr>
          <p:cNvPr name="AutoShape 6" id="6"/>
          <p:cNvSpPr/>
          <p:nvPr>
            <p:ph idx="61" type="body" sz="quarter" hasCustomPrompt="true"/>
          </p:nvPr>
        </p:nvSpPr>
        <p:spPr>
          <a:xfrm rot="0" flipH="false" flipV="false">
            <a:off x="1198800" y="3560400"/>
            <a:ext cx="9799200" cy="471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0000" rIns="90000" tIns="46800" bIns="46800">
            <a:spAutoFit/>
          </a:bodyPr>
          <a:lstStyle>
            <a:lvl1pPr algn="ctr">
              <a:lnSpc>
                <a:spcPct val="108333"/>
              </a:lnSpc>
              <a:defRPr sz="2400" b="false" i="false" u="none" strike="noStrike" spc="200">
                <a:solidFill>
                  <a:srgbClr val="59595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8333"/>
              </a:lnSpc>
            </a:pPr>
            <a:r>
              <a:rPr lang="en-US" b="false" i="false" strike="noStrike" u="none" sz="2400" spc="20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10" Target="../slideLayouts/slideLayout20.xml" Type="http://schemas.openxmlformats.org/officeDocument/2006/relationships/slideLayout"/><Relationship Id="rId11" Target="../slideLayouts/slideLayout21.xml" Type="http://schemas.openxmlformats.org/officeDocument/2006/relationships/slideLayout"/><Relationship Id="rId12" Target="../slideLayouts/slideLayout22.xml" Type="http://schemas.openxmlformats.org/officeDocument/2006/relationships/slideLayout"/><Relationship Id="rId2" Target="../slideLayouts/slideLayout12.xml" Type="http://schemas.openxmlformats.org/officeDocument/2006/relationships/slideLayout"/><Relationship Id="rId3" Target="../slideLayouts/slideLayout13.xml" Type="http://schemas.openxmlformats.org/officeDocument/2006/relationships/slideLayout"/><Relationship Id="rId4" Target="../slideLayouts/slideLayout14.xml" Type="http://schemas.openxmlformats.org/officeDocument/2006/relationships/slideLayout"/><Relationship Id="rId5" Target="../slideLayouts/slideLayout15.xml" Type="http://schemas.openxmlformats.org/officeDocument/2006/relationships/slideLayout"/><Relationship Id="rId6" Target="../slideLayouts/slideLayout16.xml" Type="http://schemas.openxmlformats.org/officeDocument/2006/relationships/slideLayout"/><Relationship Id="rId7" Target="../slideLayouts/slideLayout17.xml" Type="http://schemas.openxmlformats.org/officeDocument/2006/relationships/slideLayout"/><Relationship Id="rId8" Target="../slideLayouts/slideLayout18.xml" Type="http://schemas.openxmlformats.org/officeDocument/2006/relationships/slideLayout"/><Relationship Id="rId9" Target="../slideLayouts/slideLayout1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WPS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  <p:sldLayoutId id="2157483700" r:id="rId3"/>
    <p:sldLayoutId id="2157483701" r:id="rId4"/>
    <p:sldLayoutId id="2157483702" r:id="rId5"/>
    <p:sldLayoutId id="2157483703" r:id="rId6"/>
    <p:sldLayoutId id="2157483704" r:id="rId7"/>
    <p:sldLayoutId id="2157483705" r:id="rId8"/>
    <p:sldLayoutId id="2157483706" r:id="rId9"/>
    <p:sldLayoutId id="2157483707" r:id="rId10"/>
    <p:sldLayoutId id="2157483708" r:id="rId11"/>
    <p:sldLayoutId id="215748370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pn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notesSlides/notesSlide6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notesSlides/notesSlide12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7.jpeg" Type="http://schemas.openxmlformats.org/officeDocument/2006/relationships/image"/><Relationship Id="rId3" Target="../notesSlides/notesSlide13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notesSlides/notesSlide15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Relationship Id="rId8" Target="../notesSlides/notesSlide16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7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7.png" Type="http://schemas.openxmlformats.org/officeDocument/2006/relationships/image"/><Relationship Id="rId3" Target="../media/image28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9.png" Type="http://schemas.openxmlformats.org/officeDocument/2006/relationships/image"/><Relationship Id="rId3" Target="../media/image30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Relationship Id="rId6" Target="../notesSlides/notesSlide18.xml" Type="http://schemas.openxmlformats.org/officeDocument/2006/relationships/notesSlide"/></Relationships>
</file>

<file path=ppt/slides/_rels/slide2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5.png" Type="http://schemas.openxmlformats.org/officeDocument/2006/relationships/image"/><Relationship Id="rId3" Target="../media/image3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462280" y="245110"/>
            <a:ext cx="2946400" cy="584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3200">
                <a:solidFill>
                  <a:srgbClr val="000000"/>
                </a:solidFill>
                <a:effectLst>
                  <a:outerShdw dir="2700000" dist="12700" blurRad="38100" algn="tl" rotWithShape="false">
                    <a:srgbClr val="000000">
                      <a:alpha val="40000"/>
                    </a:srgbClr>
                  </a:outerShdw>
                </a:effectLst>
                <a:latin typeface="Noto Sans SC"/>
                <a:ea typeface="Noto Sans SC"/>
                <a:cs typeface="Noto Sans SC"/>
                <a:sym typeface="Noto Sans SC"/>
              </a:rPr>
              <a:t>SIGMOD 2025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327908" y="2064863"/>
            <a:ext cx="10033000" cy="1219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RWalks: Random Walks as Attribute Diffusers for Filtered Vector Search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327908" y="3538577"/>
            <a:ext cx="9372600" cy="1828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ANAS AIT AOMAR, 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Mohammed VI Polytechnic University, Morocco  </a:t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KARIMA ECHIHABI,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Mohammed VI Polytechnic University, Morocco  </a:t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MARCO ARNOBALDI,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Oracle Labs, Switzerland  IOANNIS </a:t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ALAGIANNIS, 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Oracle Labs, </a:t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Switzerland  DAMIEN HILLOULIN,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Oracle Labs, </a:t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Switzerland  MANAL CHERKAOUI,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Mohammed VI Polytechnic University, Morocco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64515" y="243840"/>
            <a:ext cx="2594265" cy="596900"/>
          </a:xfrm>
          <a:prstGeom prst="rect">
            <a:avLst/>
          </a:prstGeom>
          <a:solidFill>
            <a:srgbClr val="D4F4F2">
              <a:alpha val="100000"/>
            </a:srgbClr>
          </a:solidFill>
          <a:ln w="12700" cap="flat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Background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64515" y="1226820"/>
            <a:ext cx="5054600" cy="1816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41666"/>
              </a:lnSpc>
              <a:defRPr/>
            </a:pPr>
            <a:r>
              <a:rPr lang="en-US" b="tru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Everything is an Embedding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Text: Word2Vec, BERT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, text-embedding-3-small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Images: CNN, 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ResNet, 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CLI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Audio: VGGish, CLAP, Audio-Spectrogram-Transformer</a:t>
            </a:r>
          </a:p>
          <a:p>
            <a:pPr algn="l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Code: CodeBERT, CodeT5, Code2Vec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-8801" b="-8801"/>
          <a:stretch>
            <a:fillRect/>
          </a:stretch>
        </p:blipFill>
        <p:spPr>
          <a:xfrm rot="0" flipH="false" flipV="false">
            <a:off x="1167575" y="3968467"/>
            <a:ext cx="9856850" cy="2473424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564515" y="3429000"/>
            <a:ext cx="1422400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Example: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64515" y="243840"/>
            <a:ext cx="2594265" cy="596900"/>
          </a:xfrm>
          <a:prstGeom prst="rect">
            <a:avLst/>
          </a:prstGeom>
          <a:solidFill>
            <a:srgbClr val="D4F4F2">
              <a:alpha val="100000"/>
            </a:srgbClr>
          </a:solidFill>
          <a:ln w="12700" cap="flat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Background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64515" y="1242351"/>
            <a:ext cx="29718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Vector Search Workflow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903734" y="1623351"/>
            <a:ext cx="9913062" cy="5052930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64515" y="243840"/>
            <a:ext cx="2594265" cy="596900"/>
          </a:xfrm>
          <a:prstGeom prst="rect">
            <a:avLst/>
          </a:prstGeom>
          <a:solidFill>
            <a:srgbClr val="D4F4F2">
              <a:alpha val="100000"/>
            </a:srgbClr>
          </a:solidFill>
          <a:ln w="12700" cap="flat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Background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64515" y="1268831"/>
            <a:ext cx="29718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Filtered Vector Search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2548844" y="2077922"/>
            <a:ext cx="7094313" cy="4470494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64515" y="243840"/>
            <a:ext cx="5177697" cy="596900"/>
          </a:xfrm>
          <a:prstGeom prst="rect">
            <a:avLst/>
          </a:prstGeom>
          <a:solidFill>
            <a:srgbClr val="D4F4F2">
              <a:alpha val="100000"/>
            </a:srgbClr>
          </a:solidFill>
          <a:ln w="12700" cap="flat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Challenges &amp; Contribution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64515" y="1151654"/>
            <a:ext cx="10185400" cy="1600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Core Challenges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The "Impossible Triangle":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 Existing methods fail to balance </a:t>
            </a: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Performance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Generality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, and </a:t>
            </a: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Practicality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 (low maintenance cost).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State-of-the-Art is Unsatisfactory: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 Ad-hoc methods are unstable; Hybrid methods are impractical and alter the index.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64515" y="3429000"/>
            <a:ext cx="10185400" cy="2209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Key Contributions: The RWalks Framework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A Novel Index-Agnostic Approach: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 Enhances graph indexes without altering their structure, ensuring Generality and Practicality.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Core Innovation - Attribute Diffusion: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 Uses Random Walks to create dense, neighborhood-aware attribute representations.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Smart Search Algorithm: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 Employs a Hybrid Distance (for recall) and Pruning Heuristics (for QPS).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SOTA Performance: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 Achieved up to </a:t>
            </a: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2x faster search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 with </a:t>
            </a: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76x faster indexing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 and high robustness.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64515" y="243840"/>
            <a:ext cx="3802537" cy="584200"/>
          </a:xfrm>
          <a:prstGeom prst="rect">
            <a:avLst/>
          </a:prstGeom>
          <a:solidFill>
            <a:srgbClr val="D4F4F2">
              <a:alpha val="100000"/>
            </a:srgbClr>
          </a:solidFill>
          <a:ln w="12700" cap="flat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Existing Solutions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64515" y="2360615"/>
            <a:ext cx="10642600" cy="952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Filter-Then-Search (FTS):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How It Works: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Query Filter -&gt; [Attribute Index Scan] -&gt; Filtered ID List -&gt; [Sequential Search] -&gt; Final Results (k)</a:t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Drawback: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Suffers from </a:t>
            </a: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high latency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with high-specificity filters.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64515" y="3630179"/>
            <a:ext cx="11214100" cy="952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Search-Then-Filter (STF): 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How It Works: 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Query Vector -&gt; [ANN Search (Top k')] -&gt; k' Candidates -&gt; [Attribute Filter] -&gt; Final Results (≤k)</a:t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Drawback: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Suffers from </a:t>
            </a: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low recall 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with low-specificity filters.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4515" y="4839537"/>
            <a:ext cx="9664700" cy="1257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HNSW-Inline</a:t>
            </a:r>
            <a:r>
              <a:rPr lang="en-US" b="true" i="false" strike="noStrike" u="none" sz="18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: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How It Works:  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The HNSW-Inline method integrates filtering by enforcing that only neighbors matching the query's attributes are considered candidates at each step of the graph search.</a:t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Drawback: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 Suffers from </a:t>
            </a: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high latency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 (becomes extremely slow) with low-specificity filters.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64515" y="1084898"/>
            <a:ext cx="22987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Ad-hoc methods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64515" y="1722756"/>
            <a:ext cx="106426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Core Idea: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Use standard vector indexes as-is; apply filtering as a separate, external step.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64515" y="243840"/>
            <a:ext cx="3802537" cy="584200"/>
          </a:xfrm>
          <a:prstGeom prst="rect">
            <a:avLst/>
          </a:prstGeom>
          <a:solidFill>
            <a:srgbClr val="D4F4F2">
              <a:alpha val="100000"/>
            </a:srgbClr>
          </a:solidFill>
          <a:ln w="12700" cap="flat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Existing Solutions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64515" y="1084898"/>
            <a:ext cx="22987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Hybrid Methods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64515" y="1722756"/>
            <a:ext cx="103251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Core Idea: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Integrate attribute information directly into the index construction.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4515" y="2362200"/>
            <a:ext cx="10477500" cy="952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HQANN: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How</a:t>
            </a: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 it works</a:t>
            </a: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: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 Builds HNSW graph using a </a:t>
            </a: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Fusion Distance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 (Vector + Attribute).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Drawback: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"Polluted" index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, loses generality, high maintenance cost.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64515" y="3751290"/>
            <a:ext cx="8597900" cy="952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Filtered-DiskANN: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How: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 Modifies graph pruning rules to be </a:t>
            </a: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attribute-aware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Drawback: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Altered structure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, impacts unfiltered search, difficult updates.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64515" y="5140380"/>
            <a:ext cx="6718300" cy="952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ACORN: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How: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 Builds an </a:t>
            </a: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overly dense graph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 by expanding neighbor lists (M * γ).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Drawback: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Massive index size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 &amp; </a:t>
            </a: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extreme indexing times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64515" y="243840"/>
            <a:ext cx="3802537" cy="584200"/>
          </a:xfrm>
          <a:prstGeom prst="rect">
            <a:avLst/>
          </a:prstGeom>
          <a:solidFill>
            <a:srgbClr val="D4F4F2">
              <a:alpha val="100000"/>
            </a:srgbClr>
          </a:solidFill>
          <a:ln w="12700" cap="flat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Existing Solutions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410843" y="1308405"/>
            <a:ext cx="9370315" cy="4858682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64515" y="243840"/>
            <a:ext cx="2794531" cy="584200"/>
          </a:xfrm>
          <a:prstGeom prst="rect">
            <a:avLst/>
          </a:prstGeom>
          <a:solidFill>
            <a:srgbClr val="D4F4F2">
              <a:alpha val="100000"/>
            </a:srgbClr>
          </a:solidFill>
          <a:ln w="12700" cap="flat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Preliminaries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64515" y="1084898"/>
            <a:ext cx="15240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Definitions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564515" y="1722756"/>
            <a:ext cx="9553886" cy="944593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564515" y="2924208"/>
            <a:ext cx="10277806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Example: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Attributes: [Red, Blue, T-shirt, Pants] ,  "A blue T-shirt": [0, 1, 1, 0] ,  "A Red Pants":    [1, 0, 0, 1]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564515" y="4001801"/>
            <a:ext cx="9553886" cy="2095341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64515" y="243840"/>
            <a:ext cx="2794531" cy="584200"/>
          </a:xfrm>
          <a:prstGeom prst="rect">
            <a:avLst/>
          </a:prstGeom>
          <a:solidFill>
            <a:srgbClr val="D4F4F2">
              <a:alpha val="100000"/>
            </a:srgbClr>
          </a:solidFill>
          <a:ln w="12700" cap="flat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Preliminaries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564515" y="1305169"/>
            <a:ext cx="10890591" cy="4975768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64515" y="243840"/>
            <a:ext cx="2794531" cy="584200"/>
          </a:xfrm>
          <a:prstGeom prst="rect">
            <a:avLst/>
          </a:prstGeom>
          <a:solidFill>
            <a:srgbClr val="D4F4F2">
              <a:alpha val="100000"/>
            </a:srgbClr>
          </a:solidFill>
          <a:ln w="12700" cap="flat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Preliminaries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64515" y="1137920"/>
            <a:ext cx="31877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Navigable Small World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64515" y="1756323"/>
            <a:ext cx="5598256" cy="2171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Incremental Construction Process:</a:t>
            </a:r>
            <a:r>
              <a:rPr lang="en-US" b="false" i="false" strike="noStrike" u="none" sz="14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77800" marL="177800">
              <a:lnSpc>
                <a:spcPct val="125000"/>
              </a:lnSpc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Graph starts from empty set</a:t>
            </a:r>
            <a:r>
              <a:rPr lang="en-US" b="false" i="false" strike="noStrike" u="none" sz="14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r>
              <a:rPr lang="en-US" b="false" i="false" strike="noStrike" u="none" sz="14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4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For each new vector q to be inserted:</a:t>
            </a:r>
            <a:r>
              <a:rPr lang="en-US" b="false" i="false" strike="noStrike" u="none" sz="14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lvl="1" marL="635000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Use k-NN search in existing nodes to find k nearest neighbors</a:t>
            </a:r>
            <a:r>
              <a:rPr lang="en-US" b="false" i="false" strike="noStrike" u="none" sz="14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r>
              <a:rPr lang="en-US" b="false" i="false" strike="noStrike" u="none" sz="14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lvl="1" marL="635000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b="false" i="false" strike="noStrike" u="none" sz="14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Establish bidirectional edges between q and these k neighbors</a:t>
            </a:r>
            <a:r>
              <a:rPr lang="en-US" b="false" i="false" strike="noStrike" u="none" sz="14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r>
              <a:rPr lang="en-US" b="false" i="false" strike="noStrike" u="none" sz="14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177800" marL="177800">
              <a:lnSpc>
                <a:spcPct val="125000"/>
              </a:lnSpc>
              <a:buClr>
                <a:srgbClr val="000000"/>
              </a:buClr>
              <a:buFont typeface="+mj-lt"/>
              <a:buAutoNum type="arabicPeriod" startAt="3"/>
            </a:pPr>
            <a:r>
              <a:rPr lang="en-US" b="false" i="false" strike="noStrike" u="none" sz="14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Continue until all vectors are inserted into the graph</a:t>
            </a:r>
            <a:r>
              <a:rPr lang="en-US" b="false" i="false" strike="noStrike" u="none" sz="14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.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9309565" y="2008944"/>
            <a:ext cx="2538114" cy="1563955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5879351" y="2008944"/>
            <a:ext cx="2704465" cy="1666459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463343" y="4237903"/>
            <a:ext cx="5416008" cy="213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Greedy Search Process: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Start at a random entry point, initializing it as the current best.</a:t>
            </a:r>
          </a:p>
          <a:p>
            <a:pPr algn="l" indent="-203200" marL="203200">
              <a:lnSpc>
                <a:spcPct val="125000"/>
              </a:lnSpc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Evaluate all neighbors of the current best node.</a:t>
            </a:r>
          </a:p>
          <a:p>
            <a:pPr algn="l" indent="-203200" marL="203200">
              <a:lnSpc>
                <a:spcPct val="125000"/>
              </a:lnSpc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Move to the closest neighbor if it is better than the current best.</a:t>
            </a:r>
          </a:p>
          <a:p>
            <a:pPr algn="l" indent="-203200" marL="203200">
              <a:lnSpc>
                <a:spcPct val="125000"/>
              </a:lnSpc>
              <a:buClr>
                <a:srgbClr val="000000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Repeat until a local minimum is reached.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5879351" y="4562908"/>
            <a:ext cx="2821473" cy="1483592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 flipH="false" flipV="false">
            <a:off x="9125253" y="4448636"/>
            <a:ext cx="2906737" cy="1528425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64515" y="243840"/>
            <a:ext cx="2794531" cy="584200"/>
          </a:xfrm>
          <a:prstGeom prst="rect">
            <a:avLst/>
          </a:prstGeom>
          <a:solidFill>
            <a:srgbClr val="D4F4F2">
              <a:alpha val="100000"/>
            </a:srgbClr>
          </a:solidFill>
          <a:ln w="12700" cap="flat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Preliminaries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64515" y="1137920"/>
            <a:ext cx="45212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Hierarchical Navigable Small Worlds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7391069" y="4026052"/>
            <a:ext cx="4238965" cy="2384418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564515" y="4414242"/>
            <a:ext cx="6174870" cy="1608039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564515" y="1828800"/>
            <a:ext cx="10210800" cy="213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Construction: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HNSW constructs a </a:t>
            </a: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multi-layer graph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, creating sparse, </a:t>
            </a: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long-range links in upper layers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 and dense, </a:t>
            </a: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short-range links in the bottom layer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 to enable efficient, hierarchical navigation.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Search: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The search first greedily navigates the </a:t>
            </a: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upper layers for rapid, long-distance traversal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, then performs a </a:t>
            </a: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detailed beam search at the bottom layer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 to ensure high-recall, precise results.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64515" y="243840"/>
            <a:ext cx="2794531" cy="584200"/>
          </a:xfrm>
          <a:prstGeom prst="rect">
            <a:avLst/>
          </a:prstGeom>
          <a:solidFill>
            <a:srgbClr val="D4F4F2">
              <a:alpha val="100000"/>
            </a:srgbClr>
          </a:solidFill>
          <a:ln w="12700" cap="flat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Preliminaries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64515" y="1169484"/>
            <a:ext cx="96139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Beam Search at the Bottom Layer (L0):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64515" y="3313777"/>
            <a:ext cx="2095500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2. Iterative Search: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70036" y="3783125"/>
            <a:ext cx="9165863" cy="2743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While C is not empty:</a:t>
            </a:r>
            <a:endParaRPr lang="en-US" sz="1100"/>
          </a:p>
          <a:p>
            <a:pPr algn="l" indent="-203200" lvl="1" marL="6604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Pop </a:t>
            </a: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closest candidate c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from C</a:t>
            </a:r>
          </a:p>
          <a:p>
            <a:pPr algn="l" indent="-203200" lvl="1" marL="6604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Termination Check: If </a:t>
            </a: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dist(c, q) &gt; dist(furthest in W, q)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→ STOP</a:t>
            </a:r>
          </a:p>
          <a:p>
            <a:pPr algn="l" indent="-203200" lvl="1" marL="6604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For each unvisited neighbor n of c:</a:t>
            </a:r>
          </a:p>
          <a:p>
            <a:pPr algn="l" indent="-203200" lvl="2" marL="11176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Mark n as visited (add to V)</a:t>
            </a:r>
          </a:p>
          <a:p>
            <a:pPr algn="l" indent="-203200" lvl="2" marL="11176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Add n to candidate pool C</a:t>
            </a:r>
          </a:p>
          <a:p>
            <a:pPr algn="l" indent="-203200" lvl="2" marL="11176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If </a:t>
            </a: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dist(n, q) &lt; dist(furthest in W, q)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OR </a:t>
            </a: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|W| &lt; ef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:</a:t>
            </a:r>
          </a:p>
          <a:p>
            <a:pPr algn="l" indent="-203200" lvl="3" marL="15748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Add n to result set W</a:t>
            </a:r>
          </a:p>
          <a:p>
            <a:pPr algn="l" indent="-203200" lvl="3" marL="15748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If |W| &gt; ef: remove furthest element from W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64515" y="1815728"/>
            <a:ext cx="10711432" cy="1371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-228600" marL="228600">
              <a:lnSpc>
                <a:spcPct val="125000"/>
              </a:lnSpc>
              <a:buClr>
                <a:srgbClr val="000000"/>
              </a:buClr>
              <a:buFont typeface="+mj-lt"/>
              <a:buAutoNum type="arabicPeriod" startAt="1"/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Initialization: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C (Candidate Pool): </a:t>
            </a: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Priority queue for exploration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, initialized with entry point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W (Result Set): </a:t>
            </a: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Priority queue </a:t>
            </a: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for Result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(max size = ef), initialized with entry point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V (Visited Set): Track visited nodes to avoid cycles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64515" y="243840"/>
            <a:ext cx="5746446" cy="584200"/>
          </a:xfrm>
          <a:prstGeom prst="rect">
            <a:avLst/>
          </a:prstGeom>
          <a:solidFill>
            <a:srgbClr val="D4F4F2">
              <a:alpha val="100000"/>
            </a:srgbClr>
          </a:solidFill>
          <a:ln w="12700" cap="flat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Proposed Approach: RWalks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64515" y="1976995"/>
            <a:ext cx="10820400" cy="4381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HNSW-Inline Filtering: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Modification: Only neighbors satisfying </a:t>
            </a: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[close distance AND filter condition]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enter candidate set W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Purpose: Guarantee all results are valid (no post-filtering needed)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The Fundamental Problem: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Traversal length becomes </a:t>
            </a: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coupled with filter specificity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Concrete Example: Search "red shirts"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 lvl="1" marL="45720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40404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High Specificity (30% red):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lvl="2" marL="1117600">
              <a:lnSpc>
                <a:spcPct val="125000"/>
              </a:lnSpc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Visit 100 nodes → ~30 red shirts → W fills quickly → Search terminates 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 lvl="1" marL="45720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40404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Low Specificity (1% red):  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lvl="2" marL="1117600">
              <a:lnSpc>
                <a:spcPct val="125000"/>
              </a:lnSpc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Visit 100 nodes → ~1 red shirt → W nearly empty → Keep searching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lvl="2" marL="1117600">
              <a:lnSpc>
                <a:spcPct val="125000"/>
              </a:lnSpc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Visit 1000 nodes → ~10 red shirts → W still unfilled → Keep searching  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lvl="2" marL="1117600">
              <a:lnSpc>
                <a:spcPct val="125000"/>
              </a:lnSpc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Visit 10000 nodes → ~100 red shirts → Finally enough! 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64515" y="1250118"/>
            <a:ext cx="55880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Problem 1 - The Specificity/Latency Coupling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64515" y="243840"/>
            <a:ext cx="5746446" cy="584200"/>
          </a:xfrm>
          <a:prstGeom prst="rect">
            <a:avLst/>
          </a:prstGeom>
          <a:solidFill>
            <a:srgbClr val="D4F4F2">
              <a:alpha val="100000"/>
            </a:srgbClr>
          </a:solidFill>
          <a:ln w="12700" cap="flat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Proposed Approach: RWalks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64515" y="1976995"/>
            <a:ext cx="10820400" cy="3771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Key Observation: 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 lvl="1" marL="45720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Popped elements from W may satisfy the query filters!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Twin Priority Queue Mechanism: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 lvl="1" marL="45720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W: Normal candidate set (drives beam search, fixed size = ef)</a:t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Wt: Twin set that collects valid elements popped from W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How It Works: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 lvl="1" marL="45720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1. W operates as standard HNSW (any close neighbor can enter)</a:t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2. When W exceeds ef, remove furthest element</a:t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3. If removed element satisfies filters → add to Wt  </a:t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4. Final result: merge valid elements from W + Wt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64515" y="1250118"/>
            <a:ext cx="55880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RWalks Solution 1 - Twin Priority Queue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64515" y="243840"/>
            <a:ext cx="5746446" cy="584200"/>
          </a:xfrm>
          <a:prstGeom prst="rect">
            <a:avLst/>
          </a:prstGeom>
          <a:solidFill>
            <a:srgbClr val="D4F4F2">
              <a:alpha val="100000"/>
            </a:srgbClr>
          </a:solidFill>
          <a:ln w="12700" cap="flat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Proposed Approach: RWalks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64515" y="1976995"/>
            <a:ext cx="10820400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New Challenge: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Low recall in sparse filter scenarios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64515" y="1250118"/>
            <a:ext cx="55880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Problem 2 - Attribute Sparsity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4515" y="2497953"/>
            <a:ext cx="10820400" cy="952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The Sparsity Problem: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In low-specificity workloads, valid nodes are scattered throughout the graph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Standard beam search may miss entire valid regions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64515" y="3628511"/>
            <a:ext cx="11353800" cy="1562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Example: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lvl="1" marL="6604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Query: Find papers about "quantum computing" (0.5% of database)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lvl="1" marL="6604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Graph traversal path: A → B → C → D → E → F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lvl="1" marL="6604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Valid papers: Scattered at nodes {X, Y, Z} (not on traversal path)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lvl="1" marL="6604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Result: Low recall despite valid papers existing nearby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64515" y="5495411"/>
            <a:ext cx="10820400" cy="914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Root Cause: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Beam search is locally greedy - lacks global awareness of attribute distribution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Need: Guide search toward regions likely to contain valid results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64515" y="243840"/>
            <a:ext cx="5746446" cy="584200"/>
          </a:xfrm>
          <a:prstGeom prst="rect">
            <a:avLst/>
          </a:prstGeom>
          <a:solidFill>
            <a:srgbClr val="D4F4F2">
              <a:alpha val="100000"/>
            </a:srgbClr>
          </a:solidFill>
          <a:ln w="12700" cap="flat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Proposed Approach: RWalks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64515" y="1250118"/>
            <a:ext cx="62611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Guiding the Search: The Hybrid Distance Approach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64515" y="1902426"/>
            <a:ext cx="11506200" cy="2120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41666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Idea: Guide search by penalizing attribute mismatches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41666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Formula: dist_Hybrid = dist_Vector + h × Penalty(Ac, Aq)</a:t>
            </a:r>
          </a:p>
          <a:p>
            <a:pPr algn="l" indent="0">
              <a:lnSpc>
                <a:spcPct val="141666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Example Penalty Function: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41666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We can design Penalty(Ac, Aq) to be a scalar score. For instance:</a:t>
            </a:r>
          </a:p>
          <a:p>
            <a:pPr algn="l" indent="-203200" lvl="1" marL="660400">
              <a:lnSpc>
                <a:spcPct val="141666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Penalty = 0 if attributes fully match the filter.</a:t>
            </a:r>
          </a:p>
          <a:p>
            <a:pPr algn="l" indent="-203200" lvl="1" marL="660400">
              <a:lnSpc>
                <a:spcPct val="141666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Penalty &gt; 0 if they mismatch.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4515" y="4294634"/>
            <a:ext cx="10645352" cy="1257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When the filter is very specific (e.g., 1% match):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Problem: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 Nearly all nodes get the </a:t>
            </a: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same penalty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.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Effect: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 The hybrid distance loses its ability to guide the search.dist_Hybrid ≈ dist_Vector + constant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000000"/>
              </a:buClr>
              <a:buChar char="•"/>
            </a:pPr>
            <a:r>
              <a:rPr lang="en-US" b="tru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Result: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 Low recall.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64515" y="5823242"/>
            <a:ext cx="6743700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Insight:</a:t>
            </a:r>
            <a:r>
              <a:rPr lang="en-US" b="false" i="false" strike="noStrike" u="none" sz="1600">
                <a:solidFill>
                  <a:srgbClr val="000000"/>
                </a:solidFill>
                <a:highlight>
                  <a:srgbClr val="FFFFFF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 A simple binary attribute is too sparse. We need a richer score.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64515" y="243840"/>
            <a:ext cx="5746446" cy="584200"/>
          </a:xfrm>
          <a:prstGeom prst="rect">
            <a:avLst/>
          </a:prstGeom>
          <a:solidFill>
            <a:srgbClr val="D4F4F2">
              <a:alpha val="100000"/>
            </a:srgbClr>
          </a:solidFill>
          <a:ln w="12700" cap="flat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Proposed Approach: RWalks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64515" y="1250118"/>
            <a:ext cx="72517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RWalks Solution 2 - Relaxing Sparsity with Graph Diffusion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459668" y="2414712"/>
            <a:ext cx="5636332" cy="3306179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6310961" y="2414712"/>
            <a:ext cx="5535633" cy="3306179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564515" y="1870515"/>
            <a:ext cx="90805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Main Idea: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Use random walks to aggregate multi-hop attribute information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459668" y="5960288"/>
            <a:ext cx="7923213" cy="584200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64515" y="243840"/>
            <a:ext cx="5746446" cy="584200"/>
          </a:xfrm>
          <a:prstGeom prst="rect">
            <a:avLst/>
          </a:prstGeom>
          <a:solidFill>
            <a:srgbClr val="D4F4F2">
              <a:alpha val="100000"/>
            </a:srgbClr>
          </a:solidFill>
          <a:ln w="12700" cap="flat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Proposed Approach: RWalks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64515" y="1761806"/>
            <a:ext cx="9664700" cy="396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Initial Setup: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Attribute Dictionary: [Red, Blue, T-shirt, Pants] (p=4)</a:t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Target Node: V₀ (Blue Pants) → Original: [0, 1, 0, 1]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Random Walk Process (m=2, D=3):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Walk 1: V₀ → V₁ → V₃</a:t>
            </a:r>
          </a:p>
          <a:p>
            <a:pPr algn="l" indent="-203200" lvl="1" marL="6604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Collected: [0,1,0,1] + [0,1,1,0] + [1,0,1,0] = [1,2,2,1]</a:t>
            </a:r>
          </a:p>
          <a:p>
            <a:pPr algn="l" indent="-203200" lvl="1" marL="6604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Average: [0.33, 0.67, 0.67, 0.33]</a:t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Walk 2: V₀ → V₂ → V₅  </a:t>
            </a:r>
          </a:p>
          <a:p>
            <a:pPr algn="l" indent="-203200" lvl="1" marL="6604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Collected: [0,1,0,1] + [1,0,0,1] + [1,0,1,0] = [2,1,1,2]</a:t>
            </a:r>
          </a:p>
          <a:p>
            <a:pPr algn="l" indent="-203200" lvl="1" marL="6604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Average: [0.67, 0.33, 0.33, 0.67]</a:t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Final Enriched Vector E_V₀:</a:t>
            </a:r>
          </a:p>
          <a:p>
            <a:pPr algn="l" indent="-203200" lvl="1" marL="6604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E_V₀ = ([0.33,0.67,0.67,0.33] + [0.67,0.33,0.33,0.67]) / 2 = [0.5, 0.5, 0.5, 0.5]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731506" y="1761806"/>
            <a:ext cx="4125496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Graph Structure: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4515" y="1208709"/>
            <a:ext cx="5397500" cy="330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Attribute Diffusion Example: Finding "Red T-shirts"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-21375" r="-21375" t="0" b="0"/>
          <a:stretch>
            <a:fillRect/>
          </a:stretch>
        </p:blipFill>
        <p:spPr>
          <a:xfrm rot="0" flipH="false" flipV="false">
            <a:off x="8097438" y="2306134"/>
            <a:ext cx="3393632" cy="3324206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64515" y="243840"/>
            <a:ext cx="5746446" cy="584200"/>
          </a:xfrm>
          <a:prstGeom prst="rect">
            <a:avLst/>
          </a:prstGeom>
          <a:solidFill>
            <a:srgbClr val="D4F4F2">
              <a:alpha val="100000"/>
            </a:srgbClr>
          </a:solidFill>
          <a:ln w="12700" cap="flat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Proposed Approach: RWalks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64515" y="1250118"/>
            <a:ext cx="55880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Pruning Distances with Attribute Heuristics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64515" y="1905000"/>
            <a:ext cx="5044351" cy="952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Traditional Approach: 2 Types of Neighbors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Valid: Satisfy query filters</a:t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Invalid: Don't satisfy filters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422652" y="1905000"/>
            <a:ext cx="4712303" cy="1257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RWalks Insight: 3 Types of Neighbors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Valid neighbors</a:t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Promising invalid</a:t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Font typeface="+mj-lt"/>
              <a:buAutoNum type="arabicPeriod" startAt="1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Unpromising invalid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64515" y="3257550"/>
            <a:ext cx="1905000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Pruning Decision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64515" y="3874332"/>
            <a:ext cx="5740400" cy="241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41666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Step 1: Z-Score Normalization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41666"/>
              </a:lnSpc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Purpose: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Standardize all attributes to same scale (μ=0, σ=1)</a:t>
            </a: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Formula: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z_j = (enriched_attr_j - μ_j) / σ_j</a:t>
            </a: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Example: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41666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Raw: enriched_red = 0.6, μ_red = 0.4, σ_red = 0.25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41666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Normalized: z_red = (0.6-0.4)/0.25 = 0.8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41666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Meaning: "0.8 standard deviations above average"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422652" y="5245932"/>
            <a:ext cx="4118591" cy="1219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>
              <a:defRPr/>
            </a:pPr>
            <a:br>
              <a:rPr/>
            </a:b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Step 3: Pruning Decision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595959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If score &gt; τ → Evaluate distance ✓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595959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If score ≤ τ → Skip computation ✗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595959"/>
                </a:solidFill>
                <a:highlight>
                  <a:srgbClr val="FFFFFF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Example (τ = 0): 0.6 &gt; 0 ✓,  -0.1 &lt; 0 ✗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422652" y="3790175"/>
            <a:ext cx="5588000" cy="1219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>
              <a:defRPr/>
            </a:pPr>
            <a:br>
              <a:rPr/>
            </a:b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Step 2: Compute Promising Score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- Equality: score = enriched_attr[target_idx]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- AND: score = dot(enriched_attr, query_attr) / num_attrs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- OR: score = max(enriched_attr[query_indices])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64515" y="243840"/>
            <a:ext cx="5746446" cy="584200"/>
          </a:xfrm>
          <a:prstGeom prst="rect">
            <a:avLst/>
          </a:prstGeom>
          <a:solidFill>
            <a:srgbClr val="D4F4F2">
              <a:alpha val="100000"/>
            </a:srgbClr>
          </a:solidFill>
          <a:ln w="12700" cap="flat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Proposed Approach: RWalks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64515" y="1159764"/>
            <a:ext cx="234727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Pruning Example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564515" y="1872488"/>
            <a:ext cx="3640503" cy="4469271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4736339" y="1872488"/>
            <a:ext cx="3390481" cy="4469271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8658142" y="2970444"/>
            <a:ext cx="3390481" cy="1969042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64515" y="243840"/>
            <a:ext cx="5746446" cy="584200"/>
          </a:xfrm>
          <a:prstGeom prst="rect">
            <a:avLst/>
          </a:prstGeom>
          <a:solidFill>
            <a:srgbClr val="D4F4F2">
              <a:alpha val="100000"/>
            </a:srgbClr>
          </a:solidFill>
          <a:ln w="12700" cap="flat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Proposed Approach: RWalks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564515" y="973790"/>
            <a:ext cx="3379134" cy="5776331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4025537" y="973790"/>
            <a:ext cx="3739362" cy="1438631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7764899" y="973790"/>
            <a:ext cx="4399012" cy="1438631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 flipH="false" flipV="false">
            <a:off x="4025537" y="2558171"/>
            <a:ext cx="3770696" cy="1303785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 flipH="false" flipV="false">
            <a:off x="7796234" y="2412421"/>
            <a:ext cx="4399012" cy="1574646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 flipH="false" flipV="false">
            <a:off x="3943649" y="4168909"/>
            <a:ext cx="3821250" cy="1391022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64515" y="243840"/>
            <a:ext cx="2794000" cy="584200"/>
          </a:xfrm>
          <a:prstGeom prst="rect">
            <a:avLst/>
          </a:prstGeom>
          <a:solidFill>
            <a:srgbClr val="D4F4F2">
              <a:alpha val="100000"/>
            </a:srgbClr>
          </a:solidFill>
          <a:ln w="12700" cap="flat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Experiments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64515" y="1298515"/>
            <a:ext cx="9359900" cy="152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DataSets: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Deep: 1B 96-dim vectors (CNN layers) - Extract subsets (1M, 10M, 50M, 100M) for scalability testing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Sift: 1B 128-dim image descriptors - Extract subsets (1M, 10M, 50M, 100M) for scalability testing  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Yfcc: 100M 200-dim CLIP embeddings - Use 10M subset (following BigANN benchmark)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Arxiv: 1.7M 384-dim paper abstracts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64515" y="3075951"/>
            <a:ext cx="11506200" cy="152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Queries: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Synthetic attributes: 6 categorical attributes with specificities (1%, 5%, 10%, 20%, 30%, 50%)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Real attributes: Yfcc (15 attrs/vector), Arxiv (1 attr/vector)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Filter types: Equality, AND, OR, NOT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Query workloads: 1.6K-100K queries per dataset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4515" y="4853387"/>
            <a:ext cx="7264400" cy="1219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Metrics:</a:t>
            </a: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Accuracy: Recall@10</a:t>
            </a:r>
            <a:r>
              <a:rPr lang="en-US" b="tru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Efficiency: QPS (Queries Per Second)</a:t>
            </a:r>
            <a:r>
              <a:rPr lang="en-US" b="tru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Index Performance: Construction time, Memory footprint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64515" y="243840"/>
            <a:ext cx="2794000" cy="584200"/>
          </a:xfrm>
          <a:prstGeom prst="rect">
            <a:avLst/>
          </a:prstGeom>
          <a:solidFill>
            <a:srgbClr val="D4F4F2">
              <a:alpha val="100000"/>
            </a:srgbClr>
          </a:solidFill>
          <a:ln w="12700" cap="flat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Experiments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3535793" y="1702047"/>
            <a:ext cx="6346656" cy="2264923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3535793" y="4062423"/>
            <a:ext cx="6346656" cy="2708000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564515" y="1225595"/>
            <a:ext cx="37211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Performance on Real Datasets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64515" y="243840"/>
            <a:ext cx="2794000" cy="584200"/>
          </a:xfrm>
          <a:prstGeom prst="rect">
            <a:avLst/>
          </a:prstGeom>
          <a:solidFill>
            <a:srgbClr val="D4F4F2">
              <a:alpha val="100000"/>
            </a:srgbClr>
          </a:solidFill>
          <a:ln w="12700" cap="flat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Experiments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2868916" y="1421889"/>
            <a:ext cx="5946195" cy="2323414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4" id="4"/>
          <p:cNvSpPr/>
          <p:nvPr/>
        </p:nvSpPr>
        <p:spPr>
          <a:xfrm rot="0" flipH="false" flipV="false">
            <a:off x="564515" y="1144978"/>
            <a:ext cx="15240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Scalability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64515" y="3852140"/>
            <a:ext cx="49530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Robustness Under Different Filter Types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2947784" y="4509015"/>
            <a:ext cx="5867327" cy="2166570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64515" y="243840"/>
            <a:ext cx="2794000" cy="584200"/>
          </a:xfrm>
          <a:prstGeom prst="rect">
            <a:avLst/>
          </a:prstGeom>
          <a:solidFill>
            <a:srgbClr val="D4F4F2">
              <a:alpha val="100000"/>
            </a:srgbClr>
          </a:solidFill>
          <a:ln w="12700" cap="flat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Experiments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326922" y="3849285"/>
            <a:ext cx="2141082" cy="2698970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7818108" y="3849285"/>
            <a:ext cx="1927832" cy="2690616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1033398" y="1129115"/>
            <a:ext cx="3185015" cy="2419094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 flipH="false" flipV="false">
            <a:off x="6455920" y="957889"/>
            <a:ext cx="3874327" cy="2698970"/>
          </a:xfrm>
          <a:prstGeom prst="rect">
            <a:avLst/>
          </a:prstGeom>
          <a:ln>
            <a:noFill/>
            <a:prstDash val="solid"/>
          </a:ln>
        </p:spPr>
      </p:pic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64515" y="243840"/>
            <a:ext cx="2794000" cy="584200"/>
          </a:xfrm>
          <a:prstGeom prst="rect">
            <a:avLst/>
          </a:prstGeom>
          <a:solidFill>
            <a:srgbClr val="D4F4F2">
              <a:alpha val="100000"/>
            </a:srgbClr>
          </a:solidFill>
          <a:ln w="12700" cap="flat">
            <a:noFill/>
            <a:prstDash val="solid"/>
          </a:ln>
        </p:spPr>
        <p:txBody>
          <a:bodyPr anchor="t" rtlCol="false" wrap="square" lIns="91440" rIns="91440" tIns="45720" bIns="45720">
            <a:sp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Experiments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584546" y="1671593"/>
            <a:ext cx="3061128" cy="3251930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6923367" y="1671593"/>
            <a:ext cx="3061128" cy="3223826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564515" y="1185384"/>
            <a:ext cx="37211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Unfiltered Search 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P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