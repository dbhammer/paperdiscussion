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68" r:id="rId16"/>
    <p:sldId id="274" r:id="rId17"/>
    <p:sldId id="269" r:id="rId18"/>
    <p:sldId id="270" r:id="rId19"/>
    <p:sldId id="276" r:id="rId20"/>
    <p:sldId id="271" r:id="rId21"/>
  </p:sldIdLst>
  <p:sldSz cx="16256000" cy="9144000"/>
  <p:notesSz cx="9144000" cy="16256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3F0"/>
    <a:srgbClr val="2D3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3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4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37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B1E0-B43A-5069-43CE-9A4E694B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D1214-3947-3A56-E2B2-B16ED884B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78D6D-6D34-61E8-2733-B7517853D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C1986-E555-A28D-BE75-F98A63A69D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75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7329D-A3B4-29FD-1563-E492AD9F4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53686-ECF2-C2D8-BD66-86FCC7070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B0447-68B5-10AB-E340-7DDFBBCBA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22FDB-4EE8-56B6-5D9C-2AC7E2DC6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08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C9870-4605-4DB1-978B-3D9FDD27A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FC7B9-FB7C-AE58-E1D2-FE7354BAA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E812-C8B1-FFB1-0E61-F0F3D1ADD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47A5-1F4E-7487-5909-542BFFE855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492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A3C53-5AB4-2095-5518-E3772321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AADE2-4121-8101-6955-50E940443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8BB82-6FEA-B4D3-1E01-9529AD707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420E8-EE29-504A-6F22-5C5BE5B33C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31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3A5C"/>
              </a:gs>
              <a:gs pos="100000">
                <a:srgbClr val="1E2940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FFFFF">
              <a:alpha val="1961"/>
            </a:srgbClr>
          </a:solidFill>
          <a:ln w="12700">
            <a:solidFill>
              <a:srgbClr val="FFFFFF">
                <a:alpha val="6275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54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5588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kern="0" spc="300" dirty="0">
                <a:solidFill>
                  <a:srgbClr val="FFFFFF">
                    <a:alpha val="8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PVLDB 2026 | VOL. 19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24000" y="3175000"/>
            <a:ext cx="1320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</a:t>
            </a:r>
            <a:r>
              <a:rPr lang="en-US" sz="4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Towards Workload-driven</a:t>
            </a:r>
            <a:endParaRPr lang="en-US" sz="4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LSM-compactions for Key-Value Store</a:t>
            </a:r>
            <a:endParaRPr lang="en-US" sz="4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40000" y="4826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Under Dynamic Workloads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0" y="5588000"/>
            <a:ext cx="254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9" name="Text 7"/>
          <p:cNvSpPr/>
          <p:nvPr/>
        </p:nvSpPr>
        <p:spPr>
          <a:xfrm>
            <a:off x="3048000" y="5969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Junfeng Liu, Haoxuan Xie, Siqiang Luo</a:t>
            </a:r>
            <a:endParaRPr lang="en-US" sz="16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48000" y="64770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Nanyang Technological University, Singapore</a:t>
            </a:r>
            <a:endParaRPr lang="en-US" sz="16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B8733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Background: LSM-tree &amp; Write Stall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397000"/>
            <a:ext cx="7112000" cy="2687782"/>
          </a:xfrm>
          <a:prstGeom prst="rect">
            <a:avLst/>
          </a:prstGeom>
          <a:solidFill>
            <a:srgbClr val="2D3A5C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5050" y="1549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1524000"/>
            <a:ext cx="6172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LSM-tree (Log-Structured Merge Trees)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6000" y="1955800"/>
            <a:ext cx="6604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Core data structure for KV stores; converts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in-place updates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to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sequential updates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Multi-level structure with exponentially growing capacities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Data organized as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Sorted Runs / SSTables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28000" y="1397000"/>
            <a:ext cx="7366000" cy="2687782"/>
          </a:xfrm>
          <a:prstGeom prst="rect">
            <a:avLst/>
          </a:prstGeom>
          <a:solidFill>
            <a:srgbClr val="2D3A5C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1549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6" name="Text 14"/>
          <p:cNvSpPr/>
          <p:nvPr/>
        </p:nvSpPr>
        <p:spPr>
          <a:xfrm>
            <a:off x="8813800" y="1524000"/>
            <a:ext cx="6172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Basic Operations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43900" y="1977505"/>
            <a:ext cx="7150100" cy="114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Point Lookup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Top-down scan, relies on Bloom filter to reduce I/O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Range Lookup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Retrieves entries across sorted runs, merge-sorts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Update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Insert into MemTable → flush to L0 → trigger Compaction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2000" y="4696690"/>
            <a:ext cx="14732000" cy="3888509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8133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LSM-tree Structure Overview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2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51605157-05BA-9A33-EF90-13052CF50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5257800"/>
            <a:ext cx="14325600" cy="32481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Challenge: Dynamic Workload Adaptivity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371600"/>
            <a:ext cx="14732000" cy="1358900"/>
          </a:xfrm>
          <a:prstGeom prst="rect">
            <a:avLst/>
          </a:prstGeom>
          <a:solidFill>
            <a:srgbClr val="B87333">
              <a:alpha val="82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154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1371600"/>
            <a:ext cx="13716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D3142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In LSM-tree-based key-value stores, a major challenge lies in </a:t>
            </a:r>
            <a:r>
              <a:rPr lang="en-US" altLang="zh-CN" b="1" dirty="0">
                <a:solidFill>
                  <a:srgbClr val="2D3142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online handling dynamically changing workloads</a:t>
            </a:r>
            <a:r>
              <a:rPr lang="en-US" altLang="zh-CN" dirty="0">
                <a:solidFill>
                  <a:srgbClr val="2D3142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. For example, Meta analyzed access patterns from </a:t>
            </a:r>
            <a:r>
              <a:rPr lang="en-US" altLang="zh-CN" b="1" dirty="0">
                <a:solidFill>
                  <a:srgbClr val="2D3142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five</a:t>
            </a:r>
            <a:r>
              <a:rPr lang="en-US" altLang="zh-CN" dirty="0">
                <a:solidFill>
                  <a:srgbClr val="2D3142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distinct applications and found that each exhibits highly </a:t>
            </a:r>
            <a:r>
              <a:rPr lang="en-US" altLang="zh-CN" b="1" dirty="0">
                <a:solidFill>
                  <a:srgbClr val="2D3142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diverse workload behaviors</a:t>
            </a:r>
            <a:r>
              <a:rPr lang="en-US" altLang="zh-CN" dirty="0">
                <a:solidFill>
                  <a:srgbClr val="2D3142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, with substantial variation occurring even </a:t>
            </a:r>
            <a:r>
              <a:rPr lang="en-US" altLang="zh-CN" b="1" dirty="0">
                <a:solidFill>
                  <a:srgbClr val="2D3142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within a single day.</a:t>
            </a:r>
          </a:p>
        </p:txBody>
      </p:sp>
      <p:sp>
        <p:nvSpPr>
          <p:cNvPr id="13" name="Text 11"/>
          <p:cNvSpPr/>
          <p:nvPr/>
        </p:nvSpPr>
        <p:spPr>
          <a:xfrm>
            <a:off x="762000" y="28829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Limitations of Existing Workload-Aware Methods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34163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3416300"/>
            <a:ext cx="76200" cy="1524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41400" y="34925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Static Optimal (Moose, Wacky)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1400" y="3873500"/>
            <a:ext cx="660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Compute optimal structure for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static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workloads but lack transition mechanisms when workloads change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382000" y="34163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2000" y="3416300"/>
            <a:ext cx="76200" cy="1524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8661400" y="34925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Greedy Transition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61400" y="3873500"/>
            <a:ext cx="660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Adapts quickly but requires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aggressive write stall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→ severe </a:t>
            </a:r>
            <a:r>
              <a:rPr lang="en-US" sz="2000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latency spikes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2000" y="51435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000" y="5143500"/>
            <a:ext cx="76200" cy="1524000"/>
          </a:xfrm>
          <a:prstGeom prst="rect">
            <a:avLst/>
          </a:prstGeom>
          <a:solidFill>
            <a:srgbClr val="8B9DAF"/>
          </a:solidFill>
          <a:ln/>
        </p:spPr>
      </p:sp>
      <p:sp>
        <p:nvSpPr>
          <p:cNvPr id="24" name="Text 22"/>
          <p:cNvSpPr/>
          <p:nvPr/>
        </p:nvSpPr>
        <p:spPr>
          <a:xfrm>
            <a:off x="1041400" y="52197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Lazy Transition (Dostoevsky)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41400" y="5600700"/>
            <a:ext cx="660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Avoids high reorganization cost but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responds slowly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→ prolonged performance degradation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382000" y="51435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82000" y="5143500"/>
            <a:ext cx="76200" cy="1524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8" name="Text 26"/>
          <p:cNvSpPr/>
          <p:nvPr/>
        </p:nvSpPr>
        <p:spPr>
          <a:xfrm>
            <a:off x="8661400" y="52197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Compromise (Ruskey's FLSM)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61400" y="5600700"/>
            <a:ext cx="660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Accelerates response but relies on sufficient updates →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slow under read-intensive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workloads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62000" y="6946900"/>
            <a:ext cx="14732000" cy="1016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4100" y="7175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2" name="Text 30"/>
          <p:cNvSpPr/>
          <p:nvPr/>
        </p:nvSpPr>
        <p:spPr>
          <a:xfrm>
            <a:off x="1473200" y="69469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Key Insight</a:t>
            </a:r>
            <a:r>
              <a:rPr lang="en-US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Existing methods focus on finding the optimal </a:t>
            </a:r>
            <a:r>
              <a:rPr lang="en-US" i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target structure</a:t>
            </a:r>
            <a:r>
              <a:rPr lang="en-US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, but neglect the </a:t>
            </a:r>
            <a:r>
              <a:rPr lang="en-US" i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transition procedure</a:t>
            </a:r>
            <a:r>
              <a:rPr lang="en-US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itself — causing severe performance degradation during adaptation.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3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Our Vision &amp; Contributions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371600"/>
            <a:ext cx="14732000" cy="1651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447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kern="0" spc="200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CORE VISION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1803400"/>
            <a:ext cx="142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Focus on the </a:t>
            </a:r>
            <a:r>
              <a:rPr lang="en-US" sz="2400" i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transition procedure</a:t>
            </a:r>
            <a:r>
              <a:rPr lang="en-US" sz="24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, not on the final structure.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6000" y="23114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Instead of blindly morphing toward a predefined structure, consistently optimize performance throughout the transition.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330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Key Contributions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2000" y="3708400"/>
            <a:ext cx="14732000" cy="12700"/>
          </a:xfrm>
          <a:prstGeom prst="rect">
            <a:avLst/>
          </a:prstGeom>
          <a:solidFill>
            <a:srgbClr val="D0CBC4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911600"/>
            <a:ext cx="4699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000" y="40386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01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6000" y="46228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ElasticLSM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15999" y="5054600"/>
            <a:ext cx="429375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An enhanced LSM-tree design that enables the system to compact runs selected across levels and initiate compactions at  workload-dependent timing.</a:t>
            </a: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Flexible Run Selection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Workload Dependent Timing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78500" y="3911600"/>
            <a:ext cx="4699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2500" y="40386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02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32500" y="46228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 Engine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32500" y="5054600"/>
            <a:ext cx="4191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daptive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untime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ompaction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ngine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 score-based lightweight compaction evaluation engine that dynamically balances read/write performance.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795000" y="3911600"/>
            <a:ext cx="4699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49000" y="40386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03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049000" y="46228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049000" y="5054600"/>
            <a:ext cx="4191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Full-featured KV store implementation on </a:t>
            </a:r>
            <a:r>
              <a:rPr lang="en-US" sz="2000" b="1" dirty="0" err="1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RocksDB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.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Achieves </a:t>
            </a:r>
            <a:r>
              <a:rPr lang="en-US" sz="32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~3x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speedup over state-of-the-art under dynamic scenarios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4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ElasticLSM: Expanded Action Space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371600"/>
            <a:ext cx="14732000" cy="1016000"/>
          </a:xfrm>
          <a:prstGeom prst="rect">
            <a:avLst/>
          </a:prstGeom>
          <a:solidFill>
            <a:srgbClr val="2D3A5C">
              <a:alpha val="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3716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Design Philosophy</a:t>
            </a:r>
            <a:r>
              <a:rPr lang="en-US" sz="24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Remove fixed structural parameters. Treat LSM-tree as a </a:t>
            </a:r>
            <a:r>
              <a:rPr lang="en-US" sz="2400" i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flexible collection</a:t>
            </a:r>
            <a:r>
              <a:rPr lang="en-US" sz="24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of sorted runs tagged with timestamps, sizes, and key ranges.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2641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Two Core Management Actions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2000" y="3225800"/>
            <a:ext cx="7112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3225800"/>
            <a:ext cx="508000" cy="1397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225800"/>
            <a:ext cx="508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47800" y="3302000"/>
            <a:ext cx="61722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Write Stall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47800" y="3683000"/>
            <a:ext cx="6172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Only when total sorted runs exceed adjustable threshold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, limit updates at rate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k.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382000" y="3225800"/>
            <a:ext cx="7112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2000" y="3225800"/>
            <a:ext cx="508000" cy="1397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3225800"/>
            <a:ext cx="508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2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067800" y="3302000"/>
            <a:ext cx="61722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Compaction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67800" y="3683000"/>
            <a:ext cx="6172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Pick runs between </a:t>
            </a:r>
            <a:r>
              <a:rPr lang="en-US" sz="2000" i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any levels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, as long as timestamp ordering is strictly preserved.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2000" y="4826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Three Valid Compaction Patterns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5435600"/>
            <a:ext cx="4699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5435600"/>
            <a:ext cx="4699000" cy="508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54356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Pattern 1: Intra-level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778000" y="6197600"/>
            <a:ext cx="2667000" cy="635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 w="12700">
            <a:solidFill>
              <a:srgbClr val="2D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78000" y="61976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Multiple Runs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Same Level → Merged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16000" y="7010400"/>
            <a:ext cx="419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Compact multiple sorted runs within the same level. Reduces runs without cross-level I/O.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78500" y="5435600"/>
            <a:ext cx="4699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78500" y="5435600"/>
            <a:ext cx="4699000" cy="5080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33" name="Text 31"/>
          <p:cNvSpPr/>
          <p:nvPr/>
        </p:nvSpPr>
        <p:spPr>
          <a:xfrm>
            <a:off x="5778500" y="54356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Pattern 2: Adjacent-level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794500" y="6197600"/>
            <a:ext cx="2667000" cy="635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 w="12700">
            <a:solidFill>
              <a:srgbClr val="6B7B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4500" y="61976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Level i + Level i+1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→ Merged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032500" y="7010400"/>
            <a:ext cx="419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Traditional adjacent-level compaction. Standard approach used in most LSM-tree systems.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0795000" y="5435600"/>
            <a:ext cx="4699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95000" y="5435600"/>
            <a:ext cx="4699000" cy="508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0" name="Text 38"/>
          <p:cNvSpPr/>
          <p:nvPr/>
        </p:nvSpPr>
        <p:spPr>
          <a:xfrm>
            <a:off x="10795000" y="54356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Pattern 3: Multi-level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811000" y="6197600"/>
            <a:ext cx="2667000" cy="635000"/>
          </a:xfrm>
          <a:prstGeom prst="roundRect">
            <a:avLst>
              <a:gd name="adj" fmla="val 8000"/>
            </a:avLst>
          </a:prstGeom>
          <a:solidFill>
            <a:srgbClr val="B87333">
              <a:alpha val="8235"/>
            </a:srgbClr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11000" y="61976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Multiple Levels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Joint Compaction →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049000" y="7010400"/>
            <a:ext cx="419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Joint compaction across multiple levels.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Greatly accelerates response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under read-intensive loads.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5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System Cost Modeling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371600"/>
            <a:ext cx="14732000" cy="711200"/>
          </a:xfrm>
          <a:prstGeom prst="rect">
            <a:avLst/>
          </a:prstGeom>
          <a:solidFill>
            <a:srgbClr val="B87333">
              <a:alpha val="82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1634836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39700" y="74216"/>
                </a:moveTo>
                <a:cubicBezTo>
                  <a:pt x="146958" y="74216"/>
                  <a:pt x="152797" y="80055"/>
                  <a:pt x="152797" y="87313"/>
                </a:cubicBezTo>
                <a:lnTo>
                  <a:pt x="152797" y="148431"/>
                </a:lnTo>
                <a:cubicBezTo>
                  <a:pt x="152797" y="155689"/>
                  <a:pt x="146958" y="161528"/>
                  <a:pt x="139700" y="161528"/>
                </a:cubicBezTo>
                <a:cubicBezTo>
                  <a:pt x="132442" y="161528"/>
                  <a:pt x="126603" y="155689"/>
                  <a:pt x="126603" y="148431"/>
                </a:cubicBezTo>
                <a:lnTo>
                  <a:pt x="126603" y="87313"/>
                </a:lnTo>
                <a:cubicBezTo>
                  <a:pt x="126603" y="80055"/>
                  <a:pt x="132442" y="74216"/>
                  <a:pt x="139700" y="74216"/>
                </a:cubicBezTo>
                <a:close/>
                <a:moveTo>
                  <a:pt x="125130" y="192088"/>
                </a:moveTo>
                <a:cubicBezTo>
                  <a:pt x="124798" y="186679"/>
                  <a:pt x="127495" y="181534"/>
                  <a:pt x="132132" y="178729"/>
                </a:cubicBezTo>
                <a:cubicBezTo>
                  <a:pt x="136768" y="175925"/>
                  <a:pt x="142577" y="175925"/>
                  <a:pt x="147214" y="178729"/>
                </a:cubicBezTo>
                <a:cubicBezTo>
                  <a:pt x="151850" y="181534"/>
                  <a:pt x="154547" y="186679"/>
                  <a:pt x="154216" y="192087"/>
                </a:cubicBezTo>
                <a:cubicBezTo>
                  <a:pt x="154547" y="197496"/>
                  <a:pt x="151850" y="202641"/>
                  <a:pt x="147214" y="205446"/>
                </a:cubicBezTo>
                <a:cubicBezTo>
                  <a:pt x="142577" y="208250"/>
                  <a:pt x="136768" y="208250"/>
                  <a:pt x="132132" y="205446"/>
                </a:cubicBezTo>
                <a:cubicBezTo>
                  <a:pt x="127495" y="202641"/>
                  <a:pt x="124798" y="197496"/>
                  <a:pt x="125130" y="192088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1422400" y="1371600"/>
            <a:ext cx="13817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Challenge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ElasticLSM's flexible operations lead to highly unpredictable tree states — traditional amortized cost calculations fail.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2000" y="23368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Windowed-State Cost Modeling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2819400"/>
            <a:ext cx="7112000" cy="220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" y="29464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Divide operation sequence into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count windows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Each window: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u = F/E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updates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(F = MemTable size, E = entry size)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Within a window, tree state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remains stable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6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CD858501-8206-EFA9-6B79-ABD1F9E274DE}"/>
              </a:ext>
            </a:extLst>
          </p:cNvPr>
          <p:cNvSpPr/>
          <p:nvPr/>
        </p:nvSpPr>
        <p:spPr>
          <a:xfrm>
            <a:off x="8331200" y="2819400"/>
            <a:ext cx="7112000" cy="220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823628B-2868-7E09-805C-470D6BDB0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254" y="2883243"/>
            <a:ext cx="6169891" cy="2034850"/>
          </a:xfrm>
          <a:prstGeom prst="rect">
            <a:avLst/>
          </a:prstGeom>
        </p:spPr>
      </p:pic>
      <p:sp>
        <p:nvSpPr>
          <p:cNvPr id="38" name="Shape 12">
            <a:extLst>
              <a:ext uri="{FF2B5EF4-FFF2-40B4-BE49-F238E27FC236}">
                <a16:creationId xmlns:a16="http://schemas.microsoft.com/office/drawing/2014/main" id="{91E212F1-A91C-9DF0-C795-9744EBAFA7AD}"/>
              </a:ext>
            </a:extLst>
          </p:cNvPr>
          <p:cNvSpPr/>
          <p:nvPr/>
        </p:nvSpPr>
        <p:spPr>
          <a:xfrm>
            <a:off x="762000" y="5156199"/>
            <a:ext cx="14681200" cy="3849003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F1B1404-B58D-9C27-A7F8-ED9AE9A17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5189494"/>
            <a:ext cx="14427200" cy="37824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C31480-29A4-9733-D16D-C6C21B1C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686C98-1C4B-B794-7559-92E93EDB427E}"/>
              </a:ext>
            </a:extLst>
          </p:cNvPr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55F6977-8AED-A564-422E-E2FE0D7CFC41}"/>
              </a:ext>
            </a:extLst>
          </p:cNvPr>
          <p:cNvSpPr/>
          <p:nvPr/>
        </p:nvSpPr>
        <p:spPr>
          <a:xfrm>
            <a:off x="4064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00C9CB-84BD-8C93-FD6A-097F39428F1F}"/>
              </a:ext>
            </a:extLst>
          </p:cNvPr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5A7F57-D18C-4D47-A18F-F407978A7F11}"/>
              </a:ext>
            </a:extLst>
          </p:cNvPr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36C540-0418-0DEB-A68F-E2C4CFD47169}"/>
              </a:ext>
            </a:extLst>
          </p:cNvPr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63D8FE-1131-590B-E33A-5BFBB8965128}"/>
              </a:ext>
            </a:extLst>
          </p:cNvPr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2F2D811-57AD-5CC5-C18F-D75D1853B437}"/>
              </a:ext>
            </a:extLst>
          </p:cNvPr>
          <p:cNvSpPr/>
          <p:nvPr/>
        </p:nvSpPr>
        <p:spPr>
          <a:xfrm>
            <a:off x="762000" y="609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System Cost Modeling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3154FA5-BFFB-3292-958A-DE3D4EEC9F7F}"/>
              </a:ext>
            </a:extLst>
          </p:cNvPr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6C160D8-5E3F-6608-1FDC-5056272D1187}"/>
              </a:ext>
            </a:extLst>
          </p:cNvPr>
          <p:cNvSpPr/>
          <p:nvPr/>
        </p:nvSpPr>
        <p:spPr>
          <a:xfrm>
            <a:off x="762000" y="1371600"/>
            <a:ext cx="14732000" cy="711200"/>
          </a:xfrm>
          <a:prstGeom prst="rect">
            <a:avLst/>
          </a:prstGeom>
          <a:solidFill>
            <a:srgbClr val="B87333">
              <a:alpha val="8235"/>
            </a:srgbClr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3412116-7C2E-BFD8-4134-74FB0516CAA6}"/>
              </a:ext>
            </a:extLst>
          </p:cNvPr>
          <p:cNvSpPr/>
          <p:nvPr/>
        </p:nvSpPr>
        <p:spPr>
          <a:xfrm>
            <a:off x="952500" y="1634836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39700" y="74216"/>
                </a:moveTo>
                <a:cubicBezTo>
                  <a:pt x="146958" y="74216"/>
                  <a:pt x="152797" y="80055"/>
                  <a:pt x="152797" y="87313"/>
                </a:cubicBezTo>
                <a:lnTo>
                  <a:pt x="152797" y="148431"/>
                </a:lnTo>
                <a:cubicBezTo>
                  <a:pt x="152797" y="155689"/>
                  <a:pt x="146958" y="161528"/>
                  <a:pt x="139700" y="161528"/>
                </a:cubicBezTo>
                <a:cubicBezTo>
                  <a:pt x="132442" y="161528"/>
                  <a:pt x="126603" y="155689"/>
                  <a:pt x="126603" y="148431"/>
                </a:cubicBezTo>
                <a:lnTo>
                  <a:pt x="126603" y="87313"/>
                </a:lnTo>
                <a:cubicBezTo>
                  <a:pt x="126603" y="80055"/>
                  <a:pt x="132442" y="74216"/>
                  <a:pt x="139700" y="74216"/>
                </a:cubicBezTo>
                <a:close/>
                <a:moveTo>
                  <a:pt x="125130" y="192088"/>
                </a:moveTo>
                <a:cubicBezTo>
                  <a:pt x="124798" y="186679"/>
                  <a:pt x="127495" y="181534"/>
                  <a:pt x="132132" y="178729"/>
                </a:cubicBezTo>
                <a:cubicBezTo>
                  <a:pt x="136768" y="175925"/>
                  <a:pt x="142577" y="175925"/>
                  <a:pt x="147214" y="178729"/>
                </a:cubicBezTo>
                <a:cubicBezTo>
                  <a:pt x="151850" y="181534"/>
                  <a:pt x="154547" y="186679"/>
                  <a:pt x="154216" y="192087"/>
                </a:cubicBezTo>
                <a:cubicBezTo>
                  <a:pt x="154547" y="197496"/>
                  <a:pt x="151850" y="202641"/>
                  <a:pt x="147214" y="205446"/>
                </a:cubicBezTo>
                <a:cubicBezTo>
                  <a:pt x="142577" y="208250"/>
                  <a:pt x="136768" y="208250"/>
                  <a:pt x="132132" y="205446"/>
                </a:cubicBezTo>
                <a:cubicBezTo>
                  <a:pt x="127495" y="202641"/>
                  <a:pt x="124798" y="197496"/>
                  <a:pt x="125130" y="192088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5E0FC1D-4734-0129-E2ED-E950A9219B87}"/>
              </a:ext>
            </a:extLst>
          </p:cNvPr>
          <p:cNvSpPr/>
          <p:nvPr/>
        </p:nvSpPr>
        <p:spPr>
          <a:xfrm>
            <a:off x="1422400" y="1371600"/>
            <a:ext cx="13817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Challenge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ElasticLSM's flexible operations lead to highly unpredictable tree states — traditional amortized cost calculations fail.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9E78BB9-7C1D-9571-6AF7-EFB06404F855}"/>
              </a:ext>
            </a:extLst>
          </p:cNvPr>
          <p:cNvSpPr/>
          <p:nvPr/>
        </p:nvSpPr>
        <p:spPr>
          <a:xfrm>
            <a:off x="762000" y="2346036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Cost Formulas (Per Window)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865B0E2-3B50-678E-F38D-BFFB1E77224A}"/>
              </a:ext>
            </a:extLst>
          </p:cNvPr>
          <p:cNvSpPr/>
          <p:nvPr/>
        </p:nvSpPr>
        <p:spPr>
          <a:xfrm>
            <a:off x="762000" y="2828636"/>
            <a:ext cx="4699000" cy="1118755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EBFFC4C-8887-5DDD-26A9-F77AFFC99993}"/>
              </a:ext>
            </a:extLst>
          </p:cNvPr>
          <p:cNvSpPr/>
          <p:nvPr/>
        </p:nvSpPr>
        <p:spPr>
          <a:xfrm>
            <a:off x="762000" y="2828636"/>
            <a:ext cx="4699000" cy="4064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9A6CAC1-1E11-D76F-D098-260757E169BE}"/>
              </a:ext>
            </a:extLst>
          </p:cNvPr>
          <p:cNvSpPr/>
          <p:nvPr/>
        </p:nvSpPr>
        <p:spPr>
          <a:xfrm>
            <a:off x="762000" y="2828636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Point Lookup Cost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0FBB68AD-9589-F32E-E3E8-81D463BD1E4B}"/>
                  </a:ext>
                </a:extLst>
              </p:cNvPr>
              <p:cNvSpPr/>
              <p:nvPr/>
            </p:nvSpPr>
            <p:spPr>
              <a:xfrm>
                <a:off x="762000" y="3336636"/>
                <a:ext cx="4699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+1)⋅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Libertinus Serif" pitchFamily="2" charset="0"/>
                  <a:ea typeface="Libertinus Serif" pitchFamily="2" charset="0"/>
                  <a:cs typeface="Libertinus Serif" pitchFamily="2" charset="0"/>
                </a:endParaRPr>
              </a:p>
            </p:txBody>
          </p:sp>
        </mc:Choice>
        <mc:Fallback xmlns=""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0FBB68AD-9589-F32E-E3E8-81D463BD1E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36636"/>
                <a:ext cx="4699000" cy="508000"/>
              </a:xfrm>
              <a:prstGeom prst="rect">
                <a:avLst/>
              </a:prstGeom>
              <a:blipFill>
                <a:blip r:embed="rId3"/>
                <a:stretch>
                  <a:fillRect b="-121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hape 19">
            <a:extLst>
              <a:ext uri="{FF2B5EF4-FFF2-40B4-BE49-F238E27FC236}">
                <a16:creationId xmlns:a16="http://schemas.microsoft.com/office/drawing/2014/main" id="{E9655105-A1C9-2808-B9F6-3CC47DC99F33}"/>
              </a:ext>
            </a:extLst>
          </p:cNvPr>
          <p:cNvSpPr/>
          <p:nvPr/>
        </p:nvSpPr>
        <p:spPr>
          <a:xfrm>
            <a:off x="5778500" y="2828636"/>
            <a:ext cx="4699000" cy="1118755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3A64130-D67F-C94B-E295-79F8B5F935FF}"/>
              </a:ext>
            </a:extLst>
          </p:cNvPr>
          <p:cNvSpPr/>
          <p:nvPr/>
        </p:nvSpPr>
        <p:spPr>
          <a:xfrm>
            <a:off x="5778500" y="2828636"/>
            <a:ext cx="4699000" cy="4064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D99900D-2D47-67DC-0B42-A0F41D4B2567}"/>
              </a:ext>
            </a:extLst>
          </p:cNvPr>
          <p:cNvSpPr/>
          <p:nvPr/>
        </p:nvSpPr>
        <p:spPr>
          <a:xfrm>
            <a:off x="5778500" y="2828636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Range Lookup Cost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7477679F-FB5E-88C2-2058-5B648A727DCF}"/>
                  </a:ext>
                </a:extLst>
              </p:cNvPr>
              <p:cNvSpPr/>
              <p:nvPr/>
            </p:nvSpPr>
            <p:spPr>
              <a:xfrm>
                <a:off x="5778500" y="3336636"/>
                <a:ext cx="4699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Libertinus Serif" pitchFamily="2" charset="0"/>
                  <a:ea typeface="Libertinus Serif" pitchFamily="2" charset="0"/>
                  <a:cs typeface="Libertinus Serif" pitchFamily="2" charset="0"/>
                </a:endParaRPr>
              </a:p>
            </p:txBody>
          </p:sp>
        </mc:Choice>
        <mc:Fallback xmlns="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7477679F-FB5E-88C2-2058-5B648A727D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00" y="3336636"/>
                <a:ext cx="4699000" cy="508000"/>
              </a:xfrm>
              <a:prstGeom prst="rect">
                <a:avLst/>
              </a:prstGeom>
              <a:blipFill>
                <a:blip r:embed="rId4"/>
                <a:stretch>
                  <a:fillRect b="-121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>
            <a:extLst>
              <a:ext uri="{FF2B5EF4-FFF2-40B4-BE49-F238E27FC236}">
                <a16:creationId xmlns:a16="http://schemas.microsoft.com/office/drawing/2014/main" id="{FFCF3EA1-1053-94C2-6F40-B1AD04D8D5F7}"/>
              </a:ext>
            </a:extLst>
          </p:cNvPr>
          <p:cNvSpPr/>
          <p:nvPr/>
        </p:nvSpPr>
        <p:spPr>
          <a:xfrm>
            <a:off x="10795000" y="2828636"/>
            <a:ext cx="4699000" cy="1118755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12DA8F6-7D68-DDA4-992E-347EAADF44A0}"/>
              </a:ext>
            </a:extLst>
          </p:cNvPr>
          <p:cNvSpPr/>
          <p:nvPr/>
        </p:nvSpPr>
        <p:spPr>
          <a:xfrm>
            <a:off x="10795000" y="2828636"/>
            <a:ext cx="4699000" cy="406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7472834-8FC8-9AA7-DE55-8A05653FB0DB}"/>
              </a:ext>
            </a:extLst>
          </p:cNvPr>
          <p:cNvSpPr/>
          <p:nvPr/>
        </p:nvSpPr>
        <p:spPr>
          <a:xfrm>
            <a:off x="10795000" y="2828636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Update Cost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26">
                <a:extLst>
                  <a:ext uri="{FF2B5EF4-FFF2-40B4-BE49-F238E27FC236}">
                    <a16:creationId xmlns:a16="http://schemas.microsoft.com/office/drawing/2014/main" id="{66E0EDE6-4E6D-865C-61B6-CF8C405E45AD}"/>
                  </a:ext>
                </a:extLst>
              </p:cNvPr>
              <p:cNvSpPr/>
              <p:nvPr/>
            </p:nvSpPr>
            <p:spPr>
              <a:xfrm>
                <a:off x="10795000" y="3336636"/>
                <a:ext cx="4699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sz="2400" dirty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latin typeface="Libertinus Serif" pitchFamily="2" charset="0"/>
                  <a:ea typeface="Libertinus Serif" pitchFamily="2" charset="0"/>
                  <a:cs typeface="Libertinus Serif" pitchFamily="2" charset="0"/>
                </a:endParaRPr>
              </a:p>
            </p:txBody>
          </p:sp>
        </mc:Choice>
        <mc:Fallback xmlns="">
          <p:sp>
            <p:nvSpPr>
              <p:cNvPr id="28" name="Text 26">
                <a:extLst>
                  <a:ext uri="{FF2B5EF4-FFF2-40B4-BE49-F238E27FC236}">
                    <a16:creationId xmlns:a16="http://schemas.microsoft.com/office/drawing/2014/main" id="{66E0EDE6-4E6D-865C-61B6-CF8C405E45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3336636"/>
                <a:ext cx="4699000" cy="508000"/>
              </a:xfrm>
              <a:prstGeom prst="rect">
                <a:avLst/>
              </a:prstGeom>
              <a:blipFill>
                <a:blip r:embed="rId5"/>
                <a:stretch>
                  <a:fillRect t="-9756" b="-243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hape 27">
            <a:extLst>
              <a:ext uri="{FF2B5EF4-FFF2-40B4-BE49-F238E27FC236}">
                <a16:creationId xmlns:a16="http://schemas.microsoft.com/office/drawing/2014/main" id="{C6CCE370-7AD5-1195-70CE-35594EE4149E}"/>
              </a:ext>
            </a:extLst>
          </p:cNvPr>
          <p:cNvSpPr/>
          <p:nvPr/>
        </p:nvSpPr>
        <p:spPr>
          <a:xfrm>
            <a:off x="8382000" y="5891649"/>
            <a:ext cx="7112000" cy="2793996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BAB5505-54EC-21D6-E3C9-8C50662AC01A}"/>
              </a:ext>
            </a:extLst>
          </p:cNvPr>
          <p:cNvSpPr/>
          <p:nvPr/>
        </p:nvSpPr>
        <p:spPr>
          <a:xfrm>
            <a:off x="8552206" y="5973045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Notation Legend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DC7FE35-725E-43AA-6694-72F5BDC3E232}"/>
              </a:ext>
            </a:extLst>
          </p:cNvPr>
          <p:cNvSpPr/>
          <p:nvPr/>
        </p:nvSpPr>
        <p:spPr>
          <a:xfrm>
            <a:off x="8636000" y="6309595"/>
            <a:ext cx="6857999" cy="250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number of sorted runs |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α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Bloom filter false positive rate 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</a:t>
            </a:r>
            <a:r>
              <a:rPr lang="en-US" sz="2000" b="1" baseline="-40000" dirty="0" err="1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,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</a:t>
            </a:r>
            <a:r>
              <a:rPr lang="en-US" sz="2000" b="1" baseline="-40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w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I/O read/write time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block size |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stall threshold |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k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stall rate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I(·)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indicator function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number of time windows used for a compaction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36FD1CE-1F3E-93D6-9F92-E4997849C035}"/>
              </a:ext>
            </a:extLst>
          </p:cNvPr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7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027D45AE-36F4-B0DB-4B0D-B712258BAE3D}"/>
              </a:ext>
            </a:extLst>
          </p:cNvPr>
          <p:cNvSpPr/>
          <p:nvPr/>
        </p:nvSpPr>
        <p:spPr>
          <a:xfrm>
            <a:off x="762000" y="4067178"/>
            <a:ext cx="14731999" cy="1274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2B8537E8-E6FE-78F4-49DA-5FFE93290E20}"/>
              </a:ext>
            </a:extLst>
          </p:cNvPr>
          <p:cNvSpPr/>
          <p:nvPr/>
        </p:nvSpPr>
        <p:spPr>
          <a:xfrm>
            <a:off x="762000" y="4067178"/>
            <a:ext cx="14731999" cy="4064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2C57C28E-FDE4-5A64-0FE6-E0D38E8A6F71}"/>
              </a:ext>
            </a:extLst>
          </p:cNvPr>
          <p:cNvSpPr/>
          <p:nvPr/>
        </p:nvSpPr>
        <p:spPr>
          <a:xfrm>
            <a:off x="762001" y="4067178"/>
            <a:ext cx="1473199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The Foreground I/O Time In t Windows (without other concurrent compactions)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9E12DF1C-C5BF-C30C-B44D-80113781C0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0663" y="4527554"/>
            <a:ext cx="5682673" cy="776444"/>
          </a:xfrm>
          <a:prstGeom prst="rect">
            <a:avLst/>
          </a:prstGeom>
        </p:spPr>
      </p:pic>
      <p:sp>
        <p:nvSpPr>
          <p:cNvPr id="41" name="Shape 19">
            <a:extLst>
              <a:ext uri="{FF2B5EF4-FFF2-40B4-BE49-F238E27FC236}">
                <a16:creationId xmlns:a16="http://schemas.microsoft.com/office/drawing/2014/main" id="{5529E6FD-5717-2E1F-FFE4-EC52E31005B7}"/>
              </a:ext>
            </a:extLst>
          </p:cNvPr>
          <p:cNvSpPr/>
          <p:nvPr/>
        </p:nvSpPr>
        <p:spPr>
          <a:xfrm>
            <a:off x="761999" y="5461004"/>
            <a:ext cx="7366001" cy="16579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FDD5DCB4-6178-0B1D-D493-496FE47BDA11}"/>
              </a:ext>
            </a:extLst>
          </p:cNvPr>
          <p:cNvSpPr/>
          <p:nvPr/>
        </p:nvSpPr>
        <p:spPr>
          <a:xfrm>
            <a:off x="761999" y="5461003"/>
            <a:ext cx="7366001" cy="502877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72A7D69A-309D-E2CF-EAF9-6C624B5B8EC4}"/>
              </a:ext>
            </a:extLst>
          </p:cNvPr>
          <p:cNvSpPr/>
          <p:nvPr/>
        </p:nvSpPr>
        <p:spPr>
          <a:xfrm>
            <a:off x="761999" y="5461003"/>
            <a:ext cx="7366001" cy="502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The number of sorted runs of windows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5269A8FC-ADC2-F800-2DA7-826C074C82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4600578"/>
            <a:ext cx="4508500" cy="693615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1A30249B-2DA9-805D-F3A6-4A36D8F104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293" y="5972016"/>
            <a:ext cx="7156323" cy="110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6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0">
            <a:extLst>
              <a:ext uri="{FF2B5EF4-FFF2-40B4-BE49-F238E27FC236}">
                <a16:creationId xmlns:a16="http://schemas.microsoft.com/office/drawing/2014/main" id="{BCC60562-9550-050C-1916-FD9131ECAB4A}"/>
              </a:ext>
            </a:extLst>
          </p:cNvPr>
          <p:cNvSpPr/>
          <p:nvPr/>
        </p:nvSpPr>
        <p:spPr>
          <a:xfrm>
            <a:off x="761999" y="1371600"/>
            <a:ext cx="14731999" cy="2964627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1371600"/>
            <a:ext cx="14732000" cy="566922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ARCE: Deciding Intermediate Compactions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1015997" y="1400253"/>
            <a:ext cx="14224000" cy="433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Objective</a:t>
            </a:r>
            <a:r>
              <a:rPr lang="en-US" sz="2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Find compaction sequence minimizing average operation cost — proven </a:t>
            </a: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NP-hard</a:t>
            </a:r>
            <a:r>
              <a:rPr lang="en-US" sz="2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(Lemma 3.2). </a:t>
            </a:r>
          </a:p>
        </p:txBody>
      </p:sp>
      <p:sp>
        <p:nvSpPr>
          <p:cNvPr id="12" name="Shape 10"/>
          <p:cNvSpPr/>
          <p:nvPr/>
        </p:nvSpPr>
        <p:spPr>
          <a:xfrm>
            <a:off x="761996" y="5106349"/>
            <a:ext cx="711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1996" y="5106349"/>
            <a:ext cx="7112000" cy="457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761996" y="5106349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Short-Term Effect E</a:t>
            </a:r>
            <a:r>
              <a:rPr lang="en-US" sz="2000" b="1" baseline="-40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5996" y="5509917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Compaction occupies background threads → L0 data accumulation → increased read latency and potential write stall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5996" y="7642606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</a:t>
            </a:r>
            <a:r>
              <a:rPr lang="en-US" sz="16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compaction time | </a:t>
            </a:r>
            <a:r>
              <a:rPr lang="en-US" sz="1600" b="1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</a:t>
            </a:r>
            <a:r>
              <a:rPr lang="en-US" sz="16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read ops | </a:t>
            </a:r>
            <a:r>
              <a:rPr lang="en-US" sz="1600" b="1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</a:t>
            </a:r>
            <a:r>
              <a:rPr lang="en-US" sz="16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point lookups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</a:t>
            </a:r>
            <a:r>
              <a:rPr lang="en-US" sz="16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current runs | </a:t>
            </a:r>
            <a:r>
              <a:rPr lang="en-US" sz="1600" b="1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u</a:t>
            </a:r>
            <a:r>
              <a:rPr lang="en-US" sz="16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updates per window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381996" y="5106349"/>
            <a:ext cx="711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1996" y="5106349"/>
            <a:ext cx="7112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8381996" y="5106349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Long-Term Effect E</a:t>
            </a:r>
            <a:r>
              <a:rPr lang="en-US" sz="2000" b="1" baseline="-40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35996" y="5571474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Compaction reduces </a:t>
            </a:r>
            <a:r>
              <a:rPr lang="en-US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y</a:t>
            </a:r>
            <a:r>
              <a:rPr lang="en-US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sorted runs → all future reads in current decision window benefit from reduced lookup cost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8635996" y="6731949"/>
                <a:ext cx="66040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200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dirty="0"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dirty="0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000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dirty="0">
                  <a:latin typeface="Libertinus Serif" pitchFamily="2" charset="0"/>
                  <a:ea typeface="Libertinus Serif" pitchFamily="2" charset="0"/>
                  <a:cs typeface="Libertinus Serif" pitchFamily="2" charset="0"/>
                </a:endParaRPr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996" y="6731949"/>
                <a:ext cx="6604000" cy="635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21"/>
          <p:cNvSpPr/>
          <p:nvPr/>
        </p:nvSpPr>
        <p:spPr>
          <a:xfrm>
            <a:off x="8635996" y="7493949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y</a:t>
            </a:r>
            <a:r>
              <a:rPr lang="en-US" sz="16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= number of runs reduced by compaction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Benefit scales linearly with run reduction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1999" y="1902463"/>
            <a:ext cx="14732000" cy="1168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4102" y="2137673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6" name="Text 24"/>
          <p:cNvSpPr/>
          <p:nvPr/>
        </p:nvSpPr>
        <p:spPr>
          <a:xfrm>
            <a:off x="1473199" y="1807473"/>
            <a:ext cx="13766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Key Insight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By evaluating only the </a:t>
            </a:r>
            <a:r>
              <a:rPr lang="en-US" sz="2000" i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immediate trade-off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between short-term penalty and long-term benefit for each candidate compaction, it achieves near-optimal decisions with minimal computational overhead.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8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304E01F1-25F5-548D-A2FA-976F1D2A3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251" y="3281516"/>
            <a:ext cx="2966324" cy="969977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2E31E868-10AF-F016-C73D-6BF6A0B5F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998" y="6333671"/>
            <a:ext cx="5070258" cy="1298232"/>
          </a:xfrm>
          <a:prstGeom prst="rect">
            <a:avLst/>
          </a:prstGeom>
        </p:spPr>
      </p:pic>
      <p:sp>
        <p:nvSpPr>
          <p:cNvPr id="36" name="Shape 14">
            <a:extLst>
              <a:ext uri="{FF2B5EF4-FFF2-40B4-BE49-F238E27FC236}">
                <a16:creationId xmlns:a16="http://schemas.microsoft.com/office/drawing/2014/main" id="{72114E35-8D29-2697-8DAE-19C1CFF6AFBD}"/>
              </a:ext>
            </a:extLst>
          </p:cNvPr>
          <p:cNvSpPr/>
          <p:nvPr/>
        </p:nvSpPr>
        <p:spPr>
          <a:xfrm flipV="1">
            <a:off x="5160576" y="3779944"/>
            <a:ext cx="1125708" cy="0"/>
          </a:xfrm>
          <a:prstGeom prst="straightConnector1">
            <a:avLst/>
          </a:prstGeom>
          <a:noFill/>
          <a:ln w="25400">
            <a:solidFill>
              <a:srgbClr val="4F5D75"/>
            </a:solidFill>
            <a:prstDash val="solid"/>
            <a:headEnd type="none"/>
            <a:tailEnd type="arrow"/>
          </a:ln>
        </p:spPr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4383510-82CD-2E5F-CDD8-EF4320E23C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2229" y="3424791"/>
            <a:ext cx="3873500" cy="584200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87EC234F-B72F-2CAA-D513-A13DD38E65C1}"/>
              </a:ext>
            </a:extLst>
          </p:cNvPr>
          <p:cNvSpPr txBox="1"/>
          <p:nvPr/>
        </p:nvSpPr>
        <p:spPr>
          <a:xfrm>
            <a:off x="6611111" y="3516836"/>
            <a:ext cx="431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Pick the compaction with largest score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Effectiveness Score &amp; Optimality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371600"/>
            <a:ext cx="14732000" cy="1397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4478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kern="0" spc="200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EFFECTIVENESS SCORE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1016000" y="1803400"/>
                <a:ext cx="14224000" cy="558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Libertinus Serif" pitchFamily="2" charset="0"/>
                  <a:ea typeface="Libertinus Serif" pitchFamily="2" charset="0"/>
                  <a:cs typeface="Libertinus Serif" pitchFamily="2" charset="0"/>
                </a:endParaRPr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1803400"/>
                <a:ext cx="14224000" cy="558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1016000" y="2413000"/>
            <a:ext cx="142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M = weight for long-term benefit (determined by tree state, workload, stall threshold)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3048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Optimality Analysis: Domination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1999" y="3556000"/>
            <a:ext cx="6616262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36576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Domination Definition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5999" y="3950900"/>
            <a:ext cx="6604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Compaction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dominates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(A ≺ B) if: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A requires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less compaction time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A reduces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more sorted runs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i.e., A is strictly better in both dimensions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1999" y="6209424"/>
            <a:ext cx="6616262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5999" y="6311024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 Guarantee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15999" y="6703848"/>
            <a:ext cx="6479629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Under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any parameter configuration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, ARCE only selects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non-dominated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candidates.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These form the </a:t>
            </a: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left frontier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in the time-reduction 2D space.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83366" y="3556000"/>
            <a:ext cx="8010634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0" y="366455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Domination Frontier Visualization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9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50797181-CAD4-8206-6D86-A2136748C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4197950"/>
            <a:ext cx="7772400" cy="3091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Parameter Selection &amp; Adaptivity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371600"/>
            <a:ext cx="8890000" cy="990600"/>
          </a:xfrm>
          <a:prstGeom prst="rect">
            <a:avLst/>
          </a:prstGeom>
          <a:solidFill>
            <a:srgbClr val="B87333">
              <a:alpha val="8235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5748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Challenge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Determining optimal (M, c, k) over time is also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NP-hard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. </a:t>
            </a: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Solution: Simulation-based tuning triggered only on significant changes.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27051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Algorithm 1: FindBestParams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2000" y="3314700"/>
            <a:ext cx="8890000" cy="3670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6000" y="3517900"/>
            <a:ext cx="355600" cy="3556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35179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24000" y="3467100"/>
            <a:ext cx="787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Trigger Check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Only recompute when tree state or workload changes significantly (exceeds threshold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d = 0.1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)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93800" y="3873500"/>
            <a:ext cx="0" cy="2540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016000" y="4254500"/>
            <a:ext cx="355600" cy="3556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254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2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24000" y="4203700"/>
            <a:ext cx="787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Explore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Iteratively test candidate (M, c, k) combinations from parameter space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93800" y="4610100"/>
            <a:ext cx="0" cy="2540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16000" y="4991100"/>
            <a:ext cx="355600" cy="3556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49911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3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524000" y="4940300"/>
            <a:ext cx="787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Simulate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For each candidate, run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MaxIterTime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consecutive compaction decisions in memory to estimate average cost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93800" y="5346700"/>
            <a:ext cx="0" cy="2540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016000" y="5727700"/>
            <a:ext cx="355600" cy="355600"/>
          </a:xfrm>
          <a:prstGeom prst="ellipse">
            <a:avLst/>
          </a:prstGeom>
          <a:solidFill>
            <a:srgbClr val="2D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57277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4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524000" y="5676900"/>
            <a:ext cx="787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Select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Choose parameter set with lowest estimated cost and apply to system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193800" y="6083300"/>
            <a:ext cx="0" cy="2540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016000" y="6464300"/>
            <a:ext cx="355600" cy="3556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64643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5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524000" y="6413500"/>
            <a:ext cx="787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Adapt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Continuously monitor; re-trigger from Step 1 when drift exceeds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d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62000" y="7162800"/>
            <a:ext cx="8890000" cy="1397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5050" y="7416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35" name="Text 33"/>
          <p:cNvSpPr/>
          <p:nvPr/>
        </p:nvSpPr>
        <p:spPr>
          <a:xfrm>
            <a:off x="1447800" y="7289800"/>
            <a:ext cx="7950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Multi-threading Extension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16000" y="767080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Uses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Amdahl's Law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to model the accelerating effect of concurrent foreground threads on background compaction windows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982199" y="609600"/>
            <a:ext cx="5080001" cy="26416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10099565" y="674851"/>
            <a:ext cx="4826000" cy="372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000" b="1" kern="0" spc="200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PARAMETER SPACE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147300" y="1112379"/>
            <a:ext cx="4377996" cy="132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M </a:t>
            </a:r>
            <a:r>
              <a:rPr lang="en-US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Long-term benefit weight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r>
              <a:rPr lang="en-US" dirty="0">
                <a:solidFill>
                  <a:srgbClr val="FFFFFF">
                    <a:alpha val="6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Balances future reads vs. current stall penalty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147300" y="1747474"/>
            <a:ext cx="4377996" cy="816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 </a:t>
            </a:r>
            <a:r>
              <a:rPr lang="en-US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Stall threshold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r>
              <a:rPr lang="en-US" dirty="0">
                <a:solidFill>
                  <a:srgbClr val="FFFFFF">
                    <a:alpha val="6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Max sorted runs before write stall triggers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0147300" y="2457229"/>
            <a:ext cx="4377996" cy="79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k </a:t>
            </a:r>
            <a:r>
              <a:rPr lang="en-US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Stall rate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r>
              <a:rPr lang="en-US" dirty="0">
                <a:solidFill>
                  <a:srgbClr val="FFFFFF">
                    <a:alpha val="6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Update limitation rate when stall active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10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E0C97995-9BA7-7F50-2D49-98100B2F4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198" y="3314700"/>
            <a:ext cx="5080002" cy="54625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Architecture of ArceKV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270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Built on industrial-grade LSM-tree storage engine: </a:t>
            </a:r>
            <a:r>
              <a:rPr lang="en-US" sz="1600" b="1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RocksDB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458200" y="180559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Engineering Optimizations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458200" y="228819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58200" y="2288190"/>
            <a:ext cx="76200" cy="1524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0" name="Text 38"/>
          <p:cNvSpPr/>
          <p:nvPr/>
        </p:nvSpPr>
        <p:spPr>
          <a:xfrm>
            <a:off x="8737600" y="236439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Parallel Simulation (SIMD)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737600" y="2719990"/>
            <a:ext cx="660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Uses </a:t>
            </a:r>
            <a:r>
              <a:rPr lang="en-US" sz="16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Eigen</a:t>
            </a:r>
            <a:r>
              <a:rPr lang="en-US" sz="16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library and SIMD instructions for vectorized computation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Decision in &lt;30 microseconds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458200" y="399218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58200" y="3992180"/>
            <a:ext cx="76200" cy="1524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44" name="Text 42"/>
          <p:cNvSpPr/>
          <p:nvPr/>
        </p:nvSpPr>
        <p:spPr>
          <a:xfrm>
            <a:off x="8737600" y="406838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Parameter Pruning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737600" y="4449380"/>
            <a:ext cx="660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Coarse-grained search for M and c with upper bounds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Reduces computation overhead significantly</a:t>
            </a:r>
            <a:endParaRPr lang="en-US" sz="20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11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02F7E595-A691-F44B-49C7-59CBBB7D2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805590"/>
            <a:ext cx="7772400" cy="60781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 Setup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320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Comparison Baselines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12048"/>
              </p:ext>
            </p:extLst>
          </p:nvPr>
        </p:nvGraphicFramePr>
        <p:xfrm>
          <a:off x="762000" y="1778000"/>
          <a:ext cx="14732000" cy="3683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Category</a:t>
                      </a:r>
                      <a:endParaRPr lang="en-US" sz="24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System</a:t>
                      </a:r>
                      <a:endParaRPr lang="en-US" sz="24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Description</a:t>
                      </a:r>
                      <a:endParaRPr lang="en-US" sz="24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F2E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Traditional</a:t>
                      </a:r>
                      <a:endParaRPr lang="en-US" sz="20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F2E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Leveling, Tiering, 1-Leveling</a:t>
                      </a:r>
                      <a:endParaRPr lang="en-US" sz="20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F2E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Read-optimal, write-optimal, RocksDB default</a:t>
                      </a:r>
                      <a:endParaRPr lang="en-US" sz="20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F2E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SOTA Academic</a:t>
                      </a:r>
                      <a:endParaRPr lang="en-US" sz="20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F2E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LazyLeveling, Moose, Ruskey, CAMAL</a:t>
                      </a:r>
                      <a:endParaRPr lang="en-US" sz="20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F2E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DP static optimal, RL-based, hybrid approaches</a:t>
                      </a:r>
                      <a:endParaRPr lang="en-US" sz="20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F2E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Industrial</a:t>
                      </a:r>
                      <a:endParaRPr lang="en-US" sz="20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F2E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Pebble, WiredTiger, Cassandra</a:t>
                      </a:r>
                      <a:endParaRPr lang="en-US" sz="20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F2E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Production-grade KV stores</a:t>
                      </a:r>
                      <a:endParaRPr lang="en-US" sz="20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F2E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ArceKV (Ours)</a:t>
                      </a:r>
                      <a:endParaRPr lang="en-US" sz="20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1A1F2E"/>
                          </a:solidFill>
                          <a:latin typeface="Libertinus Serif" pitchFamily="2" charset="0"/>
                          <a:ea typeface="Libertinus Serif" pitchFamily="2" charset="0"/>
                          <a:cs typeface="Libertinus Serif" pitchFamily="2" charset="0"/>
                        </a:rPr>
                        <a:t>ElasticLSM + ARCE on RocksDB</a:t>
                      </a:r>
                      <a:endParaRPr lang="en-US" sz="2000" dirty="0">
                        <a:latin typeface="Libertinus Serif" pitchFamily="2" charset="0"/>
                        <a:ea typeface="Libertinus Serif" pitchFamily="2" charset="0"/>
                        <a:cs typeface="Libertinus Serif" pitchFamily="2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800" dirty="0">
                        <a:latin typeface="Libertinus Serif" pitchFamily="2" charset="0"/>
                        <a:cs typeface="Libertinus Serif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D0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9"/>
          <p:cNvSpPr/>
          <p:nvPr/>
        </p:nvSpPr>
        <p:spPr>
          <a:xfrm>
            <a:off x="762000" y="5715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Dynamic Workload Generation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62000" y="6223000"/>
            <a:ext cx="6604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6000" y="63246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Composite Workload I &amp; II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16000" y="67310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Combine sub-workloads with extreme read/write ratios: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98% read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↔ </a:t>
            </a:r>
            <a:r>
              <a:rPr lang="en-US" sz="20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98% write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Test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abrupt shifts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and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gradual transitions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12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0915D4C-4AD2-8522-9BD6-20253AC76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298" y="6223000"/>
            <a:ext cx="8013702" cy="215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Experimental Results: System Performance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3716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5200" y="1447800"/>
            <a:ext cx="152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3x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5200" y="2032000"/>
            <a:ext cx="429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Speedup over SOTA under dynamic scenarios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78500" y="13716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1700" y="14478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2.17-2.92x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81700" y="2032000"/>
            <a:ext cx="429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Improvement over Tiering &amp; LazyLeveling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795000" y="13716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98200" y="14478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1.41-2.00x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98200" y="2032000"/>
            <a:ext cx="429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Improvement over adaptive 1-Leveling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13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23D41EC3-7269-5C99-6ED2-6C3CA9A32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20400"/>
            <a:ext cx="14808852" cy="42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387EB3-4133-07AE-2DFD-25814F7B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CE32A6-CBF2-15BE-B23F-FFFC7C68D3B4}"/>
              </a:ext>
            </a:extLst>
          </p:cNvPr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5754F9C-0A71-D25E-880A-F5799BB94AC1}"/>
              </a:ext>
            </a:extLst>
          </p:cNvPr>
          <p:cNvSpPr/>
          <p:nvPr/>
        </p:nvSpPr>
        <p:spPr>
          <a:xfrm>
            <a:off x="8128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CD5632-936C-881E-9F06-D057749C94EF}"/>
              </a:ext>
            </a:extLst>
          </p:cNvPr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8742D1-55E8-4234-EAFE-217A069E7ECC}"/>
              </a:ext>
            </a:extLst>
          </p:cNvPr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13B593-6A19-B3D1-D0DC-BEC1F778F153}"/>
              </a:ext>
            </a:extLst>
          </p:cNvPr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2A79F2-32E7-B7A3-F102-BFFA25F0FC2E}"/>
              </a:ext>
            </a:extLst>
          </p:cNvPr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09038E-CC9B-1A01-924B-D4C3A0F99689}"/>
              </a:ext>
            </a:extLst>
          </p:cNvPr>
          <p:cNvSpPr/>
          <p:nvPr/>
        </p:nvSpPr>
        <p:spPr>
          <a:xfrm>
            <a:off x="7620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Experimental Results: System Performance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0BA50BF-BCF7-B6A6-0B76-FDC1BCA4EC9C}"/>
              </a:ext>
            </a:extLst>
          </p:cNvPr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16F86E5-B44D-D923-FBAD-018A2D09E575}"/>
              </a:ext>
            </a:extLst>
          </p:cNvPr>
          <p:cNvSpPr/>
          <p:nvPr/>
        </p:nvSpPr>
        <p:spPr>
          <a:xfrm>
            <a:off x="762000" y="13716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F496D05-E586-8D9C-5CBE-ECE8B61E1475}"/>
              </a:ext>
            </a:extLst>
          </p:cNvPr>
          <p:cNvSpPr/>
          <p:nvPr/>
        </p:nvSpPr>
        <p:spPr>
          <a:xfrm>
            <a:off x="965200" y="1447800"/>
            <a:ext cx="152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3x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418B23B-24C3-C6B3-7120-9230B03A4F1E}"/>
              </a:ext>
            </a:extLst>
          </p:cNvPr>
          <p:cNvSpPr/>
          <p:nvPr/>
        </p:nvSpPr>
        <p:spPr>
          <a:xfrm>
            <a:off x="965200" y="2032000"/>
            <a:ext cx="429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Speedup over SOTA under dynamic scenarios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097B3E8-4639-963E-293C-05AD09366D78}"/>
              </a:ext>
            </a:extLst>
          </p:cNvPr>
          <p:cNvSpPr/>
          <p:nvPr/>
        </p:nvSpPr>
        <p:spPr>
          <a:xfrm>
            <a:off x="5778500" y="13716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65F786F-CE15-DB54-253C-A252A80A64B9}"/>
              </a:ext>
            </a:extLst>
          </p:cNvPr>
          <p:cNvSpPr/>
          <p:nvPr/>
        </p:nvSpPr>
        <p:spPr>
          <a:xfrm>
            <a:off x="5981700" y="14478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2.17-2.92x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E11E8A7-69FD-4F20-857C-7BAED72A245A}"/>
              </a:ext>
            </a:extLst>
          </p:cNvPr>
          <p:cNvSpPr/>
          <p:nvPr/>
        </p:nvSpPr>
        <p:spPr>
          <a:xfrm>
            <a:off x="5981700" y="2032000"/>
            <a:ext cx="429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Improvement over Tiering &amp; LazyLeveling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2D575A4-EC63-7DF3-946D-D568868EF7F6}"/>
              </a:ext>
            </a:extLst>
          </p:cNvPr>
          <p:cNvSpPr/>
          <p:nvPr/>
        </p:nvSpPr>
        <p:spPr>
          <a:xfrm>
            <a:off x="10795000" y="13716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4C9A4C6-723B-7D3A-FD7D-D47C96D6B599}"/>
              </a:ext>
            </a:extLst>
          </p:cNvPr>
          <p:cNvSpPr/>
          <p:nvPr/>
        </p:nvSpPr>
        <p:spPr>
          <a:xfrm>
            <a:off x="10998200" y="14478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1.41-2.00x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1DC66DA-399B-3455-5ECD-9D875DC370C4}"/>
              </a:ext>
            </a:extLst>
          </p:cNvPr>
          <p:cNvSpPr/>
          <p:nvPr/>
        </p:nvSpPr>
        <p:spPr>
          <a:xfrm>
            <a:off x="10998200" y="2032000"/>
            <a:ext cx="429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Improvement over adaptive 1-Leveling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C0B1F87-1DBC-9196-0E34-CE8539BA256E}"/>
              </a:ext>
            </a:extLst>
          </p:cNvPr>
          <p:cNvSpPr/>
          <p:nvPr/>
        </p:nvSpPr>
        <p:spPr>
          <a:xfrm>
            <a:off x="762000" y="2895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Key Findings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EA721CC-70D7-49CD-5049-877FBAF4ACD0}"/>
              </a:ext>
            </a:extLst>
          </p:cNvPr>
          <p:cNvSpPr/>
          <p:nvPr/>
        </p:nvSpPr>
        <p:spPr>
          <a:xfrm>
            <a:off x="762000" y="33782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98FEC48-8497-3683-F3D7-B92CB2DA1D25}"/>
              </a:ext>
            </a:extLst>
          </p:cNvPr>
          <p:cNvSpPr/>
          <p:nvPr/>
        </p:nvSpPr>
        <p:spPr>
          <a:xfrm>
            <a:off x="762000" y="3378200"/>
            <a:ext cx="76200" cy="1524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D97659C-0F4E-196E-3103-592031955253}"/>
              </a:ext>
            </a:extLst>
          </p:cNvPr>
          <p:cNvSpPr/>
          <p:nvPr/>
        </p:nvSpPr>
        <p:spPr>
          <a:xfrm>
            <a:off x="1041400" y="34544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Top-Tier Throughput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F62CDDF-BE3E-941F-E733-D73F51A02BE6}"/>
              </a:ext>
            </a:extLst>
          </p:cNvPr>
          <p:cNvSpPr/>
          <p:nvPr/>
        </p:nvSpPr>
        <p:spPr>
          <a:xfrm>
            <a:off x="1041400" y="3835400"/>
            <a:ext cx="660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maintains top-tier throughput across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almost all sub-workloads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in both Workload I and II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8EA7721-98B3-17A2-E2AD-4EFDC7B660D1}"/>
              </a:ext>
            </a:extLst>
          </p:cNvPr>
          <p:cNvSpPr/>
          <p:nvPr/>
        </p:nvSpPr>
        <p:spPr>
          <a:xfrm>
            <a:off x="8382000" y="33782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960C3B0-15D7-9773-A729-99912A062D11}"/>
              </a:ext>
            </a:extLst>
          </p:cNvPr>
          <p:cNvSpPr/>
          <p:nvPr/>
        </p:nvSpPr>
        <p:spPr>
          <a:xfrm>
            <a:off x="8382000" y="3378200"/>
            <a:ext cx="76200" cy="1524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9BC5591-D4AD-6E94-560C-86B5244F4871}"/>
              </a:ext>
            </a:extLst>
          </p:cNvPr>
          <p:cNvSpPr/>
          <p:nvPr/>
        </p:nvSpPr>
        <p:spPr>
          <a:xfrm>
            <a:off x="8661400" y="34544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Fast Adaptation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44CA962-F7A0-0C07-6565-96415D5BA2C9}"/>
              </a:ext>
            </a:extLst>
          </p:cNvPr>
          <p:cNvSpPr/>
          <p:nvPr/>
        </p:nvSpPr>
        <p:spPr>
          <a:xfrm>
            <a:off x="8661400" y="3835400"/>
            <a:ext cx="660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Even extreme write-to-read mutations (B→D), ArceKV adjusts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rapidly without latency spikes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DFC40A1-1318-8E44-081A-F2892E5F9773}"/>
              </a:ext>
            </a:extLst>
          </p:cNvPr>
          <p:cNvSpPr/>
          <p:nvPr/>
        </p:nvSpPr>
        <p:spPr>
          <a:xfrm>
            <a:off x="762000" y="51054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868AFB1-282C-3D17-D6BD-5B3E74B97F20}"/>
              </a:ext>
            </a:extLst>
          </p:cNvPr>
          <p:cNvSpPr/>
          <p:nvPr/>
        </p:nvSpPr>
        <p:spPr>
          <a:xfrm>
            <a:off x="762000" y="5105400"/>
            <a:ext cx="76200" cy="15240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8BDB26B-06D1-1CC9-396F-1B9C6F1A826F}"/>
              </a:ext>
            </a:extLst>
          </p:cNvPr>
          <p:cNvSpPr/>
          <p:nvPr/>
        </p:nvSpPr>
        <p:spPr>
          <a:xfrm>
            <a:off x="1041400" y="51816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Superior to SOTA Methods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945053E-DFFA-C15F-448A-2B43E8A60BDD}"/>
              </a:ext>
            </a:extLst>
          </p:cNvPr>
          <p:cNvSpPr/>
          <p:nvPr/>
        </p:nvSpPr>
        <p:spPr>
          <a:xfrm>
            <a:off x="1041400" y="5562600"/>
            <a:ext cx="660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2.17-2.92x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over Tiering &amp; LazyLeveling;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1.41-2.00x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over most adaptive 1-Leveling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0B52E6F-75A9-ABE5-7DC6-105FD65B484E}"/>
              </a:ext>
            </a:extLst>
          </p:cNvPr>
          <p:cNvSpPr/>
          <p:nvPr/>
        </p:nvSpPr>
        <p:spPr>
          <a:xfrm>
            <a:off x="8382000" y="5105400"/>
            <a:ext cx="7112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50CA6B6-3A77-801A-363D-A5B51D6B1CEF}"/>
              </a:ext>
            </a:extLst>
          </p:cNvPr>
          <p:cNvSpPr/>
          <p:nvPr/>
        </p:nvSpPr>
        <p:spPr>
          <a:xfrm>
            <a:off x="8382000" y="5105400"/>
            <a:ext cx="76200" cy="1524000"/>
          </a:xfrm>
          <a:prstGeom prst="rect">
            <a:avLst/>
          </a:prstGeom>
          <a:solidFill>
            <a:srgbClr val="8B9DAF"/>
          </a:solidFill>
          <a:ln/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6FEB95B-CD97-A226-8741-51EB0F339A48}"/>
              </a:ext>
            </a:extLst>
          </p:cNvPr>
          <p:cNvSpPr/>
          <p:nvPr/>
        </p:nvSpPr>
        <p:spPr>
          <a:xfrm>
            <a:off x="8661400" y="51816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Low Tail Latency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E782BCE-19E3-C57E-5E2D-BCC158426ACB}"/>
              </a:ext>
            </a:extLst>
          </p:cNvPr>
          <p:cNvSpPr/>
          <p:nvPr/>
        </p:nvSpPr>
        <p:spPr>
          <a:xfrm>
            <a:off x="8661400" y="5562600"/>
            <a:ext cx="660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consistently maintains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extremely low P99.9 latency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across all workload transitions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5E27035-90C0-94BC-9452-6B2E68A167C9}"/>
              </a:ext>
            </a:extLst>
          </p:cNvPr>
          <p:cNvSpPr/>
          <p:nvPr/>
        </p:nvSpPr>
        <p:spPr>
          <a:xfrm>
            <a:off x="762000" y="6959600"/>
            <a:ext cx="147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i="1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Note: Figures 8 &amp; 9 from the original paper show detailed throughput comparisons. ArceKV's performance remains consistently at the top.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009538D-2FE3-194F-59CD-6276FE09E42D}"/>
              </a:ext>
            </a:extLst>
          </p:cNvPr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14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75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Action Analysis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3208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ElasticLSM Action Advantages (Fig. 9)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1803400"/>
            <a:ext cx="711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1803400"/>
            <a:ext cx="76200" cy="19685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1879599"/>
            <a:ext cx="6604000" cy="3655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Read-Intensive Phases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41400" y="2260599"/>
            <a:ext cx="6604000" cy="134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Executes </a:t>
            </a: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multi-level compactions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Reduces sorted runs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faster than Leveling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Rapidly improves read performance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82000" y="1803400"/>
            <a:ext cx="711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1803400"/>
            <a:ext cx="76200" cy="19685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61400" y="1879599"/>
            <a:ext cx="6604000" cy="3655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Write-Intensive Phases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61400" y="2260599"/>
            <a:ext cx="6604000" cy="134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Boldly defers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compaction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Allows accumulation,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low write stall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Maximizes write throughput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2000" y="3976852"/>
            <a:ext cx="14732000" cy="711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977900" y="4103852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" y="3976852"/>
            <a:ext cx="13766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r>
              <a:rPr lang="en-US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Dynamic perfect balance between compaction aggressiveness and write stall control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15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7893DA8-235D-4ABE-8EBF-192394143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4765883"/>
            <a:ext cx="7772400" cy="42765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DE046-DC42-A752-B375-EF1B68CA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E3843A-766C-F151-364D-00C7CDAB2DD9}"/>
              </a:ext>
            </a:extLst>
          </p:cNvPr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C097F4-18E5-A3F7-33B0-F441A3FAFC88}"/>
              </a:ext>
            </a:extLst>
          </p:cNvPr>
          <p:cNvSpPr/>
          <p:nvPr/>
        </p:nvSpPr>
        <p:spPr>
          <a:xfrm>
            <a:off x="8128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A831E1-E299-F685-3C2B-7D8B6593B151}"/>
              </a:ext>
            </a:extLst>
          </p:cNvPr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2DCC30-7FB0-D8CD-D0B9-155FED505B28}"/>
              </a:ext>
            </a:extLst>
          </p:cNvPr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30DCFB-F1D5-8543-C5CA-BEA8030E9278}"/>
              </a:ext>
            </a:extLst>
          </p:cNvPr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02A091-3D49-5790-57DF-F654DA3813D0}"/>
              </a:ext>
            </a:extLst>
          </p:cNvPr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04251C4-21A6-AE3E-97C1-CCBE5B34CE11}"/>
              </a:ext>
            </a:extLst>
          </p:cNvPr>
          <p:cNvSpPr/>
          <p:nvPr/>
        </p:nvSpPr>
        <p:spPr>
          <a:xfrm>
            <a:off x="7620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Scalability &amp; </a:t>
            </a:r>
            <a:r>
              <a:rPr lang="en-US" altLang="zh-CN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Industrial Comparison </a:t>
            </a:r>
            <a:endParaRPr lang="en-US" sz="3200" dirty="0">
              <a:solidFill>
                <a:srgbClr val="2D3A5C"/>
              </a:solidFill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3DE1DEE-506D-74D8-7ACD-C4450E17155D}"/>
              </a:ext>
            </a:extLst>
          </p:cNvPr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527A5C2-D06E-C8E9-CBBC-4844A0A27A26}"/>
              </a:ext>
            </a:extLst>
          </p:cNvPr>
          <p:cNvSpPr/>
          <p:nvPr/>
        </p:nvSpPr>
        <p:spPr>
          <a:xfrm>
            <a:off x="684924" y="158093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Concurrent Scalability 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F76B5F8-C1B2-6D54-23E3-8E0C55EC5E1D}"/>
              </a:ext>
            </a:extLst>
          </p:cNvPr>
          <p:cNvSpPr/>
          <p:nvPr/>
        </p:nvSpPr>
        <p:spPr>
          <a:xfrm>
            <a:off x="681421" y="2010244"/>
            <a:ext cx="7022662" cy="26407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20AFF18-249C-1F7C-F723-A8660362915C}"/>
              </a:ext>
            </a:extLst>
          </p:cNvPr>
          <p:cNvSpPr/>
          <p:nvPr/>
        </p:nvSpPr>
        <p:spPr>
          <a:xfrm>
            <a:off x="762000" y="2136086"/>
            <a:ext cx="694208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Scalability Insights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80E73D0-35AE-E4C3-4F88-DC2AB39662EC}"/>
              </a:ext>
            </a:extLst>
          </p:cNvPr>
          <p:cNvSpPr/>
          <p:nvPr/>
        </p:nvSpPr>
        <p:spPr>
          <a:xfrm>
            <a:off x="762000" y="2593286"/>
            <a:ext cx="694208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1-Leveling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Rigid stall thresholds cause frequent stalls as threads increase → throughput plateaus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Dynamically adjusts stall thresholds and compaction scheduling with thread count</a:t>
            </a:r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Best concurrent scalability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D579D0D-38C5-56DF-910C-C3434DFCCFAB}"/>
              </a:ext>
            </a:extLst>
          </p:cNvPr>
          <p:cNvSpPr/>
          <p:nvPr/>
        </p:nvSpPr>
        <p:spPr>
          <a:xfrm>
            <a:off x="15317076" y="87376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16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EA5053A3-CAA3-81BD-17AF-27736F889DB7}"/>
              </a:ext>
            </a:extLst>
          </p:cNvPr>
          <p:cNvSpPr/>
          <p:nvPr/>
        </p:nvSpPr>
        <p:spPr>
          <a:xfrm>
            <a:off x="684924" y="4777686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vs. Industrial KV Stores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3D9389FB-3D7A-121F-B48C-35C4E00029BE}"/>
              </a:ext>
            </a:extLst>
          </p:cNvPr>
          <p:cNvSpPr/>
          <p:nvPr/>
        </p:nvSpPr>
        <p:spPr>
          <a:xfrm>
            <a:off x="681420" y="5259940"/>
            <a:ext cx="7022661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4361C206-7AC0-FFFA-1A2B-545EABDB2278}"/>
              </a:ext>
            </a:extLst>
          </p:cNvPr>
          <p:cNvSpPr/>
          <p:nvPr/>
        </p:nvSpPr>
        <p:spPr>
          <a:xfrm>
            <a:off x="762000" y="5411994"/>
            <a:ext cx="680544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Key Results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3498C9B3-B3AE-A96E-9344-C9D5AB722D23}"/>
              </a:ext>
            </a:extLst>
          </p:cNvPr>
          <p:cNvSpPr/>
          <p:nvPr/>
        </p:nvSpPr>
        <p:spPr>
          <a:xfrm>
            <a:off x="762000" y="5894594"/>
            <a:ext cx="680544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is </a:t>
            </a:r>
            <a:r>
              <a:rPr lang="en-US" sz="32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&gt;10x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faster than Cassandra and WiredTiger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B395AD6C-BD2E-A533-2E17-3037F13A3452}"/>
              </a:ext>
            </a:extLst>
          </p:cNvPr>
          <p:cNvSpPr/>
          <p:nvPr/>
        </p:nvSpPr>
        <p:spPr>
          <a:xfrm>
            <a:off x="762000" y="6783594"/>
            <a:ext cx="680544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is </a:t>
            </a:r>
            <a:r>
              <a:rPr lang="en-US" sz="32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~3x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better than Pebble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39D0B979-4B4B-9344-FD99-C27C4AA44ECB}"/>
              </a:ext>
            </a:extLst>
          </p:cNvPr>
          <p:cNvSpPr/>
          <p:nvPr/>
        </p:nvSpPr>
        <p:spPr>
          <a:xfrm>
            <a:off x="762000" y="7672594"/>
            <a:ext cx="680544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Pebble limited by Go GC, syscall overhead, and lacks fine-grained dynamic tuning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01B69633-6691-5735-6F90-49D043609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290" y="1838089"/>
            <a:ext cx="7772400" cy="484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02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YCSB Workloads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8" name="Shape 15"/>
          <p:cNvSpPr/>
          <p:nvPr/>
        </p:nvSpPr>
        <p:spPr>
          <a:xfrm>
            <a:off x="762000" y="1395249"/>
            <a:ext cx="14732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6000" y="1547649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Tested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Zipfian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and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Latest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distributions across YCSB workloads A-F: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By avoiding re-simulation of parameter configurations when workload shifts, ArceKV expands compaction search space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16000" y="2639849"/>
            <a:ext cx="14224000" cy="1270000"/>
          </a:xfrm>
          <a:prstGeom prst="rect">
            <a:avLst/>
          </a:prstGeom>
          <a:solidFill>
            <a:srgbClr val="B87333">
              <a:alpha val="8235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270000" y="297004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22" name="Text 19"/>
          <p:cNvSpPr/>
          <p:nvPr/>
        </p:nvSpPr>
        <p:spPr>
          <a:xfrm>
            <a:off x="1778000" y="2639849"/>
            <a:ext cx="1320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achieves </a:t>
            </a: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consistently highest performance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across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all YCSB workloads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(A through F), demonstrating robust adaptivity under diverse access patterns and skew distributions.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17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7DA18F4-6B6A-655A-97C8-72D06E9F6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095" y="4230325"/>
            <a:ext cx="9023131" cy="45580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/>
          <p:cNvSpPr/>
          <p:nvPr/>
        </p:nvSpPr>
        <p:spPr>
          <a:xfrm>
            <a:off x="8128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09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Parameter Studies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143000"/>
            <a:ext cx="2426138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0" name="Shape 8"/>
          <p:cNvSpPr/>
          <p:nvPr/>
        </p:nvSpPr>
        <p:spPr>
          <a:xfrm>
            <a:off x="761999" y="1371600"/>
            <a:ext cx="14078607" cy="29437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5999" y="1473200"/>
            <a:ext cx="1261591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Parameter Sensitivity</a:t>
            </a:r>
            <a:endParaRPr lang="en-US" sz="28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5999" y="1905000"/>
            <a:ext cx="1261591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Recompute threshold </a:t>
            </a:r>
            <a:r>
              <a:rPr lang="en-US" sz="24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d = 0.1</a:t>
            </a:r>
            <a:r>
              <a:rPr lang="en-US" sz="24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: Best balance between minimizing recompute cost and maintaining responsiveness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5999" y="3110186"/>
            <a:ext cx="1261591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Background simulation overhead: </a:t>
            </a:r>
            <a:r>
              <a:rPr lang="en-US" sz="24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&lt;2% CPU time</a:t>
            </a:r>
            <a:r>
              <a:rPr lang="en-US" sz="24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(SIMD acceleration)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18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72F9DF8-E702-6D0D-F0EA-F683FA86D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920" y="4828629"/>
            <a:ext cx="7284080" cy="23735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A0627-6833-0C3A-2875-43B434141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511528-DEFA-1923-AE03-ADA572F49063}"/>
              </a:ext>
            </a:extLst>
          </p:cNvPr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2886171-7270-2F37-2A03-465CE71DB88E}"/>
              </a:ext>
            </a:extLst>
          </p:cNvPr>
          <p:cNvSpPr/>
          <p:nvPr/>
        </p:nvSpPr>
        <p:spPr>
          <a:xfrm>
            <a:off x="8128000" y="419100"/>
            <a:ext cx="4064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07CFEE-1372-0034-FC56-43B64C4FDAED}"/>
              </a:ext>
            </a:extLst>
          </p:cNvPr>
          <p:cNvSpPr/>
          <p:nvPr/>
        </p:nvSpPr>
        <p:spPr>
          <a:xfrm>
            <a:off x="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BACKGROUND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CD5E53-09BE-C604-1EE0-AA34EB7968F2}"/>
              </a:ext>
            </a:extLst>
          </p:cNvPr>
          <p:cNvSpPr/>
          <p:nvPr/>
        </p:nvSpPr>
        <p:spPr>
          <a:xfrm>
            <a:off x="4064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 DESIGN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F56746-0833-FC49-7685-B18000FB2504}"/>
              </a:ext>
            </a:extLst>
          </p:cNvPr>
          <p:cNvSpPr/>
          <p:nvPr/>
        </p:nvSpPr>
        <p:spPr>
          <a:xfrm>
            <a:off x="8128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1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EVALUATION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6DAC91-9ABC-7731-5A33-EAFC79DBD5F8}"/>
              </a:ext>
            </a:extLst>
          </p:cNvPr>
          <p:cNvSpPr/>
          <p:nvPr/>
        </p:nvSpPr>
        <p:spPr>
          <a:xfrm>
            <a:off x="12192000" y="0"/>
            <a:ext cx="406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70196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C24DF1D-F113-F448-E92E-C57F85EE57EC}"/>
              </a:ext>
            </a:extLst>
          </p:cNvPr>
          <p:cNvSpPr/>
          <p:nvPr/>
        </p:nvSpPr>
        <p:spPr>
          <a:xfrm>
            <a:off x="762000" y="609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3A5C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Case Studies</a:t>
            </a:r>
            <a:endParaRPr lang="en-US" sz="32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EB05380-21A0-F365-C438-1FD03843F3DF}"/>
              </a:ext>
            </a:extLst>
          </p:cNvPr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092B771-B5CD-69C8-C95E-371B20367486}"/>
              </a:ext>
            </a:extLst>
          </p:cNvPr>
          <p:cNvSpPr/>
          <p:nvPr/>
        </p:nvSpPr>
        <p:spPr>
          <a:xfrm>
            <a:off x="762000" y="1425903"/>
            <a:ext cx="4699000" cy="3403601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12FA100-9956-C8FC-FD35-0BE0542E0C06}"/>
              </a:ext>
            </a:extLst>
          </p:cNvPr>
          <p:cNvSpPr/>
          <p:nvPr/>
        </p:nvSpPr>
        <p:spPr>
          <a:xfrm>
            <a:off x="762000" y="1425904"/>
            <a:ext cx="4699000" cy="457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9C81C44-2C6F-7E77-F3DE-224B3DECB60A}"/>
              </a:ext>
            </a:extLst>
          </p:cNvPr>
          <p:cNvSpPr/>
          <p:nvPr/>
        </p:nvSpPr>
        <p:spPr>
          <a:xfrm>
            <a:off x="762000" y="1425904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MVCC Read Amplification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6897145-E3DE-EE65-ED36-0E195FB23A86}"/>
              </a:ext>
            </a:extLst>
          </p:cNvPr>
          <p:cNvSpPr/>
          <p:nvPr/>
        </p:nvSpPr>
        <p:spPr>
          <a:xfrm>
            <a:off x="965200" y="2035504"/>
            <a:ext cx="4292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Identifies long version chains from massive updates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Assigns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low compaction penalty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Converges to Leveling-like behavior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</a:t>
            </a: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Effectively reduces read latency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4743D2B-D34B-35E1-7B82-2A4047756733}"/>
              </a:ext>
            </a:extLst>
          </p:cNvPr>
          <p:cNvSpPr/>
          <p:nvPr/>
        </p:nvSpPr>
        <p:spPr>
          <a:xfrm>
            <a:off x="5778500" y="1425903"/>
            <a:ext cx="4699000" cy="3403601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BD17481-96EA-E2A1-786F-F5ADE2725ABD}"/>
              </a:ext>
            </a:extLst>
          </p:cNvPr>
          <p:cNvSpPr/>
          <p:nvPr/>
        </p:nvSpPr>
        <p:spPr>
          <a:xfrm>
            <a:off x="5778500" y="1425904"/>
            <a:ext cx="4699000" cy="4572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A843764-24EA-0C5F-B4C8-14091348A396}"/>
              </a:ext>
            </a:extLst>
          </p:cNvPr>
          <p:cNvSpPr/>
          <p:nvPr/>
        </p:nvSpPr>
        <p:spPr>
          <a:xfrm>
            <a:off x="5778500" y="1425904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Smooth Workload Changes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9F28B6E-EDF7-A341-ADA6-EE7EF24A7432}"/>
              </a:ext>
            </a:extLst>
          </p:cNvPr>
          <p:cNvSpPr/>
          <p:nvPr/>
        </p:nvSpPr>
        <p:spPr>
          <a:xfrm>
            <a:off x="5981700" y="2035504"/>
            <a:ext cx="4292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Write ratio: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10% → 90% → 10%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Gradual transition test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ArceKV maintains </a:t>
            </a:r>
            <a:r>
              <a:rPr lang="en-US" sz="2000" b="1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most stable</a:t>
            </a: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adaptive performance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</a:t>
            </a: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Smoothest adaptation curve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28DF94F-F555-E5AC-DDCA-F61B0FDB4883}"/>
              </a:ext>
            </a:extLst>
          </p:cNvPr>
          <p:cNvSpPr/>
          <p:nvPr/>
        </p:nvSpPr>
        <p:spPr>
          <a:xfrm>
            <a:off x="10795000" y="1425903"/>
            <a:ext cx="4699000" cy="3403601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C4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F5881D9-350E-5A3C-E963-2B434D499841}"/>
              </a:ext>
            </a:extLst>
          </p:cNvPr>
          <p:cNvSpPr/>
          <p:nvPr/>
        </p:nvSpPr>
        <p:spPr>
          <a:xfrm>
            <a:off x="10795000" y="1425904"/>
            <a:ext cx="4699000" cy="457200"/>
          </a:xfrm>
          <a:prstGeom prst="rect">
            <a:avLst/>
          </a:prstGeom>
          <a:solidFill>
            <a:srgbClr val="8B9DAF"/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7A4F757-D81B-9A93-D9D8-2F6EC6FB6F1B}"/>
              </a:ext>
            </a:extLst>
          </p:cNvPr>
          <p:cNvSpPr/>
          <p:nvPr/>
        </p:nvSpPr>
        <p:spPr>
          <a:xfrm>
            <a:off x="10795000" y="1425904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+ Range Filters (Grafite)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268DB98-2C4D-B037-E5DD-A578ED953797}"/>
              </a:ext>
            </a:extLst>
          </p:cNvPr>
          <p:cNvSpPr/>
          <p:nvPr/>
        </p:nvSpPr>
        <p:spPr>
          <a:xfrm>
            <a:off x="10998200" y="2035504"/>
            <a:ext cx="4292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Grafite range filter integrated into ArceKV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vs. SOTA range filter system GRF:</a:t>
            </a:r>
            <a:endParaRPr lang="en-US" sz="2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</a:t>
            </a: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~20% throughput ↑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F2E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• </a:t>
            </a:r>
            <a:r>
              <a:rPr lang="en-US" sz="2000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Latency halved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24AF786-E060-7B17-A7B4-9142E2F944F5}"/>
              </a:ext>
            </a:extLst>
          </p:cNvPr>
          <p:cNvSpPr/>
          <p:nvPr/>
        </p:nvSpPr>
        <p:spPr>
          <a:xfrm>
            <a:off x="15240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19</a:t>
            </a:r>
            <a:endParaRPr lang="en-US" sz="1400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A941B3B-5155-A862-AE49-B4934B888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65" y="5233786"/>
            <a:ext cx="15201407" cy="209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29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3A5C"/>
              </a:gs>
              <a:gs pos="100000">
                <a:srgbClr val="1E2940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0" y="1524000"/>
            <a:ext cx="2540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5588000" y="177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kern="0" spc="300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CONCLUSION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78000" y="2286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ArceKV: Data-Driven, Workload-Aware KV Storage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23000" y="3124200"/>
            <a:ext cx="3810000" cy="12700"/>
          </a:xfrm>
          <a:prstGeom prst="rect">
            <a:avLst/>
          </a:prstGeom>
          <a:solidFill>
            <a:srgbClr val="FFFFFF">
              <a:alpha val="26667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70000" y="3429000"/>
            <a:ext cx="4318000" cy="2032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9210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3987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Problem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73200" y="4343400"/>
            <a:ext cx="3911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Static compaction and write-stall strategies cause severe performance degradation under dynamic workloads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69000" y="3429000"/>
            <a:ext cx="4318000" cy="2032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75550" y="3556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88856" y="146199"/>
                </a:moveTo>
                <a:cubicBezTo>
                  <a:pt x="297329" y="143907"/>
                  <a:pt x="306219" y="147935"/>
                  <a:pt x="310039" y="155783"/>
                </a:cubicBezTo>
                <a:lnTo>
                  <a:pt x="322957" y="181898"/>
                </a:lnTo>
                <a:cubicBezTo>
                  <a:pt x="330111" y="182870"/>
                  <a:pt x="337125" y="184815"/>
                  <a:pt x="343724" y="187523"/>
                </a:cubicBezTo>
                <a:lnTo>
                  <a:pt x="368032" y="171341"/>
                </a:lnTo>
                <a:cubicBezTo>
                  <a:pt x="375325" y="166479"/>
                  <a:pt x="384979" y="167451"/>
                  <a:pt x="391160" y="173633"/>
                </a:cubicBezTo>
                <a:lnTo>
                  <a:pt x="404495" y="186968"/>
                </a:lnTo>
                <a:cubicBezTo>
                  <a:pt x="410676" y="193149"/>
                  <a:pt x="411649" y="202873"/>
                  <a:pt x="406787" y="210096"/>
                </a:cubicBezTo>
                <a:lnTo>
                  <a:pt x="390604" y="234335"/>
                </a:lnTo>
                <a:cubicBezTo>
                  <a:pt x="391924" y="237599"/>
                  <a:pt x="393105" y="241002"/>
                  <a:pt x="394077" y="244544"/>
                </a:cubicBezTo>
                <a:cubicBezTo>
                  <a:pt x="395049" y="248087"/>
                  <a:pt x="395674" y="251559"/>
                  <a:pt x="396161" y="255101"/>
                </a:cubicBezTo>
                <a:lnTo>
                  <a:pt x="422344" y="268020"/>
                </a:lnTo>
                <a:cubicBezTo>
                  <a:pt x="430193" y="271909"/>
                  <a:pt x="434221" y="280799"/>
                  <a:pt x="431929" y="289203"/>
                </a:cubicBezTo>
                <a:lnTo>
                  <a:pt x="427067" y="307400"/>
                </a:lnTo>
                <a:cubicBezTo>
                  <a:pt x="424775" y="315803"/>
                  <a:pt x="416927" y="321499"/>
                  <a:pt x="408176" y="320943"/>
                </a:cubicBezTo>
                <a:lnTo>
                  <a:pt x="379006" y="319068"/>
                </a:lnTo>
                <a:cubicBezTo>
                  <a:pt x="374630" y="324693"/>
                  <a:pt x="369560" y="329902"/>
                  <a:pt x="363795" y="334347"/>
                </a:cubicBezTo>
                <a:lnTo>
                  <a:pt x="365671" y="363448"/>
                </a:lnTo>
                <a:cubicBezTo>
                  <a:pt x="366226" y="372199"/>
                  <a:pt x="360531" y="380117"/>
                  <a:pt x="352127" y="382339"/>
                </a:cubicBezTo>
                <a:lnTo>
                  <a:pt x="333931" y="387201"/>
                </a:lnTo>
                <a:cubicBezTo>
                  <a:pt x="325457" y="389493"/>
                  <a:pt x="316637" y="385465"/>
                  <a:pt x="312747" y="377617"/>
                </a:cubicBezTo>
                <a:lnTo>
                  <a:pt x="299829" y="351502"/>
                </a:lnTo>
                <a:cubicBezTo>
                  <a:pt x="292675" y="350530"/>
                  <a:pt x="285661" y="348585"/>
                  <a:pt x="279063" y="345877"/>
                </a:cubicBezTo>
                <a:lnTo>
                  <a:pt x="254754" y="362059"/>
                </a:lnTo>
                <a:cubicBezTo>
                  <a:pt x="247461" y="366921"/>
                  <a:pt x="237808" y="365949"/>
                  <a:pt x="231626" y="359767"/>
                </a:cubicBezTo>
                <a:lnTo>
                  <a:pt x="218291" y="346432"/>
                </a:lnTo>
                <a:cubicBezTo>
                  <a:pt x="212110" y="340251"/>
                  <a:pt x="211138" y="330597"/>
                  <a:pt x="215999" y="323304"/>
                </a:cubicBezTo>
                <a:lnTo>
                  <a:pt x="232182" y="298996"/>
                </a:lnTo>
                <a:cubicBezTo>
                  <a:pt x="230862" y="295731"/>
                  <a:pt x="229681" y="292328"/>
                  <a:pt x="228709" y="288786"/>
                </a:cubicBezTo>
                <a:cubicBezTo>
                  <a:pt x="227737" y="285244"/>
                  <a:pt x="227112" y="281702"/>
                  <a:pt x="226626" y="278229"/>
                </a:cubicBezTo>
                <a:lnTo>
                  <a:pt x="200442" y="265311"/>
                </a:lnTo>
                <a:cubicBezTo>
                  <a:pt x="192594" y="261422"/>
                  <a:pt x="188635" y="252532"/>
                  <a:pt x="190857" y="244128"/>
                </a:cubicBezTo>
                <a:lnTo>
                  <a:pt x="195719" y="225931"/>
                </a:lnTo>
                <a:cubicBezTo>
                  <a:pt x="198011" y="217527"/>
                  <a:pt x="205859" y="211832"/>
                  <a:pt x="214610" y="212388"/>
                </a:cubicBezTo>
                <a:lnTo>
                  <a:pt x="243711" y="214263"/>
                </a:lnTo>
                <a:cubicBezTo>
                  <a:pt x="248087" y="208637"/>
                  <a:pt x="253157" y="203428"/>
                  <a:pt x="258921" y="198983"/>
                </a:cubicBezTo>
                <a:lnTo>
                  <a:pt x="257046" y="169952"/>
                </a:lnTo>
                <a:cubicBezTo>
                  <a:pt x="256490" y="161201"/>
                  <a:pt x="262186" y="153283"/>
                  <a:pt x="270589" y="151061"/>
                </a:cubicBezTo>
                <a:lnTo>
                  <a:pt x="288786" y="146199"/>
                </a:lnTo>
                <a:close/>
                <a:moveTo>
                  <a:pt x="311428" y="236141"/>
                </a:moveTo>
                <a:cubicBezTo>
                  <a:pt x="294562" y="236160"/>
                  <a:pt x="280884" y="249869"/>
                  <a:pt x="280903" y="266735"/>
                </a:cubicBezTo>
                <a:cubicBezTo>
                  <a:pt x="280922" y="283601"/>
                  <a:pt x="294631" y="297279"/>
                  <a:pt x="311497" y="297259"/>
                </a:cubicBezTo>
                <a:cubicBezTo>
                  <a:pt x="328363" y="297240"/>
                  <a:pt x="342041" y="283531"/>
                  <a:pt x="342022" y="266665"/>
                </a:cubicBezTo>
                <a:cubicBezTo>
                  <a:pt x="342003" y="249799"/>
                  <a:pt x="328294" y="236121"/>
                  <a:pt x="311428" y="236141"/>
                </a:cubicBezTo>
                <a:close/>
                <a:moveTo>
                  <a:pt x="156200" y="-31601"/>
                </a:moveTo>
                <a:lnTo>
                  <a:pt x="174397" y="-26739"/>
                </a:lnTo>
                <a:cubicBezTo>
                  <a:pt x="182801" y="-24448"/>
                  <a:pt x="188496" y="-16530"/>
                  <a:pt x="187940" y="-7848"/>
                </a:cubicBezTo>
                <a:lnTo>
                  <a:pt x="186065" y="21183"/>
                </a:lnTo>
                <a:cubicBezTo>
                  <a:pt x="191830" y="25628"/>
                  <a:pt x="196900" y="30768"/>
                  <a:pt x="201275" y="36463"/>
                </a:cubicBezTo>
                <a:lnTo>
                  <a:pt x="230445" y="34588"/>
                </a:lnTo>
                <a:cubicBezTo>
                  <a:pt x="239127" y="34032"/>
                  <a:pt x="247045" y="39727"/>
                  <a:pt x="249337" y="48131"/>
                </a:cubicBezTo>
                <a:lnTo>
                  <a:pt x="254198" y="66328"/>
                </a:lnTo>
                <a:cubicBezTo>
                  <a:pt x="256421" y="74732"/>
                  <a:pt x="252462" y="83622"/>
                  <a:pt x="244614" y="87511"/>
                </a:cubicBezTo>
                <a:lnTo>
                  <a:pt x="218430" y="100429"/>
                </a:lnTo>
                <a:cubicBezTo>
                  <a:pt x="217944" y="103971"/>
                  <a:pt x="217249" y="107513"/>
                  <a:pt x="216346" y="110986"/>
                </a:cubicBezTo>
                <a:cubicBezTo>
                  <a:pt x="215444" y="114459"/>
                  <a:pt x="214193" y="117931"/>
                  <a:pt x="212874" y="121196"/>
                </a:cubicBezTo>
                <a:lnTo>
                  <a:pt x="229056" y="145504"/>
                </a:lnTo>
                <a:cubicBezTo>
                  <a:pt x="233918" y="152797"/>
                  <a:pt x="232946" y="162451"/>
                  <a:pt x="226764" y="168632"/>
                </a:cubicBezTo>
                <a:lnTo>
                  <a:pt x="213429" y="181967"/>
                </a:lnTo>
                <a:cubicBezTo>
                  <a:pt x="207248" y="188149"/>
                  <a:pt x="197594" y="189121"/>
                  <a:pt x="190302" y="184259"/>
                </a:cubicBezTo>
                <a:lnTo>
                  <a:pt x="165993" y="168077"/>
                </a:lnTo>
                <a:cubicBezTo>
                  <a:pt x="159395" y="170785"/>
                  <a:pt x="152380" y="172730"/>
                  <a:pt x="145226" y="173702"/>
                </a:cubicBezTo>
                <a:lnTo>
                  <a:pt x="132308" y="199817"/>
                </a:lnTo>
                <a:cubicBezTo>
                  <a:pt x="128419" y="207665"/>
                  <a:pt x="119529" y="211624"/>
                  <a:pt x="111125" y="209401"/>
                </a:cubicBezTo>
                <a:lnTo>
                  <a:pt x="92928" y="204539"/>
                </a:lnTo>
                <a:cubicBezTo>
                  <a:pt x="84455" y="202248"/>
                  <a:pt x="78829" y="194330"/>
                  <a:pt x="79385" y="185648"/>
                </a:cubicBezTo>
                <a:lnTo>
                  <a:pt x="81260" y="156547"/>
                </a:lnTo>
                <a:cubicBezTo>
                  <a:pt x="75496" y="152102"/>
                  <a:pt x="70425" y="146963"/>
                  <a:pt x="66050" y="141268"/>
                </a:cubicBezTo>
                <a:lnTo>
                  <a:pt x="36880" y="143143"/>
                </a:lnTo>
                <a:cubicBezTo>
                  <a:pt x="28198" y="143699"/>
                  <a:pt x="20280" y="138003"/>
                  <a:pt x="17988" y="129600"/>
                </a:cubicBezTo>
                <a:lnTo>
                  <a:pt x="13127" y="111403"/>
                </a:lnTo>
                <a:cubicBezTo>
                  <a:pt x="10904" y="102999"/>
                  <a:pt x="14863" y="94109"/>
                  <a:pt x="22711" y="90220"/>
                </a:cubicBezTo>
                <a:lnTo>
                  <a:pt x="48895" y="77301"/>
                </a:lnTo>
                <a:cubicBezTo>
                  <a:pt x="49381" y="73759"/>
                  <a:pt x="50076" y="70287"/>
                  <a:pt x="50979" y="66744"/>
                </a:cubicBezTo>
                <a:cubicBezTo>
                  <a:pt x="51951" y="63202"/>
                  <a:pt x="53062" y="59799"/>
                  <a:pt x="54451" y="56535"/>
                </a:cubicBezTo>
                <a:lnTo>
                  <a:pt x="38269" y="32296"/>
                </a:lnTo>
                <a:cubicBezTo>
                  <a:pt x="33407" y="25003"/>
                  <a:pt x="34379" y="15349"/>
                  <a:pt x="40561" y="9168"/>
                </a:cubicBezTo>
                <a:lnTo>
                  <a:pt x="53896" y="-4167"/>
                </a:lnTo>
                <a:cubicBezTo>
                  <a:pt x="60077" y="-10349"/>
                  <a:pt x="69731" y="-11321"/>
                  <a:pt x="77024" y="-6459"/>
                </a:cubicBezTo>
                <a:lnTo>
                  <a:pt x="101332" y="9723"/>
                </a:lnTo>
                <a:cubicBezTo>
                  <a:pt x="107930" y="7015"/>
                  <a:pt x="114945" y="5070"/>
                  <a:pt x="122099" y="4098"/>
                </a:cubicBezTo>
                <a:lnTo>
                  <a:pt x="135017" y="-22017"/>
                </a:lnTo>
                <a:cubicBezTo>
                  <a:pt x="138906" y="-29865"/>
                  <a:pt x="147727" y="-33824"/>
                  <a:pt x="156200" y="-31601"/>
                </a:cubicBezTo>
                <a:close/>
                <a:moveTo>
                  <a:pt x="133628" y="58341"/>
                </a:moveTo>
                <a:cubicBezTo>
                  <a:pt x="116762" y="58341"/>
                  <a:pt x="103068" y="72034"/>
                  <a:pt x="103068" y="88900"/>
                </a:cubicBezTo>
                <a:cubicBezTo>
                  <a:pt x="103068" y="105766"/>
                  <a:pt x="116762" y="119459"/>
                  <a:pt x="133628" y="119459"/>
                </a:cubicBezTo>
                <a:cubicBezTo>
                  <a:pt x="150494" y="119459"/>
                  <a:pt x="164187" y="105766"/>
                  <a:pt x="164187" y="88900"/>
                </a:cubicBezTo>
                <a:cubicBezTo>
                  <a:pt x="164187" y="72034"/>
                  <a:pt x="150494" y="58341"/>
                  <a:pt x="133628" y="58341"/>
                </a:cubicBez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23000" y="3987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Solution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72200" y="4343400"/>
            <a:ext cx="3911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ElasticLSM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breaks structural constraints + </a:t>
            </a: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ARCE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dynamically adapts compaction and stall thresholds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668000" y="3429000"/>
            <a:ext cx="4318000" cy="2032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3190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7" name="Text 15"/>
          <p:cNvSpPr/>
          <p:nvPr/>
        </p:nvSpPr>
        <p:spPr>
          <a:xfrm>
            <a:off x="10922000" y="3987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B87333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Results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871200" y="4343400"/>
            <a:ext cx="39116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Consistently outperforms SOTA and industrial databases under evolving dynamic workloads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40000" y="5842000"/>
            <a:ext cx="11176000" cy="7620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2540000" y="5842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~3x faster</a:t>
            </a:r>
            <a:r>
              <a:rPr lang="en-US" sz="24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than SOTA | </a:t>
            </a:r>
            <a:r>
              <a:rPr lang="en-US" sz="2400" b="1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&gt;10x faster</a:t>
            </a:r>
            <a:r>
              <a:rPr lang="en-US" sz="2400" dirty="0">
                <a:solidFill>
                  <a:srgbClr val="FFFFFF"/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than industrial KV stores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18000" y="698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>
                    <a:alpha val="6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Thank You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18000" y="774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40000"/>
                  </a:srgbClr>
                </a:solidFill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Junfeng Liu, Haoxuan Xie, Siqiang Luo | NTU Singapore | PVLDB 2026</a:t>
            </a:r>
            <a:endParaRPr lang="en-US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B873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1932</Words>
  <Application>Microsoft Macintosh PowerPoint</Application>
  <PresentationFormat>自定义</PresentationFormat>
  <Paragraphs>363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Arial</vt:lpstr>
      <vt:lpstr>Cambria Math</vt:lpstr>
      <vt:lpstr>Libertinus Serif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ArceKV: Towards Workload-driven LSM-compactions for Key-Value Store Under Dynamic Workloads</dc:title>
  <dc:subject>ArceKV: Towards Workload-driven LSM-compactions for Key-Value Store Under Dynamic Workloads</dc:subject>
  <dc:creator>Kimi</dc:creator>
  <cp:lastModifiedBy>思扬 翁</cp:lastModifiedBy>
  <cp:revision>23</cp:revision>
  <dcterms:created xsi:type="dcterms:W3CDTF">2026-05-08T13:49:39Z</dcterms:created>
  <dcterms:modified xsi:type="dcterms:W3CDTF">2026-05-11T04:51:50Z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{"Label":"ArceKV: Towards Workload-driven LSM-compactions for Key-Value Store Under Dynamic Workloads","ContentProducer":"001191110108MACG2KBH8F10000","ProduceID":"19e0329a-cb82-8d51-8000-0000c256a6da","ReservedCode1":"","ContentPropagator":"001191110108MACG2KBH8F20000","PropagateID":"19e0329a-cb82-8d51-8000-0000c256a6da","ReservedCode2":""}</vt:lpwstr>
  </property>
</Properties>
</file>