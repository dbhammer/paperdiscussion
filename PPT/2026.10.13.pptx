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6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49" r:id="rId2"/>
    <p:sldMasterId id="2147483662" r:id="rId3"/>
    <p:sldMasterId id="2147483669" r:id="rId4"/>
    <p:sldMasterId id="2147483676" r:id="rId5"/>
    <p:sldMasterId id="2147483683" r:id="rId6"/>
    <p:sldMasterId id="2147483690" r:id="rId7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81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88"/>
    <p:restoredTop sz="96282"/>
  </p:normalViewPr>
  <p:slideViewPr>
    <p:cSldViewPr snapToGrid="0" snapToObjects="1">
      <p:cViewPr varScale="1">
        <p:scale>
          <a:sx n="126" d="100"/>
          <a:sy n="126" d="100"/>
        </p:scale>
        <p:origin x="-96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34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viewProps" Target="viewProps.xml"/><Relationship Id="rId8" Type="http://schemas.openxmlformats.org/officeDocument/2006/relationships/slide" Target="slides/slide1.xml"/><Relationship Id="rId3" Type="http://schemas.openxmlformats.org/officeDocument/2006/relationships/slideMaster" Target="slideMasters/slideMaster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bacus_seminar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A8C187-2EA1-63AA-44F7-21C9BFE6B9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3482E3B-B28C-C44A-CC82-C8ABF56C38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FFAC3C-E82E-59A5-519F-298A060C5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F21EC-CFB8-CA4C-8B2A-99907253DBA2}" type="datetimeFigureOut">
              <a:rPr kumimoji="1" lang="zh-CN" altLang="en-US" smtClean="0"/>
              <a:t>2026/10/12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C891A2-4C3D-55AB-3510-D0EEE79B9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2AC208-A4C1-7EF8-D5FE-4671F4F2B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C04B2-3F34-3042-98CF-45807D2BFF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06473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0C45B7-0700-37D7-9097-1FEE5DF80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954B4E-CCCC-EB3C-4AA6-B6B353EA6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9523D1-FAA6-9DE1-7278-7C6FC613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F21EC-CFB8-CA4C-8B2A-99907253DBA2}" type="datetimeFigureOut">
              <a:rPr kumimoji="1" lang="zh-CN" altLang="en-US" smtClean="0"/>
              <a:t>2026/10/12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C03E89-F179-9C01-4D74-5DBB8358E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0A03DB-A16E-E20E-86EC-966B5E345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C04B2-3F34-3042-98CF-45807D2BFF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39358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9CC4BC-422C-9E31-68F4-DDAA3CF92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F4AFB66-1170-C4AF-80F2-058E9FB0A4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9D6F52-7E9B-AB4D-A0FC-AE19B5043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F21EC-CFB8-CA4C-8B2A-99907253DBA2}" type="datetimeFigureOut">
              <a:rPr kumimoji="1" lang="zh-CN" altLang="en-US" smtClean="0"/>
              <a:t>2026/10/12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013B78-29A7-8EB8-2D73-8204AF128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1DFB14-861F-6C3A-F952-36D92683A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C04B2-3F34-3042-98CF-45807D2BFF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72409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7AD602-849B-092A-9F6F-C26DC58E5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BA3B88-5688-9105-7128-C73266294D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8F1C1B6-2CC3-74AB-6366-779822B46A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967F7B-0A1C-4C5F-D55F-8CF575ECA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F21EC-CFB8-CA4C-8B2A-99907253DBA2}" type="datetimeFigureOut">
              <a:rPr kumimoji="1" lang="zh-CN" altLang="en-US" smtClean="0"/>
              <a:t>2026/10/12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7479AC-E6AE-F6FF-3755-08EDA78EC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75BAED4-6498-2865-265E-BB012B127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C04B2-3F34-3042-98CF-45807D2BFF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84819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6EE265-A741-7979-C6BC-55C0F653D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4E1712-0896-37B3-4270-AA1907F222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17F34FA-67C2-A56D-A5C3-9E64025787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8714BEF-14B7-2B92-E098-DD03BFB907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C966C3E-4762-DDEE-D74A-CA2BA88A93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1685487-DBEB-4968-1455-393D56E94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F21EC-CFB8-CA4C-8B2A-99907253DBA2}" type="datetimeFigureOut">
              <a:rPr kumimoji="1" lang="zh-CN" altLang="en-US" smtClean="0"/>
              <a:t>2026/10/12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C1DCC2C-C8CF-C465-2C2D-7413E3880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99E7035-6B32-79D8-EAF3-5E8AD53C9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C04B2-3F34-3042-98CF-45807D2BFF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60242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EB7802-6135-9D0E-3903-81F581EC2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56CD0F9-F0EE-3ACB-252B-EC53FBDCA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F21EC-CFB8-CA4C-8B2A-99907253DBA2}" type="datetimeFigureOut">
              <a:rPr kumimoji="1" lang="zh-CN" altLang="en-US" smtClean="0"/>
              <a:t>2026/10/12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7033B32-03CC-2F34-F066-908102F5B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6BA588A-6146-450B-1521-53FECEA2B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C04B2-3F34-3042-98CF-45807D2BFF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09854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70A66EE-43E7-C5B0-C171-C84C5253A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F21EC-CFB8-CA4C-8B2A-99907253DBA2}" type="datetimeFigureOut">
              <a:rPr kumimoji="1" lang="zh-CN" altLang="en-US" smtClean="0"/>
              <a:t>2026/10/12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11CAE08-20A9-D533-A9E6-852B93466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B295C4-96C2-DEC7-519F-E4FBB99E8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C04B2-3F34-3042-98CF-45807D2BFF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02892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6CEB98-C80D-1145-0960-2A5D0193D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8FC939-93C5-B7D3-AF20-992328F0B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CA96A99-95B8-FDA2-31D7-3F32004AF6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5BDFC9C-2CA8-EFD2-BDB5-5973E9DE9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F21EC-CFB8-CA4C-8B2A-99907253DBA2}" type="datetimeFigureOut">
              <a:rPr kumimoji="1" lang="zh-CN" altLang="en-US" smtClean="0"/>
              <a:t>2026/10/12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192B5A3-A3D5-404F-CD46-01B82070A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B71C9F-F57B-A977-0C4D-0EB8E3474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C04B2-3F34-3042-98CF-45807D2BFF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83808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D3E1F8-9050-A978-E4EB-FAF6ED4BD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25A09EC-39E9-7FDF-12E7-78850A3B6C5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C6CD2A3-09BD-9266-D30F-2BC3E8664C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7C91B9-DD21-E7C6-5583-7B937B1EE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F21EC-CFB8-CA4C-8B2A-99907253DBA2}" type="datetimeFigureOut">
              <a:rPr kumimoji="1" lang="zh-CN" altLang="en-US" smtClean="0"/>
              <a:t>2026/10/12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C59268-D980-0B61-BF0A-4402A5F33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96C5312-CC2E-058E-D06B-BA7BF6E01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C04B2-3F34-3042-98CF-45807D2BFF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95315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F9D424-F304-8B20-8262-AC046327C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5DBF1B2-6941-B5FF-1F07-6E18087B3C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57F368-55CC-7FCE-C714-6925D5A34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F21EC-CFB8-CA4C-8B2A-99907253DBA2}" type="datetimeFigureOut">
              <a:rPr kumimoji="1" lang="zh-CN" altLang="en-US" smtClean="0"/>
              <a:t>2026/10/12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3DB158-6AF0-40F8-06AB-29F3C9210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2A6310-763C-0D0F-05AF-58A20F549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C04B2-3F34-3042-98CF-45807D2BFF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26683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213C058-77DD-122D-1BD3-FF3C675834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A0A9388-65FC-0EA3-A2F1-DE842F5107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54206D-51D9-D2E5-964F-BAF5E2714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F21EC-CFB8-CA4C-8B2A-99907253DBA2}" type="datetimeFigureOut">
              <a:rPr kumimoji="1" lang="zh-CN" altLang="en-US" smtClean="0"/>
              <a:t>2026/10/12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F55404-2091-B6DF-8B76-5F5E8A3E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E8BEB9-910C-CAA5-6734-2C5631166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C04B2-3F34-3042-98CF-45807D2BFF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549865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29A0E5C-8706-4B80-BED2-91FB21BFE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703D4FC-9CCB-416B-8714-AB52A7AC1F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BE56F2A0-C598-465D-A54F-EE1625E43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3445C9E-83AB-426C-9BAD-A450ADDCF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7E68A93-5822-404E-A7A8-07F7A0148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B467D66-D207-43C2-BA0F-A83C3D5AF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761CBA78-090D-4791-8064-65643B5C6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B429F500-090F-4547-9621-9B02F9FB489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92496A7-B8E7-4A72-9299-019C501B6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CCC3AA3-733E-4E7A-ABB8-1F06D13B9B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AF93BEA-520E-426F-846E-4FC9C74AC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8C7493D1-6CE8-412C-B00A-49F415260E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B6CF958F-A1B3-4DF9-BACA-437F270F1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F301CFE-50FE-4BDD-A4D4-9E5578E80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EBF84618-24B4-497F-8DC9-E32E82506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F69143D6-DD42-49D5-B99D-B382A5C56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5D31F5E-8E63-48BC-935A-5A3C157FC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8D9CFDC1-7F2B-4B63-AC65-314FFC18EB7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6F4B92A-B66E-4AB3-8AAD-D26EFD5A6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9121C15-4A1F-4EEC-9526-8297E7793D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1A226CF-4EB6-4CB9-90EB-98B033581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5DFA070-917E-47C7-BD29-ABDC0252FB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1724B9D1-BA8C-4860-8D6E-89215303C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54886F5-EF03-4A39-8FD4-40E668E46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4F6044A-CE6C-4046-9EBA-A1C3F0B26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DCA5D8A-EE84-4C9C-B2A3-BF425615C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36F134B1-D2B5-4A09-A209-152E7610B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9C07880-CDE7-4056-9C20-4BF82DE7B2D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7F9553C-00E7-4B17-BF06-B35761664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3FA4133E-FBB3-4195-A5D6-16E3DCFFA7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D02BB80-6389-42CC-8D42-EFD9BAAD7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B06BB3DD-D1FE-4FAA-80B6-DF2DFF378F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FDCA6A7F-0BC4-4DED-81DC-25924F20F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BF23E3A-F6F5-4E4B-B602-561BFF67C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0732A2C4-3FB7-43CB-8AE7-D78453E5E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D44B8A8D-C081-4C00-9174-0650C37BB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A79EA62-A512-405D-9703-E69A667BA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2C1A53E-4A90-431A-84DC-7F8A51B8ECD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4BD31D7-A577-4FAD-8595-A5FCD9328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96BF658-5BF5-495E-B89B-0F5D5A93F7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D7D51DA-FA33-4854-B483-551869E53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104AD75F-4DF9-4FFD-8A24-960B3CCB9B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619F2DE-EFC4-44B6-BC9C-C81DCCFE0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22CA23F-5C01-40CC-9313-1C668C23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33610B6-FBAE-4E88-97F5-1E19F00D02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9E897CC-DA37-4EAF-A96E-B7E954CD5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73A8C1D-6497-4CDF-9885-C881BB617A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1A608773-36FD-40B1-AC65-7F0F7DB8268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501CF16-1004-4EFA-8447-572BB0005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AEC049F-EBEC-4F45-B0D8-EDF3A63BA7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9.xml"/><Relationship Id="rId7" Type="http://schemas.openxmlformats.org/officeDocument/2006/relationships/theme" Target="../theme/theme7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abacus_seminar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en-US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en-US"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en-US" sz="18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en-US"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en-US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en-US" sz="14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en-US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en-US"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en-US"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en-US"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lang="en-US"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en-US" sz="18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en-US"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en-US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en-US" sz="14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en-US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en-US"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en-US"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en-US"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892E754-B20B-B099-F586-E0FA4DB2D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2EEE75-4262-ADB8-ADCA-0AA0F2C68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E5D713-819F-B60F-DC29-F367E1D1DD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0F21EC-CFB8-CA4C-8B2A-99907253DBA2}" type="datetimeFigureOut">
              <a:rPr kumimoji="1" lang="zh-CN" altLang="en-US" smtClean="0"/>
              <a:t>2026/10/12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7F1254-D8C9-F00C-17AE-8609D5E94C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422FFB-E630-AE5F-1719-6AC763AB01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0C04B2-3F34-3042-98CF-45807D2BFF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81666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3C000C7-8F4F-90FF-8BF9-4C5B0495F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961" y="963576"/>
            <a:ext cx="10814078" cy="341703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EEFA68A-6A59-4E5B-7C05-6F9FFD9E1361}"/>
              </a:ext>
            </a:extLst>
          </p:cNvPr>
          <p:cNvSpPr txBox="1"/>
          <p:nvPr/>
        </p:nvSpPr>
        <p:spPr>
          <a:xfrm>
            <a:off x="1963298" y="4954772"/>
            <a:ext cx="8265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dirty="0"/>
              <a:t>Proc. VLDB Endow., Vol. 19, No. 5, pp. 1060–1073. Publication date: January 2026.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41323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597408" y="498475"/>
            <a:ext cx="4570162" cy="369332"/>
            <a:chOff x="597408" y="498475"/>
            <a:chExt cx="4570162" cy="369332"/>
          </a:xfrm>
        </p:grpSpPr>
        <p:sp>
          <p:nvSpPr>
            <p:cNvPr id="2" name="TextBox 2"/>
            <p:cNvSpPr txBox="1"/>
            <p:nvPr/>
          </p:nvSpPr>
          <p:spPr>
            <a:xfrm>
              <a:off x="597408" y="498475"/>
              <a:ext cx="457016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Background </a:t>
              </a:r>
              <a:r>
                <a:rPr lang="en-US" sz="2400" dirty="0">
                  <a:solidFill>
                    <a:schemeClr val="accent1"/>
                  </a:solidFill>
                </a:rPr>
                <a:t>:</a:t>
              </a:r>
              <a:r>
                <a:rPr lang="en-US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 Semantic operators</a:t>
              </a:r>
            </a:p>
          </p:txBody>
        </p:sp>
      </p:grpSp>
      <p:grpSp>
        <p:nvGrpSpPr>
          <p:cNvPr id="5" name="original-sql"/>
          <p:cNvGrpSpPr/>
          <p:nvPr/>
        </p:nvGrpSpPr>
        <p:grpSpPr>
          <a:xfrm>
            <a:off x="597408" y="1772848"/>
            <a:ext cx="5765563" cy="1033217"/>
            <a:chOff x="609600" y="1470701"/>
            <a:chExt cx="8096250" cy="1582974"/>
          </a:xfrm>
        </p:grpSpPr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470701"/>
              <a:ext cx="8096250" cy="1582974"/>
            </a:xfrm>
            <a:prstGeom prst="rect">
              <a:avLst/>
            </a:prstGeom>
          </p:spPr>
        </p:pic>
      </p:grpSp>
      <p:grpSp>
        <p:nvGrpSpPr>
          <p:cNvPr id="7" name="original-operator-table"/>
          <p:cNvGrpSpPr/>
          <p:nvPr/>
        </p:nvGrpSpPr>
        <p:grpSpPr>
          <a:xfrm>
            <a:off x="609600" y="3400425"/>
            <a:ext cx="10972800" cy="2339340"/>
            <a:chOff x="609600" y="3400425"/>
            <a:chExt cx="10972800" cy="233934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3400425"/>
              <a:ext cx="10972800" cy="2339340"/>
            </a:xfrm>
            <a:prstGeom prst="rect">
              <a:avLst/>
            </a:prstGeom>
          </p:spPr>
        </p:pic>
      </p:grpSp>
      <p:sp>
        <p:nvSpPr>
          <p:cNvPr id="8" name="paper-citation"/>
          <p:cNvSpPr txBox="1"/>
          <p:nvPr/>
        </p:nvSpPr>
        <p:spPr>
          <a:xfrm>
            <a:off x="601980" y="6296025"/>
            <a:ext cx="695775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SemBench: A Benchmark for Semantic Query Processing Engines, VLDB’26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C78BEFC-4A54-7589-361E-07157B4A46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9604" y="1382395"/>
            <a:ext cx="4432300" cy="1739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09D573C-B784-AC17-7C21-78EC60DFEE24}"/>
              </a:ext>
            </a:extLst>
          </p:cNvPr>
          <p:cNvSpPr txBox="1"/>
          <p:nvPr/>
        </p:nvSpPr>
        <p:spPr>
          <a:xfrm>
            <a:off x="1262284" y="2782669"/>
            <a:ext cx="103340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Background</a:t>
            </a:r>
            <a:r>
              <a:rPr lang="zh-CN" altLang="en-US" sz="36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zh-CN" sz="36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:</a:t>
            </a:r>
            <a:r>
              <a:rPr lang="en" altLang="zh-CN" sz="3600" b="1" dirty="0">
                <a:solidFill>
                  <a:schemeClr val="accent1"/>
                </a:solidFill>
              </a:rPr>
              <a:t> Semantic Operator Systems</a:t>
            </a:r>
            <a:r>
              <a:rPr lang="zh-CN" altLang="en-US" sz="36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 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87152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597408" y="469900"/>
            <a:ext cx="1025922" cy="369332"/>
            <a:chOff x="597408" y="469900"/>
            <a:chExt cx="1025922" cy="369332"/>
          </a:xfrm>
        </p:grpSpPr>
        <p:sp>
          <p:nvSpPr>
            <p:cNvPr id="2" name="TextBox 2"/>
            <p:cNvSpPr txBox="1"/>
            <p:nvPr/>
          </p:nvSpPr>
          <p:spPr>
            <a:xfrm>
              <a:off x="597408" y="469900"/>
              <a:ext cx="102592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LOTUS</a:t>
              </a:r>
            </a:p>
          </p:txBody>
        </p:sp>
      </p:grpSp>
      <p:grpSp>
        <p:nvGrpSpPr>
          <p:cNvPr id="8" name="original-figure"/>
          <p:cNvGrpSpPr/>
          <p:nvPr/>
        </p:nvGrpSpPr>
        <p:grpSpPr>
          <a:xfrm>
            <a:off x="353215" y="822823"/>
            <a:ext cx="10180901" cy="4179007"/>
            <a:chOff x="301940" y="814277"/>
            <a:chExt cx="10180901" cy="4179007"/>
          </a:xfrm>
        </p:grpSpPr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24598" y="814277"/>
              <a:ext cx="9158243" cy="2265332"/>
            </a:xfrm>
            <a:prstGeom prst="rect">
              <a:avLst/>
            </a:prstGeom>
          </p:spPr>
        </p:pic>
        <p:sp>
          <p:nvSpPr>
            <p:cNvPr id="5" name="TextBox 5"/>
            <p:cNvSpPr txBox="1"/>
            <p:nvPr/>
          </p:nvSpPr>
          <p:spPr>
            <a:xfrm>
              <a:off x="301940" y="3870216"/>
              <a:ext cx="14177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Filter example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01940" y="4384078"/>
              <a:ext cx="2079095" cy="6092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Q：Is the paper about</a:t>
              </a:r>
              <a:b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data systems?</a:t>
              </a:r>
            </a:p>
          </p:txBody>
        </p:sp>
      </p:grpSp>
      <p:grpSp>
        <p:nvGrpSpPr>
          <p:cNvPr id="10" name="worked-example"/>
          <p:cNvGrpSpPr/>
          <p:nvPr/>
        </p:nvGrpSpPr>
        <p:grpSpPr>
          <a:xfrm>
            <a:off x="2242203" y="3267550"/>
            <a:ext cx="8833503" cy="2419364"/>
            <a:chOff x="609600" y="3032853"/>
            <a:chExt cx="10620375" cy="3160209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3032853"/>
              <a:ext cx="10620375" cy="3160209"/>
            </a:xfrm>
            <a:prstGeom prst="rect">
              <a:avLst/>
            </a:prstGeom>
          </p:spPr>
        </p:pic>
      </p:grpSp>
      <p:sp>
        <p:nvSpPr>
          <p:cNvPr id="11" name="paper-citation"/>
          <p:cNvSpPr txBox="1"/>
          <p:nvPr/>
        </p:nvSpPr>
        <p:spPr>
          <a:xfrm>
            <a:off x="603504" y="6334125"/>
            <a:ext cx="94667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Semantic Operators and Their Optimization: Enabling LLM-Based Data Processing with Accuracy Guarantees in LOTUS, VLDB’25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5E7C3C0-1A19-5FAF-2E1B-5DC91E7CA4B1}"/>
              </a:ext>
            </a:extLst>
          </p:cNvPr>
          <p:cNvSpPr/>
          <p:nvPr/>
        </p:nvSpPr>
        <p:spPr>
          <a:xfrm>
            <a:off x="7503208" y="1843224"/>
            <a:ext cx="2273181" cy="77711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597408" y="498475"/>
            <a:ext cx="1112484" cy="369332"/>
            <a:chOff x="597408" y="498475"/>
            <a:chExt cx="1112484" cy="369332"/>
          </a:xfrm>
        </p:grpSpPr>
        <p:sp>
          <p:nvSpPr>
            <p:cNvPr id="2" name="TextBox 2"/>
            <p:cNvSpPr txBox="1"/>
            <p:nvPr/>
          </p:nvSpPr>
          <p:spPr>
            <a:xfrm>
              <a:off x="597408" y="498475"/>
              <a:ext cx="111248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 err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DocETL</a:t>
              </a:r>
              <a:endParaRPr lang="en-US" sz="24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" name="claim"/>
          <p:cNvGrpSpPr/>
          <p:nvPr/>
        </p:nvGrpSpPr>
        <p:grpSpPr>
          <a:xfrm>
            <a:off x="883384" y="5312518"/>
            <a:ext cx="7804522" cy="381381"/>
            <a:chOff x="753552" y="757609"/>
            <a:chExt cx="7804522" cy="381381"/>
          </a:xfrm>
        </p:grpSpPr>
        <p:sp>
          <p:nvSpPr>
            <p:cNvPr id="4" name="TextBox 4"/>
            <p:cNvSpPr txBox="1"/>
            <p:nvPr/>
          </p:nvSpPr>
          <p:spPr>
            <a:xfrm>
              <a:off x="753552" y="757609"/>
              <a:ext cx="780452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Rewrite complex operations into simpler, more accurate operations</a:t>
              </a:r>
            </a:p>
          </p:txBody>
        </p:sp>
      </p:grpSp>
      <p:grpSp>
        <p:nvGrpSpPr>
          <p:cNvPr id="7" name="original-figure"/>
          <p:cNvGrpSpPr/>
          <p:nvPr/>
        </p:nvGrpSpPr>
        <p:grpSpPr>
          <a:xfrm>
            <a:off x="540436" y="1242312"/>
            <a:ext cx="10972800" cy="3695700"/>
            <a:chOff x="609600" y="1800225"/>
            <a:chExt cx="10972800" cy="369570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800225"/>
              <a:ext cx="10972800" cy="3695700"/>
            </a:xfrm>
            <a:prstGeom prst="rect">
              <a:avLst/>
            </a:prstGeom>
          </p:spPr>
        </p:pic>
      </p:grpSp>
      <p:sp>
        <p:nvSpPr>
          <p:cNvPr id="10" name="paper-citation"/>
          <p:cNvSpPr txBox="1"/>
          <p:nvPr/>
        </p:nvSpPr>
        <p:spPr>
          <a:xfrm>
            <a:off x="602742" y="6321425"/>
            <a:ext cx="805809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DocETL: Agentic Query Rewriting and Evaluation for Complex Document Processing，VLDB’2025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BCF9603-3B6C-D150-C392-8CB46D2679B3}"/>
              </a:ext>
            </a:extLst>
          </p:cNvPr>
          <p:cNvSpPr/>
          <p:nvPr/>
        </p:nvSpPr>
        <p:spPr>
          <a:xfrm>
            <a:off x="4785645" y="3260944"/>
            <a:ext cx="5084748" cy="167706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597408" y="498475"/>
            <a:ext cx="1506823" cy="369332"/>
            <a:chOff x="597408" y="498475"/>
            <a:chExt cx="1506823" cy="369332"/>
          </a:xfrm>
        </p:grpSpPr>
        <p:sp>
          <p:nvSpPr>
            <p:cNvPr id="2" name="TextBox 2"/>
            <p:cNvSpPr txBox="1"/>
            <p:nvPr/>
          </p:nvSpPr>
          <p:spPr>
            <a:xfrm>
              <a:off x="597408" y="498475"/>
              <a:ext cx="1506823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 err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Palimpzest</a:t>
              </a:r>
              <a:endParaRPr lang="en-US" sz="24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" name="original-figure"/>
          <p:cNvGrpSpPr/>
          <p:nvPr/>
        </p:nvGrpSpPr>
        <p:grpSpPr>
          <a:xfrm>
            <a:off x="1081042" y="1233827"/>
            <a:ext cx="10315560" cy="4390346"/>
            <a:chOff x="609600" y="1943100"/>
            <a:chExt cx="7772400" cy="3590925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943100"/>
              <a:ext cx="7772400" cy="3590925"/>
            </a:xfrm>
            <a:prstGeom prst="rect">
              <a:avLst/>
            </a:prstGeom>
          </p:spPr>
        </p:pic>
      </p:grpSp>
      <p:sp>
        <p:nvSpPr>
          <p:cNvPr id="15" name="paper-citation"/>
          <p:cNvSpPr txBox="1"/>
          <p:nvPr/>
        </p:nvSpPr>
        <p:spPr>
          <a:xfrm>
            <a:off x="602742" y="6321425"/>
            <a:ext cx="637511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Palimpzest: Optimizing AI-Powered Analytics with Declarative Query, CIDR’25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CDEEFE5-3CB2-AFB3-26D0-9569E8B73F5C}"/>
              </a:ext>
            </a:extLst>
          </p:cNvPr>
          <p:cNvSpPr/>
          <p:nvPr/>
        </p:nvSpPr>
        <p:spPr>
          <a:xfrm>
            <a:off x="8571432" y="1632247"/>
            <a:ext cx="2825170" cy="171770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880B9F5-0172-04CB-F02C-71BCEBA87074}"/>
              </a:ext>
            </a:extLst>
          </p:cNvPr>
          <p:cNvSpPr/>
          <p:nvPr/>
        </p:nvSpPr>
        <p:spPr>
          <a:xfrm>
            <a:off x="6887910" y="3268055"/>
            <a:ext cx="1384419" cy="1803163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A57D3-A50E-D9CD-3E4F-24E2D88A9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>
            <a:extLst>
              <a:ext uri="{FF2B5EF4-FFF2-40B4-BE49-F238E27FC236}">
                <a16:creationId xmlns:a16="http://schemas.microsoft.com/office/drawing/2014/main" id="{0FCD0B57-CA04-3DA1-A429-A3E9264FC7E6}"/>
              </a:ext>
            </a:extLst>
          </p:cNvPr>
          <p:cNvGrpSpPr/>
          <p:nvPr/>
        </p:nvGrpSpPr>
        <p:grpSpPr>
          <a:xfrm>
            <a:off x="597408" y="498475"/>
            <a:ext cx="4039567" cy="369332"/>
            <a:chOff x="597408" y="498475"/>
            <a:chExt cx="4039567" cy="369332"/>
          </a:xfrm>
        </p:grpSpPr>
        <p:sp>
          <p:nvSpPr>
            <p:cNvPr id="2" name="TextBox 2">
              <a:extLst>
                <a:ext uri="{FF2B5EF4-FFF2-40B4-BE49-F238E27FC236}">
                  <a16:creationId xmlns:a16="http://schemas.microsoft.com/office/drawing/2014/main" id="{5E55C2A5-2F2B-528B-E938-C0D5A6591A8F}"/>
                </a:ext>
              </a:extLst>
            </p:cNvPr>
            <p:cNvSpPr txBox="1"/>
            <p:nvPr/>
          </p:nvSpPr>
          <p:spPr>
            <a:xfrm>
              <a:off x="597408" y="498475"/>
              <a:ext cx="403956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zh-CN" sz="2400" dirty="0"/>
                <a:t>Palimpzest — Pareto Pruning</a:t>
              </a:r>
              <a:endParaRPr lang="en-US" sz="24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5" name="paper-citation">
            <a:extLst>
              <a:ext uri="{FF2B5EF4-FFF2-40B4-BE49-F238E27FC236}">
                <a16:creationId xmlns:a16="http://schemas.microsoft.com/office/drawing/2014/main" id="{6CD92FC3-9173-BD1E-4569-6A70404326E9}"/>
              </a:ext>
            </a:extLst>
          </p:cNvPr>
          <p:cNvSpPr txBox="1"/>
          <p:nvPr/>
        </p:nvSpPr>
        <p:spPr>
          <a:xfrm>
            <a:off x="602742" y="6321425"/>
            <a:ext cx="637511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Palimpzest: Optimizing AI-Powered Analytics with Declarative Query, CIDR’25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BB3B074-3165-0392-9206-C77A8D54D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845" y="997454"/>
            <a:ext cx="6734798" cy="505109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4459B89-A81E-1D5B-F97C-E54A5F71E03B}"/>
              </a:ext>
            </a:extLst>
          </p:cNvPr>
          <p:cNvSpPr txBox="1"/>
          <p:nvPr/>
        </p:nvSpPr>
        <p:spPr>
          <a:xfrm>
            <a:off x="7159239" y="2228671"/>
            <a:ext cx="486469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b="1" dirty="0"/>
              <a:t>Dominance:</a:t>
            </a:r>
            <a:r>
              <a:rPr lang="zh-CN" altLang="zh-CN" dirty="0"/>
              <a:t> no worse in all metrics and strictly better in at least one.</a:t>
            </a:r>
            <a:endParaRPr lang="en-US" altLang="zh-C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zh-CN" altLang="zh-C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b="1" dirty="0"/>
              <a:t>Prune dominated plans; select from the Pareto frontier using the user policy.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154323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597408" y="498475"/>
            <a:ext cx="5341206" cy="369332"/>
            <a:chOff x="597408" y="498475"/>
            <a:chExt cx="5341206" cy="369332"/>
          </a:xfrm>
        </p:grpSpPr>
        <p:sp>
          <p:nvSpPr>
            <p:cNvPr id="2" name="TextBox 2"/>
            <p:cNvSpPr txBox="1"/>
            <p:nvPr/>
          </p:nvSpPr>
          <p:spPr>
            <a:xfrm>
              <a:off x="597408" y="498475"/>
              <a:ext cx="53412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Problem 1 — </a:t>
              </a:r>
              <a:r>
                <a:rPr lang="zh-CN" altLang="zh-CN" sz="2400" dirty="0"/>
                <a:t>Constrained Optimization</a:t>
              </a:r>
              <a:endParaRPr lang="en-US" sz="24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450D5FDB-EB9F-7C82-0871-FB00B4966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766" y="1243071"/>
            <a:ext cx="7790468" cy="3798947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ABAF3B3A-E90F-5CD8-8001-86412D32B9AA}"/>
              </a:ext>
            </a:extLst>
          </p:cNvPr>
          <p:cNvSpPr txBox="1"/>
          <p:nvPr/>
        </p:nvSpPr>
        <p:spPr>
          <a:xfrm>
            <a:off x="998800" y="5417282"/>
            <a:ext cx="10110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dirty="0"/>
              <a:t>Operator implementations must be chosen jointly to maximize quality under a plan-level budget</a:t>
            </a:r>
            <a:r>
              <a:rPr lang="en-US" altLang="zh-CN" dirty="0"/>
              <a:t>.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597408" y="469900"/>
            <a:ext cx="6452087" cy="369332"/>
            <a:chOff x="597408" y="469900"/>
            <a:chExt cx="6452087" cy="369332"/>
          </a:xfrm>
        </p:grpSpPr>
        <p:sp>
          <p:nvSpPr>
            <p:cNvPr id="2" name="TextBox 2"/>
            <p:cNvSpPr txBox="1"/>
            <p:nvPr/>
          </p:nvSpPr>
          <p:spPr>
            <a:xfrm>
              <a:off x="597408" y="469900"/>
              <a:ext cx="645208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Problem 2 — </a:t>
              </a:r>
              <a:r>
                <a:rPr lang="zh-CN" altLang="zh-CN" sz="2400" dirty="0"/>
                <a:t>Heuristic Performance Estimation</a:t>
              </a:r>
              <a:endParaRPr lang="en-US" sz="24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3C0DBF40-901D-1429-88FB-70A8C801C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9055" y="1008404"/>
            <a:ext cx="7413889" cy="556041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5E07A48A-DB45-4F2D-9681-7796DFBF7030}"/>
              </a:ext>
            </a:extLst>
          </p:cNvPr>
          <p:cNvSpPr>
            <a:spLocks noGrp="1"/>
          </p:cNvSpPr>
          <p:nvPr/>
        </p:nvSpPr>
        <p:spPr>
          <a:xfrm>
            <a:off x="571500" y="409575"/>
            <a:ext cx="11049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3000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94E80"/>
                </a:solidFill>
                <a:latin typeface="Arial"/>
                <a:ea typeface="Arial"/>
                <a:cs typeface="Arial"/>
              </a:rPr>
              <a:t>Problem 3 — Large Implementation Space</a:t>
            </a:r>
          </a:p>
        </p:txBody>
      </p:sp>
      <p:sp>
        <p:nvSpPr>
          <p:cNvPr id="4" name="Challenge">
            <a:extLst>
              <a:ext uri="{FF2B5EF4-FFF2-40B4-BE49-F238E27FC236}">
                <a16:creationId xmlns:a16="http://schemas.microsoft.com/office/drawing/2014/main" id="{589DC616-5294-4567-9D20-3E58E31C49BC}"/>
              </a:ext>
            </a:extLst>
          </p:cNvPr>
          <p:cNvSpPr>
            <a:spLocks noGrp="1"/>
          </p:cNvSpPr>
          <p:nvPr/>
        </p:nvSpPr>
        <p:spPr>
          <a:xfrm>
            <a:off x="571500" y="1133475"/>
            <a:ext cx="10858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194E80"/>
                </a:solidFill>
                <a:latin typeface="Arial"/>
                <a:ea typeface="Arial"/>
                <a:cs typeface="Arial"/>
              </a:rPr>
              <a:t>A semantic Map can have ≈2,800 physical implementations.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A0FEB8C-2905-4C56-841B-C4BBA0035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579360" y="1704975"/>
            <a:ext cx="10842780" cy="4171950"/>
          </a:xfrm>
          <a:prstGeom prst="rect">
            <a:avLst/>
          </a:prstGeom>
        </p:spPr>
      </p:pic>
      <p:sp>
        <p:nvSpPr>
          <p:cNvPr id="6" name="Combination example">
            <a:extLst>
              <a:ext uri="{FF2B5EF4-FFF2-40B4-BE49-F238E27FC236}">
                <a16:creationId xmlns:a16="http://schemas.microsoft.com/office/drawing/2014/main" id="{5FA93D81-805A-4E93-96A6-F6B955FE8C5A}"/>
              </a:ext>
            </a:extLst>
          </p:cNvPr>
          <p:cNvSpPr>
            <a:spLocks noGrp="1"/>
          </p:cNvSpPr>
          <p:nvPr/>
        </p:nvSpPr>
        <p:spPr>
          <a:xfrm>
            <a:off x="571500" y="6057900"/>
            <a:ext cx="10858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5759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55759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59A"/>
                </a:solidFill>
                <a:latin typeface="Arial"/>
                <a:ea typeface="Arial"/>
                <a:cs typeface="Arial"/>
              </a:rPr>
              <a:t>6 operators × 10 choices → 10⁶ plan combinations (illustrative, before reordering).</a:t>
            </a:r>
          </a:p>
        </p:txBody>
      </p:sp>
    </p:spTree>
    <p:extLst>
      <p:ext uri="{BB962C8B-B14F-4D97-AF65-F5344CB8AC3E}">
        <p14:creationId xmlns:p14="http://schemas.microsoft.com/office/powerpoint/2010/main" val="1972650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">
            <a:extLst>
              <a:ext uri="{FF2B5EF4-FFF2-40B4-BE49-F238E27FC236}">
                <a16:creationId xmlns:a16="http://schemas.microsoft.com/office/drawing/2014/main" id="{73B0670B-AC83-43B2-A59E-6E059116C320}"/>
              </a:ext>
            </a:extLst>
          </p:cNvPr>
          <p:cNvSpPr>
            <a:spLocks noGrp="1"/>
          </p:cNvSpPr>
          <p:nvPr/>
        </p:nvSpPr>
        <p:spPr>
          <a:xfrm>
            <a:off x="571500" y="409575"/>
            <a:ext cx="11049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lnSpc>
                <a:spcPct val="112000"/>
              </a:lnSpc>
              <a:defRPr sz="3000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3000" b="1" dirty="0">
                <a:solidFill>
                  <a:srgbClr val="194E80"/>
                </a:solidFill>
                <a:latin typeface="Arial"/>
                <a:ea typeface="Arial"/>
                <a:cs typeface="Arial"/>
              </a:rPr>
              <a:t>Abacus — </a:t>
            </a:r>
            <a:r>
              <a:rPr lang="en" altLang="zh-CN" sz="3000" b="1" dirty="0">
                <a:solidFill>
                  <a:srgbClr val="194E80"/>
                </a:solidFill>
                <a:latin typeface="Arial"/>
                <a:ea typeface="Arial"/>
                <a:cs typeface="Arial"/>
              </a:rPr>
              <a:t>Overview</a:t>
            </a:r>
            <a:r>
              <a:rPr lang="zh-CN" altLang="en-US" sz="3000" b="1" dirty="0">
                <a:solidFill>
                  <a:srgbClr val="194E8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>
                <a:solidFill>
                  <a:srgbClr val="194E80"/>
                </a:solidFill>
                <a:latin typeface="Arial"/>
                <a:ea typeface="Arial"/>
                <a:cs typeface="Arial"/>
              </a:rPr>
              <a:t>and</a:t>
            </a:r>
            <a:r>
              <a:rPr lang="zh-CN" altLang="en-US" sz="3000" b="1" dirty="0">
                <a:solidFill>
                  <a:srgbClr val="194E80"/>
                </a:solidFill>
                <a:latin typeface="Arial"/>
                <a:ea typeface="Arial"/>
                <a:cs typeface="Arial"/>
              </a:rPr>
              <a:t> </a:t>
            </a:r>
            <a:r>
              <a:rPr lang="en" altLang="zh-CN" sz="3000" b="1" dirty="0">
                <a:solidFill>
                  <a:srgbClr val="194E80"/>
                </a:solidFill>
                <a:latin typeface="Arial"/>
                <a:ea typeface="Arial"/>
                <a:cs typeface="Arial"/>
              </a:rPr>
              <a:t>Key Ideas </a:t>
            </a:r>
            <a:endParaRPr sz="3000" b="1" dirty="0">
              <a:solidFill>
                <a:srgbClr val="194E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Overview cue">
            <a:extLst>
              <a:ext uri="{FF2B5EF4-FFF2-40B4-BE49-F238E27FC236}">
                <a16:creationId xmlns:a16="http://schemas.microsoft.com/office/drawing/2014/main" id="{F602CAEE-B196-40D4-9F64-0B418CC17293}"/>
              </a:ext>
            </a:extLst>
          </p:cNvPr>
          <p:cNvSpPr>
            <a:spLocks noGrp="1"/>
          </p:cNvSpPr>
          <p:nvPr/>
        </p:nvSpPr>
        <p:spPr>
          <a:xfrm>
            <a:off x="571500" y="1133475"/>
            <a:ext cx="10858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194E80"/>
                </a:solidFill>
                <a:latin typeface="Arial"/>
                <a:ea typeface="Arial"/>
                <a:cs typeface="Arial"/>
              </a:rPr>
              <a:t>Estimate operator performance → Select a constrained plan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3B85D00-5297-4015-B689-C76707C27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571500" y="1869276"/>
            <a:ext cx="10858500" cy="2662249"/>
          </a:xfrm>
          <a:prstGeom prst="rect">
            <a:avLst/>
          </a:prstGeom>
        </p:spPr>
      </p:pic>
      <p:sp>
        <p:nvSpPr>
          <p:cNvPr id="6" name="Adaptive sampling region">
            <a:extLst>
              <a:ext uri="{FF2B5EF4-FFF2-40B4-BE49-F238E27FC236}">
                <a16:creationId xmlns:a16="http://schemas.microsoft.com/office/drawing/2014/main" id="{7FF5E859-98E0-4C6C-9F6B-9EEF67F0011D}"/>
              </a:ext>
            </a:extLst>
          </p:cNvPr>
          <p:cNvSpPr>
            <a:spLocks noGrp="1"/>
          </p:cNvSpPr>
          <p:nvPr/>
        </p:nvSpPr>
        <p:spPr>
          <a:xfrm>
            <a:off x="4981575" y="1866900"/>
            <a:ext cx="5105400" cy="2667000"/>
          </a:xfrm>
          <a:prstGeom prst="rect">
            <a:avLst/>
          </a:prstGeom>
          <a:noFill/>
          <a:ln w="12383">
            <a:solidFill>
              <a:srgbClr val="4A86B8"/>
            </a:solidFill>
          </a:ln>
        </p:spPr>
      </p:sp>
      <p:sp>
        <p:nvSpPr>
          <p:cNvPr id="8" name="Sampling heading">
            <a:extLst>
              <a:ext uri="{FF2B5EF4-FFF2-40B4-BE49-F238E27FC236}">
                <a16:creationId xmlns:a16="http://schemas.microsoft.com/office/drawing/2014/main" id="{3900C667-3A58-4032-B785-B3E3E6AA2BB1}"/>
              </a:ext>
            </a:extLst>
          </p:cNvPr>
          <p:cNvSpPr>
            <a:spLocks noGrp="1"/>
          </p:cNvSpPr>
          <p:nvPr/>
        </p:nvSpPr>
        <p:spPr>
          <a:xfrm>
            <a:off x="571500" y="4895850"/>
            <a:ext cx="53816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950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1950" b="1" dirty="0">
                <a:solidFill>
                  <a:srgbClr val="194E80"/>
                </a:solidFill>
                <a:latin typeface="Arial"/>
                <a:ea typeface="Arial"/>
                <a:cs typeface="Arial"/>
              </a:rPr>
              <a:t>1  MAB — Adaptive Operator Sampling</a:t>
            </a:r>
          </a:p>
        </p:txBody>
      </p:sp>
      <p:sp>
        <p:nvSpPr>
          <p:cNvPr id="9" name="Sampling explanation">
            <a:extLst>
              <a:ext uri="{FF2B5EF4-FFF2-40B4-BE49-F238E27FC236}">
                <a16:creationId xmlns:a16="http://schemas.microsoft.com/office/drawing/2014/main" id="{81083AE3-4217-4D62-B53D-ECF68FF2572D}"/>
              </a:ext>
            </a:extLst>
          </p:cNvPr>
          <p:cNvSpPr>
            <a:spLocks noGrp="1"/>
          </p:cNvSpPr>
          <p:nvPr/>
        </p:nvSpPr>
        <p:spPr>
          <a:xfrm>
            <a:off x="571500" y="5353050"/>
            <a:ext cx="542925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194E80"/>
                </a:solidFill>
                <a:latin typeface="Arial"/>
                <a:ea typeface="Arial"/>
                <a:cs typeface="Arial"/>
              </a:rPr>
              <a:t>Identify promising physical implementations</a:t>
            </a:r>
          </a:p>
          <a:p>
            <a:pPr algn="l">
              <a:lnSpc>
                <a:spcPct val="112000"/>
              </a:lnSpc>
              <a:buNone/>
              <a:defRPr sz="1725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194E80"/>
                </a:solidFill>
                <a:latin typeface="Arial"/>
                <a:ea typeface="Arial"/>
                <a:cs typeface="Arial"/>
              </a:rPr>
              <a:t>through sampling.</a:t>
            </a:r>
          </a:p>
          <a:p>
            <a:pPr algn="l">
              <a:lnSpc>
                <a:spcPct val="112000"/>
              </a:lnSpc>
              <a:buNone/>
              <a:defRPr sz="1725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194E80"/>
                </a:solidFill>
                <a:latin typeface="Arial"/>
                <a:ea typeface="Arial"/>
                <a:cs typeface="Arial"/>
              </a:rPr>
              <a:t>Narrow the candidate set before plan selection.</a:t>
            </a:r>
          </a:p>
        </p:txBody>
      </p:sp>
      <p:sp>
        <p:nvSpPr>
          <p:cNvPr id="10" name="Selection heading">
            <a:extLst>
              <a:ext uri="{FF2B5EF4-FFF2-40B4-BE49-F238E27FC236}">
                <a16:creationId xmlns:a16="http://schemas.microsoft.com/office/drawing/2014/main" id="{2FA41AF3-238D-4B98-842D-5DF56B4236BF}"/>
              </a:ext>
            </a:extLst>
          </p:cNvPr>
          <p:cNvSpPr>
            <a:spLocks noGrp="1"/>
          </p:cNvSpPr>
          <p:nvPr/>
        </p:nvSpPr>
        <p:spPr>
          <a:xfrm>
            <a:off x="6429375" y="4895850"/>
            <a:ext cx="50958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1950" b="1" dirty="0">
                <a:solidFill>
                  <a:srgbClr val="194E80"/>
                </a:solidFill>
                <a:latin typeface="Arial"/>
                <a:cs typeface="Arial"/>
              </a:rPr>
              <a:t>2  </a:t>
            </a:r>
            <a:r>
              <a:rPr lang="zh-CN" altLang="zh-CN" sz="1950" b="1" dirty="0">
                <a:solidFill>
                  <a:srgbClr val="194E80"/>
                </a:solidFill>
                <a:latin typeface="Arial"/>
                <a:cs typeface="Arial"/>
              </a:rPr>
              <a:t>Pareto-Cascades</a:t>
            </a:r>
            <a:r>
              <a:rPr lang="zh-CN" altLang="en-US" sz="1950" b="1" dirty="0">
                <a:solidFill>
                  <a:srgbClr val="194E80"/>
                </a:solidFill>
                <a:latin typeface="Arial"/>
                <a:cs typeface="Arial"/>
              </a:rPr>
              <a:t> </a:t>
            </a:r>
            <a:r>
              <a:rPr lang="en-US" altLang="zh-CN" sz="1950" b="1" dirty="0">
                <a:solidFill>
                  <a:srgbClr val="194E80"/>
                </a:solidFill>
                <a:latin typeface="Arial"/>
                <a:cs typeface="Arial"/>
              </a:rPr>
              <a:t>—Based</a:t>
            </a:r>
            <a:r>
              <a:rPr lang="zh-CN" altLang="en-US" sz="1950" b="1" dirty="0">
                <a:solidFill>
                  <a:srgbClr val="194E80"/>
                </a:solidFill>
                <a:latin typeface="Arial"/>
                <a:cs typeface="Arial"/>
              </a:rPr>
              <a:t> </a:t>
            </a:r>
            <a:r>
              <a:rPr lang="en-US" altLang="zh-CN" sz="1950" b="1" dirty="0">
                <a:solidFill>
                  <a:srgbClr val="194E80"/>
                </a:solidFill>
                <a:latin typeface="Arial"/>
                <a:cs typeface="Arial"/>
              </a:rPr>
              <a:t>on</a:t>
            </a:r>
            <a:r>
              <a:rPr lang="zh-CN" altLang="en-US" sz="1950" b="1" dirty="0">
                <a:solidFill>
                  <a:srgbClr val="194E80"/>
                </a:solidFill>
                <a:latin typeface="Arial"/>
                <a:cs typeface="Arial"/>
              </a:rPr>
              <a:t> </a:t>
            </a:r>
            <a:r>
              <a:rPr lang="en-US" altLang="zh-CN" sz="1950" b="1" dirty="0">
                <a:solidFill>
                  <a:srgbClr val="194E80"/>
                </a:solidFill>
                <a:latin typeface="Arial"/>
                <a:cs typeface="Arial"/>
              </a:rPr>
              <a:t>Cascades</a:t>
            </a:r>
            <a:endParaRPr sz="1950" b="1" dirty="0">
              <a:solidFill>
                <a:srgbClr val="194E80"/>
              </a:solidFill>
              <a:latin typeface="Arial"/>
              <a:cs typeface="Arial"/>
            </a:endParaRPr>
          </a:p>
        </p:txBody>
      </p:sp>
      <p:sp>
        <p:nvSpPr>
          <p:cNvPr id="11" name="Selection explanation">
            <a:extLst>
              <a:ext uri="{FF2B5EF4-FFF2-40B4-BE49-F238E27FC236}">
                <a16:creationId xmlns:a16="http://schemas.microsoft.com/office/drawing/2014/main" id="{04F80F05-695E-4D48-B037-02F10F2095DD}"/>
              </a:ext>
            </a:extLst>
          </p:cNvPr>
          <p:cNvSpPr>
            <a:spLocks noGrp="1"/>
          </p:cNvSpPr>
          <p:nvPr/>
        </p:nvSpPr>
        <p:spPr>
          <a:xfrm>
            <a:off x="6429375" y="5381625"/>
            <a:ext cx="5000625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lang="zh-CN" altLang="zh-CN" dirty="0">
                <a:solidFill>
                  <a:srgbClr val="194E80"/>
                </a:solidFill>
                <a:latin typeface="Arial"/>
              </a:rPr>
              <a:t>keeps track of the Pareto</a:t>
            </a:r>
            <a:r>
              <a:rPr lang="zh-CN" altLang="en-US" dirty="0">
                <a:solidFill>
                  <a:srgbClr val="194E80"/>
                </a:solidFill>
                <a:latin typeface="Arial"/>
              </a:rPr>
              <a:t> </a:t>
            </a:r>
            <a:r>
              <a:rPr lang="zh-CN" altLang="zh-CN" dirty="0">
                <a:solidFill>
                  <a:srgbClr val="194E80"/>
                </a:solidFill>
                <a:latin typeface="Arial"/>
              </a:rPr>
              <a:t>frontier of subplans throughout the optimization procedure.</a:t>
            </a:r>
            <a:endParaRPr sz="1725" dirty="0">
              <a:solidFill>
                <a:srgbClr val="194E8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80347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6EF473E6-44A4-4BB0-9B8D-B4F4F44FD272}"/>
              </a:ext>
            </a:extLst>
          </p:cNvPr>
          <p:cNvSpPr>
            <a:spLocks noGrp="1"/>
          </p:cNvSpPr>
          <p:nvPr/>
        </p:nvSpPr>
        <p:spPr>
          <a:xfrm>
            <a:off x="571500" y="409575"/>
            <a:ext cx="11049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000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3000" b="1" dirty="0">
                <a:solidFill>
                  <a:srgbClr val="194E80"/>
                </a:solidFill>
                <a:latin typeface="Arial"/>
                <a:ea typeface="Arial"/>
                <a:cs typeface="Arial"/>
              </a:rPr>
              <a:t>MAB — </a:t>
            </a:r>
            <a:r>
              <a:rPr lang="zh-CN" altLang="zh-CN" sz="3000" dirty="0">
                <a:solidFill>
                  <a:srgbClr val="194E80"/>
                </a:solidFill>
                <a:latin typeface="Arial"/>
              </a:rPr>
              <a:t>Multi-Armed Bandit Operator Sampling</a:t>
            </a:r>
            <a:endParaRPr sz="3000" b="1" dirty="0">
              <a:solidFill>
                <a:srgbClr val="194E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Definition">
            <a:extLst>
              <a:ext uri="{FF2B5EF4-FFF2-40B4-BE49-F238E27FC236}">
                <a16:creationId xmlns:a16="http://schemas.microsoft.com/office/drawing/2014/main" id="{6DF5E103-85A2-42A6-B2F6-7A6493F58419}"/>
              </a:ext>
            </a:extLst>
          </p:cNvPr>
          <p:cNvSpPr>
            <a:spLocks noGrp="1"/>
          </p:cNvSpPr>
          <p:nvPr/>
        </p:nvSpPr>
        <p:spPr>
          <a:xfrm>
            <a:off x="571500" y="1133475"/>
            <a:ext cx="10858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4E80"/>
                </a:solidFill>
                <a:latin typeface="Arial"/>
                <a:ea typeface="Arial"/>
                <a:cs typeface="Arial"/>
              </a:rPr>
              <a:t>Balance exploration and exploitation under a limited sampling budget.</a:t>
            </a:r>
          </a:p>
        </p:txBody>
      </p:sp>
      <p:sp>
        <p:nvSpPr>
          <p:cNvPr id="4" name="Arm and pull">
            <a:extLst>
              <a:ext uri="{FF2B5EF4-FFF2-40B4-BE49-F238E27FC236}">
                <a16:creationId xmlns:a16="http://schemas.microsoft.com/office/drawing/2014/main" id="{F2743772-B788-4C97-BAC4-F85B30A7D1D1}"/>
              </a:ext>
            </a:extLst>
          </p:cNvPr>
          <p:cNvSpPr>
            <a:spLocks noGrp="1"/>
          </p:cNvSpPr>
          <p:nvPr/>
        </p:nvSpPr>
        <p:spPr>
          <a:xfrm>
            <a:off x="571500" y="1562100"/>
            <a:ext cx="10858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1800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4E80"/>
                </a:solidFill>
                <a:latin typeface="Arial"/>
                <a:ea typeface="Arial"/>
                <a:cs typeface="Arial"/>
              </a:rPr>
              <a:t>Arm = physical operator  ·  Pull = one sampled execution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EF6ADB5-01B0-4692-A936-D9F2F0055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571500" y="2076450"/>
            <a:ext cx="10858500" cy="3619500"/>
          </a:xfrm>
          <a:prstGeom prst="rect">
            <a:avLst/>
          </a:prstGeom>
        </p:spPr>
      </p:pic>
      <p:sp>
        <p:nvSpPr>
          <p:cNvPr id="6" name="Exploitation">
            <a:extLst>
              <a:ext uri="{FF2B5EF4-FFF2-40B4-BE49-F238E27FC236}">
                <a16:creationId xmlns:a16="http://schemas.microsoft.com/office/drawing/2014/main" id="{97538CE8-E094-4F81-BC44-315CA5C6C73A}"/>
              </a:ext>
            </a:extLst>
          </p:cNvPr>
          <p:cNvSpPr>
            <a:spLocks noGrp="1"/>
          </p:cNvSpPr>
          <p:nvPr/>
        </p:nvSpPr>
        <p:spPr>
          <a:xfrm>
            <a:off x="571500" y="5895975"/>
            <a:ext cx="5238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1650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4E80"/>
                </a:solidFill>
                <a:latin typeface="Arial"/>
                <a:ea typeface="Arial"/>
                <a:cs typeface="Arial"/>
              </a:rPr>
              <a:t>Exploit: refine estimates in the active pool.</a:t>
            </a:r>
          </a:p>
        </p:txBody>
      </p:sp>
      <p:sp>
        <p:nvSpPr>
          <p:cNvPr id="7" name="Exploration">
            <a:extLst>
              <a:ext uri="{FF2B5EF4-FFF2-40B4-BE49-F238E27FC236}">
                <a16:creationId xmlns:a16="http://schemas.microsoft.com/office/drawing/2014/main" id="{98F172F3-B505-47F0-AF6B-6A1FBC951A8B}"/>
              </a:ext>
            </a:extLst>
          </p:cNvPr>
          <p:cNvSpPr>
            <a:spLocks noGrp="1"/>
          </p:cNvSpPr>
          <p:nvPr/>
        </p:nvSpPr>
        <p:spPr>
          <a:xfrm>
            <a:off x="6381750" y="5895975"/>
            <a:ext cx="5048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1650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4E80"/>
                </a:solidFill>
                <a:latin typeface="Arial"/>
                <a:ea typeface="Arial"/>
                <a:cs typeface="Arial"/>
              </a:rPr>
              <a:t>Explore: introduce unseen candidates.</a:t>
            </a:r>
          </a:p>
        </p:txBody>
      </p:sp>
    </p:spTree>
    <p:extLst>
      <p:ext uri="{BB962C8B-B14F-4D97-AF65-F5344CB8AC3E}">
        <p14:creationId xmlns:p14="http://schemas.microsoft.com/office/powerpoint/2010/main" val="646639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>
            <a:extLst>
              <a:ext uri="{FF2B5EF4-FFF2-40B4-BE49-F238E27FC236}">
                <a16:creationId xmlns:a16="http://schemas.microsoft.com/office/drawing/2014/main" id="{160BC608-C04B-410A-8FBD-577428EE71A1}"/>
              </a:ext>
            </a:extLst>
          </p:cNvPr>
          <p:cNvSpPr>
            <a:spLocks noGrp="1"/>
          </p:cNvSpPr>
          <p:nvPr/>
        </p:nvSpPr>
        <p:spPr>
          <a:xfrm>
            <a:off x="571500" y="409575"/>
            <a:ext cx="11049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3000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94E80"/>
                </a:solidFill>
                <a:latin typeface="Arial"/>
                <a:ea typeface="Arial"/>
                <a:cs typeface="Arial"/>
              </a:rPr>
              <a:t>MAB — Confidence Bounds and Candidate Update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3EA2787-6013-41AC-A1BC-59CB5E402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571500" y="1222987"/>
            <a:ext cx="5334000" cy="4402501"/>
          </a:xfrm>
          <a:prstGeom prst="rect">
            <a:avLst/>
          </a:prstGeom>
        </p:spPr>
      </p:pic>
      <p:sp>
        <p:nvSpPr>
          <p:cNvPr id="4" name="Lines 3–6: mean and bound computation">
            <a:extLst>
              <a:ext uri="{FF2B5EF4-FFF2-40B4-BE49-F238E27FC236}">
                <a16:creationId xmlns:a16="http://schemas.microsoft.com/office/drawing/2014/main" id="{EE1AA9B5-067A-4309-B02F-82043146810E}"/>
              </a:ext>
            </a:extLst>
          </p:cNvPr>
          <p:cNvSpPr>
            <a:spLocks noGrp="1"/>
          </p:cNvSpPr>
          <p:nvPr/>
        </p:nvSpPr>
        <p:spPr>
          <a:xfrm>
            <a:off x="609600" y="2324100"/>
            <a:ext cx="5248275" cy="942975"/>
          </a:xfrm>
          <a:prstGeom prst="rect">
            <a:avLst/>
          </a:prstGeom>
          <a:noFill/>
          <a:ln w="11430">
            <a:solidFill>
              <a:srgbClr val="4A86B8"/>
            </a:solidFill>
          </a:ln>
        </p:spPr>
      </p:sp>
      <p:sp>
        <p:nvSpPr>
          <p:cNvPr id="5" name="Lines 8–13: retain or remove candidates">
            <a:extLst>
              <a:ext uri="{FF2B5EF4-FFF2-40B4-BE49-F238E27FC236}">
                <a16:creationId xmlns:a16="http://schemas.microsoft.com/office/drawing/2014/main" id="{CBCA5D84-F27F-4FF7-AF1A-00AC263C4A32}"/>
              </a:ext>
            </a:extLst>
          </p:cNvPr>
          <p:cNvSpPr>
            <a:spLocks noGrp="1"/>
          </p:cNvSpPr>
          <p:nvPr/>
        </p:nvSpPr>
        <p:spPr>
          <a:xfrm>
            <a:off x="609600" y="3495675"/>
            <a:ext cx="5248275" cy="1400175"/>
          </a:xfrm>
          <a:prstGeom prst="rect">
            <a:avLst/>
          </a:prstGeom>
          <a:noFill/>
          <a:ln w="11430">
            <a:solidFill>
              <a:srgbClr val="4A86B8"/>
            </a:solidFill>
          </a:ln>
        </p:spPr>
      </p:sp>
      <p:sp>
        <p:nvSpPr>
          <p:cNvPr id="6" name="Lines 14–15: replace removed candidates">
            <a:extLst>
              <a:ext uri="{FF2B5EF4-FFF2-40B4-BE49-F238E27FC236}">
                <a16:creationId xmlns:a16="http://schemas.microsoft.com/office/drawing/2014/main" id="{A07BCACE-A229-4FF2-9C80-99160148F40A}"/>
              </a:ext>
            </a:extLst>
          </p:cNvPr>
          <p:cNvSpPr>
            <a:spLocks noGrp="1"/>
          </p:cNvSpPr>
          <p:nvPr/>
        </p:nvSpPr>
        <p:spPr>
          <a:xfrm>
            <a:off x="609600" y="4981575"/>
            <a:ext cx="5248275" cy="457200"/>
          </a:xfrm>
          <a:prstGeom prst="rect">
            <a:avLst/>
          </a:prstGeom>
          <a:noFill/>
          <a:ln w="11430">
            <a:solidFill>
              <a:srgbClr val="4A86B8"/>
            </a:solidFill>
          </a:ln>
        </p:spPr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FD47864-ADCF-4F07-8945-E70D43991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5105" y="5695950"/>
            <a:ext cx="4546791" cy="6096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586192B-9351-4470-A1A8-7D24FF8945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53163" y="1200150"/>
            <a:ext cx="5114925" cy="511492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A738335-15B5-A40D-13FC-E1FC6170FD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2628" y="2069602"/>
            <a:ext cx="823912" cy="21926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AC94BC7-0F1E-CB2F-F4E3-4C63E1A431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5490" y="3528037"/>
            <a:ext cx="738188" cy="29527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7FCA42A9-3032-BAD5-F939-F08E2552F0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5490" y="5066320"/>
            <a:ext cx="738188" cy="24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8189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">
            <a:extLst>
              <a:ext uri="{FF2B5EF4-FFF2-40B4-BE49-F238E27FC236}">
                <a16:creationId xmlns:a16="http://schemas.microsoft.com/office/drawing/2014/main" id="{1D1A6039-D6CC-4314-A1EE-ABC87BD78D05}"/>
              </a:ext>
            </a:extLst>
          </p:cNvPr>
          <p:cNvSpPr>
            <a:spLocks noGrp="1"/>
          </p:cNvSpPr>
          <p:nvPr/>
        </p:nvSpPr>
        <p:spPr>
          <a:xfrm>
            <a:off x="571500" y="409575"/>
            <a:ext cx="11049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3000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94E80"/>
                </a:solidFill>
                <a:latin typeface="Arial"/>
                <a:ea typeface="Arial"/>
                <a:cs typeface="Arial"/>
              </a:rPr>
              <a:t>Prior Beliefs — A Better Starting Pool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B4836542-8A25-4F7D-BB02-37A655BF1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810" y="1584871"/>
            <a:ext cx="3816207" cy="1620783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94DB89D1-31C9-AE5D-5E59-72BA921DF699}"/>
              </a:ext>
            </a:extLst>
          </p:cNvPr>
          <p:cNvSpPr txBox="1"/>
          <p:nvPr/>
        </p:nvSpPr>
        <p:spPr>
          <a:xfrm>
            <a:off x="571500" y="4156883"/>
            <a:ext cx="1006343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b="1" dirty="0"/>
              <a:t>Prior beliefs express expected operator quality, cost, and latency.</a:t>
            </a:r>
            <a:endParaRPr lang="en-US" altLang="zh-CN" sz="2400" b="1" dirty="0"/>
          </a:p>
          <a:p>
            <a:br>
              <a:rPr lang="zh-CN" altLang="zh-CN" sz="2400" dirty="0"/>
            </a:br>
            <a:r>
              <a:rPr lang="zh-CN" altLang="zh-CN" sz="2400" b="1" dirty="0"/>
              <a:t>They guide the initial candidate pool and subsequent replacements.</a:t>
            </a:r>
            <a:endParaRPr lang="zh-CN" altLang="en-US" sz="2400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8DE96C9-D11C-E3AB-5941-7380E2CF45BF}"/>
              </a:ext>
            </a:extLst>
          </p:cNvPr>
          <p:cNvSpPr/>
          <p:nvPr/>
        </p:nvSpPr>
        <p:spPr>
          <a:xfrm>
            <a:off x="6264165" y="2627586"/>
            <a:ext cx="714704" cy="5780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85667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AC32541A-A520-48ED-9019-BD9D04D91726}"/>
              </a:ext>
            </a:extLst>
          </p:cNvPr>
          <p:cNvSpPr>
            <a:spLocks noGrp="1"/>
          </p:cNvSpPr>
          <p:nvPr/>
        </p:nvSpPr>
        <p:spPr>
          <a:xfrm>
            <a:off x="571500" y="409575"/>
            <a:ext cx="11049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3000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3000" b="1" dirty="0">
                <a:solidFill>
                  <a:srgbClr val="194E80"/>
                </a:solidFill>
                <a:latin typeface="Arial"/>
                <a:ea typeface="Arial"/>
                <a:cs typeface="Arial"/>
              </a:rPr>
              <a:t>Traditional Cascades</a:t>
            </a:r>
          </a:p>
        </p:txBody>
      </p:sp>
      <p:sp>
        <p:nvSpPr>
          <p:cNvPr id="4" name="Scalar objective">
            <a:extLst>
              <a:ext uri="{FF2B5EF4-FFF2-40B4-BE49-F238E27FC236}">
                <a16:creationId xmlns:a16="http://schemas.microsoft.com/office/drawing/2014/main" id="{41AF1DEA-F104-4686-B384-3D2B0369E368}"/>
              </a:ext>
            </a:extLst>
          </p:cNvPr>
          <p:cNvSpPr>
            <a:spLocks noGrp="1"/>
          </p:cNvSpPr>
          <p:nvPr/>
        </p:nvSpPr>
        <p:spPr>
          <a:xfrm>
            <a:off x="571500" y="1085850"/>
            <a:ext cx="10858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194E80"/>
                </a:solidFill>
                <a:latin typeface="Arial"/>
                <a:ea typeface="Arial"/>
                <a:cs typeface="Arial"/>
              </a:rPr>
              <a:t>Start with a scalar objective: minimize plan cost.</a:t>
            </a:r>
          </a:p>
        </p:txBody>
      </p:sp>
      <p:sp>
        <p:nvSpPr>
          <p:cNvPr id="6" name="Step 1">
            <a:extLst>
              <a:ext uri="{FF2B5EF4-FFF2-40B4-BE49-F238E27FC236}">
                <a16:creationId xmlns:a16="http://schemas.microsoft.com/office/drawing/2014/main" id="{1B4FDAFD-7B20-4FDF-9380-E57976AB9CDB}"/>
              </a:ext>
            </a:extLst>
          </p:cNvPr>
          <p:cNvSpPr>
            <a:spLocks noGrp="1"/>
          </p:cNvSpPr>
          <p:nvPr/>
        </p:nvSpPr>
        <p:spPr>
          <a:xfrm>
            <a:off x="571500" y="4543425"/>
            <a:ext cx="328612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1875" b="1" dirty="0">
                <a:solidFill>
                  <a:srgbClr val="194E80"/>
                </a:solidFill>
                <a:latin typeface="Arial"/>
                <a:ea typeface="Arial"/>
                <a:cs typeface="Arial"/>
              </a:rPr>
              <a:t>1  Build groups</a:t>
            </a:r>
          </a:p>
        </p:txBody>
      </p:sp>
      <p:sp>
        <p:nvSpPr>
          <p:cNvPr id="7" name="Step 1 detail">
            <a:extLst>
              <a:ext uri="{FF2B5EF4-FFF2-40B4-BE49-F238E27FC236}">
                <a16:creationId xmlns:a16="http://schemas.microsoft.com/office/drawing/2014/main" id="{76B31749-830F-4699-ACC3-878A4984C55C}"/>
              </a:ext>
            </a:extLst>
          </p:cNvPr>
          <p:cNvSpPr>
            <a:spLocks noGrp="1"/>
          </p:cNvSpPr>
          <p:nvPr/>
        </p:nvSpPr>
        <p:spPr>
          <a:xfrm>
            <a:off x="571500" y="4981575"/>
            <a:ext cx="333375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1800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94E80"/>
                </a:solidFill>
                <a:latin typeface="Arial"/>
                <a:ea typeface="Arial"/>
                <a:cs typeface="Arial"/>
              </a:rPr>
              <a:t>Equivalent logical and physical</a:t>
            </a: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94E80"/>
                </a:solidFill>
                <a:latin typeface="Arial"/>
                <a:ea typeface="Arial"/>
                <a:cs typeface="Arial"/>
              </a:rPr>
              <a:t>subplans share a group.</a:t>
            </a:r>
          </a:p>
        </p:txBody>
      </p:sp>
      <p:sp>
        <p:nvSpPr>
          <p:cNvPr id="8" name="Step 2">
            <a:extLst>
              <a:ext uri="{FF2B5EF4-FFF2-40B4-BE49-F238E27FC236}">
                <a16:creationId xmlns:a16="http://schemas.microsoft.com/office/drawing/2014/main" id="{61449C57-1560-4C5F-8202-8AC50171A827}"/>
              </a:ext>
            </a:extLst>
          </p:cNvPr>
          <p:cNvSpPr>
            <a:spLocks noGrp="1"/>
          </p:cNvSpPr>
          <p:nvPr/>
        </p:nvSpPr>
        <p:spPr>
          <a:xfrm>
            <a:off x="4286250" y="4543425"/>
            <a:ext cx="328612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94E80"/>
                </a:solidFill>
                <a:latin typeface="Arial"/>
                <a:ea typeface="Arial"/>
                <a:cs typeface="Arial"/>
              </a:rPr>
              <a:t>2  Apply rules</a:t>
            </a:r>
          </a:p>
        </p:txBody>
      </p:sp>
      <p:sp>
        <p:nvSpPr>
          <p:cNvPr id="9" name="Step 2 detail">
            <a:extLst>
              <a:ext uri="{FF2B5EF4-FFF2-40B4-BE49-F238E27FC236}">
                <a16:creationId xmlns:a16="http://schemas.microsoft.com/office/drawing/2014/main" id="{7DBA58FB-9486-465F-8D64-7DD3EFFA528C}"/>
              </a:ext>
            </a:extLst>
          </p:cNvPr>
          <p:cNvSpPr>
            <a:spLocks noGrp="1"/>
          </p:cNvSpPr>
          <p:nvPr/>
        </p:nvSpPr>
        <p:spPr>
          <a:xfrm>
            <a:off x="4286250" y="4981575"/>
            <a:ext cx="342900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1800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194E80"/>
                </a:solidFill>
                <a:latin typeface="Arial"/>
                <a:ea typeface="Arial"/>
                <a:cs typeface="Arial"/>
              </a:rPr>
              <a:t>Transformation rules</a:t>
            </a: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194E80"/>
                </a:solidFill>
                <a:latin typeface="Arial"/>
                <a:ea typeface="Arial"/>
                <a:cs typeface="Arial"/>
              </a:rPr>
              <a:t>Implementation rules</a:t>
            </a:r>
          </a:p>
        </p:txBody>
      </p:sp>
      <p:sp>
        <p:nvSpPr>
          <p:cNvPr id="10" name="Step 3">
            <a:extLst>
              <a:ext uri="{FF2B5EF4-FFF2-40B4-BE49-F238E27FC236}">
                <a16:creationId xmlns:a16="http://schemas.microsoft.com/office/drawing/2014/main" id="{8943AA28-CBFF-46C7-8342-5FBC5FD1A911}"/>
              </a:ext>
            </a:extLst>
          </p:cNvPr>
          <p:cNvSpPr>
            <a:spLocks noGrp="1"/>
          </p:cNvSpPr>
          <p:nvPr/>
        </p:nvSpPr>
        <p:spPr>
          <a:xfrm>
            <a:off x="8124825" y="4543425"/>
            <a:ext cx="338137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94E80"/>
                </a:solidFill>
                <a:latin typeface="Arial"/>
                <a:ea typeface="Arial"/>
                <a:cs typeface="Arial"/>
              </a:rPr>
              <a:t>3  Optimize each group</a:t>
            </a:r>
          </a:p>
        </p:txBody>
      </p:sp>
      <p:sp>
        <p:nvSpPr>
          <p:cNvPr id="11" name="Step 3 detail">
            <a:extLst>
              <a:ext uri="{FF2B5EF4-FFF2-40B4-BE49-F238E27FC236}">
                <a16:creationId xmlns:a16="http://schemas.microsoft.com/office/drawing/2014/main" id="{C7503AC3-4C51-485C-B997-DBA325D427DF}"/>
              </a:ext>
            </a:extLst>
          </p:cNvPr>
          <p:cNvSpPr>
            <a:spLocks noGrp="1"/>
          </p:cNvSpPr>
          <p:nvPr/>
        </p:nvSpPr>
        <p:spPr>
          <a:xfrm>
            <a:off x="8124824" y="4981575"/>
            <a:ext cx="3814927" cy="136667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lang="zh-CN" altLang="zh-CN" dirty="0">
                <a:solidFill>
                  <a:srgbClr val="194E80"/>
                </a:solidFill>
                <a:latin typeface="Arial"/>
                <a:cs typeface="Arial"/>
              </a:rPr>
              <a:t>Evaluate expressions using optimal input subplans.</a:t>
            </a:r>
            <a:br>
              <a:rPr lang="zh-CN" altLang="zh-CN" dirty="0">
                <a:solidFill>
                  <a:srgbClr val="194E80"/>
                </a:solidFill>
                <a:latin typeface="Arial"/>
                <a:cs typeface="Arial"/>
              </a:rPr>
            </a:br>
            <a:r>
              <a:rPr lang="zh-CN" altLang="zh-CN" dirty="0">
                <a:solidFill>
                  <a:srgbClr val="194E80"/>
                </a:solidFill>
                <a:latin typeface="Arial"/>
                <a:cs typeface="Arial"/>
              </a:rPr>
              <a:t>Keep the minimum-cost choice in each group.</a:t>
            </a:r>
            <a:endParaRPr dirty="0">
              <a:solidFill>
                <a:srgbClr val="194E80"/>
              </a:solidFill>
              <a:latin typeface="Arial"/>
              <a:cs typeface="Arial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75AF7EB-EEF5-65F0-EB60-929DB7408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83139"/>
            <a:ext cx="7450411" cy="1720122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190FCA3B-2DB8-20A0-954C-BC74C1D1E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6907" y="899127"/>
            <a:ext cx="4875093" cy="3269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8255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35959C40-D35F-4786-A449-9AD02BB5D45E}"/>
              </a:ext>
            </a:extLst>
          </p:cNvPr>
          <p:cNvSpPr>
            <a:spLocks noGrp="1"/>
          </p:cNvSpPr>
          <p:nvPr/>
        </p:nvSpPr>
        <p:spPr>
          <a:xfrm>
            <a:off x="571500" y="409575"/>
            <a:ext cx="11049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3000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3000" b="1" dirty="0">
                <a:solidFill>
                  <a:srgbClr val="194E80"/>
                </a:solidFill>
                <a:latin typeface="Arial"/>
                <a:ea typeface="Arial"/>
                <a:cs typeface="Arial"/>
              </a:rPr>
              <a:t>Pareto-Cascades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B4DFAB6-F831-4741-ABE8-7D37BFF57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35522" y="1111743"/>
            <a:ext cx="7096125" cy="4730750"/>
          </a:xfrm>
          <a:prstGeom prst="rect">
            <a:avLst/>
          </a:prstGeom>
        </p:spPr>
      </p:pic>
      <p:sp>
        <p:nvSpPr>
          <p:cNvPr id="5" name="Theorem heading">
            <a:extLst>
              <a:ext uri="{FF2B5EF4-FFF2-40B4-BE49-F238E27FC236}">
                <a16:creationId xmlns:a16="http://schemas.microsoft.com/office/drawing/2014/main" id="{82594B4D-6F53-4156-80C1-3AE6BA14EAA4}"/>
              </a:ext>
            </a:extLst>
          </p:cNvPr>
          <p:cNvSpPr>
            <a:spLocks noGrp="1"/>
          </p:cNvSpPr>
          <p:nvPr/>
        </p:nvSpPr>
        <p:spPr>
          <a:xfrm>
            <a:off x="8143875" y="2311291"/>
            <a:ext cx="34766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4E80"/>
                </a:solidFill>
                <a:latin typeface="Arial"/>
                <a:ea typeface="Arial"/>
                <a:cs typeface="Arial"/>
              </a:rPr>
              <a:t>Theorem 3.1</a:t>
            </a:r>
          </a:p>
        </p:txBody>
      </p:sp>
      <p:sp>
        <p:nvSpPr>
          <p:cNvPr id="6" name="Theorem">
            <a:extLst>
              <a:ext uri="{FF2B5EF4-FFF2-40B4-BE49-F238E27FC236}">
                <a16:creationId xmlns:a16="http://schemas.microsoft.com/office/drawing/2014/main" id="{ED32FB43-9B8E-4365-BEF4-8B9B58BEB4E8}"/>
              </a:ext>
            </a:extLst>
          </p:cNvPr>
          <p:cNvSpPr>
            <a:spLocks noGrp="1"/>
          </p:cNvSpPr>
          <p:nvPr/>
        </p:nvSpPr>
        <p:spPr>
          <a:xfrm>
            <a:off x="8143875" y="2835166"/>
            <a:ext cx="3476625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4E80"/>
                </a:solidFill>
                <a:latin typeface="Arial"/>
                <a:ea typeface="Arial"/>
                <a:cs typeface="Arial"/>
              </a:rPr>
              <a:t>Every subplan of a</a:t>
            </a: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4E80"/>
                </a:solidFill>
                <a:latin typeface="Arial"/>
                <a:ea typeface="Arial"/>
                <a:cs typeface="Arial"/>
              </a:rPr>
              <a:t>Pareto-optimal physical plan</a:t>
            </a: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4E80"/>
                </a:solidFill>
                <a:latin typeface="Arial"/>
                <a:ea typeface="Arial"/>
                <a:cs typeface="Arial"/>
              </a:rPr>
              <a:t>is itself Pareto-optimal.</a:t>
            </a:r>
          </a:p>
        </p:txBody>
      </p:sp>
    </p:spTree>
    <p:extLst>
      <p:ext uri="{BB962C8B-B14F-4D97-AF65-F5344CB8AC3E}">
        <p14:creationId xmlns:p14="http://schemas.microsoft.com/office/powerpoint/2010/main" val="9514682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">
            <a:extLst>
              <a:ext uri="{FF2B5EF4-FFF2-40B4-BE49-F238E27FC236}">
                <a16:creationId xmlns:a16="http://schemas.microsoft.com/office/drawing/2014/main" id="{032D52AF-F7C6-4EF9-99B2-FD49820EE795}"/>
              </a:ext>
            </a:extLst>
          </p:cNvPr>
          <p:cNvSpPr>
            <a:spLocks noGrp="1"/>
          </p:cNvSpPr>
          <p:nvPr/>
        </p:nvSpPr>
        <p:spPr>
          <a:xfrm>
            <a:off x="571500" y="409575"/>
            <a:ext cx="11049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3000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3000" b="1" dirty="0">
                <a:solidFill>
                  <a:srgbClr val="194E80"/>
                </a:solidFill>
                <a:latin typeface="Arial"/>
                <a:ea typeface="Arial"/>
                <a:cs typeface="Arial"/>
              </a:rPr>
              <a:t>Pareto-Cascades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EA49001-94EA-9D75-07DC-BA7F5BD9A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758" y="1770501"/>
            <a:ext cx="10186484" cy="5087499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2903100F-4BBC-7A1F-A52E-A63A797FD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381" y="0"/>
            <a:ext cx="4330262" cy="1770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7990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860EA4-AAA5-6C0A-AC1D-20EEE1A92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">
            <a:extLst>
              <a:ext uri="{FF2B5EF4-FFF2-40B4-BE49-F238E27FC236}">
                <a16:creationId xmlns:a16="http://schemas.microsoft.com/office/drawing/2014/main" id="{DA588701-4E7F-BB7E-EDC8-CC405F28BBBE}"/>
              </a:ext>
            </a:extLst>
          </p:cNvPr>
          <p:cNvSpPr>
            <a:spLocks noGrp="1"/>
          </p:cNvSpPr>
          <p:nvPr/>
        </p:nvSpPr>
        <p:spPr>
          <a:xfrm>
            <a:off x="571500" y="409575"/>
            <a:ext cx="11049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000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lang="zh-CN" altLang="zh-CN" sz="3000" b="1" dirty="0">
                <a:solidFill>
                  <a:srgbClr val="194E80"/>
                </a:solidFill>
                <a:latin typeface="Arial"/>
              </a:rPr>
              <a:t>Physical Implementations</a:t>
            </a:r>
            <a:r>
              <a:rPr lang="zh-CN" altLang="en-US" sz="3000" b="1" dirty="0">
                <a:solidFill>
                  <a:srgbClr val="194E80"/>
                </a:solidFill>
                <a:latin typeface="Arial"/>
              </a:rPr>
              <a:t> </a:t>
            </a:r>
            <a:r>
              <a:rPr lang="en-US" altLang="zh-CN" sz="3000" b="1" dirty="0">
                <a:solidFill>
                  <a:srgbClr val="194E80"/>
                </a:solidFill>
                <a:latin typeface="Arial"/>
              </a:rPr>
              <a:t>Rules</a:t>
            </a:r>
            <a:endParaRPr sz="3000" b="1" dirty="0">
              <a:solidFill>
                <a:srgbClr val="194E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Search details heading">
            <a:extLst>
              <a:ext uri="{FF2B5EF4-FFF2-40B4-BE49-F238E27FC236}">
                <a16:creationId xmlns:a16="http://schemas.microsoft.com/office/drawing/2014/main" id="{31AEA2A9-F0A4-E727-2EFE-E928B23670AD}"/>
              </a:ext>
            </a:extLst>
          </p:cNvPr>
          <p:cNvSpPr>
            <a:spLocks noGrp="1"/>
          </p:cNvSpPr>
          <p:nvPr/>
        </p:nvSpPr>
        <p:spPr>
          <a:xfrm>
            <a:off x="571500" y="1398040"/>
            <a:ext cx="11481074" cy="308084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lvl="0"/>
            <a:r>
              <a:rPr lang="zh-CN" altLang="zh-CN" sz="2400" b="1" dirty="0"/>
              <a:t>Model Selection:</a:t>
            </a:r>
            <a:r>
              <a:rPr lang="zh-CN" altLang="zh-CN" sz="2400" dirty="0"/>
              <a:t> Execute the operator with a single LLM.</a:t>
            </a:r>
            <a:endParaRPr lang="en-US" altLang="zh-CN" sz="2400" dirty="0"/>
          </a:p>
          <a:p>
            <a:pPr lvl="0"/>
            <a:endParaRPr lang="zh-CN" altLang="zh-CN" sz="2400" dirty="0"/>
          </a:p>
          <a:p>
            <a:pPr lvl="0"/>
            <a:r>
              <a:rPr lang="zh-CN" altLang="zh-CN" sz="2400" b="1" dirty="0"/>
              <a:t>Mixture-of-Agents:</a:t>
            </a:r>
            <a:r>
              <a:rPr lang="zh-CN" altLang="zh-CN" sz="2400" dirty="0"/>
              <a:t> Combine proposer outputs using an aggregator model.</a:t>
            </a:r>
            <a:endParaRPr lang="en-US" altLang="zh-CN" sz="2400" dirty="0"/>
          </a:p>
          <a:p>
            <a:pPr lvl="0"/>
            <a:endParaRPr lang="zh-CN" altLang="zh-CN" sz="2400" dirty="0"/>
          </a:p>
          <a:p>
            <a:pPr lvl="0"/>
            <a:r>
              <a:rPr lang="zh-CN" altLang="zh-CN" sz="2400" b="1" dirty="0"/>
              <a:t>Reduced-Context Generation:</a:t>
            </a:r>
            <a:r>
              <a:rPr lang="zh-CN" altLang="zh-CN" sz="2400" dirty="0"/>
              <a:t> Select relevant input chunks before invoking an LLM.</a:t>
            </a:r>
            <a:endParaRPr lang="en-US" altLang="zh-CN" sz="2400" dirty="0"/>
          </a:p>
          <a:p>
            <a:pPr lvl="0"/>
            <a:endParaRPr lang="zh-CN" altLang="zh-CN" sz="2400" dirty="0"/>
          </a:p>
          <a:p>
            <a:pPr lvl="0"/>
            <a:r>
              <a:rPr lang="zh-CN" altLang="zh-CN" sz="2400" b="1" dirty="0"/>
              <a:t>Critique-and-Refine:</a:t>
            </a:r>
            <a:r>
              <a:rPr lang="zh-CN" altLang="zh-CN" sz="2400" dirty="0"/>
              <a:t> Generate an initial output, critique it, and produce a refined output.</a:t>
            </a:r>
          </a:p>
        </p:txBody>
      </p:sp>
    </p:spTree>
    <p:extLst>
      <p:ext uri="{BB962C8B-B14F-4D97-AF65-F5344CB8AC3E}">
        <p14:creationId xmlns:p14="http://schemas.microsoft.com/office/powerpoint/2010/main" val="38792919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">
            <a:extLst>
              <a:ext uri="{FF2B5EF4-FFF2-40B4-BE49-F238E27FC236}">
                <a16:creationId xmlns:a16="http://schemas.microsoft.com/office/drawing/2014/main" id="{E9D5A922-BF76-429A-ABAA-43E73F5B32D4}"/>
              </a:ext>
            </a:extLst>
          </p:cNvPr>
          <p:cNvSpPr>
            <a:spLocks noGrp="1"/>
          </p:cNvSpPr>
          <p:nvPr/>
        </p:nvSpPr>
        <p:spPr>
          <a:xfrm>
            <a:off x="571500" y="409575"/>
            <a:ext cx="11049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3000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3000" b="1" dirty="0">
                <a:solidFill>
                  <a:srgbClr val="194E80"/>
                </a:solidFill>
                <a:latin typeface="Arial"/>
                <a:ea typeface="Arial"/>
                <a:cs typeface="Arial"/>
              </a:rPr>
              <a:t>Abacus</a:t>
            </a:r>
            <a:r>
              <a:rPr lang="zh-CN" altLang="en-US" sz="3000" b="1" dirty="0">
                <a:solidFill>
                  <a:srgbClr val="194E8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000" b="1" dirty="0">
                <a:solidFill>
                  <a:srgbClr val="194E80"/>
                </a:solidFill>
                <a:latin typeface="Arial"/>
                <a:ea typeface="Arial"/>
                <a:cs typeface="Arial"/>
              </a:rPr>
              <a:t>algorithm</a:t>
            </a:r>
            <a:endParaRPr sz="3000" b="1" dirty="0">
              <a:solidFill>
                <a:srgbClr val="194E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Inputs">
            <a:extLst>
              <a:ext uri="{FF2B5EF4-FFF2-40B4-BE49-F238E27FC236}">
                <a16:creationId xmlns:a16="http://schemas.microsoft.com/office/drawing/2014/main" id="{AF5C3556-6D89-4C08-AAB8-B081DF018B46}"/>
              </a:ext>
            </a:extLst>
          </p:cNvPr>
          <p:cNvSpPr>
            <a:spLocks noGrp="1"/>
          </p:cNvSpPr>
          <p:nvPr/>
        </p:nvSpPr>
        <p:spPr>
          <a:xfrm>
            <a:off x="571500" y="108585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1800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94E80"/>
                </a:solidFill>
                <a:latin typeface="Arial"/>
                <a:ea typeface="Arial"/>
                <a:cs typeface="Arial"/>
              </a:rPr>
              <a:t>P: program · O: objective · D: validation data · B: sampling budget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6040A37-057B-4F6F-B916-A768CDDCE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571500" y="1728618"/>
            <a:ext cx="6629400" cy="4258014"/>
          </a:xfrm>
          <a:prstGeom prst="rect">
            <a:avLst/>
          </a:prstGeom>
        </p:spPr>
      </p:pic>
      <p:sp>
        <p:nvSpPr>
          <p:cNvPr id="6" name="Initialization lines 1–3">
            <a:extLst>
              <a:ext uri="{FF2B5EF4-FFF2-40B4-BE49-F238E27FC236}">
                <a16:creationId xmlns:a16="http://schemas.microsoft.com/office/drawing/2014/main" id="{B46AB835-2759-4E68-9178-D223587E65B3}"/>
              </a:ext>
            </a:extLst>
          </p:cNvPr>
          <p:cNvSpPr>
            <a:spLocks noGrp="1"/>
          </p:cNvSpPr>
          <p:nvPr/>
        </p:nvSpPr>
        <p:spPr>
          <a:xfrm>
            <a:off x="619125" y="2800350"/>
            <a:ext cx="6505575" cy="838200"/>
          </a:xfrm>
          <a:prstGeom prst="rect">
            <a:avLst/>
          </a:prstGeom>
          <a:noFill/>
          <a:ln w="12383">
            <a:solidFill>
              <a:srgbClr val="4A86B8"/>
            </a:solidFill>
          </a:ln>
        </p:spPr>
      </p:sp>
      <p:sp>
        <p:nvSpPr>
          <p:cNvPr id="7" name="Sampling lines 4–9">
            <a:extLst>
              <a:ext uri="{FF2B5EF4-FFF2-40B4-BE49-F238E27FC236}">
                <a16:creationId xmlns:a16="http://schemas.microsoft.com/office/drawing/2014/main" id="{AB33E6FD-69E1-4940-A76D-BD631028BE04}"/>
              </a:ext>
            </a:extLst>
          </p:cNvPr>
          <p:cNvSpPr>
            <a:spLocks noGrp="1"/>
          </p:cNvSpPr>
          <p:nvPr/>
        </p:nvSpPr>
        <p:spPr>
          <a:xfrm>
            <a:off x="619125" y="3705225"/>
            <a:ext cx="6505575" cy="1800225"/>
          </a:xfrm>
          <a:prstGeom prst="rect">
            <a:avLst/>
          </a:prstGeom>
          <a:noFill/>
          <a:ln w="12383">
            <a:solidFill>
              <a:srgbClr val="4A86B8"/>
            </a:solidFill>
          </a:ln>
        </p:spPr>
      </p:sp>
      <p:sp>
        <p:nvSpPr>
          <p:cNvPr id="8" name="Plan selection line 10">
            <a:extLst>
              <a:ext uri="{FF2B5EF4-FFF2-40B4-BE49-F238E27FC236}">
                <a16:creationId xmlns:a16="http://schemas.microsoft.com/office/drawing/2014/main" id="{0E4F5E84-802E-4107-BE2C-C53467569A92}"/>
              </a:ext>
            </a:extLst>
          </p:cNvPr>
          <p:cNvSpPr>
            <a:spLocks noGrp="1"/>
          </p:cNvSpPr>
          <p:nvPr/>
        </p:nvSpPr>
        <p:spPr>
          <a:xfrm>
            <a:off x="619125" y="5553075"/>
            <a:ext cx="6505575" cy="304800"/>
          </a:xfrm>
          <a:prstGeom prst="rect">
            <a:avLst/>
          </a:prstGeom>
          <a:noFill/>
          <a:ln w="12383">
            <a:solidFill>
              <a:srgbClr val="4A86B8"/>
            </a:solidFill>
          </a:ln>
        </p:spPr>
      </p:sp>
      <p:sp>
        <p:nvSpPr>
          <p:cNvPr id="9" name="Initialization">
            <a:extLst>
              <a:ext uri="{FF2B5EF4-FFF2-40B4-BE49-F238E27FC236}">
                <a16:creationId xmlns:a16="http://schemas.microsoft.com/office/drawing/2014/main" id="{548CDFA8-662D-4759-96A6-6AE56E8602BE}"/>
              </a:ext>
            </a:extLst>
          </p:cNvPr>
          <p:cNvSpPr>
            <a:spLocks noGrp="1"/>
          </p:cNvSpPr>
          <p:nvPr/>
        </p:nvSpPr>
        <p:spPr>
          <a:xfrm>
            <a:off x="7562850" y="1052677"/>
            <a:ext cx="4000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1875" b="1" dirty="0">
                <a:solidFill>
                  <a:srgbClr val="194E80"/>
                </a:solidFill>
                <a:latin typeface="Arial"/>
                <a:ea typeface="Arial"/>
                <a:cs typeface="Arial"/>
              </a:rPr>
              <a:t>1  Initialize  ·  lines 1–3</a:t>
            </a:r>
          </a:p>
        </p:txBody>
      </p:sp>
      <p:sp>
        <p:nvSpPr>
          <p:cNvPr id="10" name="Initialization body">
            <a:extLst>
              <a:ext uri="{FF2B5EF4-FFF2-40B4-BE49-F238E27FC236}">
                <a16:creationId xmlns:a16="http://schemas.microsoft.com/office/drawing/2014/main" id="{5081FA8D-E9A8-4680-9A8C-C33C2303C322}"/>
              </a:ext>
            </a:extLst>
          </p:cNvPr>
          <p:cNvSpPr>
            <a:spLocks noGrp="1"/>
          </p:cNvSpPr>
          <p:nvPr/>
        </p:nvSpPr>
        <p:spPr>
          <a:xfrm>
            <a:off x="7581900" y="1533689"/>
            <a:ext cx="40386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725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lang="zh-CN" altLang="zh-CN" sz="1725" dirty="0">
                <a:solidFill>
                  <a:srgbClr val="194E80"/>
                </a:solidFill>
                <a:latin typeface="Arial"/>
              </a:rPr>
              <a:t>Enumerate physical implementations without logical rewrites.</a:t>
            </a:r>
            <a:endParaRPr lang="en-US" altLang="zh-CN" sz="1725" dirty="0">
              <a:solidFill>
                <a:srgbClr val="194E80"/>
              </a:solidFill>
              <a:latin typeface="Arial"/>
            </a:endParaRPr>
          </a:p>
          <a:p>
            <a:pPr>
              <a:defRPr sz="1725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br>
              <a:rPr lang="zh-CN" altLang="zh-CN" sz="1725" dirty="0">
                <a:solidFill>
                  <a:srgbClr val="194E80"/>
                </a:solidFill>
                <a:latin typeface="Arial"/>
              </a:rPr>
            </a:br>
            <a:r>
              <a:rPr lang="zh-CN" altLang="zh-CN" sz="1725" dirty="0">
                <a:solidFill>
                  <a:srgbClr val="194E80"/>
                </a:solidFill>
                <a:latin typeface="Arial"/>
              </a:rPr>
              <a:t>Initialize the cost model.</a:t>
            </a:r>
            <a:endParaRPr sz="1725" b="0" dirty="0">
              <a:solidFill>
                <a:srgbClr val="194E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ampling">
            <a:extLst>
              <a:ext uri="{FF2B5EF4-FFF2-40B4-BE49-F238E27FC236}">
                <a16:creationId xmlns:a16="http://schemas.microsoft.com/office/drawing/2014/main" id="{C2648DA1-E5ED-445C-A595-250551F15E9E}"/>
              </a:ext>
            </a:extLst>
          </p:cNvPr>
          <p:cNvSpPr>
            <a:spLocks noGrp="1"/>
          </p:cNvSpPr>
          <p:nvPr/>
        </p:nvSpPr>
        <p:spPr>
          <a:xfrm>
            <a:off x="7581900" y="2784584"/>
            <a:ext cx="4000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194E80"/>
                </a:solidFill>
                <a:latin typeface="Arial"/>
                <a:ea typeface="Arial"/>
                <a:cs typeface="Arial"/>
              </a:rPr>
              <a:t>2  </a:t>
            </a:r>
            <a:r>
              <a:rPr lang="zh-CN" altLang="zh-CN" b="1" dirty="0">
                <a:solidFill>
                  <a:srgbClr val="194E80"/>
                </a:solidFill>
                <a:latin typeface="Arial"/>
              </a:rPr>
              <a:t>MAB sampling</a:t>
            </a:r>
            <a:r>
              <a:rPr sz="1800" b="1" dirty="0">
                <a:solidFill>
                  <a:srgbClr val="194E80"/>
                </a:solidFill>
                <a:latin typeface="Arial"/>
                <a:ea typeface="Arial"/>
                <a:cs typeface="Arial"/>
              </a:rPr>
              <a:t>  ·  lines 4–9</a:t>
            </a:r>
          </a:p>
        </p:txBody>
      </p:sp>
      <p:sp>
        <p:nvSpPr>
          <p:cNvPr id="12" name="Sampling body">
            <a:extLst>
              <a:ext uri="{FF2B5EF4-FFF2-40B4-BE49-F238E27FC236}">
                <a16:creationId xmlns:a16="http://schemas.microsoft.com/office/drawing/2014/main" id="{3AD31825-88AC-44C8-92A8-9F8E63E0007E}"/>
              </a:ext>
            </a:extLst>
          </p:cNvPr>
          <p:cNvSpPr>
            <a:spLocks noGrp="1"/>
          </p:cNvSpPr>
          <p:nvPr/>
        </p:nvSpPr>
        <p:spPr>
          <a:xfrm>
            <a:off x="7562850" y="3261328"/>
            <a:ext cx="4038600" cy="109997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725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lang="zh-CN" altLang="zh-CN" sz="1725" dirty="0">
                <a:solidFill>
                  <a:srgbClr val="194E80"/>
                </a:solidFill>
                <a:latin typeface="Arial"/>
              </a:rPr>
              <a:t>Measure operator performance and update estimates.</a:t>
            </a:r>
            <a:endParaRPr lang="en-US" altLang="zh-CN" sz="1725" dirty="0">
              <a:solidFill>
                <a:srgbClr val="194E80"/>
              </a:solidFill>
              <a:latin typeface="Arial"/>
            </a:endParaRPr>
          </a:p>
          <a:p>
            <a:pPr>
              <a:defRPr sz="1725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br>
              <a:rPr lang="zh-CN" altLang="zh-CN" sz="1725" dirty="0">
                <a:solidFill>
                  <a:srgbClr val="194E80"/>
                </a:solidFill>
                <a:latin typeface="Arial"/>
              </a:rPr>
            </a:br>
            <a:r>
              <a:rPr lang="zh-CN" altLang="zh-CN" sz="1725" dirty="0">
                <a:solidFill>
                  <a:srgbClr val="194E80"/>
                </a:solidFill>
                <a:latin typeface="Arial"/>
              </a:rPr>
              <a:t>Refine and replace candidates within the sampling budget.</a:t>
            </a:r>
            <a:endParaRPr sz="1725" b="0" dirty="0">
              <a:solidFill>
                <a:srgbClr val="194E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Selection">
            <a:extLst>
              <a:ext uri="{FF2B5EF4-FFF2-40B4-BE49-F238E27FC236}">
                <a16:creationId xmlns:a16="http://schemas.microsoft.com/office/drawing/2014/main" id="{99396E72-11E7-4A2F-A4DF-B4F36A5409EB}"/>
              </a:ext>
            </a:extLst>
          </p:cNvPr>
          <p:cNvSpPr>
            <a:spLocks noGrp="1"/>
          </p:cNvSpPr>
          <p:nvPr/>
        </p:nvSpPr>
        <p:spPr>
          <a:xfrm>
            <a:off x="7562850" y="4960062"/>
            <a:ext cx="4000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1875" b="1" dirty="0">
                <a:solidFill>
                  <a:srgbClr val="194E80"/>
                </a:solidFill>
                <a:latin typeface="Arial"/>
                <a:ea typeface="Arial"/>
                <a:cs typeface="Arial"/>
              </a:rPr>
              <a:t>3  </a:t>
            </a:r>
            <a:r>
              <a:rPr lang="zh-CN" altLang="zh-CN" sz="1875" b="1" dirty="0">
                <a:solidFill>
                  <a:srgbClr val="194E80"/>
                </a:solidFill>
                <a:latin typeface="Arial"/>
              </a:rPr>
              <a:t>Pareto-Cascades</a:t>
            </a:r>
            <a:r>
              <a:rPr lang="zh-CN" altLang="en-US" sz="1875" b="1" dirty="0">
                <a:solidFill>
                  <a:srgbClr val="194E80"/>
                </a:solidFill>
                <a:latin typeface="Arial"/>
              </a:rPr>
              <a:t> </a:t>
            </a:r>
            <a:r>
              <a:rPr sz="1875" b="1" dirty="0">
                <a:solidFill>
                  <a:srgbClr val="194E80"/>
                </a:solidFill>
                <a:latin typeface="Arial"/>
                <a:ea typeface="Arial"/>
                <a:cs typeface="Arial"/>
              </a:rPr>
              <a:t>·  line 10</a:t>
            </a:r>
          </a:p>
        </p:txBody>
      </p:sp>
      <p:sp>
        <p:nvSpPr>
          <p:cNvPr id="14" name="Selection body">
            <a:extLst>
              <a:ext uri="{FF2B5EF4-FFF2-40B4-BE49-F238E27FC236}">
                <a16:creationId xmlns:a16="http://schemas.microsoft.com/office/drawing/2014/main" id="{7C30D081-9790-40FD-8B88-D7B0B4EBBE3E}"/>
              </a:ext>
            </a:extLst>
          </p:cNvPr>
          <p:cNvSpPr>
            <a:spLocks noGrp="1"/>
          </p:cNvSpPr>
          <p:nvPr/>
        </p:nvSpPr>
        <p:spPr>
          <a:xfrm>
            <a:off x="7562850" y="5438775"/>
            <a:ext cx="4000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725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lang="zh-CN" altLang="zh-CN" sz="1725" dirty="0">
                <a:solidFill>
                  <a:srgbClr val="194E80"/>
                </a:solidFill>
                <a:latin typeface="Arial"/>
              </a:rPr>
              <a:t>Search logical and physical alternatives using the estimates.</a:t>
            </a:r>
            <a:endParaRPr lang="en-US" altLang="zh-CN" sz="1725" dirty="0">
              <a:solidFill>
                <a:srgbClr val="194E80"/>
              </a:solidFill>
              <a:latin typeface="Arial"/>
            </a:endParaRPr>
          </a:p>
          <a:p>
            <a:pPr>
              <a:defRPr sz="1725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br>
              <a:rPr lang="zh-CN" altLang="zh-CN" sz="1725" dirty="0">
                <a:solidFill>
                  <a:srgbClr val="194E80"/>
                </a:solidFill>
                <a:latin typeface="Arial"/>
              </a:rPr>
            </a:br>
            <a:r>
              <a:rPr lang="zh-CN" altLang="zh-CN" sz="1725" dirty="0">
                <a:solidFill>
                  <a:srgbClr val="194E80"/>
                </a:solidFill>
                <a:latin typeface="Arial"/>
              </a:rPr>
              <a:t>Maintain Pareto frontiers and select by policy.</a:t>
            </a:r>
            <a:endParaRPr sz="1725" b="0" dirty="0">
              <a:solidFill>
                <a:srgbClr val="194E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B3CE55D-7502-0D0B-B065-4EED96C4758B}"/>
              </a:ext>
            </a:extLst>
          </p:cNvPr>
          <p:cNvSpPr txBox="1"/>
          <p:nvPr/>
        </p:nvSpPr>
        <p:spPr>
          <a:xfrm>
            <a:off x="6774678" y="2877842"/>
            <a:ext cx="2531692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75" b="1" dirty="0">
                <a:solidFill>
                  <a:srgbClr val="194E80"/>
                </a:solidFill>
                <a:latin typeface="Arial"/>
                <a:ea typeface="Arial"/>
                <a:cs typeface="Arial"/>
              </a:rPr>
              <a:t>1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A040D00-8FDA-5E00-B40B-850B84D02A1B}"/>
              </a:ext>
            </a:extLst>
          </p:cNvPr>
          <p:cNvSpPr txBox="1"/>
          <p:nvPr/>
        </p:nvSpPr>
        <p:spPr>
          <a:xfrm>
            <a:off x="6774678" y="3796413"/>
            <a:ext cx="2531692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75" b="1" dirty="0">
                <a:solidFill>
                  <a:srgbClr val="194E80"/>
                </a:solidFill>
                <a:latin typeface="Arial"/>
                <a:cs typeface="Arial"/>
              </a:rPr>
              <a:t>2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CB71606-D32F-938E-1580-59635F1E7597}"/>
              </a:ext>
            </a:extLst>
          </p:cNvPr>
          <p:cNvSpPr txBox="1"/>
          <p:nvPr/>
        </p:nvSpPr>
        <p:spPr>
          <a:xfrm>
            <a:off x="6774678" y="5515038"/>
            <a:ext cx="2531692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75" b="1" dirty="0">
                <a:solidFill>
                  <a:srgbClr val="194E80"/>
                </a:solidFill>
                <a:latin typeface="Arial"/>
                <a:cs typeface="Arial"/>
              </a:rPr>
              <a:t>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0118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">
            <a:extLst>
              <a:ext uri="{FF2B5EF4-FFF2-40B4-BE49-F238E27FC236}">
                <a16:creationId xmlns:a16="http://schemas.microsoft.com/office/drawing/2014/main" id="{77AF032B-A03C-4197-B012-2FCA8C173158}"/>
              </a:ext>
            </a:extLst>
          </p:cNvPr>
          <p:cNvSpPr>
            <a:spLocks noGrp="1"/>
          </p:cNvSpPr>
          <p:nvPr/>
        </p:nvSpPr>
        <p:spPr>
          <a:xfrm>
            <a:off x="571500" y="409575"/>
            <a:ext cx="11049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3000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94E80"/>
                </a:solidFill>
                <a:latin typeface="Arial"/>
                <a:ea typeface="Arial"/>
                <a:cs typeface="Arial"/>
              </a:rPr>
              <a:t>BioDEX — Adverse Reaction Ranking</a:t>
            </a:r>
          </a:p>
        </p:txBody>
      </p:sp>
      <p:sp>
        <p:nvSpPr>
          <p:cNvPr id="4" name="Input">
            <a:extLst>
              <a:ext uri="{FF2B5EF4-FFF2-40B4-BE49-F238E27FC236}">
                <a16:creationId xmlns:a16="http://schemas.microsoft.com/office/drawing/2014/main" id="{E212D101-EFA4-452F-BDD8-CCAE85A9B1C8}"/>
              </a:ext>
            </a:extLst>
          </p:cNvPr>
          <p:cNvSpPr>
            <a:spLocks noGrp="1"/>
          </p:cNvSpPr>
          <p:nvPr/>
        </p:nvSpPr>
        <p:spPr>
          <a:xfrm>
            <a:off x="571500" y="1457325"/>
            <a:ext cx="5334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194E80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5" name="Input body">
            <a:extLst>
              <a:ext uri="{FF2B5EF4-FFF2-40B4-BE49-F238E27FC236}">
                <a16:creationId xmlns:a16="http://schemas.microsoft.com/office/drawing/2014/main" id="{6984D453-7F67-469C-822A-F2BC1FBB574D}"/>
              </a:ext>
            </a:extLst>
          </p:cNvPr>
          <p:cNvSpPr>
            <a:spLocks noGrp="1"/>
          </p:cNvSpPr>
          <p:nvPr/>
        </p:nvSpPr>
        <p:spPr>
          <a:xfrm>
            <a:off x="571500" y="1905000"/>
            <a:ext cx="5334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194E80"/>
                </a:solidFill>
                <a:latin typeface="Arial"/>
                <a:ea typeface="Arial"/>
                <a:cs typeface="Arial"/>
              </a:rPr>
              <a:t>Medical reports describing drug-related</a:t>
            </a: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194E80"/>
                </a:solidFill>
                <a:latin typeface="Arial"/>
                <a:ea typeface="Arial"/>
                <a:cs typeface="Arial"/>
              </a:rPr>
              <a:t>adverse reactions.</a:t>
            </a:r>
          </a:p>
        </p:txBody>
      </p:sp>
      <p:sp>
        <p:nvSpPr>
          <p:cNvPr id="6" name="Task">
            <a:extLst>
              <a:ext uri="{FF2B5EF4-FFF2-40B4-BE49-F238E27FC236}">
                <a16:creationId xmlns:a16="http://schemas.microsoft.com/office/drawing/2014/main" id="{6E6A27B3-DD1B-4CA6-8B3D-6536C1A255A5}"/>
              </a:ext>
            </a:extLst>
          </p:cNvPr>
          <p:cNvSpPr>
            <a:spLocks noGrp="1"/>
          </p:cNvSpPr>
          <p:nvPr/>
        </p:nvSpPr>
        <p:spPr>
          <a:xfrm>
            <a:off x="571500" y="2876550"/>
            <a:ext cx="5334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194E80"/>
                </a:solidFill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7" name="Task body">
            <a:extLst>
              <a:ext uri="{FF2B5EF4-FFF2-40B4-BE49-F238E27FC236}">
                <a16:creationId xmlns:a16="http://schemas.microsoft.com/office/drawing/2014/main" id="{6A020786-CE82-4E36-8712-A1E554450A29}"/>
              </a:ext>
            </a:extLst>
          </p:cNvPr>
          <p:cNvSpPr>
            <a:spLocks noGrp="1"/>
          </p:cNvSpPr>
          <p:nvPr/>
        </p:nvSpPr>
        <p:spPr>
          <a:xfrm>
            <a:off x="571500" y="3324225"/>
            <a:ext cx="5334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4E80"/>
                </a:solidFill>
                <a:latin typeface="Arial"/>
                <a:ea typeface="Arial"/>
                <a:cs typeface="Arial"/>
              </a:rPr>
              <a:t>Identify reactions and produce</a:t>
            </a: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4E80"/>
                </a:solidFill>
                <a:latin typeface="Arial"/>
                <a:ea typeface="Arial"/>
                <a:cs typeface="Arial"/>
              </a:rPr>
              <a:t>a ranked list of reaction labels.</a:t>
            </a:r>
          </a:p>
        </p:txBody>
      </p:sp>
      <p:sp>
        <p:nvSpPr>
          <p:cNvPr id="8" name="Metric">
            <a:extLst>
              <a:ext uri="{FF2B5EF4-FFF2-40B4-BE49-F238E27FC236}">
                <a16:creationId xmlns:a16="http://schemas.microsoft.com/office/drawing/2014/main" id="{3DE6A0EA-56CB-4D75-BEF8-76A5B7B9C79E}"/>
              </a:ext>
            </a:extLst>
          </p:cNvPr>
          <p:cNvSpPr>
            <a:spLocks noGrp="1"/>
          </p:cNvSpPr>
          <p:nvPr/>
        </p:nvSpPr>
        <p:spPr>
          <a:xfrm>
            <a:off x="571500" y="4419600"/>
            <a:ext cx="5334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4E80"/>
                </a:solidFill>
                <a:latin typeface="Arial"/>
                <a:ea typeface="Arial"/>
                <a:cs typeface="Arial"/>
              </a:rPr>
              <a:t>Metric</a:t>
            </a:r>
          </a:p>
        </p:txBody>
      </p:sp>
      <p:sp>
        <p:nvSpPr>
          <p:cNvPr id="9" name="Metric body">
            <a:extLst>
              <a:ext uri="{FF2B5EF4-FFF2-40B4-BE49-F238E27FC236}">
                <a16:creationId xmlns:a16="http://schemas.microsoft.com/office/drawing/2014/main" id="{5526731A-F608-471E-B142-BC8BC4DD7317}"/>
              </a:ext>
            </a:extLst>
          </p:cNvPr>
          <p:cNvSpPr>
            <a:spLocks noGrp="1"/>
          </p:cNvSpPr>
          <p:nvPr/>
        </p:nvSpPr>
        <p:spPr>
          <a:xfrm>
            <a:off x="571500" y="4867275"/>
            <a:ext cx="5334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194E80"/>
                </a:solidFill>
                <a:latin typeface="Arial"/>
                <a:ea typeface="Arial"/>
                <a:cs typeface="Arial"/>
              </a:rPr>
              <a:t>RP@K (Rank Precision at K)</a:t>
            </a:r>
          </a:p>
        </p:txBody>
      </p:sp>
      <p:sp>
        <p:nvSpPr>
          <p:cNvPr id="10" name="Workload">
            <a:extLst>
              <a:ext uri="{FF2B5EF4-FFF2-40B4-BE49-F238E27FC236}">
                <a16:creationId xmlns:a16="http://schemas.microsoft.com/office/drawing/2014/main" id="{760A6C54-74A5-4233-A94F-FBBA0ED55FA3}"/>
              </a:ext>
            </a:extLst>
          </p:cNvPr>
          <p:cNvSpPr>
            <a:spLocks noGrp="1"/>
          </p:cNvSpPr>
          <p:nvPr/>
        </p:nvSpPr>
        <p:spPr>
          <a:xfrm>
            <a:off x="7048500" y="1181100"/>
            <a:ext cx="4095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94E80"/>
                </a:solidFill>
                <a:latin typeface="Arial"/>
                <a:ea typeface="Arial"/>
                <a:cs typeface="Arial"/>
              </a:rPr>
              <a:t>Workload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E56CE09-0C03-402A-90F7-F54298214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7048500" y="1778822"/>
            <a:ext cx="4095750" cy="3957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8215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">
            <a:extLst>
              <a:ext uri="{FF2B5EF4-FFF2-40B4-BE49-F238E27FC236}">
                <a16:creationId xmlns:a16="http://schemas.microsoft.com/office/drawing/2014/main" id="{9241CB50-26E6-4A97-AC53-29B14A97B31F}"/>
              </a:ext>
            </a:extLst>
          </p:cNvPr>
          <p:cNvSpPr>
            <a:spLocks noGrp="1"/>
          </p:cNvSpPr>
          <p:nvPr/>
        </p:nvSpPr>
        <p:spPr>
          <a:xfrm>
            <a:off x="571500" y="409575"/>
            <a:ext cx="11049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3000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94E80"/>
                </a:solidFill>
                <a:latin typeface="Arial"/>
                <a:ea typeface="Arial"/>
                <a:cs typeface="Arial"/>
              </a:rPr>
              <a:t>CUAD — Contract Clause Extraction</a:t>
            </a:r>
          </a:p>
        </p:txBody>
      </p:sp>
      <p:sp>
        <p:nvSpPr>
          <p:cNvPr id="4" name="Input">
            <a:extLst>
              <a:ext uri="{FF2B5EF4-FFF2-40B4-BE49-F238E27FC236}">
                <a16:creationId xmlns:a16="http://schemas.microsoft.com/office/drawing/2014/main" id="{6E12161A-F1F4-48E0-B8FA-AFAF53F24999}"/>
              </a:ext>
            </a:extLst>
          </p:cNvPr>
          <p:cNvSpPr>
            <a:spLocks noGrp="1"/>
          </p:cNvSpPr>
          <p:nvPr/>
        </p:nvSpPr>
        <p:spPr>
          <a:xfrm>
            <a:off x="571500" y="1457325"/>
            <a:ext cx="5334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4E80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5" name="Input body">
            <a:extLst>
              <a:ext uri="{FF2B5EF4-FFF2-40B4-BE49-F238E27FC236}">
                <a16:creationId xmlns:a16="http://schemas.microsoft.com/office/drawing/2014/main" id="{174E1D44-CF74-410C-B6B1-BDC2278FAA24}"/>
              </a:ext>
            </a:extLst>
          </p:cNvPr>
          <p:cNvSpPr>
            <a:spLocks noGrp="1"/>
          </p:cNvSpPr>
          <p:nvPr/>
        </p:nvSpPr>
        <p:spPr>
          <a:xfrm>
            <a:off x="571500" y="1905000"/>
            <a:ext cx="5334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4E80"/>
                </a:solidFill>
                <a:latin typeface="Arial"/>
                <a:ea typeface="Arial"/>
                <a:cs typeface="Arial"/>
              </a:rPr>
              <a:t>Long legal contracts.</a:t>
            </a:r>
          </a:p>
        </p:txBody>
      </p:sp>
      <p:sp>
        <p:nvSpPr>
          <p:cNvPr id="6" name="Task">
            <a:extLst>
              <a:ext uri="{FF2B5EF4-FFF2-40B4-BE49-F238E27FC236}">
                <a16:creationId xmlns:a16="http://schemas.microsoft.com/office/drawing/2014/main" id="{219B1C71-F625-49D0-A55F-9CA683FA0D53}"/>
              </a:ext>
            </a:extLst>
          </p:cNvPr>
          <p:cNvSpPr>
            <a:spLocks noGrp="1"/>
          </p:cNvSpPr>
          <p:nvPr/>
        </p:nvSpPr>
        <p:spPr>
          <a:xfrm>
            <a:off x="571500" y="2876550"/>
            <a:ext cx="5334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4E80"/>
                </a:solidFill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7" name="Task body">
            <a:extLst>
              <a:ext uri="{FF2B5EF4-FFF2-40B4-BE49-F238E27FC236}">
                <a16:creationId xmlns:a16="http://schemas.microsoft.com/office/drawing/2014/main" id="{D3F8F3A7-E2C0-4258-A384-285CC1E92845}"/>
              </a:ext>
            </a:extLst>
          </p:cNvPr>
          <p:cNvSpPr>
            <a:spLocks noGrp="1"/>
          </p:cNvSpPr>
          <p:nvPr/>
        </p:nvSpPr>
        <p:spPr>
          <a:xfrm>
            <a:off x="571500" y="3324225"/>
            <a:ext cx="5334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4E80"/>
                </a:solidFill>
                <a:latin typeface="Arial"/>
                <a:ea typeface="Arial"/>
                <a:cs typeface="Arial"/>
              </a:rPr>
              <a:t>Extract text spans corresponding</a:t>
            </a: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4E80"/>
                </a:solidFill>
                <a:latin typeface="Arial"/>
                <a:ea typeface="Arial"/>
                <a:cs typeface="Arial"/>
              </a:rPr>
              <a:t>to 41 contract clause types.</a:t>
            </a:r>
          </a:p>
        </p:txBody>
      </p:sp>
      <p:sp>
        <p:nvSpPr>
          <p:cNvPr id="8" name="Metric">
            <a:extLst>
              <a:ext uri="{FF2B5EF4-FFF2-40B4-BE49-F238E27FC236}">
                <a16:creationId xmlns:a16="http://schemas.microsoft.com/office/drawing/2014/main" id="{EB73B694-D650-4E6F-B8F9-8CF66E85AB73}"/>
              </a:ext>
            </a:extLst>
          </p:cNvPr>
          <p:cNvSpPr>
            <a:spLocks noGrp="1"/>
          </p:cNvSpPr>
          <p:nvPr/>
        </p:nvSpPr>
        <p:spPr>
          <a:xfrm>
            <a:off x="571500" y="4419600"/>
            <a:ext cx="5334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4E80"/>
                </a:solidFill>
                <a:latin typeface="Arial"/>
                <a:ea typeface="Arial"/>
                <a:cs typeface="Arial"/>
              </a:rPr>
              <a:t>Metric</a:t>
            </a:r>
          </a:p>
        </p:txBody>
      </p:sp>
      <p:sp>
        <p:nvSpPr>
          <p:cNvPr id="9" name="Metric body">
            <a:extLst>
              <a:ext uri="{FF2B5EF4-FFF2-40B4-BE49-F238E27FC236}">
                <a16:creationId xmlns:a16="http://schemas.microsoft.com/office/drawing/2014/main" id="{B9D7EA82-036C-48C7-A28B-E848EA00C810}"/>
              </a:ext>
            </a:extLst>
          </p:cNvPr>
          <p:cNvSpPr>
            <a:spLocks noGrp="1"/>
          </p:cNvSpPr>
          <p:nvPr/>
        </p:nvSpPr>
        <p:spPr>
          <a:xfrm>
            <a:off x="571500" y="4867275"/>
            <a:ext cx="5334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194E80"/>
                </a:solidFill>
                <a:latin typeface="Arial"/>
                <a:ea typeface="Arial"/>
                <a:cs typeface="Arial"/>
              </a:rPr>
              <a:t>F1 </a:t>
            </a:r>
            <a:r>
              <a:rPr lang="en" sz="1950" b="0" dirty="0">
                <a:solidFill>
                  <a:srgbClr val="194E80"/>
                </a:solidFill>
                <a:latin typeface="Arial"/>
                <a:ea typeface="Arial"/>
                <a:cs typeface="Arial"/>
              </a:rPr>
              <a:t>score</a:t>
            </a:r>
            <a:endParaRPr sz="1950" b="0" dirty="0">
              <a:solidFill>
                <a:srgbClr val="194E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Workload">
            <a:extLst>
              <a:ext uri="{FF2B5EF4-FFF2-40B4-BE49-F238E27FC236}">
                <a16:creationId xmlns:a16="http://schemas.microsoft.com/office/drawing/2014/main" id="{3981DCEA-1473-4A29-867A-D12E7E69EDAD}"/>
              </a:ext>
            </a:extLst>
          </p:cNvPr>
          <p:cNvSpPr>
            <a:spLocks noGrp="1"/>
          </p:cNvSpPr>
          <p:nvPr/>
        </p:nvSpPr>
        <p:spPr>
          <a:xfrm>
            <a:off x="7048500" y="1181100"/>
            <a:ext cx="4095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94E80"/>
                </a:solidFill>
                <a:latin typeface="Arial"/>
                <a:ea typeface="Arial"/>
                <a:cs typeface="Arial"/>
              </a:rPr>
              <a:t>Workload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DD76FDD-00FA-4325-8076-204102984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7048500" y="1783579"/>
            <a:ext cx="4095750" cy="3948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7939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">
            <a:extLst>
              <a:ext uri="{FF2B5EF4-FFF2-40B4-BE49-F238E27FC236}">
                <a16:creationId xmlns:a16="http://schemas.microsoft.com/office/drawing/2014/main" id="{C973476C-8792-4381-B586-36378592D646}"/>
              </a:ext>
            </a:extLst>
          </p:cNvPr>
          <p:cNvSpPr>
            <a:spLocks noGrp="1"/>
          </p:cNvSpPr>
          <p:nvPr/>
        </p:nvSpPr>
        <p:spPr>
          <a:xfrm>
            <a:off x="571500" y="409575"/>
            <a:ext cx="11049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3000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94E80"/>
                </a:solidFill>
                <a:latin typeface="Arial"/>
                <a:ea typeface="Arial"/>
                <a:cs typeface="Arial"/>
              </a:rPr>
              <a:t>MMQA — Multimodal Question Answering</a:t>
            </a:r>
          </a:p>
        </p:txBody>
      </p:sp>
      <p:sp>
        <p:nvSpPr>
          <p:cNvPr id="4" name="Input">
            <a:extLst>
              <a:ext uri="{FF2B5EF4-FFF2-40B4-BE49-F238E27FC236}">
                <a16:creationId xmlns:a16="http://schemas.microsoft.com/office/drawing/2014/main" id="{403561B7-B2AF-4D25-979B-198856D23D31}"/>
              </a:ext>
            </a:extLst>
          </p:cNvPr>
          <p:cNvSpPr>
            <a:spLocks noGrp="1"/>
          </p:cNvSpPr>
          <p:nvPr/>
        </p:nvSpPr>
        <p:spPr>
          <a:xfrm>
            <a:off x="571500" y="1457325"/>
            <a:ext cx="43338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4E80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5" name="Input body">
            <a:extLst>
              <a:ext uri="{FF2B5EF4-FFF2-40B4-BE49-F238E27FC236}">
                <a16:creationId xmlns:a16="http://schemas.microsoft.com/office/drawing/2014/main" id="{A11D4F4E-F116-421F-B9D0-018C1C007D73}"/>
              </a:ext>
            </a:extLst>
          </p:cNvPr>
          <p:cNvSpPr>
            <a:spLocks noGrp="1"/>
          </p:cNvSpPr>
          <p:nvPr/>
        </p:nvSpPr>
        <p:spPr>
          <a:xfrm>
            <a:off x="571500" y="1905000"/>
            <a:ext cx="4333875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4E80"/>
                </a:solidFill>
                <a:latin typeface="Arial"/>
                <a:ea typeface="Arial"/>
                <a:cs typeface="Arial"/>
              </a:rPr>
              <a:t>Questions, text, tables and images.</a:t>
            </a:r>
          </a:p>
        </p:txBody>
      </p:sp>
      <p:sp>
        <p:nvSpPr>
          <p:cNvPr id="6" name="Task">
            <a:extLst>
              <a:ext uri="{FF2B5EF4-FFF2-40B4-BE49-F238E27FC236}">
                <a16:creationId xmlns:a16="http://schemas.microsoft.com/office/drawing/2014/main" id="{8FDCD46C-D16A-4C13-B3B2-C8701D1BFF81}"/>
              </a:ext>
            </a:extLst>
          </p:cNvPr>
          <p:cNvSpPr>
            <a:spLocks noGrp="1"/>
          </p:cNvSpPr>
          <p:nvPr/>
        </p:nvSpPr>
        <p:spPr>
          <a:xfrm>
            <a:off x="571500" y="2876550"/>
            <a:ext cx="43338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4E80"/>
                </a:solidFill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7" name="Task body">
            <a:extLst>
              <a:ext uri="{FF2B5EF4-FFF2-40B4-BE49-F238E27FC236}">
                <a16:creationId xmlns:a16="http://schemas.microsoft.com/office/drawing/2014/main" id="{59A3478E-7092-45E5-B5EF-9E6569228B16}"/>
              </a:ext>
            </a:extLst>
          </p:cNvPr>
          <p:cNvSpPr>
            <a:spLocks noGrp="1"/>
          </p:cNvSpPr>
          <p:nvPr/>
        </p:nvSpPr>
        <p:spPr>
          <a:xfrm>
            <a:off x="571500" y="3324225"/>
            <a:ext cx="4333875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4E80"/>
                </a:solidFill>
                <a:latin typeface="Arial"/>
                <a:ea typeface="Arial"/>
                <a:cs typeface="Arial"/>
              </a:rPr>
              <a:t>Retrieve relevant information</a:t>
            </a: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4E80"/>
                </a:solidFill>
                <a:latin typeface="Arial"/>
                <a:ea typeface="Arial"/>
                <a:cs typeface="Arial"/>
              </a:rPr>
              <a:t>and answer each question.</a:t>
            </a:r>
          </a:p>
        </p:txBody>
      </p:sp>
      <p:sp>
        <p:nvSpPr>
          <p:cNvPr id="8" name="Metric">
            <a:extLst>
              <a:ext uri="{FF2B5EF4-FFF2-40B4-BE49-F238E27FC236}">
                <a16:creationId xmlns:a16="http://schemas.microsoft.com/office/drawing/2014/main" id="{EB582D4D-B58E-4F1D-A9F8-2E773E0686D1}"/>
              </a:ext>
            </a:extLst>
          </p:cNvPr>
          <p:cNvSpPr>
            <a:spLocks noGrp="1"/>
          </p:cNvSpPr>
          <p:nvPr/>
        </p:nvSpPr>
        <p:spPr>
          <a:xfrm>
            <a:off x="571500" y="4419600"/>
            <a:ext cx="43338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4E80"/>
                </a:solidFill>
                <a:latin typeface="Arial"/>
                <a:ea typeface="Arial"/>
                <a:cs typeface="Arial"/>
              </a:rPr>
              <a:t>Metric</a:t>
            </a:r>
          </a:p>
        </p:txBody>
      </p:sp>
      <p:sp>
        <p:nvSpPr>
          <p:cNvPr id="9" name="Metric body">
            <a:extLst>
              <a:ext uri="{FF2B5EF4-FFF2-40B4-BE49-F238E27FC236}">
                <a16:creationId xmlns:a16="http://schemas.microsoft.com/office/drawing/2014/main" id="{B1A0F560-F782-4D53-A352-7F862EE82E65}"/>
              </a:ext>
            </a:extLst>
          </p:cNvPr>
          <p:cNvSpPr>
            <a:spLocks noGrp="1"/>
          </p:cNvSpPr>
          <p:nvPr/>
        </p:nvSpPr>
        <p:spPr>
          <a:xfrm>
            <a:off x="571500" y="4867275"/>
            <a:ext cx="4333875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194E80"/>
                </a:solidFill>
                <a:latin typeface="Arial"/>
                <a:ea typeface="Arial"/>
                <a:cs typeface="Arial"/>
              </a:rPr>
              <a:t>F1 score</a:t>
            </a:r>
          </a:p>
        </p:txBody>
      </p:sp>
      <p:sp>
        <p:nvSpPr>
          <p:cNvPr id="10" name="Workload">
            <a:extLst>
              <a:ext uri="{FF2B5EF4-FFF2-40B4-BE49-F238E27FC236}">
                <a16:creationId xmlns:a16="http://schemas.microsoft.com/office/drawing/2014/main" id="{F07F93AF-5095-4EE8-B22B-79DCB7699ED0}"/>
              </a:ext>
            </a:extLst>
          </p:cNvPr>
          <p:cNvSpPr>
            <a:spLocks noGrp="1"/>
          </p:cNvSpPr>
          <p:nvPr/>
        </p:nvSpPr>
        <p:spPr>
          <a:xfrm>
            <a:off x="5600700" y="1181100"/>
            <a:ext cx="5829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94E80"/>
                </a:solidFill>
                <a:latin typeface="Arial"/>
                <a:ea typeface="Arial"/>
                <a:cs typeface="Arial"/>
              </a:rPr>
              <a:t>Workload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3665D56-2A91-4BED-A372-F89EBA1E3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5600700" y="1570501"/>
            <a:ext cx="5829300" cy="455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9494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5B5A5149-EE92-4F1C-B2B5-3E7788CBF30D}"/>
              </a:ext>
            </a:extLst>
          </p:cNvPr>
          <p:cNvSpPr>
            <a:spLocks noGrp="1"/>
          </p:cNvSpPr>
          <p:nvPr/>
        </p:nvSpPr>
        <p:spPr>
          <a:xfrm>
            <a:off x="571500" y="409575"/>
            <a:ext cx="11049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3000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94E80"/>
                </a:solidFill>
                <a:latin typeface="Arial"/>
                <a:ea typeface="Arial"/>
                <a:cs typeface="Arial"/>
              </a:rPr>
              <a:t>Experiment 1 — Maximum-quality Comparison</a:t>
            </a:r>
          </a:p>
        </p:txBody>
      </p:sp>
      <p:sp>
        <p:nvSpPr>
          <p:cNvPr id="4" name="Aim">
            <a:extLst>
              <a:ext uri="{FF2B5EF4-FFF2-40B4-BE49-F238E27FC236}">
                <a16:creationId xmlns:a16="http://schemas.microsoft.com/office/drawing/2014/main" id="{559831C4-9A30-4F5F-B111-45019BC80CA1}"/>
              </a:ext>
            </a:extLst>
          </p:cNvPr>
          <p:cNvSpPr>
            <a:spLocks noGrp="1"/>
          </p:cNvSpPr>
          <p:nvPr/>
        </p:nvSpPr>
        <p:spPr>
          <a:xfrm>
            <a:off x="571500" y="1133475"/>
            <a:ext cx="10858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4E80"/>
                </a:solidFill>
                <a:latin typeface="Arial"/>
                <a:ea typeface="Arial"/>
                <a:cs typeface="Arial"/>
              </a:rPr>
              <a:t>Aim: Compare systems optimized to maximize output quality.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E5CCC58-7C1E-449D-A9D8-FCBC7AC92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571500" y="1963581"/>
            <a:ext cx="10858500" cy="3188013"/>
          </a:xfrm>
          <a:prstGeom prst="rect">
            <a:avLst/>
          </a:prstGeom>
        </p:spPr>
      </p:pic>
      <p:sp>
        <p:nvSpPr>
          <p:cNvPr id="6" name="Finding">
            <a:extLst>
              <a:ext uri="{FF2B5EF4-FFF2-40B4-BE49-F238E27FC236}">
                <a16:creationId xmlns:a16="http://schemas.microsoft.com/office/drawing/2014/main" id="{7CF67665-05B5-47B3-8DA0-CA26929597F0}"/>
              </a:ext>
            </a:extLst>
          </p:cNvPr>
          <p:cNvSpPr>
            <a:spLocks noGrp="1"/>
          </p:cNvSpPr>
          <p:nvPr/>
        </p:nvSpPr>
        <p:spPr>
          <a:xfrm>
            <a:off x="571500" y="5676900"/>
            <a:ext cx="10858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94E80"/>
                </a:solidFill>
                <a:latin typeface="Arial"/>
                <a:ea typeface="Arial"/>
                <a:cs typeface="Arial"/>
              </a:rPr>
              <a:t>Finding: Abacus achieves the highest mean quality on all three workloads.</a:t>
            </a:r>
          </a:p>
        </p:txBody>
      </p:sp>
      <p:sp>
        <p:nvSpPr>
          <p:cNvPr id="7" name="Setup">
            <a:extLst>
              <a:ext uri="{FF2B5EF4-FFF2-40B4-BE49-F238E27FC236}">
                <a16:creationId xmlns:a16="http://schemas.microsoft.com/office/drawing/2014/main" id="{A0450CB9-F69A-44C5-983D-523BD5691BB3}"/>
              </a:ext>
            </a:extLst>
          </p:cNvPr>
          <p:cNvSpPr>
            <a:spLocks noGrp="1"/>
          </p:cNvSpPr>
          <p:nvPr/>
        </p:nvSpPr>
        <p:spPr>
          <a:xfrm>
            <a:off x="571500" y="6172200"/>
            <a:ext cx="108585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5759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5759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59A"/>
                </a:solidFill>
                <a:latin typeface="Arial"/>
                <a:ea typeface="Arial"/>
                <a:cs typeface="Arial"/>
              </a:rPr>
              <a:t>10 trials · mean ± standard deviation</a:t>
            </a:r>
          </a:p>
        </p:txBody>
      </p:sp>
    </p:spTree>
    <p:extLst>
      <p:ext uri="{BB962C8B-B14F-4D97-AF65-F5344CB8AC3E}">
        <p14:creationId xmlns:p14="http://schemas.microsoft.com/office/powerpoint/2010/main" val="5524500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4BB8802D-4C9E-4AE7-AB58-B6F344A2FA5B}"/>
              </a:ext>
            </a:extLst>
          </p:cNvPr>
          <p:cNvSpPr>
            <a:spLocks noGrp="1"/>
          </p:cNvSpPr>
          <p:nvPr/>
        </p:nvSpPr>
        <p:spPr>
          <a:xfrm>
            <a:off x="571500" y="409575"/>
            <a:ext cx="11049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3000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94E80"/>
                </a:solidFill>
                <a:latin typeface="Arial"/>
                <a:ea typeface="Arial"/>
                <a:cs typeface="Arial"/>
              </a:rPr>
              <a:t>Experiment 2 — Benefits of Prior Beliefs</a:t>
            </a:r>
          </a:p>
        </p:txBody>
      </p:sp>
      <p:sp>
        <p:nvSpPr>
          <p:cNvPr id="4" name="Aim">
            <a:extLst>
              <a:ext uri="{FF2B5EF4-FFF2-40B4-BE49-F238E27FC236}">
                <a16:creationId xmlns:a16="http://schemas.microsoft.com/office/drawing/2014/main" id="{B8A67FA1-F01A-4ECD-AACB-339378F895C9}"/>
              </a:ext>
            </a:extLst>
          </p:cNvPr>
          <p:cNvSpPr>
            <a:spLocks noGrp="1"/>
          </p:cNvSpPr>
          <p:nvPr/>
        </p:nvSpPr>
        <p:spPr>
          <a:xfrm>
            <a:off x="571500" y="1133475"/>
            <a:ext cx="10858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4E80"/>
                </a:solidFill>
                <a:latin typeface="Arial"/>
                <a:ea typeface="Arial"/>
                <a:cs typeface="Arial"/>
              </a:rPr>
              <a:t>Aim: Test whether priors improve quality at a fixed sample budget.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ED76163-222A-41C0-8A50-DDFF78731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571500" y="1805535"/>
            <a:ext cx="10858500" cy="3351705"/>
          </a:xfrm>
          <a:prstGeom prst="rect">
            <a:avLst/>
          </a:prstGeom>
        </p:spPr>
      </p:pic>
      <p:sp>
        <p:nvSpPr>
          <p:cNvPr id="6" name="Finding">
            <a:extLst>
              <a:ext uri="{FF2B5EF4-FFF2-40B4-BE49-F238E27FC236}">
                <a16:creationId xmlns:a16="http://schemas.microsoft.com/office/drawing/2014/main" id="{810D4F2C-52E3-4FF6-A3FE-27548148A174}"/>
              </a:ext>
            </a:extLst>
          </p:cNvPr>
          <p:cNvSpPr>
            <a:spLocks noGrp="1"/>
          </p:cNvSpPr>
          <p:nvPr/>
        </p:nvSpPr>
        <p:spPr>
          <a:xfrm>
            <a:off x="571500" y="5657850"/>
            <a:ext cx="10858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94E80"/>
                </a:solidFill>
                <a:latin typeface="Arial"/>
                <a:ea typeface="Arial"/>
                <a:cs typeface="Arial"/>
              </a:rPr>
              <a:t>Finding: Priors usually improve quality, especially under cost constraints.</a:t>
            </a:r>
          </a:p>
        </p:txBody>
      </p:sp>
    </p:spTree>
    <p:extLst>
      <p:ext uri="{BB962C8B-B14F-4D97-AF65-F5344CB8AC3E}">
        <p14:creationId xmlns:p14="http://schemas.microsoft.com/office/powerpoint/2010/main" val="16024743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358709BE-1E08-46EA-8494-D55E52EB5231}"/>
              </a:ext>
            </a:extLst>
          </p:cNvPr>
          <p:cNvSpPr>
            <a:spLocks noGrp="1"/>
          </p:cNvSpPr>
          <p:nvPr/>
        </p:nvSpPr>
        <p:spPr>
          <a:xfrm>
            <a:off x="571500" y="409575"/>
            <a:ext cx="11049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3000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94E80"/>
                </a:solidFill>
                <a:latin typeface="Arial"/>
                <a:ea typeface="Arial"/>
                <a:cs typeface="Arial"/>
              </a:rPr>
              <a:t>Experiment 3 — Relaxing Cost Constraints</a:t>
            </a:r>
          </a:p>
        </p:txBody>
      </p:sp>
      <p:sp>
        <p:nvSpPr>
          <p:cNvPr id="4" name="Aim">
            <a:extLst>
              <a:ext uri="{FF2B5EF4-FFF2-40B4-BE49-F238E27FC236}">
                <a16:creationId xmlns:a16="http://schemas.microsoft.com/office/drawing/2014/main" id="{A4AACC97-526C-4F8F-8FA2-3D0D814005FF}"/>
              </a:ext>
            </a:extLst>
          </p:cNvPr>
          <p:cNvSpPr>
            <a:spLocks noGrp="1"/>
          </p:cNvSpPr>
          <p:nvPr/>
        </p:nvSpPr>
        <p:spPr>
          <a:xfrm>
            <a:off x="571500" y="1133475"/>
            <a:ext cx="10858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4E80"/>
                </a:solidFill>
                <a:latin typeface="Arial"/>
                <a:ea typeface="Arial"/>
                <a:cs typeface="Arial"/>
              </a:rPr>
              <a:t>Aim: Test how output quality changes as the cost constraint is relaxed.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400501C-84D9-414A-A618-73C8036AE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2078071" y="1657350"/>
            <a:ext cx="8035857" cy="4105275"/>
          </a:xfrm>
          <a:prstGeom prst="rect">
            <a:avLst/>
          </a:prstGeom>
        </p:spPr>
      </p:pic>
      <p:sp>
        <p:nvSpPr>
          <p:cNvPr id="6" name="Finding">
            <a:extLst>
              <a:ext uri="{FF2B5EF4-FFF2-40B4-BE49-F238E27FC236}">
                <a16:creationId xmlns:a16="http://schemas.microsoft.com/office/drawing/2014/main" id="{1F8BD308-6DE9-459A-A845-A464FFC04AF8}"/>
              </a:ext>
            </a:extLst>
          </p:cNvPr>
          <p:cNvSpPr>
            <a:spLocks noGrp="1"/>
          </p:cNvSpPr>
          <p:nvPr/>
        </p:nvSpPr>
        <p:spPr>
          <a:xfrm>
            <a:off x="571500" y="5924550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1800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4E80"/>
                </a:solidFill>
                <a:latin typeface="Arial"/>
                <a:ea typeface="Arial"/>
                <a:cs typeface="Arial"/>
              </a:rPr>
              <a:t>Finding: Looser budgets generally allow higher quality; priors help with tight budgets.</a:t>
            </a:r>
          </a:p>
        </p:txBody>
      </p:sp>
    </p:spTree>
    <p:extLst>
      <p:ext uri="{BB962C8B-B14F-4D97-AF65-F5344CB8AC3E}">
        <p14:creationId xmlns:p14="http://schemas.microsoft.com/office/powerpoint/2010/main" val="14715477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>
            <a:extLst>
              <a:ext uri="{FF2B5EF4-FFF2-40B4-BE49-F238E27FC236}">
                <a16:creationId xmlns:a16="http://schemas.microsoft.com/office/drawing/2014/main" id="{31151D75-9240-4D34-BD2C-F5356B35173D}"/>
              </a:ext>
            </a:extLst>
          </p:cNvPr>
          <p:cNvSpPr>
            <a:spLocks noGrp="1"/>
          </p:cNvSpPr>
          <p:nvPr/>
        </p:nvSpPr>
        <p:spPr>
          <a:xfrm>
            <a:off x="571500" y="409575"/>
            <a:ext cx="11049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3000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94E80"/>
                </a:solidFill>
                <a:latin typeface="Arial"/>
                <a:ea typeface="Arial"/>
                <a:cs typeface="Arial"/>
              </a:rPr>
              <a:t>Experiment 4 — Ablation Study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F802866-222B-43D4-B401-BEF30DE1A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709549" y="1209675"/>
            <a:ext cx="6762877" cy="4924425"/>
          </a:xfrm>
          <a:prstGeom prst="rect">
            <a:avLst/>
          </a:prstGeom>
        </p:spPr>
      </p:pic>
      <p:sp>
        <p:nvSpPr>
          <p:cNvPr id="5" name="Aim label">
            <a:extLst>
              <a:ext uri="{FF2B5EF4-FFF2-40B4-BE49-F238E27FC236}">
                <a16:creationId xmlns:a16="http://schemas.microsoft.com/office/drawing/2014/main" id="{02B63554-B326-4E7E-B4F5-AE82710FCDE7}"/>
              </a:ext>
            </a:extLst>
          </p:cNvPr>
          <p:cNvSpPr>
            <a:spLocks noGrp="1"/>
          </p:cNvSpPr>
          <p:nvPr/>
        </p:nvSpPr>
        <p:spPr>
          <a:xfrm>
            <a:off x="8067675" y="1409700"/>
            <a:ext cx="32385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4E80"/>
                </a:solidFill>
                <a:latin typeface="Arial"/>
                <a:ea typeface="Arial"/>
                <a:cs typeface="Arial"/>
              </a:rPr>
              <a:t>Aim</a:t>
            </a:r>
          </a:p>
        </p:txBody>
      </p:sp>
      <p:sp>
        <p:nvSpPr>
          <p:cNvPr id="6" name="Aim">
            <a:extLst>
              <a:ext uri="{FF2B5EF4-FFF2-40B4-BE49-F238E27FC236}">
                <a16:creationId xmlns:a16="http://schemas.microsoft.com/office/drawing/2014/main" id="{4AE3E9CD-00CA-4DFD-BAC4-DFD5219744CC}"/>
              </a:ext>
            </a:extLst>
          </p:cNvPr>
          <p:cNvSpPr>
            <a:spLocks noGrp="1"/>
          </p:cNvSpPr>
          <p:nvPr/>
        </p:nvSpPr>
        <p:spPr>
          <a:xfrm>
            <a:off x="8067675" y="1885950"/>
            <a:ext cx="3381375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1800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94E80"/>
                </a:solidFill>
                <a:latin typeface="Arial"/>
                <a:ea typeface="Arial"/>
                <a:cs typeface="Arial"/>
              </a:rPr>
              <a:t>Isolate the effects of priors,</a:t>
            </a: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94E80"/>
                </a:solidFill>
                <a:latin typeface="Arial"/>
                <a:ea typeface="Arial"/>
                <a:cs typeface="Arial"/>
              </a:rPr>
              <a:t>MAB and Pareto-Cascades.</a:t>
            </a:r>
          </a:p>
        </p:txBody>
      </p:sp>
      <p:sp>
        <p:nvSpPr>
          <p:cNvPr id="7" name="Finding label">
            <a:extLst>
              <a:ext uri="{FF2B5EF4-FFF2-40B4-BE49-F238E27FC236}">
                <a16:creationId xmlns:a16="http://schemas.microsoft.com/office/drawing/2014/main" id="{4C7EF9CA-E600-490A-A569-CE72FB54261C}"/>
              </a:ext>
            </a:extLst>
          </p:cNvPr>
          <p:cNvSpPr>
            <a:spLocks noGrp="1"/>
          </p:cNvSpPr>
          <p:nvPr/>
        </p:nvSpPr>
        <p:spPr>
          <a:xfrm>
            <a:off x="8067675" y="3105150"/>
            <a:ext cx="32385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4E80"/>
                </a:solidFill>
                <a:latin typeface="Arial"/>
                <a:ea typeface="Arial"/>
                <a:cs typeface="Arial"/>
              </a:rPr>
              <a:t>Finding</a:t>
            </a:r>
          </a:p>
        </p:txBody>
      </p:sp>
      <p:sp>
        <p:nvSpPr>
          <p:cNvPr id="8" name="Finding">
            <a:extLst>
              <a:ext uri="{FF2B5EF4-FFF2-40B4-BE49-F238E27FC236}">
                <a16:creationId xmlns:a16="http://schemas.microsoft.com/office/drawing/2014/main" id="{5150391E-457E-4F03-8386-37A68A5CBDBA}"/>
              </a:ext>
            </a:extLst>
          </p:cNvPr>
          <p:cNvSpPr>
            <a:spLocks noGrp="1"/>
          </p:cNvSpPr>
          <p:nvPr/>
        </p:nvSpPr>
        <p:spPr>
          <a:xfrm>
            <a:off x="8067675" y="3581400"/>
            <a:ext cx="3381375" cy="171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1800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94E80"/>
                </a:solidFill>
                <a:latin typeface="Arial"/>
                <a:ea typeface="Arial"/>
                <a:cs typeface="Arial"/>
              </a:rPr>
              <a:t>On average:</a:t>
            </a: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94E80"/>
                </a:solidFill>
                <a:latin typeface="Arial"/>
                <a:ea typeface="Arial"/>
                <a:cs typeface="Arial"/>
              </a:rPr>
              <a:t>Priors improve optimization.</a:t>
            </a: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94E80"/>
                </a:solidFill>
                <a:latin typeface="Arial"/>
                <a:ea typeface="Arial"/>
                <a:cs typeface="Arial"/>
              </a:rPr>
              <a:t>MAB helps minimize cost.</a:t>
            </a: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94E80"/>
                </a:solidFill>
                <a:latin typeface="Arial"/>
                <a:ea typeface="Arial"/>
                <a:cs typeface="Arial"/>
              </a:rPr>
              <a:t>Pareto-Cascades helps</a:t>
            </a: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194E8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94E80"/>
                </a:solidFill>
                <a:latin typeface="Arial"/>
                <a:ea typeface="Arial"/>
                <a:cs typeface="Arial"/>
              </a:rPr>
              <a:t>satisfy constraints.</a:t>
            </a:r>
          </a:p>
        </p:txBody>
      </p:sp>
    </p:spTree>
    <p:extLst>
      <p:ext uri="{BB962C8B-B14F-4D97-AF65-F5344CB8AC3E}">
        <p14:creationId xmlns:p14="http://schemas.microsoft.com/office/powerpoint/2010/main" val="629750107"/>
      </p:ext>
    </p:extLst>
  </p:cSld>
  <p:clrMapOvr>
    <a:masterClrMapping/>
  </p:clrMapOvr>
</p:sld>
</file>

<file path=ppt/theme/theme1.xml><?xml version="1.0" encoding="utf-8"?>
<a:theme xmlns:a="http://schemas.openxmlformats.org/drawingml/2006/main" name="abacus_seminar">
  <a:themeElements>
    <a:clrScheme name="abacus_seminar">
      <a:dk1>
        <a:srgbClr val="17385C"/>
      </a:dk1>
      <a:lt1>
        <a:srgbClr val="FFFFFF"/>
      </a:lt1>
      <a:dk2>
        <a:srgbClr val="1F497D"/>
      </a:dk2>
      <a:lt2>
        <a:srgbClr val="EDF4FB"/>
      </a:lt2>
      <a:accent1>
        <a:srgbClr val="174A80"/>
      </a:accent1>
      <a:accent2>
        <a:srgbClr val="1E67B2"/>
      </a:accent2>
      <a:accent3>
        <a:srgbClr val="9CBBDD"/>
      </a:accent3>
      <a:accent4>
        <a:srgbClr val="174A80"/>
      </a:accent4>
      <a:accent5>
        <a:srgbClr val="55759A"/>
      </a:accent5>
      <a:accent6>
        <a:srgbClr val="CADBEC"/>
      </a:accent6>
      <a:hlink>
        <a:srgbClr val="1E67B2"/>
      </a:hlink>
      <a:folHlink>
        <a:srgbClr val="9CBBDD"/>
      </a:folHlink>
    </a:clrScheme>
    <a:fontScheme name="abacus_seminar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bacus_semina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1220</TotalTime>
  <Words>792</Words>
  <Application>Microsoft Macintosh PowerPoint</Application>
  <PresentationFormat>宽屏</PresentationFormat>
  <Paragraphs>127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26</vt:i4>
      </vt:variant>
    </vt:vector>
  </HeadingPairs>
  <TitlesOfParts>
    <vt:vector size="36" baseType="lpstr">
      <vt:lpstr>等线</vt:lpstr>
      <vt:lpstr>等线 Light</vt:lpstr>
      <vt:lpstr>Arial</vt:lpstr>
      <vt:lpstr>abacus_seminar</vt:lpstr>
      <vt:lpstr>Office 主题​​</vt:lpstr>
      <vt:lpstr>ChatGPT</vt:lpstr>
      <vt:lpstr>ChatGPT</vt:lpstr>
      <vt:lpstr>ChatGPT</vt:lpstr>
      <vt:lpstr>ChatGPT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陈广泽</cp:lastModifiedBy>
  <cp:revision>28</cp:revision>
  <dcterms:created xsi:type="dcterms:W3CDTF">2026-10-11T17:51:59Z</dcterms:created>
  <dcterms:modified xsi:type="dcterms:W3CDTF">2026-10-13T03:27:02Z</dcterms:modified>
  <cp:category/>
  <cp:contentStatus/>
  <dc:language>en-US</dc:language>
</cp:coreProperties>
</file>