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3FB28-F73A-4B5F-90DF-9E0D459211F8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418824-0156-4221-A4EC-E326CAC7D4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898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418824-0156-4221-A4EC-E326CAC7D40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06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74135-183C-4987-AC0C-BBDFE74A3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A4BD9F2-33F8-30CB-3A75-5C764293F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4F1A8E-997A-8E3C-B258-261447BFE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70A510-6B37-AD13-0291-33C06A9A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9E6B9-EE9C-B4FD-2A12-95B0241C3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09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86351-4732-23E5-0587-2C2AB33D1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9DF746-E636-9797-7022-27C9A6B9CD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C7E21-EFBE-A372-D4C2-25998FF4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27CED8-D397-796F-A0C9-A79BC4977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15C325-554E-3349-4D34-93A1C32B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36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DCB6-20FD-3C64-14B2-BD68AD15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7DCCF8-86D6-F95D-72B6-6C2286A37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D1D472-72DB-DA48-19C8-840686BA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6F0AD7-866F-1FEB-F9D6-3B539DB66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1591B1-1CF5-8C40-397B-DFFA78B6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38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2BB09-D280-2A57-C57A-62FA286F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CC275-C20C-FA49-DBC3-4BC8523F2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A00EE4-4DE6-9DC2-398A-60007DF20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ACA6B6-11C7-0412-14E7-FFFCBDCA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C72E04-B279-4B06-13C8-D125512C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4C41F3-D20A-CBBA-71F0-256B8875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31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D8C638-DAB7-1D5B-52B4-573A6C0B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CF3341-7C77-9A87-6E8B-93B0446F2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EAFC3D-DD74-3728-FDFE-851669AEA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9CFB4E-B144-E252-C24B-66E7F380C4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1956EF-FF11-2503-F258-686B4C449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5F590F8-D43A-68EA-83A1-7DE1BCE3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40A762-E86E-B022-016F-A0F4B23D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55C6F6-A0E2-434C-C299-57FC4B87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24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EF94EC-FBF4-0277-FCC0-8C10EA92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B671B6-C670-EF43-A355-FAEDBA0E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75CDB7-50E5-5491-6276-07BC9D3B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834376-D5E7-4985-8323-0ED6044D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42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251E65-6A38-C47A-EFCF-B0FDCC57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FCF9CD7-80D4-2CD0-C27C-4E434D8D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FFC4C-7A93-576D-D0E3-7C081A2F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564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7DFD8-7090-A441-68CB-9B4D97EA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B4605-42A9-1C05-7D0C-111A9AF23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59FB65-D220-1190-3A83-877E16C7A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A4BB7C-51BA-7AA6-DBF0-A8BA717C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C8AF41-47A7-3EE5-F738-020B2698F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81F772-CDA0-371E-6668-7492FEF7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898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1979C-1007-01B6-1F1A-880E6D864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EF6642-7660-B849-F3FD-19CBBF355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246B92-4616-8B9A-4775-B9BA92004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A41000-5A52-3045-3BD1-A444E495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9CCA82-56DF-44EA-B819-702C5FFE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EEEB17-921D-5B31-A856-233A3C5A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72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A904A-24C3-82C4-F25A-526183379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AEBAD3-328A-317B-0FE0-84ACED182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8CF8A3-BDEA-68DA-8B0F-C90CBF810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8F75F1-DF11-6D71-9B83-6B14D132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92BE16-53AD-AC42-5CD0-58023534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831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A06235-7A2A-017E-43A9-6B0289B93E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9F3BC4-8590-BBA9-C095-2126EC803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3FFDB5-DE58-C1D0-35A5-34CA59F8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6E806C-3838-C79D-D4DE-BACF745E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088E2-57BA-D6C0-9BA3-3DB7BDE1F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13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892931-1B89-C05A-BBB5-E88A0E3A6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6003A0-3C31-A07D-2DD6-62352D426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B55DC7-7415-B0CB-161A-B33BBB806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26817-18D0-46B4-93D4-47027F433431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7D007C-B2C3-DED7-82E6-411941D07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22CF4A-35F0-90FF-2210-C989D2769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F05FE-9A70-4C3B-9503-4C9089F2C2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183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tm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A20D5-09BB-1346-A109-DCAA970EA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98" y="1584235"/>
            <a:ext cx="11582401" cy="1518130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Pre-training Summarization Models of Structured Datasets  for Cardinality Estimation</a:t>
            </a:r>
            <a:endParaRPr lang="zh-CN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1B7876-3BAA-DABA-A8C3-BFEEAF37F4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244735"/>
            <a:ext cx="9144000" cy="1655762"/>
          </a:xfrm>
        </p:spPr>
        <p:txBody>
          <a:bodyPr/>
          <a:lstStyle/>
          <a:p>
            <a:r>
              <a:rPr lang="en-US" altLang="zh-CN" dirty="0"/>
              <a:t>Yao Lu, Srikanth Kandula, Arnd Christian König, Surajit Chaudhuri</a:t>
            </a:r>
          </a:p>
          <a:p>
            <a:r>
              <a:rPr lang="en-US" altLang="zh-CN" dirty="0"/>
              <a:t> Microsoft </a:t>
            </a:r>
          </a:p>
          <a:p>
            <a:r>
              <a:rPr lang="en-US" altLang="zh-CN" dirty="0"/>
              <a:t>project-iris@microsoft.com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64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328DEA92-FDB0-6BE0-FB00-5494DBB16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716EF7-0AFA-683F-3F5F-59673AFFE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10822172" cy="54257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Cardinality estimation (CE) is critical for query optimization.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Existing methods: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Histograms &amp; sketches (state-of-the-art)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Learned models (dataset-specific, costly to train/retrain).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High training cost (thousands of (predicate, cardinality) pairs per dataset).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No incremental updates—full retraining needed on data changes.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Slow inference (milliseconds per CE call, often GPU-dependent).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 Goal: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Fast, accurate CE without per-dataset training.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Sub-millisecond latency without GPUs.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Pre-trained models (inspired by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/BERT) for unseen datasets.</a:t>
            </a:r>
          </a:p>
        </p:txBody>
      </p:sp>
    </p:spTree>
    <p:extLst>
      <p:ext uri="{BB962C8B-B14F-4D97-AF65-F5344CB8AC3E}">
        <p14:creationId xmlns:p14="http://schemas.microsoft.com/office/powerpoint/2010/main" val="1683934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1E020-77DC-984C-7CF1-CC25C411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FFBCF9C-6374-80CE-7930-6AA2FFD5B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70DDB6-8D09-BBBC-4E46-31CDAD360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10822172" cy="54257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Iris consists of: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 encoder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summary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 decoder</a:t>
            </a:r>
          </a:p>
          <a:p>
            <a:pPr marL="0" indent="0">
              <a:buNone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Contributions: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Pre-trained summarization models: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Encoders generate summaries incrementally.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Decoders answer CE efficiently (CPU-only, SIMD-optimized).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Pre-processor: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Selects column subsets &amp; summary methods per relation.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Reduces storage/computation costs.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Evaluation: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Outperforms sampling, histograms, and learned models.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Comparable/better accuracy and faster build time at low storage.</a:t>
            </a:r>
          </a:p>
          <a:p>
            <a:pPr marL="0" indent="0"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7704D1-1026-6A36-DFFA-4ED806234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115" y="272902"/>
            <a:ext cx="6331765" cy="331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87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9C97-F53E-6C52-E68E-26E0AB9C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93F70DA-D44D-9FE2-B350-1D09CF63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System Overview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00593A-A4EE-2F5A-08A9-8CB4440EC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9128051" cy="612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Scope: Iris supports queries which can be represented as:</a:t>
            </a:r>
          </a:p>
          <a:p>
            <a:pPr marL="0" indent="0"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62FAAB-9F52-D63A-B8A3-653331010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712" y="1763146"/>
            <a:ext cx="4897223" cy="561839"/>
          </a:xfrm>
          <a:prstGeom prst="rect">
            <a:avLst/>
          </a:prstGeom>
        </p:spPr>
      </p:pic>
      <p:sp>
        <p:nvSpPr>
          <p:cNvPr id="4" name="内容占位符 5">
            <a:extLst>
              <a:ext uri="{FF2B5EF4-FFF2-40B4-BE49-F238E27FC236}">
                <a16:creationId xmlns:a16="http://schemas.microsoft.com/office/drawing/2014/main" id="{4DF3DA93-1B01-3D0B-BDD1-A90DFEF6CF93}"/>
              </a:ext>
            </a:extLst>
          </p:cNvPr>
          <p:cNvSpPr txBox="1">
            <a:spLocks/>
          </p:cNvSpPr>
          <p:nvPr/>
        </p:nvSpPr>
        <p:spPr>
          <a:xfrm>
            <a:off x="788582" y="2324986"/>
            <a:ext cx="10992292" cy="213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where T is a table and column Col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can be of numeric or categorical types.</a:t>
            </a:r>
          </a:p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This scope is largely similar to prior ML-based CE but we note some key aspects: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does not support joins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supports categorical columns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group-by and other relational operations are not supported (not supported by any of these works).</a:t>
            </a:r>
          </a:p>
          <a:p>
            <a:pPr marL="0" indent="0"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4703B354-62D0-5448-8C57-0E3AC80150BE}"/>
              </a:ext>
            </a:extLst>
          </p:cNvPr>
          <p:cNvSpPr txBox="1">
            <a:spLocks/>
          </p:cNvSpPr>
          <p:nvPr/>
        </p:nvSpPr>
        <p:spPr>
          <a:xfrm>
            <a:off x="788582" y="4359235"/>
            <a:ext cx="10921409" cy="21372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Requirements: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Storage: Comparable to production histograms (~4KB/column)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Latency: Sub-millisecond CE without GPUs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Reduce the costs to build summaries by using models that are pre-trained offline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Incremental updates for data changes</a:t>
            </a:r>
          </a:p>
        </p:txBody>
      </p:sp>
    </p:spTree>
    <p:extLst>
      <p:ext uri="{BB962C8B-B14F-4D97-AF65-F5344CB8AC3E}">
        <p14:creationId xmlns:p14="http://schemas.microsoft.com/office/powerpoint/2010/main" val="3735804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FDC9C-6AEF-17A5-F73B-836D9BA5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BA964D2-A45E-A0F7-D58F-0C9B9C3C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Iris System Overview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70D8F9-B093-F615-D3D8-F3284EE31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10581167" cy="5156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Summarization challenges and solutions: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62D27F3-617F-870B-FCB2-AFCFB862D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769746"/>
              </p:ext>
            </p:extLst>
          </p:nvPr>
        </p:nvGraphicFramePr>
        <p:xfrm>
          <a:off x="854149" y="1893961"/>
          <a:ext cx="10515600" cy="2006600"/>
        </p:xfrm>
        <a:graphic>
          <a:graphicData uri="http://schemas.openxmlformats.org/drawingml/2006/table">
            <a:tbl>
              <a:tblPr/>
              <a:tblGrid>
                <a:gridCol w="5699295">
                  <a:extLst>
                    <a:ext uri="{9D8B030D-6E8A-4147-A177-3AD203B41FA5}">
                      <a16:colId xmlns:a16="http://schemas.microsoft.com/office/drawing/2014/main" val="3795747072"/>
                    </a:ext>
                  </a:extLst>
                </a:gridCol>
                <a:gridCol w="4816305">
                  <a:extLst>
                    <a:ext uri="{9D8B030D-6E8A-4147-A177-3AD203B41FA5}">
                      <a16:colId xmlns:a16="http://schemas.microsoft.com/office/drawing/2014/main" val="2040333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solidFill>
                            <a:srgbClr val="404040"/>
                          </a:solidFill>
                          <a:effectLst/>
                        </a:rPr>
                        <a:t>Challenge</a:t>
                      </a: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solidFill>
                            <a:srgbClr val="404040"/>
                          </a:solidFill>
                          <a:effectLst/>
                        </a:rPr>
                        <a:t>Iris Solution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678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Row-order invariance</a:t>
                      </a: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Linear per-row aggregation (</a:t>
                      </a:r>
                      <a:r>
                        <a:rPr lang="el-GR" dirty="0">
                          <a:effectLst/>
                        </a:rPr>
                        <a:t>ψ)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93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Schema diversity</a:t>
                      </a: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Fixed-bit quantization + Reorder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151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High-dimensional correlations</a:t>
                      </a: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Multiple summaries per columnset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9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Storage-accuracy tradeoff</a:t>
                      </a:r>
                    </a:p>
                  </a:txBody>
                  <a:tcPr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Model selection (Hist/Sparse/Iris)</a:t>
                      </a:r>
                    </a:p>
                  </a:txBody>
                  <a:tcPr marL="63500" marR="63500" marT="63500" marB="63500" anchor="ctr">
                    <a:lnL>
                      <a:noFill/>
                    </a:lnL>
                    <a:lnR>
                      <a:noFill/>
                    </a:lnR>
                    <a:lnT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29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21747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FA7C8D2-4AB0-3355-8562-4AEB851767A4}"/>
              </a:ext>
            </a:extLst>
          </p:cNvPr>
          <p:cNvSpPr txBox="1"/>
          <p:nvPr/>
        </p:nvSpPr>
        <p:spPr>
          <a:xfrm>
            <a:off x="854149" y="4174003"/>
            <a:ext cx="31082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Overview of summarizing a new dataset:</a:t>
            </a:r>
          </a:p>
          <a:p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122BC39-9DA0-7B24-593D-FAC87D8E0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98" y="3972681"/>
            <a:ext cx="5649433" cy="209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05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BA40-9168-B314-2183-B7292C8A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2AD5BDA-79C2-3D59-248D-878415F9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Summarization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E320A6-ED98-40AE-007C-C634FDA0B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10581167" cy="51564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Column Subset Selection</a:t>
            </a:r>
          </a:p>
          <a:p>
            <a:pPr marL="0" indent="0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Goal: Capture multi-column correlations within storage budget</a:t>
            </a:r>
          </a:p>
          <a:p>
            <a:pPr marL="0" indent="0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Method: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CORDS analysis on sample data (pairwise correlation scores)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Greedy clique selection (max edge weight, size ≤</a:t>
            </a:r>
            <a:r>
              <a:rPr lang="el-GR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κ=2)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Fallback: 1D histograms for unpicked columns</a:t>
            </a:r>
          </a:p>
          <a:p>
            <a:pPr marL="0" indent="0">
              <a:buNone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Model Selection:</a:t>
            </a:r>
          </a:p>
          <a:p>
            <a:pPr marL="0" indent="0"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1DD804-6B85-71FC-9633-E3EE9F3D9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97" y="1629336"/>
            <a:ext cx="4623038" cy="2019404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F245448-B2BD-2633-9150-A65E9041F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563558"/>
              </p:ext>
            </p:extLst>
          </p:nvPr>
        </p:nvGraphicFramePr>
        <p:xfrm>
          <a:off x="871870" y="4431340"/>
          <a:ext cx="8128000" cy="1854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230045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66610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condition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247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404040"/>
                          </a:solidFill>
                          <a:effectLst/>
                        </a:rPr>
                        <a:t>Sparse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rgbClr val="404040"/>
                          </a:solidFill>
                          <a:effectLst/>
                        </a:rPr>
                        <a:t>#DV_k &lt; </a:t>
                      </a:r>
                      <a:r>
                        <a:rPr lang="el-GR" altLang="zh-CN" dirty="0">
                          <a:solidFill>
                            <a:srgbClr val="404040"/>
                          </a:solidFill>
                          <a:effectLst/>
                        </a:rPr>
                        <a:t>ε₀</a:t>
                      </a:r>
                      <a:endParaRPr lang="el-GR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842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404040"/>
                          </a:solidFill>
                          <a:effectLst/>
                        </a:rPr>
                        <a:t>AVI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404040"/>
                          </a:solidFill>
                          <a:effectLst/>
                        </a:rPr>
                        <a:t>s_k</a:t>
                      </a:r>
                      <a:r>
                        <a:rPr lang="en-US" altLang="zh-CN" dirty="0">
                          <a:solidFill>
                            <a:srgbClr val="404040"/>
                          </a:solidFill>
                          <a:effectLst/>
                        </a:rPr>
                        <a:t> &lt; </a:t>
                      </a:r>
                      <a:r>
                        <a:rPr lang="el-GR" altLang="zh-CN" dirty="0">
                          <a:solidFill>
                            <a:srgbClr val="404040"/>
                          </a:solidFill>
                          <a:effectLst/>
                        </a:rPr>
                        <a:t>ε₁</a:t>
                      </a:r>
                      <a:endParaRPr lang="el-GR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27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404040"/>
                          </a:solidFill>
                          <a:effectLst/>
                        </a:rPr>
                        <a:t>Hist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404040"/>
                          </a:solidFill>
                          <a:effectLst/>
                        </a:rPr>
                        <a:t>s_k</a:t>
                      </a:r>
                      <a:r>
                        <a:rPr lang="en-US" altLang="zh-CN" dirty="0">
                          <a:solidFill>
                            <a:srgbClr val="404040"/>
                          </a:solidFill>
                          <a:effectLst/>
                        </a:rPr>
                        <a:t> ∈ [</a:t>
                      </a:r>
                      <a:r>
                        <a:rPr lang="el-GR" altLang="zh-CN" dirty="0">
                          <a:solidFill>
                            <a:srgbClr val="404040"/>
                          </a:solidFill>
                          <a:effectLst/>
                        </a:rPr>
                        <a:t>ε₁, ε₂]</a:t>
                      </a:r>
                      <a:endParaRPr lang="el-GR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362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>
                          <a:solidFill>
                            <a:srgbClr val="404040"/>
                          </a:solidFill>
                          <a:effectLst/>
                        </a:rPr>
                        <a:t>Iris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>
                          <a:solidFill>
                            <a:srgbClr val="404040"/>
                          </a:solidFill>
                          <a:effectLst/>
                        </a:rPr>
                        <a:t>s_k</a:t>
                      </a:r>
                      <a:r>
                        <a:rPr lang="en-US" altLang="zh-CN" dirty="0">
                          <a:solidFill>
                            <a:srgbClr val="404040"/>
                          </a:solidFill>
                          <a:effectLst/>
                        </a:rPr>
                        <a:t> &gt; </a:t>
                      </a:r>
                      <a:r>
                        <a:rPr lang="el-GR" altLang="zh-CN" dirty="0">
                          <a:solidFill>
                            <a:srgbClr val="404040"/>
                          </a:solidFill>
                          <a:effectLst/>
                        </a:rPr>
                        <a:t>ε₂</a:t>
                      </a:r>
                      <a:endParaRPr lang="el-GR" altLang="zh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68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34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B0B76-A16D-90B2-4860-7B9E1ABB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C616F01B-51A8-5395-265D-BE90E15C0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Summarization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30E4A0-EF61-6B8A-154C-45CE73B50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2"/>
            <a:ext cx="6973185" cy="8608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Quantization for rows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C3ED0F-3092-B9D0-4FE7-511B98116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687" y="1023183"/>
            <a:ext cx="5426713" cy="2649093"/>
          </a:xfrm>
          <a:prstGeom prst="rect">
            <a:avLst/>
          </a:prstGeom>
        </p:spPr>
      </p:pic>
      <p:sp>
        <p:nvSpPr>
          <p:cNvPr id="7" name="内容占位符 5">
            <a:extLst>
              <a:ext uri="{FF2B5EF4-FFF2-40B4-BE49-F238E27FC236}">
                <a16:creationId xmlns:a16="http://schemas.microsoft.com/office/drawing/2014/main" id="{1E7CF734-3DA5-14FE-4817-437490EA8D33}"/>
              </a:ext>
            </a:extLst>
          </p:cNvPr>
          <p:cNvSpPr txBox="1">
            <a:spLocks/>
          </p:cNvSpPr>
          <p:nvPr/>
        </p:nvSpPr>
        <p:spPr>
          <a:xfrm>
            <a:off x="735419" y="4125649"/>
            <a:ext cx="6973185" cy="86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CE using a bag of summaries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3F6244AE-3153-2A41-F6A1-060A65F19B3D}"/>
              </a:ext>
            </a:extLst>
          </p:cNvPr>
          <p:cNvSpPr txBox="1">
            <a:spLocks/>
          </p:cNvSpPr>
          <p:nvPr/>
        </p:nvSpPr>
        <p:spPr>
          <a:xfrm>
            <a:off x="1072116" y="1844990"/>
            <a:ext cx="5376529" cy="183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For models to generalize, we must quantize inputs into fixed-size vectors. Our quantization method assigns to each column a certain number of buckets and then replaces column values with the index of the bucket that contains the value. 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2FE3DE3-8797-BF68-7E91-D7AECA041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687" y="3874468"/>
            <a:ext cx="5180392" cy="269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00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F3536-C982-9B9D-5988-0C16419E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2E7231C-74AC-5DE4-B6F3-E0E0F2B79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Using Iris Models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19BCD1-5390-035B-F9B3-581B94D71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2"/>
            <a:ext cx="6973185" cy="8608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Using Iris models to summarize a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rowset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41CD3CDC-C645-678E-2CB0-7553C848993C}"/>
              </a:ext>
            </a:extLst>
          </p:cNvPr>
          <p:cNvSpPr txBox="1">
            <a:spLocks/>
          </p:cNvSpPr>
          <p:nvPr/>
        </p:nvSpPr>
        <p:spPr>
          <a:xfrm>
            <a:off x="1164265" y="1752786"/>
            <a:ext cx="6973185" cy="2861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q(): Quantization (Algorithm 1)</a:t>
            </a:r>
          </a:p>
          <a:p>
            <a:pPr marL="0" indent="0" algn="just">
              <a:buNone/>
            </a:pPr>
            <a:r>
              <a:rPr lang="el-GR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ϕ꜀: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Column embedding (64-dim)</a:t>
            </a:r>
          </a:p>
          <a:p>
            <a:pPr marL="0" indent="0" algn="just">
              <a:buNone/>
            </a:pPr>
            <a:r>
              <a:rPr lang="el-GR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ϕ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ᵣ: Row embedding (</a:t>
            </a:r>
            <a:r>
              <a:rPr lang="el-GR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η-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dim output)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BC2979-5184-2410-C4F6-6996D22B8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702" y="1322352"/>
            <a:ext cx="5538716" cy="122189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ED19988-544F-E554-F4AC-22CA4CCFF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62" y="2779511"/>
            <a:ext cx="11055918" cy="398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59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C7911-6A91-D22F-D7A5-E012120B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D20BFC7-B239-4B40-1593-2E04D900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Using Iris Models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A55965-944F-BF34-EEB7-341F8CBB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910655"/>
            <a:ext cx="6973185" cy="8608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Answering queries over Iris summaries: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942FC15-8741-CCE5-E1F5-6F88457A5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62" y="2779511"/>
            <a:ext cx="11055918" cy="398800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EA85EB8-98AF-69E0-2943-293705B61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82" y="1314755"/>
            <a:ext cx="5101089" cy="15631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65B8F66-AB31-95A0-D05A-3A4B80B38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014" y="1196699"/>
            <a:ext cx="5333234" cy="170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0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A7099-F3D1-C95E-88DE-88AAE01B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A8BF0C7-8C26-BF84-3DBC-C32C3BAF9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Using Iris Models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76726C-F2E3-66F6-1CA4-7E32096F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2"/>
            <a:ext cx="6973185" cy="8608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Incrementally handling dataset changes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DD5E86C0-AAFF-B1F4-7794-6AFFAC2DCE44}"/>
              </a:ext>
            </a:extLst>
          </p:cNvPr>
          <p:cNvSpPr txBox="1">
            <a:spLocks/>
          </p:cNvSpPr>
          <p:nvPr/>
        </p:nvSpPr>
        <p:spPr>
          <a:xfrm>
            <a:off x="1043763" y="1752786"/>
            <a:ext cx="6973185" cy="2861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if multi-set S with n rows has a learned summary S, adding or deleting a row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s_i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or changing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s_i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to a new value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s_j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 leads to  the following summaries: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347048-1D19-8044-9A4A-206120818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71"/>
          <a:stretch>
            <a:fillRect/>
          </a:stretch>
        </p:blipFill>
        <p:spPr>
          <a:xfrm>
            <a:off x="3491467" y="2385422"/>
            <a:ext cx="4347311" cy="456463"/>
          </a:xfrm>
          <a:prstGeom prst="rect">
            <a:avLst/>
          </a:prstGeom>
        </p:spPr>
      </p:pic>
      <p:sp>
        <p:nvSpPr>
          <p:cNvPr id="7" name="内容占位符 5">
            <a:extLst>
              <a:ext uri="{FF2B5EF4-FFF2-40B4-BE49-F238E27FC236}">
                <a16:creationId xmlns:a16="http://schemas.microsoft.com/office/drawing/2014/main" id="{1592EE36-C374-D727-02C6-BEBEDE662BD1}"/>
              </a:ext>
            </a:extLst>
          </p:cNvPr>
          <p:cNvSpPr txBox="1">
            <a:spLocks/>
          </p:cNvSpPr>
          <p:nvPr/>
        </p:nvSpPr>
        <p:spPr>
          <a:xfrm>
            <a:off x="788582" y="3155248"/>
            <a:ext cx="6973185" cy="860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Pre-training Iris models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0213E92D-6927-E056-B46B-953DB24D93BA}"/>
              </a:ext>
            </a:extLst>
          </p:cNvPr>
          <p:cNvSpPr txBox="1">
            <a:spLocks/>
          </p:cNvSpPr>
          <p:nvPr/>
        </p:nvSpPr>
        <p:spPr>
          <a:xfrm>
            <a:off x="1043763" y="3585681"/>
            <a:ext cx="6973185" cy="327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Data Preparation: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Corpus: 30K column pairs (Table 4)</a:t>
            </a:r>
          </a:p>
          <a:p>
            <a:pPr>
              <a:lnSpc>
                <a:spcPct val="10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Augmentations: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✓ Value shifting/mirroring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✓ Frequency noise injection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✓ Synthetic dataset mixing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Model Training: Architecture: Shallow NN (Table 3)</a:t>
            </a:r>
            <a:endParaRPr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7167E38-206C-4D3A-7766-516B8B320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3155248"/>
            <a:ext cx="6326240" cy="286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6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F16A-E333-6DBC-C83D-7467D3C8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C4A1A4F-FB79-40E0-17C6-DB17CDF9B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038" y="1258297"/>
            <a:ext cx="5750158" cy="1846021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19CD6905-39B4-F231-48D6-2E4A1E59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 Setup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11CC71-66BD-4615-F6CC-5801DDA0A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5938283" cy="178196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Datasets</a:t>
            </a:r>
          </a:p>
          <a:p>
            <a:pPr marL="0" indent="0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Use the datasets in Table 5 that are unseen during pre-training to test cardinality estimation.</a:t>
            </a:r>
          </a:p>
          <a:p>
            <a:pPr marL="0" indent="0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Pick 16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columnpairs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at random to evaluate some aspects in more detail.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DA55E4A0-D4F1-C6FE-D0D6-86DDFE03DB01}"/>
              </a:ext>
            </a:extLst>
          </p:cNvPr>
          <p:cNvSpPr txBox="1">
            <a:spLocks/>
          </p:cNvSpPr>
          <p:nvPr/>
        </p:nvSpPr>
        <p:spPr>
          <a:xfrm>
            <a:off x="788581" y="3104318"/>
            <a:ext cx="10042452" cy="1242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Predicates</a:t>
            </a:r>
          </a:p>
          <a:p>
            <a:pPr marL="0" indent="0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Pick 1K queries per full dataset and 300 for each of the 16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columnpairs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内容占位符 5">
            <a:extLst>
              <a:ext uri="{FF2B5EF4-FFF2-40B4-BE49-F238E27FC236}">
                <a16:creationId xmlns:a16="http://schemas.microsoft.com/office/drawing/2014/main" id="{9686DD67-E392-55F7-E341-F70BB007A467}"/>
              </a:ext>
            </a:extLst>
          </p:cNvPr>
          <p:cNvSpPr txBox="1">
            <a:spLocks/>
          </p:cNvSpPr>
          <p:nvPr/>
        </p:nvSpPr>
        <p:spPr>
          <a:xfrm>
            <a:off x="788581" y="3978218"/>
            <a:ext cx="10042452" cy="1242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</a:p>
          <a:p>
            <a:pPr marL="0" indent="0"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Storage used, Query latency, Accuracy, Building costs, 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内容占位符 5">
            <a:extLst>
              <a:ext uri="{FF2B5EF4-FFF2-40B4-BE49-F238E27FC236}">
                <a16:creationId xmlns:a16="http://schemas.microsoft.com/office/drawing/2014/main" id="{B8A5E703-A719-7178-2183-558AE551757C}"/>
              </a:ext>
            </a:extLst>
          </p:cNvPr>
          <p:cNvSpPr txBox="1">
            <a:spLocks/>
          </p:cNvSpPr>
          <p:nvPr/>
        </p:nvSpPr>
        <p:spPr>
          <a:xfrm>
            <a:off x="788581" y="4886285"/>
            <a:ext cx="9872331" cy="184602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Baselines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Sampling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Histograms from DBMS-x 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Learned Models (LM, LM-, MSCN,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Naru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DeepDB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Multi-dimensional histograms (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STHoles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K-d trees)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857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444B-645C-8A00-7827-B4E48B7F8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293CB5D-DE3F-BDD7-6FE9-2795E5534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62" y="4960928"/>
            <a:ext cx="10808255" cy="1759040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79379365-B66E-277E-D3F9-27E40BE1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Efficacy Of CE On Entire Datasets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011EF3-EEFD-8582-2164-577D9CE77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3" y="1322352"/>
            <a:ext cx="5576776" cy="21066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Time to build summaries.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Using pre-trained summarization models significantly reduces the computation needed before cardinality estimates are available.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E0403E4-0ABF-43E7-7DBD-0193188D6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866" y="1017552"/>
            <a:ext cx="5429529" cy="3225966"/>
          </a:xfrm>
          <a:prstGeom prst="rect">
            <a:avLst/>
          </a:prstGeom>
        </p:spPr>
      </p:pic>
      <p:sp>
        <p:nvSpPr>
          <p:cNvPr id="7" name="内容占位符 5">
            <a:extLst>
              <a:ext uri="{FF2B5EF4-FFF2-40B4-BE49-F238E27FC236}">
                <a16:creationId xmlns:a16="http://schemas.microsoft.com/office/drawing/2014/main" id="{0A23E09A-BD41-444E-EAA6-6CA664CB640A}"/>
              </a:ext>
            </a:extLst>
          </p:cNvPr>
          <p:cNvSpPr txBox="1">
            <a:spLocks/>
          </p:cNvSpPr>
          <p:nvPr/>
        </p:nvSpPr>
        <p:spPr>
          <a:xfrm>
            <a:off x="788583" y="3218490"/>
            <a:ext cx="5110553" cy="2246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Accuracy of cardinality estimates.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More selective predicates have lower accuracy to the estimates. Iris is competitive across the cardinality range.</a:t>
            </a:r>
          </a:p>
          <a:p>
            <a:pPr marL="0" indent="0">
              <a:buNone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380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F7CA-772F-7607-9135-54B2BB9BB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7AA73B8C-926A-8F3E-3D88-910FD27CF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722" y="3773314"/>
            <a:ext cx="5023993" cy="2542425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0D624236-A5C1-3D92-9D60-C969FDF0F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Efficacy Of CE On Entire Datasets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EA445C-B9F9-5BAF-0A12-A5D94F8CD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3" y="1322352"/>
            <a:ext cx="6207640" cy="210664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Breaking down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buildtime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and parallelization.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CORDS can run in parallel per column pair 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different threads can summarize different data partitions.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165ECBC-CFD0-9DFC-5925-2F7A66D3E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722" y="1322352"/>
            <a:ext cx="5264421" cy="1974951"/>
          </a:xfrm>
          <a:prstGeom prst="rect">
            <a:avLst/>
          </a:prstGeom>
        </p:spPr>
      </p:pic>
      <p:sp>
        <p:nvSpPr>
          <p:cNvPr id="16" name="内容占位符 5">
            <a:extLst>
              <a:ext uri="{FF2B5EF4-FFF2-40B4-BE49-F238E27FC236}">
                <a16:creationId xmlns:a16="http://schemas.microsoft.com/office/drawing/2014/main" id="{B91FFB7A-6B38-516C-8548-F92EBF6E05B0}"/>
              </a:ext>
            </a:extLst>
          </p:cNvPr>
          <p:cNvSpPr txBox="1">
            <a:spLocks/>
          </p:cNvSpPr>
          <p:nvPr/>
        </p:nvSpPr>
        <p:spPr>
          <a:xfrm>
            <a:off x="788583" y="3084686"/>
            <a:ext cx="6413204" cy="22738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Cardinality estimation latency.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Iris and some alternatives offer comparable latency.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The CE latency can depend on the number of Iris summaries used - each decoder inference takes 32μs with SIMD which is 1-2 orders of magnitude slower than evaluating Hist or Sparse;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D995B7-4662-D84C-FDF5-93A131F64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583" y="5296231"/>
            <a:ext cx="4349974" cy="14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1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E811-2628-5926-7882-99A47D63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5D8A1B5-6C64-C48E-3356-422C5559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Efficacy Of CE On Entire Datasets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B630B4-A713-4F56-673E-A19DDB520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10290544" cy="505009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Memory footprint.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Memory Efficiency of Iris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Low Memory Footprint for Summary Construction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Only a few hundred KBs (CORDS samples +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φr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φc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dictionaries) 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Comparable Memory Usage for Estimation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~Tens of KBs per dataset (optimized summary space)</a:t>
            </a: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High Memory Costs in Prior Learned Models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Require storing entire training corpora (hundreds of MBs)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Naru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DeepDB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additionally cache large dataset samples for ground-truth labels</a:t>
            </a:r>
          </a:p>
        </p:txBody>
      </p:sp>
    </p:spTree>
    <p:extLst>
      <p:ext uri="{BB962C8B-B14F-4D97-AF65-F5344CB8AC3E}">
        <p14:creationId xmlns:p14="http://schemas.microsoft.com/office/powerpoint/2010/main" val="661616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2E1A-B3BB-E1A7-91F4-E1E9D30F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6D7A5AB-C83D-254F-2F99-97C83258C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Components Of Iris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5A7649C-2152-76BB-0207-379DD4E33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9836888" cy="52769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Model Selection Intelligence</a:t>
            </a:r>
          </a:p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Lineitem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(1× storage):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57% chance matching optimal summary (vs. 32% random)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82% choices have </a:t>
            </a:r>
            <a:r>
              <a:rPr lang="el-GR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GMQ &lt; 0.1</a:t>
            </a:r>
          </a:p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Global insights: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Learned summaries optimal for 19% column pairs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39% pairs can use AVI without accuracy loss</a:t>
            </a:r>
          </a:p>
          <a:p>
            <a:pPr lvl="1"/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Quantization vs. Summarization</a:t>
            </a:r>
          </a:p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Key findings: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Higher bits (l) reduce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qGMQ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error (diminishing returns)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Final GMQ &lt;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qGMQ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due to histogram clipping</a:t>
            </a:r>
          </a:p>
          <a:p>
            <a:pPr marL="0" indent="0">
              <a:buNone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Space efficiency: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Compresses 2^l floats → </a:t>
            </a:r>
            <a:r>
              <a:rPr lang="el-GR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η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floats (</a:t>
            </a:r>
            <a:r>
              <a:rPr lang="el-GR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η≪2^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l)</a:t>
            </a:r>
          </a:p>
        </p:txBody>
      </p:sp>
    </p:spTree>
    <p:extLst>
      <p:ext uri="{BB962C8B-B14F-4D97-AF65-F5344CB8AC3E}">
        <p14:creationId xmlns:p14="http://schemas.microsoft.com/office/powerpoint/2010/main" val="2153787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C8A9E-4554-8F8A-DC91-F819F5649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A5098FB-4114-B6FA-6392-AF812F5FC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67266"/>
            <a:ext cx="10515600" cy="132556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Components Of Iris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1B6FE38-062D-396A-7C5F-F27389F0C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582" y="1322351"/>
            <a:ext cx="9836888" cy="527692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Training Corpus Effects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Critical observations: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More relations + augmentations reduce tail errors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Stable training time (fixed-size batch sampling)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Typical config: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Optimal at l=11, </a:t>
            </a:r>
            <a:r>
              <a:rPr lang="el-GR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η=128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l-GR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Micro-benchmark Validation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At same storage budget: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Iris outperforms sampling/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STholes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/K-d trees</a:t>
            </a:r>
          </a:p>
          <a:p>
            <a:pPr lvl="1"/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Proves value of learned summaries for compact storage</a:t>
            </a:r>
          </a:p>
        </p:txBody>
      </p:sp>
    </p:spTree>
    <p:extLst>
      <p:ext uri="{BB962C8B-B14F-4D97-AF65-F5344CB8AC3E}">
        <p14:creationId xmlns:p14="http://schemas.microsoft.com/office/powerpoint/2010/main" val="1564426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1097</Words>
  <Application>Microsoft Office PowerPoint</Application>
  <PresentationFormat>宽屏</PresentationFormat>
  <Paragraphs>166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Arial</vt:lpstr>
      <vt:lpstr>Times New Roman</vt:lpstr>
      <vt:lpstr>Wingdings</vt:lpstr>
      <vt:lpstr>Office 主题​​</vt:lpstr>
      <vt:lpstr>Pre-training Summarization Models of Structured Datasets  for Cardinality Estimation</vt:lpstr>
      <vt:lpstr>Introduction</vt:lpstr>
      <vt:lpstr>Introduction</vt:lpstr>
      <vt:lpstr>Iris System Overview</vt:lpstr>
      <vt:lpstr>Iris System Overview</vt:lpstr>
      <vt:lpstr>Data Summarization</vt:lpstr>
      <vt:lpstr>Data Summarization</vt:lpstr>
      <vt:lpstr>Training And Using Iris Models</vt:lpstr>
      <vt:lpstr>Training And Using Iris Models</vt:lpstr>
      <vt:lpstr>Training And Using Iris Models</vt:lpstr>
      <vt:lpstr>Experiment Setup</vt:lpstr>
      <vt:lpstr>Efficacy Of CE On Entire Datasets</vt:lpstr>
      <vt:lpstr>Efficacy Of CE On Entire Datasets</vt:lpstr>
      <vt:lpstr>Efficacy Of CE On Entire Datasets</vt:lpstr>
      <vt:lpstr>Understanding The Components Of Iris</vt:lpstr>
      <vt:lpstr>Understanding The Components Of Iris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xiang</dc:creator>
  <cp:lastModifiedBy>xinyu xiang</cp:lastModifiedBy>
  <cp:revision>11</cp:revision>
  <dcterms:created xsi:type="dcterms:W3CDTF">2025-07-15T10:12:47Z</dcterms:created>
  <dcterms:modified xsi:type="dcterms:W3CDTF">2025-07-16T03:37:58Z</dcterms:modified>
</cp:coreProperties>
</file>