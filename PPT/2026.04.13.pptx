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4"/>
  </p:notesMasterIdLst>
  <p:sldIdLst>
    <p:sldId id="256" r:id="rId3"/>
    <p:sldId id="258" r:id="rId4"/>
    <p:sldId id="259" r:id="rId5"/>
    <p:sldId id="260" r:id="rId6"/>
    <p:sldId id="263" r:id="rId7"/>
    <p:sldId id="261" r:id="rId8"/>
    <p:sldId id="277" r:id="rId9"/>
    <p:sldId id="262" r:id="rId10"/>
    <p:sldId id="264" r:id="rId11"/>
    <p:sldId id="265" r:id="rId12"/>
    <p:sldId id="278" r:id="rId13"/>
    <p:sldId id="279" r:id="rId14"/>
    <p:sldId id="266" r:id="rId15"/>
    <p:sldId id="280" r:id="rId16"/>
    <p:sldId id="281" r:id="rId17"/>
    <p:sldId id="282" r:id="rId18"/>
    <p:sldId id="285" r:id="rId19"/>
    <p:sldId id="284" r:id="rId20"/>
    <p:sldId id="288" r:id="rId21"/>
    <p:sldId id="290" r:id="rId22"/>
    <p:sldId id="29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/>
    <p:restoredTop sz="94716"/>
  </p:normalViewPr>
  <p:slideViewPr>
    <p:cSldViewPr snapToGrid="0">
      <p:cViewPr varScale="1">
        <p:scale>
          <a:sx n="146" d="100"/>
          <a:sy n="14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733F8-7E27-664F-8A49-9C0FCCDF2A9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EBA3A-FBB2-0540-9418-57213486D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608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EBA3A-FBB2-0540-9418-57213486D742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9195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5705D-419B-6D50-D9CB-1FFF12250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26D053-1E30-7ACD-8079-A220309C6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08F310-A301-96DA-8B8A-D6D9003F7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A18A-1541-2645-B6CC-540388BB3BF7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B12080-8E1C-87F7-78D1-F8819F63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B2C11D-A46E-FD31-B930-7B028357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671D-3DDA-B742-91C8-D3EABDB4A8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8063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DFD9F7-DB66-5144-8A66-553F288D7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8A0C3-3D4E-5F0A-27A2-C1AF4AD13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4CDDF9-517D-BBF3-F353-780E417B3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A18A-1541-2645-B6CC-540388BB3BF7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A08636-B7A3-C06A-D970-7D964B43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A24DB8-FAFA-01BA-64C3-0476F5BFA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671D-3DDA-B742-91C8-D3EABDB4A8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33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F9771-A8B6-6BBF-A7E0-B6A2B6BA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3C4E57-57A9-7F8F-2802-FB0D1748E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C91DEE-5505-C1CE-26FD-EA958ECA0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A18A-1541-2645-B6CC-540388BB3BF7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EED8A5-986A-F6E1-A181-D01D9752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0EF6A-4D98-9BD1-FE01-F31EB64BF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671D-3DDA-B742-91C8-D3EABDB4A8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878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80A68-C75D-17CD-267D-7CC5825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FAC1A1-A693-0827-45FF-D7847BF2A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723BDB-67D9-CBC0-EF33-493686368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9C87C9-C37E-B264-AE7C-06D98CEB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A18A-1541-2645-B6CC-540388BB3BF7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9ECC7F-DD86-FFF0-5462-DBE33FC2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FA8A78-D2DF-F0E4-99DD-A4D0F939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671D-3DDA-B742-91C8-D3EABDB4A8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4382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860C6-F2F0-7C0B-3716-7B70CC588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F0675A-AE4C-D1DF-837C-0EE6AF588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A01283-E838-2261-7B94-DC9305B0E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BACD66D-A415-01D0-0D36-6B1A21E06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8B7AE7-D873-23B4-C5FA-67D9FFF34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56227DE-C016-3D80-E74E-236BC39F8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A18A-1541-2645-B6CC-540388BB3BF7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5E998C-D73A-2D6A-B35D-52EEBFC89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A40819-93AB-47BA-7A14-4665BE433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671D-3DDA-B742-91C8-D3EABDB4A8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598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715D2-D2B1-9390-1B3C-D324A801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DFD36A-2949-4CCE-937F-D4076361C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A18A-1541-2645-B6CC-540388BB3BF7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EFE814-B822-9508-1917-3431ED0E4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1037E5-BD4D-81AD-EEFC-F1FB05120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671D-3DDA-B742-91C8-D3EABDB4A8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27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5DF144-5E77-DB3F-E8E9-42516CB17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A18A-1541-2645-B6CC-540388BB3BF7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4C3F06-9226-D7B2-08D3-CBFDC946D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13CD08-2527-AFD3-0213-0BAF0809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671D-3DDA-B742-91C8-D3EABDB4A8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985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5A37F-1424-ACF8-61B5-AA8A6B86A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9D391F-8121-6BFF-6217-3AE90961E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A7AED1-EE5B-2BD2-AF34-D9824893E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23AE70-CC27-3DFC-E872-0F3A6576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A18A-1541-2645-B6CC-540388BB3BF7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D7BCB4-A733-6441-0310-3448F6FB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C92BB0-6134-DCC4-3939-DB2875CD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671D-3DDA-B742-91C8-D3EABDB4A8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750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01663-28C3-D9A1-5EED-038F99C2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6EF6CF-6D25-BD64-6474-5357116C5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7C78E-4C76-8D0D-6505-86077BA7F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9D8611-7286-4D1D-E1C8-297ECEED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A18A-1541-2645-B6CC-540388BB3BF7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3E5483-998F-8B37-9D60-112AD689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D72598-C279-E5A1-615D-B9343EF23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671D-3DDA-B742-91C8-D3EABDB4A8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9434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BB7CE-6679-1C30-B4EE-3643FC27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1C13CA-D6CC-C9A5-B105-F93A23F56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96E9BE-5BF5-9C3C-6FA7-92F3A6D48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A18A-1541-2645-B6CC-540388BB3BF7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533259-FE92-DD40-53E8-5008E230B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F8855C-D444-D6CE-F2D7-1DA13D1E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671D-3DDA-B742-91C8-D3EABDB4A8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5411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12B4F1-C7C3-4D7A-23C8-501B37BD7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0E9E26-DB0E-D091-C500-20B5AEBD3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A2FD23-3496-398C-91BC-4F8824CF6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A18A-1541-2645-B6CC-540388BB3BF7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6CDFDF-DE86-B5BD-9BD7-26BFA1A7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F73300-54EE-F195-10F1-B7908CA80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671D-3DDA-B742-91C8-D3EABDB4A8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7513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C86E2-28ED-9068-AFE2-CBD847CBD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848128-F972-6424-EC72-565276A19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A497D0-9A94-2FD1-7872-E9005AAB4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8D78-772E-6D4B-BC82-A06DFCC89420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E7B08-631B-D787-A10D-B8AB2C37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35958-A296-CC8B-D451-0419BC86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312-6D44-7D42-81D1-96C74C52BB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6857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91CAC-0C56-BAA8-287D-4767BDDD0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AE5DB0-691B-5C40-B8F7-DBB78589E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60106E-7C03-A415-B0E8-C1405A1A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8D78-772E-6D4B-BC82-A06DFCC89420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C18129-569E-6E5D-4196-3BA91797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2C7CD2-A8A7-A385-397C-99EA73B4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312-6D44-7D42-81D1-96C74C52BB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5175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9FA175-FF9F-F2D5-4B60-958277F4C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26C128-8C1C-B8D3-252D-47F916F15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619AC2-3DC8-6BB3-89BC-2F646BBCA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8D78-772E-6D4B-BC82-A06DFCC89420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80258F-8B04-8027-F7A2-3AA8CF7E8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047897-2DD7-4C40-C476-772957C86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312-6D44-7D42-81D1-96C74C52BB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8272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C4975-9F88-98D9-934E-8890A2D5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2B27C9-9BAF-FB13-4D34-A5BF30631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CB2089-4ADE-8347-BE31-D55D1A09E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7248F4-ED4B-8B9A-06C6-B7963DB2D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8D78-772E-6D4B-BC82-A06DFCC89420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30175A-DF98-D9E2-AB5C-EE1E3012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C07838-8B13-F2DA-3080-27DCD048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312-6D44-7D42-81D1-96C74C52BB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8081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8C4A5-C3CD-0CC1-B6F6-21A3B2D4E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3FB37A-1BE4-018E-74F6-7AAC35F04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9F1AE3-E89F-1E41-B875-D242893AA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C7947A-7C9C-5979-FBB6-9B238900C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E05B52-4266-5363-8D8D-9A28D2838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46CD70-6B5A-FCD0-E8C6-C757739A7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8D78-772E-6D4B-BC82-A06DFCC89420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C2D25A-332C-1766-42FC-ECC932A32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6EAF8D-31C0-A811-D483-F37A041F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312-6D44-7D42-81D1-96C74C52BB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98351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B7F408-697E-F8D2-D8F4-D2B352ABD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EB5107-DD66-FE42-90AC-475E548AB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8D78-772E-6D4B-BC82-A06DFCC89420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36C62E-84D8-B01F-EE90-B353C521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53405D-7109-05CE-FA17-9F340B93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312-6D44-7D42-81D1-96C74C52BB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2189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FF1193-88BA-BF8E-DD6D-2B1CE72E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8D78-772E-6D4B-BC82-A06DFCC89420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0B7B03-2E91-261E-CD26-E8CBA28F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071F27-4935-BA64-92DF-6A8EBCBF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312-6D44-7D42-81D1-96C74C52BB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8279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BC6DC-B46E-8F04-E282-977BF88CB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11D566-878F-5A47-9CE0-5AA1AAF66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5DE447-ACA5-9601-3BFA-AE1BEAA6E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E7AAD9-48D8-66AD-F154-2E9025508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8D78-772E-6D4B-BC82-A06DFCC89420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CF7BD2-8BCD-06F3-CCA9-EF782238D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7FA8D4-9920-78DC-B9D6-2D0CF3E9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312-6D44-7D42-81D1-96C74C52BB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6592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54CF9-43C3-A986-5666-8E652D8B0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DB29E2-A0A5-7F19-B425-EBC5B61E5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D946FE-EB9B-7910-99E4-FB2DF275F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14E3C0-591A-C926-387A-D143098C7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8D78-772E-6D4B-BC82-A06DFCC89420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64FED5-1979-20C4-F05C-D95D6476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2227DE-AE9D-9B1F-1315-0AD0C3721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312-6D44-7D42-81D1-96C74C52BB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33064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0661D-B836-7BA9-17F9-9878D60E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A68536-2D04-2E29-A521-B72AD0BBC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067AAD-CF40-653B-8F87-4860FCA4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8D78-772E-6D4B-BC82-A06DFCC89420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00F3C5-3A16-279E-052D-B625E18ED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A63637-F73B-EB4F-DD29-D18AEE5C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312-6D44-7D42-81D1-96C74C52BB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1008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8C04C5-E4FF-228C-D0D6-3B2A2A199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3C495F-FC4B-D5F0-B230-075E0E0DA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FC60A-CF6E-EC01-D870-D2EF31FD5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8D78-772E-6D4B-BC82-A06DFCC89420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53794B-9A84-E483-D557-E1C52D6B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A2DF9-80E6-A822-1616-A43F3DBF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312-6D44-7D42-81D1-96C74C52BB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4319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BEE03D-E12B-3BBB-AF02-B0AE3515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0BA931-F658-4FF3-C173-A9D521249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E25D98-5E66-5582-EE65-2CFDF70011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FA18A-1541-2645-B6CC-540388BB3BF7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031D19-0651-D623-8F79-1C866213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1AEABD-F69F-63EF-5E23-5271FE88E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F671D-3DDA-B742-91C8-D3EABDB4A8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67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ECE787-0DBC-A671-7B20-91225EC4A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515F05-6053-EFBD-DF2B-5C3C55164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9EB22B-136C-2D08-74A4-4B789A250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F8D78-772E-6D4B-BC82-A06DFCC89420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0C8021-99F3-F1D6-D32B-2730AB3FA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E0FF5B-179D-53CC-8689-FA9D63314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50312-6D44-7D42-81D1-96C74C52BB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0471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E9EE606F-28AA-321E-22AE-E68B6C914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0" y="2032807"/>
            <a:ext cx="12075660" cy="40915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2A97914-8FE9-CBC6-7EC6-890DCDB90473}"/>
              </a:ext>
            </a:extLst>
          </p:cNvPr>
          <p:cNvSpPr txBox="1"/>
          <p:nvPr/>
        </p:nvSpPr>
        <p:spPr>
          <a:xfrm>
            <a:off x="202017" y="300796"/>
            <a:ext cx="311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SIGMOD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02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7C445-F190-4B54-CDD7-EAAE9F432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8C40653-B601-1537-521F-EE52B9F8D00A}"/>
              </a:ext>
            </a:extLst>
          </p:cNvPr>
          <p:cNvSpPr txBox="1"/>
          <p:nvPr/>
        </p:nvSpPr>
        <p:spPr>
          <a:xfrm>
            <a:off x="202017" y="300796"/>
            <a:ext cx="311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FA461A-9FE0-AD5A-4C9A-B8E09D171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3" y="1041931"/>
            <a:ext cx="12048414" cy="446573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4CE2365-40B2-B1CB-1FCD-5546F23863DA}"/>
              </a:ext>
            </a:extLst>
          </p:cNvPr>
          <p:cNvSpPr txBox="1"/>
          <p:nvPr/>
        </p:nvSpPr>
        <p:spPr>
          <a:xfrm>
            <a:off x="316950" y="5429489"/>
            <a:ext cx="7293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prompting an LLM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context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analytical processing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11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314A-2F97-B8C2-384C-79B26EDD1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BC45E31-53FA-AC6F-E847-8F9077CD34E6}"/>
              </a:ext>
            </a:extLst>
          </p:cNvPr>
          <p:cNvSpPr txBox="1"/>
          <p:nvPr/>
        </p:nvSpPr>
        <p:spPr>
          <a:xfrm>
            <a:off x="202017" y="300796"/>
            <a:ext cx="311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75DAC2-26DC-80D8-1617-57CF0B6CB6EB}"/>
              </a:ext>
            </a:extLst>
          </p:cNvPr>
          <p:cNvSpPr txBox="1"/>
          <p:nvPr/>
        </p:nvSpPr>
        <p:spPr>
          <a:xfrm>
            <a:off x="582132" y="1143567"/>
            <a:ext cx="1067420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ntegrate AI-powered operators into existing SQL engines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8FA573-CE17-B38F-E7A9-D81AC9FB0521}"/>
              </a:ext>
            </a:extLst>
          </p:cNvPr>
          <p:cNvSpPr txBox="1"/>
          <p:nvPr/>
        </p:nvSpPr>
        <p:spPr>
          <a:xfrm>
            <a:off x="935664" y="1796902"/>
            <a:ext cx="10685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sz="2400" b="1" dirty="0" err="1"/>
              <a:t>ThalamusDB</a:t>
            </a:r>
            <a:endParaRPr kumimoji="1" lang="en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sz="2400" b="1" dirty="0"/>
              <a:t>CAESURA</a:t>
            </a:r>
            <a:endParaRPr kumimoji="1" lang="zh-CN" altLang="en-US" sz="2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3C7302-8162-880F-916F-929E41B6685A}"/>
              </a:ext>
            </a:extLst>
          </p:cNvPr>
          <p:cNvSpPr txBox="1"/>
          <p:nvPr/>
        </p:nvSpPr>
        <p:spPr>
          <a:xfrm>
            <a:off x="582133" y="2696459"/>
            <a:ext cx="11039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exhibit low compatibility with the query optimizers in existing systems.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33A7C01-41F9-9BD3-2AE7-04659D818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308" y="3175495"/>
            <a:ext cx="5679559" cy="348426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43B7E6E-85EC-1262-02F0-154BE6802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64" y="3319017"/>
            <a:ext cx="4041598" cy="186783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F920711-3462-BE55-F52A-FDC4F38BD14F}"/>
              </a:ext>
            </a:extLst>
          </p:cNvPr>
          <p:cNvSpPr/>
          <p:nvPr/>
        </p:nvSpPr>
        <p:spPr>
          <a:xfrm>
            <a:off x="9396549" y="4537166"/>
            <a:ext cx="1062445" cy="5050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766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7CC65-8326-8E40-90E2-80C08E627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D91AA97-B67E-4841-6778-63D29483D0EA}"/>
              </a:ext>
            </a:extLst>
          </p:cNvPr>
          <p:cNvSpPr txBox="1"/>
          <p:nvPr/>
        </p:nvSpPr>
        <p:spPr>
          <a:xfrm>
            <a:off x="202017" y="300796"/>
            <a:ext cx="311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784212C-75C0-28D0-E7BB-C70B76CBF386}"/>
              </a:ext>
            </a:extLst>
          </p:cNvPr>
          <p:cNvSpPr txBox="1"/>
          <p:nvPr/>
        </p:nvSpPr>
        <p:spPr>
          <a:xfrm>
            <a:off x="614030" y="1117822"/>
            <a:ext cx="10326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Ground-up, purpose-built semantic analytical systems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CDAE30-1F6C-96DE-66F6-4F0F9A4120F8}"/>
              </a:ext>
            </a:extLst>
          </p:cNvPr>
          <p:cNvSpPr txBox="1"/>
          <p:nvPr/>
        </p:nvSpPr>
        <p:spPr>
          <a:xfrm>
            <a:off x="935664" y="1796902"/>
            <a:ext cx="107282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Lotus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limited to single operator or fixed tasks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lacking cross-operator logical plan optimization</a:t>
            </a:r>
          </a:p>
          <a:p>
            <a:endParaRPr kumimoji="1"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Palimpzest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relies on traditional relational rules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sampling-based cost and quality evaluations rely on static averages, making them coarse-grained.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Nirvana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92563C7-17E7-F94A-37EA-6451A532C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612" y="3754901"/>
            <a:ext cx="6179289" cy="299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1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9CF28-4B95-E183-AAC1-1C11FDBE1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A5A557A-4AAC-39B2-1AA8-229B99D96924}"/>
              </a:ext>
            </a:extLst>
          </p:cNvPr>
          <p:cNvSpPr txBox="1"/>
          <p:nvPr/>
        </p:nvSpPr>
        <p:spPr>
          <a:xfrm>
            <a:off x="202017" y="300796"/>
            <a:ext cx="311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443A75-5234-1FCD-EED8-144C2064A4F1}"/>
              </a:ext>
            </a:extLst>
          </p:cNvPr>
          <p:cNvSpPr txBox="1"/>
          <p:nvPr/>
        </p:nvSpPr>
        <p:spPr>
          <a:xfrm>
            <a:off x="737190" y="1456661"/>
            <a:ext cx="1071761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plan optimizer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walk search framework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an </a:t>
            </a: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LLM-as-a-judge plan evaluator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logical plan exploration and exploitation.</a:t>
            </a:r>
          </a:p>
          <a:p>
            <a:pPr marL="514350" indent="-514350">
              <a:buFont typeface="+mj-lt"/>
              <a:buAutoNum type="arabicPeriod"/>
            </a:pPr>
            <a:endParaRPr kumimoji="1"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kumimoji="1"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plan optimizer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selection algorithm based on the novel concept of an </a:t>
            </a: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score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selects the most cost-effective LLM backend per operator in a logical plan, minimizing inference costs while preserving result quality.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421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C5814-8685-2A99-6DC6-BFA9C894D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9D10BF4-890D-E6E3-3187-B635B86466A1}"/>
              </a:ext>
            </a:extLst>
          </p:cNvPr>
          <p:cNvSpPr txBox="1"/>
          <p:nvPr/>
        </p:nvSpPr>
        <p:spPr>
          <a:xfrm>
            <a:off x="202017" y="300796"/>
            <a:ext cx="311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1EA512-FCCA-A9FF-0C54-5BF0EF461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288" y="1070195"/>
            <a:ext cx="6062739" cy="298612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DFFCB9A-1F62-F889-29C3-ED8B91A2C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881" y="4056319"/>
            <a:ext cx="9724926" cy="267369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813F86B-EE33-524A-2F5D-D2F544126790}"/>
              </a:ext>
            </a:extLst>
          </p:cNvPr>
          <p:cNvSpPr txBox="1"/>
          <p:nvPr/>
        </p:nvSpPr>
        <p:spPr>
          <a:xfrm>
            <a:off x="780402" y="1070195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</p:txBody>
      </p:sp>
    </p:spTree>
    <p:extLst>
      <p:ext uri="{BB962C8B-B14F-4D97-AF65-F5344CB8AC3E}">
        <p14:creationId xmlns:p14="http://schemas.microsoft.com/office/powerpoint/2010/main" val="3795411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64131-AAA7-0959-8784-837202678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52E8A17-8B3B-1AFF-24BA-94EAFB7300DB}"/>
              </a:ext>
            </a:extLst>
          </p:cNvPr>
          <p:cNvSpPr txBox="1"/>
          <p:nvPr/>
        </p:nvSpPr>
        <p:spPr>
          <a:xfrm>
            <a:off x="202017" y="300796"/>
            <a:ext cx="311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F5AE5DD-6D83-5720-6CE5-8C79BA2BF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31" y="1820351"/>
            <a:ext cx="11968938" cy="36235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4C65178-2328-C317-044F-5571FFB68C2C}"/>
              </a:ext>
            </a:extLst>
          </p:cNvPr>
          <p:cNvSpPr txBox="1"/>
          <p:nvPr/>
        </p:nvSpPr>
        <p:spPr>
          <a:xfrm>
            <a:off x="780402" y="1070195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Optimization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14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1EEFD-6152-6451-D9B5-2BF2192E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CD73E3B-957E-8B42-CE4D-6750033ADD2A}"/>
              </a:ext>
            </a:extLst>
          </p:cNvPr>
          <p:cNvSpPr txBox="1"/>
          <p:nvPr/>
        </p:nvSpPr>
        <p:spPr>
          <a:xfrm>
            <a:off x="202016" y="300796"/>
            <a:ext cx="733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Plan Optimizer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5F450D-FDC3-45B7-B574-7C12A7E49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61" y="1136502"/>
            <a:ext cx="7273522" cy="49134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64B121E-61D4-6E18-A7E9-89E89F46C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231" y="4646591"/>
            <a:ext cx="286388" cy="2978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4624613-E911-774C-72AF-2E42061EE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96" y="4944435"/>
            <a:ext cx="286388" cy="29784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29823FB-D0C0-3B21-0BB7-59284C2901E0}"/>
              </a:ext>
            </a:extLst>
          </p:cNvPr>
          <p:cNvSpPr txBox="1"/>
          <p:nvPr/>
        </p:nvSpPr>
        <p:spPr>
          <a:xfrm>
            <a:off x="8261497" y="1860698"/>
            <a:ext cx="28814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  <a:p>
            <a:pPr marL="457200" indent="-457200">
              <a:buFont typeface="+mj-lt"/>
              <a:buAutoNum type="arabicPeriod"/>
            </a:pP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</a:p>
          <a:p>
            <a:pPr marL="457200" indent="-457200">
              <a:buFont typeface="+mj-lt"/>
              <a:buAutoNum type="arabicPeriod"/>
            </a:pP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Rewrite</a:t>
            </a:r>
          </a:p>
          <a:p>
            <a:pPr marL="457200" indent="-457200">
              <a:buFont typeface="+mj-lt"/>
              <a:buAutoNum type="arabicPeriod"/>
            </a:pP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</a:p>
        </p:txBody>
      </p:sp>
    </p:spTree>
    <p:extLst>
      <p:ext uri="{BB962C8B-B14F-4D97-AF65-F5344CB8AC3E}">
        <p14:creationId xmlns:p14="http://schemas.microsoft.com/office/powerpoint/2010/main" val="2591410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88CF6-886B-69B2-6982-F06C44CB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82430F-AF68-5D7F-B109-29AA452720FC}"/>
              </a:ext>
            </a:extLst>
          </p:cNvPr>
          <p:cNvSpPr txBox="1"/>
          <p:nvPr/>
        </p:nvSpPr>
        <p:spPr>
          <a:xfrm>
            <a:off x="202016" y="300796"/>
            <a:ext cx="733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Plan Optimizer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00503A-8DBF-5508-CACB-66911783F447}"/>
              </a:ext>
            </a:extLst>
          </p:cNvPr>
          <p:cNvSpPr txBox="1"/>
          <p:nvPr/>
        </p:nvSpPr>
        <p:spPr>
          <a:xfrm>
            <a:off x="780402" y="1070195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– random walk approach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C49439D-BA8A-194C-1B7F-33C8205BE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300" y="3209562"/>
            <a:ext cx="6121400" cy="7366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A6914C0-D660-BE6F-2EFC-E0A9C9E4E7C2}"/>
              </a:ext>
            </a:extLst>
          </p:cNvPr>
          <p:cNvSpPr/>
          <p:nvPr/>
        </p:nvSpPr>
        <p:spPr>
          <a:xfrm>
            <a:off x="4316819" y="3296093"/>
            <a:ext cx="435933" cy="5741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11C95A-7E32-E3F2-D276-95628372C913}"/>
              </a:ext>
            </a:extLst>
          </p:cNvPr>
          <p:cNvSpPr/>
          <p:nvPr/>
        </p:nvSpPr>
        <p:spPr>
          <a:xfrm>
            <a:off x="5784111" y="3209562"/>
            <a:ext cx="2881423" cy="736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713EAFF7-8917-966F-09C2-61259DE27635}"/>
              </a:ext>
            </a:extLst>
          </p:cNvPr>
          <p:cNvCxnSpPr/>
          <p:nvPr/>
        </p:nvCxnSpPr>
        <p:spPr>
          <a:xfrm flipV="1">
            <a:off x="4545417" y="2882894"/>
            <a:ext cx="0" cy="4131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B71B707B-0E2F-1C72-43D4-C29420D2E3B5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7224822" y="2806995"/>
            <a:ext cx="1" cy="4025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C59FDE4-5830-C359-F207-F0EE42707DC3}"/>
              </a:ext>
            </a:extLst>
          </p:cNvPr>
          <p:cNvSpPr txBox="1"/>
          <p:nvPr/>
        </p:nvSpPr>
        <p:spPr>
          <a:xfrm>
            <a:off x="3277494" y="2501095"/>
            <a:ext cx="3692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uniform distribution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E0F6F8D-065E-FBD1-6401-EEA88179CBAF}"/>
              </a:ext>
            </a:extLst>
          </p:cNvPr>
          <p:cNvSpPr txBox="1"/>
          <p:nvPr/>
        </p:nvSpPr>
        <p:spPr>
          <a:xfrm>
            <a:off x="5611624" y="2463139"/>
            <a:ext cx="6690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cost-based weighted probability distribution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D09925A-5DBF-1A7A-4473-FD8B41120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326" y="4272830"/>
            <a:ext cx="8493347" cy="190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81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73C5-09DF-4146-4B8F-894503A85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1CA2CE4-0BC6-819D-9B82-C776BB75C62D}"/>
              </a:ext>
            </a:extLst>
          </p:cNvPr>
          <p:cNvSpPr txBox="1"/>
          <p:nvPr/>
        </p:nvSpPr>
        <p:spPr>
          <a:xfrm>
            <a:off x="202016" y="300796"/>
            <a:ext cx="733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Plan Optimizer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C8EC60-A117-CD64-C0F2-D983B9523658}"/>
              </a:ext>
            </a:extLst>
          </p:cNvPr>
          <p:cNvSpPr txBox="1"/>
          <p:nvPr/>
        </p:nvSpPr>
        <p:spPr>
          <a:xfrm>
            <a:off x="780402" y="1070195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rewrite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17AB89-B381-3F81-5439-F25E39386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046" y="1901149"/>
            <a:ext cx="3798934" cy="421420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16C2E4C-6867-C6C6-BC11-7BC652E1FF20}"/>
              </a:ext>
            </a:extLst>
          </p:cNvPr>
          <p:cNvSpPr txBox="1"/>
          <p:nvPr/>
        </p:nvSpPr>
        <p:spPr>
          <a:xfrm>
            <a:off x="59307" y="1901149"/>
            <a:ext cx="76918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pushdown: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moves a filter operator that does not rely on results of preceding operators to an earlier stage in the plan.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fusion: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merges multiple operators on the same field into one operator. To maintain semantic equivalence, the predicate (or user instruction) will be rewritten for the new operator.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Non-LLM replacement: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an operator’s NL instruction with an equivalent compute function.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842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CDC63-DDB4-3BFC-82A9-2ABC00C6C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E69734-D791-9EB4-6FEF-C9B19CE92AE3}"/>
              </a:ext>
            </a:extLst>
          </p:cNvPr>
          <p:cNvSpPr txBox="1"/>
          <p:nvPr/>
        </p:nvSpPr>
        <p:spPr>
          <a:xfrm>
            <a:off x="202016" y="300796"/>
            <a:ext cx="733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Plan Optimizer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3BF89B-FC4F-8F09-37C5-D7AC6B54B190}"/>
              </a:ext>
            </a:extLst>
          </p:cNvPr>
          <p:cNvSpPr txBox="1"/>
          <p:nvPr/>
        </p:nvSpPr>
        <p:spPr>
          <a:xfrm>
            <a:off x="780402" y="1070195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evaluation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BBF063-90A3-4370-48AA-CF97F7CC7EB6}"/>
              </a:ext>
            </a:extLst>
          </p:cNvPr>
          <p:cNvSpPr txBox="1"/>
          <p:nvPr/>
        </p:nvSpPr>
        <p:spPr>
          <a:xfrm>
            <a:off x="780401" y="2083981"/>
            <a:ext cx="107559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Verifying Execution consistency: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LLM-as-a-judge as an equivalence verifier. prompt an LLM to rate the similarity between the two plan outputs (input plan and the rewritten plan) on a scale from 0 to 10 based on the their semantic consistency.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plan’s cost: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the number of processed data items and prompt lengths per operator. The total cost is computed as the sum of all operator costs. assign a selectivity parameter to each operator to monitor changes in the number of data points to be processed throughout the plan.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846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4480A-3307-112C-2C8A-A9A9ED2DF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07FCF46-9743-EB13-EC2C-3B52E5776AF8}"/>
              </a:ext>
            </a:extLst>
          </p:cNvPr>
          <p:cNvSpPr txBox="1"/>
          <p:nvPr/>
        </p:nvSpPr>
        <p:spPr>
          <a:xfrm>
            <a:off x="202016" y="300796"/>
            <a:ext cx="733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Plan Optimizer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4CEBD1-593A-C0C8-3A33-FCC79C905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792" y="982625"/>
            <a:ext cx="6794500" cy="51054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059BE75-4C46-AE38-1713-1D774AA54773}"/>
              </a:ext>
            </a:extLst>
          </p:cNvPr>
          <p:cNvSpPr/>
          <p:nvPr/>
        </p:nvSpPr>
        <p:spPr>
          <a:xfrm>
            <a:off x="6560287" y="3338623"/>
            <a:ext cx="1956392" cy="23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C022100A-2988-BE5A-652B-FC836D4A0B19}"/>
              </a:ext>
            </a:extLst>
          </p:cNvPr>
          <p:cNvCxnSpPr>
            <a:cxnSpLocks/>
          </p:cNvCxnSpPr>
          <p:nvPr/>
        </p:nvCxnSpPr>
        <p:spPr>
          <a:xfrm>
            <a:off x="8516679" y="3429000"/>
            <a:ext cx="2658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EEE9F2A-AEDF-5A1E-8F6B-4C27DB978070}"/>
              </a:ext>
            </a:extLst>
          </p:cNvPr>
          <p:cNvSpPr txBox="1"/>
          <p:nvPr/>
        </p:nvSpPr>
        <p:spPr>
          <a:xfrm>
            <a:off x="8844663" y="3203207"/>
            <a:ext cx="2488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Non-LLM replacement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65A4F9-0664-1E98-39BD-01A8AE7C8374}"/>
              </a:ext>
            </a:extLst>
          </p:cNvPr>
          <p:cNvSpPr/>
          <p:nvPr/>
        </p:nvSpPr>
        <p:spPr>
          <a:xfrm>
            <a:off x="3264195" y="2498651"/>
            <a:ext cx="2254103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61B463E-0BB3-2F5C-30EF-E3E5F8231103}"/>
              </a:ext>
            </a:extLst>
          </p:cNvPr>
          <p:cNvCxnSpPr>
            <a:cxnSpLocks/>
          </p:cNvCxnSpPr>
          <p:nvPr/>
        </p:nvCxnSpPr>
        <p:spPr>
          <a:xfrm flipH="1">
            <a:off x="2690037" y="2498651"/>
            <a:ext cx="5741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EA5295A-40F5-3A32-F0BF-6442C025F013}"/>
              </a:ext>
            </a:extLst>
          </p:cNvPr>
          <p:cNvSpPr txBox="1"/>
          <p:nvPr/>
        </p:nvSpPr>
        <p:spPr>
          <a:xfrm>
            <a:off x="967561" y="2313984"/>
            <a:ext cx="2488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fusion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78395E-9DA7-DE02-DE42-E05437A65A33}"/>
              </a:ext>
            </a:extLst>
          </p:cNvPr>
          <p:cNvSpPr/>
          <p:nvPr/>
        </p:nvSpPr>
        <p:spPr>
          <a:xfrm>
            <a:off x="6836735" y="1903228"/>
            <a:ext cx="1945758" cy="4997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20B8D76B-DB0F-C991-A9B2-5C21C4A52EFE}"/>
              </a:ext>
            </a:extLst>
          </p:cNvPr>
          <p:cNvCxnSpPr>
            <a:stCxn id="18" idx="3"/>
          </p:cNvCxnSpPr>
          <p:nvPr/>
        </p:nvCxnSpPr>
        <p:spPr>
          <a:xfrm>
            <a:off x="8782493" y="2153093"/>
            <a:ext cx="59379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284A306-A178-CB99-440E-61BD3C40EB00}"/>
              </a:ext>
            </a:extLst>
          </p:cNvPr>
          <p:cNvSpPr txBox="1"/>
          <p:nvPr/>
        </p:nvSpPr>
        <p:spPr>
          <a:xfrm>
            <a:off x="9376292" y="1968427"/>
            <a:ext cx="169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pushdown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565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B017A-E6D0-7FC1-36AA-15D353899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C07FDAE-F9E9-61F4-DB87-CD8248D3704A}"/>
              </a:ext>
            </a:extLst>
          </p:cNvPr>
          <p:cNvSpPr txBox="1"/>
          <p:nvPr/>
        </p:nvSpPr>
        <p:spPr>
          <a:xfrm>
            <a:off x="202017" y="300796"/>
            <a:ext cx="5188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Plan Optimizer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28B1B5-1DFC-F2EB-A878-D9F37AE83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85" y="824016"/>
            <a:ext cx="5762966" cy="53109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A7F0DE4-4526-913B-2D02-B3BFE1105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351" y="824016"/>
            <a:ext cx="6009482" cy="537981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E1434D1-9066-C9C0-8E2D-F499E746D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292" y="5820005"/>
            <a:ext cx="61976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7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E0D4-2E85-1EAE-2582-F32AB9B7E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0617B8A-E2D7-52BE-A9B1-D1EDBDB41C0F}"/>
              </a:ext>
            </a:extLst>
          </p:cNvPr>
          <p:cNvSpPr txBox="1"/>
          <p:nvPr/>
        </p:nvSpPr>
        <p:spPr>
          <a:xfrm>
            <a:off x="202017" y="300796"/>
            <a:ext cx="5188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Plan Optimizer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79B2D8-934E-280D-E892-BECCAB12F58F}"/>
              </a:ext>
            </a:extLst>
          </p:cNvPr>
          <p:cNvSpPr txBox="1"/>
          <p:nvPr/>
        </p:nvSpPr>
        <p:spPr>
          <a:xfrm>
            <a:off x="780402" y="1070195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Score Computation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B55D2E-4845-7100-5C1C-32A8957CE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748" y="2727351"/>
            <a:ext cx="5659770" cy="10788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3872FA9-199C-C6EB-7EBF-942E199B220D}"/>
                  </a:ext>
                </a:extLst>
              </p:cNvPr>
              <p:cNvSpPr txBox="1"/>
              <p:nvPr/>
            </p:nvSpPr>
            <p:spPr>
              <a:xfrm>
                <a:off x="780402" y="1901149"/>
                <a:ext cx="10454463" cy="719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20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the improvement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" altLang="zh-CN" sz="160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en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" altLang="zh-CN" sz="160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" altLang="zh-CN" sz="16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" altLang="zh-CN" sz="1600" i="0" smtClean="0">
                            <a:latin typeface="Cambria Math" panose="02040503050406030204" pitchFamily="18" charset="0"/>
                          </a:rPr>
                          <m:t> →</m:t>
                        </m:r>
                        <m:r>
                          <m:rPr>
                            <m:nor/>
                          </m:rPr>
                          <a:rPr lang="en" altLang="zh-CN" sz="160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" altLang="zh-CN" sz="20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the performance improvement gained from switching from the backend model 𝑚1 to a stronger model 𝑚. 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3872FA9-199C-C6EB-7EBF-942E199B2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02" y="1901149"/>
                <a:ext cx="10454463" cy="719877"/>
              </a:xfrm>
              <a:prstGeom prst="rect">
                <a:avLst/>
              </a:prstGeom>
              <a:blipFill>
                <a:blip r:embed="rId3"/>
                <a:stretch>
                  <a:fillRect l="-607" t="-8621" r="-485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4CDEA951-96E8-B78D-02DE-B9EBFB9D8E15}"/>
              </a:ext>
            </a:extLst>
          </p:cNvPr>
          <p:cNvSpPr txBox="1"/>
          <p:nvPr/>
        </p:nvSpPr>
        <p:spPr>
          <a:xfrm>
            <a:off x="781969" y="4036920"/>
            <a:ext cx="4509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number of 𝑚∗ invocations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322EBDE-89DE-F628-9F81-0E1AEAF885CF}"/>
              </a:ext>
            </a:extLst>
          </p:cNvPr>
          <p:cNvSpPr txBox="1"/>
          <p:nvPr/>
        </p:nvSpPr>
        <p:spPr>
          <a:xfrm>
            <a:off x="1148316" y="4550735"/>
            <a:ext cx="27013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pushdown</a:t>
            </a:r>
            <a:b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A2800B-8B89-2AFD-6B6F-E80F2F71BE4C}"/>
              </a:ext>
            </a:extLst>
          </p:cNvPr>
          <p:cNvSpPr txBox="1"/>
          <p:nvPr/>
        </p:nvSpPr>
        <p:spPr>
          <a:xfrm>
            <a:off x="6593976" y="4550735"/>
            <a:ext cx="24144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reuse</a:t>
            </a:r>
            <a:b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7622ABA-EDA8-280B-5367-1668C8FAB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52" y="5033411"/>
            <a:ext cx="6036591" cy="133160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14AE5AD-2320-6E2B-978E-7AFD20170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338" y="5033411"/>
            <a:ext cx="5941662" cy="135180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342C20D-804E-7F78-E19C-0C0488D244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2157" y="6338947"/>
            <a:ext cx="5598024" cy="37249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C87B2D1-5C7F-8830-99B5-4C5CFD2BE1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4524" y="6012726"/>
            <a:ext cx="1038755" cy="32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58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0E553-EA96-E70F-2428-ABB4AB1D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354774C-1614-7565-5E9D-FBDB3930BF34}"/>
              </a:ext>
            </a:extLst>
          </p:cNvPr>
          <p:cNvSpPr txBox="1"/>
          <p:nvPr/>
        </p:nvSpPr>
        <p:spPr>
          <a:xfrm>
            <a:off x="202017" y="300796"/>
            <a:ext cx="5188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Plan Optimizer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CAE9A3-4B1B-A1C7-4A09-E311845E9F1D}"/>
              </a:ext>
            </a:extLst>
          </p:cNvPr>
          <p:cNvSpPr txBox="1"/>
          <p:nvPr/>
        </p:nvSpPr>
        <p:spPr>
          <a:xfrm>
            <a:off x="780402" y="1070195"/>
            <a:ext cx="82416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Score Approximation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B06951-71FB-384C-5E39-7BA11EBC2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0" y="1654970"/>
            <a:ext cx="6223000" cy="27559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5972E8B-EDDB-735C-347D-695FE7CD1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02" y="5134873"/>
            <a:ext cx="7332481" cy="53915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134FBC6-899B-2396-2B6D-04A2A763A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17" y="4305706"/>
            <a:ext cx="7268324" cy="89732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48F83BD-B1AF-7C8B-F9B2-D898224C8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02" y="5787805"/>
            <a:ext cx="7374377" cy="93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2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B6252-E12A-323F-7593-C0676DAD5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73BA4B5-C4BC-A7B1-D7CC-C8D6DB490149}"/>
              </a:ext>
            </a:extLst>
          </p:cNvPr>
          <p:cNvSpPr txBox="1"/>
          <p:nvPr/>
        </p:nvSpPr>
        <p:spPr>
          <a:xfrm>
            <a:off x="202017" y="300796"/>
            <a:ext cx="8837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7C2DD8A-DB2C-EA7B-B2F3-CB6BB7DCB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88" y="1760743"/>
            <a:ext cx="10521224" cy="274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64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3C7FC-4A97-3991-2865-75814FFAA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AB781D1-8EE4-9A67-CF5D-0187296D51F3}"/>
              </a:ext>
            </a:extLst>
          </p:cNvPr>
          <p:cNvSpPr txBox="1"/>
          <p:nvPr/>
        </p:nvSpPr>
        <p:spPr>
          <a:xfrm>
            <a:off x="202017" y="300796"/>
            <a:ext cx="8837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2F58D6-5B7B-58D4-4E36-E43A0349F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632" y="1432315"/>
            <a:ext cx="6540865" cy="399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5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A6DE-B0C0-42B0-8240-F7808E50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6939ECE-7665-0E36-9CE4-01F0CA26FF8B}"/>
              </a:ext>
            </a:extLst>
          </p:cNvPr>
          <p:cNvSpPr txBox="1"/>
          <p:nvPr/>
        </p:nvSpPr>
        <p:spPr>
          <a:xfrm>
            <a:off x="202017" y="300796"/>
            <a:ext cx="8837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4C8BF6-8210-453F-D30C-7AAF47A8D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31" y="1010278"/>
            <a:ext cx="9743537" cy="500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52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222C-EDF7-80BD-75D4-C24FFF626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38D4B03-B398-2A3D-838C-E1A5F1D7CA25}"/>
              </a:ext>
            </a:extLst>
          </p:cNvPr>
          <p:cNvSpPr txBox="1"/>
          <p:nvPr/>
        </p:nvSpPr>
        <p:spPr>
          <a:xfrm>
            <a:off x="202017" y="300796"/>
            <a:ext cx="8837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BD442A-75D8-6D1B-8968-8D0F6CF53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24016"/>
            <a:ext cx="5323567" cy="562568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25EAF6A-4516-4C18-687E-31AC8574BDBB}"/>
              </a:ext>
            </a:extLst>
          </p:cNvPr>
          <p:cNvSpPr txBox="1"/>
          <p:nvPr/>
        </p:nvSpPr>
        <p:spPr>
          <a:xfrm>
            <a:off x="428440" y="2380505"/>
            <a:ext cx="50492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proportions of optimization time relative to total query evaluation time are 50.7%, 6.7%, and 42.7% for the Movie, Estate, and Game benchmarks, respectively.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425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0B2CA-EE71-CAFA-2010-B5070EE3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22CC32F-1B05-B683-7430-565547BA02ED}"/>
              </a:ext>
            </a:extLst>
          </p:cNvPr>
          <p:cNvSpPr txBox="1"/>
          <p:nvPr/>
        </p:nvSpPr>
        <p:spPr>
          <a:xfrm>
            <a:off x="202017" y="300796"/>
            <a:ext cx="8837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5E71AB-69AF-04C4-CE99-D9C268D9E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721" y="1162285"/>
            <a:ext cx="6184900" cy="50673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8AB9E76-0F2F-01AC-1A61-A9EBD14D4926}"/>
              </a:ext>
            </a:extLst>
          </p:cNvPr>
          <p:cNvSpPr txBox="1"/>
          <p:nvPr/>
        </p:nvSpPr>
        <p:spPr>
          <a:xfrm>
            <a:off x="780402" y="1070195"/>
            <a:ext cx="82416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cases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347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3CB86-E907-3EC3-7C4B-6F2ACEDE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0D9874D-53AB-5887-606E-2F931AA358C8}"/>
              </a:ext>
            </a:extLst>
          </p:cNvPr>
          <p:cNvSpPr txBox="1"/>
          <p:nvPr/>
        </p:nvSpPr>
        <p:spPr>
          <a:xfrm>
            <a:off x="202017" y="300796"/>
            <a:ext cx="8837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BB9DE6-BF6B-48D9-5C5E-0E7E591B92CB}"/>
              </a:ext>
            </a:extLst>
          </p:cNvPr>
          <p:cNvSpPr txBox="1"/>
          <p:nvPr/>
        </p:nvSpPr>
        <p:spPr>
          <a:xfrm>
            <a:off x="780402" y="1070195"/>
            <a:ext cx="82416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cases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E82697-EAF9-9876-C8E2-2C7479340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241" y="525395"/>
            <a:ext cx="6553200" cy="62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16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2035</TotalTime>
  <Words>475</Words>
  <Application>Microsoft Macintosh PowerPoint</Application>
  <PresentationFormat>宽屏</PresentationFormat>
  <Paragraphs>73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等线</vt:lpstr>
      <vt:lpstr>等线 Light</vt:lpstr>
      <vt:lpstr>Arial</vt:lpstr>
      <vt:lpstr>Cambria Math</vt:lpstr>
      <vt:lpstr>Times New Roman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陈广泽</dc:creator>
  <cp:lastModifiedBy>陈广泽</cp:lastModifiedBy>
  <cp:revision>10</cp:revision>
  <dcterms:created xsi:type="dcterms:W3CDTF">2026-04-11T11:13:04Z</dcterms:created>
  <dcterms:modified xsi:type="dcterms:W3CDTF">2026-04-13T00:34:43Z</dcterms:modified>
</cp:coreProperties>
</file>