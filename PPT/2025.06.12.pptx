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预声明读写集：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T1: R(A), W(A), W(B)  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T2: R(A), R(C)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时间线：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t1: Sequencer收集T1,T2 → 分配TID → T1(id=1), T2(id=2)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t2: 批处理并写入日志 → Batch{T1, T2}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t3: 分解并分发子事务到各节点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t4: Scheduler按TID顺序获取锁 → 先T1后T2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t5: Worker执行 → T1: A=A-100, B=B+100; T2: read A,C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t6: 释放锁并提交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执行时间线：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t1: T3, T4 并行开始执行阶段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T3: read X(=50) → writeSet{X=49}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T4: read X(=50) → readSet{X=50}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t2: T3进入prepare阶段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- 获取X的排他锁 ✓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- 验证读集 ✓ (X未被修改)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- 写入redo日志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t3: T3提交 → X=49, 释放锁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t4: T4进入prepare阶段  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- 验证读集 ✗ (X已被T3修改: 50→49)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- T4中止并重试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lock和wid的配合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lock：解决写写冲突（互斥访问）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wid：解决读写冲突（检测读取后的修改）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在HDCC中，不需要undo操作，因为只有已提交事务的数据才会刷写到磁盘；未提交事务的数据永远不会刷写。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# O3要解决的具体问题：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OCC事务在验证阶段发现：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"这个数据项被Calvin事务锁定了"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Figure9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基线设置：未声明事务率设为10%（YCSB和TPC-C）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优化层次：渐进式添加优化措施
Figure10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实验场景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高冲突环境：偏斜因子 = 1.3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变量：未声明事务率从0%到100%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实验设计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实验目的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测试O3优化在Calvin事务可能中止场景下的表现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关键变量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X轴：User aborted transaction rate（用户中止事务率）0% - 20%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对比：O1+O2 vs O1+O2+O3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实验设计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时长：60秒实验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切换频率：每6秒切换一次工作负载配置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参数变化： 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写读比例：从{0.1, 0.5, 0.9}中随机选择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偏斜因子：从{0.3, 0.9, 1.5}中随机选择
结果分析（Figure 12）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切换时点：7秒、13秒、25秒等时刻发生配置切换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响应速度：HDCC能够快速响应工作负载变化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性能表现： 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在每次切换后，HDCC的吞吐量快速调整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始终保持与最优单一算法相当或更好的性能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证明了规则基分配机制的有效性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可扩展性测试（Figure 13a）
测试配置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节点范围：2-12节点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三种配置： 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HDCC-0：0%未声明事务率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HDCC-0.5：50%未声明事务率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HDCC-1：100%未声明事务率
扩展性结果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HDCC-0：2-12节点提升5.57倍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HDCC-0.5：提升5.3倍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HDCC-1：提升5.72倍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结论：所有配置都展现了优秀的线性扩展性
日志开销评估（Figure 13b）
对比算法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OCC、Calvin、HDCC三者的有/无日志性能对比
开销分析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OCC：日志开销2.4%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Calvin：日志开销2.7%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HDCC：日志开销2.7%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结论：HDCC的日志机制开销minimal且可接受
检查点创建开销（Figure 13c）
测试场景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在30-38秒间创建检查点（黑色虚线标记）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观察对系统吞吐量的影响
结果分析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最低吞吐量：检查点期间仅比平均值低10%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原因分析： 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检查点过程是异步的，不会阻塞正常事务处理</a:t>
            </a:r>
          </a:p>
          <a:p>
            <a:pPr algn="l" indent="-177800" lvl="1" marL="6350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性能下降主要由CPU和磁盘资源竞争造成</a:t>
            </a:r>
          </a:p>
          <a:p>
            <a:pPr algn="l" indent="-177800" marL="177800">
              <a:lnSpc>
                <a:spcPct val="100000"/>
              </a:lnSpc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结论：检查点创建对系统性能影响很小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198800" y="914400"/>
            <a:ext cx="9799200" cy="2570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0000" rIns="90000" tIns="46800" bIns="46800">
            <a:spAutoFit/>
          </a:bodyPr>
          <a:lstStyle>
            <a:lvl1pPr algn="ctr">
              <a:lnSpc>
                <a:spcPct val="100000"/>
              </a:lnSpc>
              <a:defRPr sz="60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60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198800" y="3560400"/>
            <a:ext cx="9799200" cy="147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ctr">
              <a:lnSpc>
                <a:spcPct val="108333"/>
              </a:lnSpc>
              <a:defRPr sz="2400" b="false" i="false" u="none" strike="noStrike" spc="2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8333"/>
              </a:lnSpc>
            </a:pPr>
            <a:r>
              <a:rPr lang="en-US" b="false" i="false" strike="noStrike" u="none" sz="2400" spc="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10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13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15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1990800" y="3848400"/>
            <a:ext cx="77688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44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44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单击此处编辑标题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1990800" y="4615200"/>
            <a:ext cx="7768800" cy="86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33333"/>
              </a:lnSpc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单击此处编辑文本</a:t>
            </a:r>
          </a:p>
        </p:txBody>
      </p:sp>
      <p:sp>
        <p:nvSpPr>
          <p:cNvPr name="AutoShape 4" id="4"/>
          <p:cNvSpPr/>
          <p:nvPr>
            <p:ph idx="18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20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6084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64116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5" id="5"/>
          <p:cNvSpPr/>
          <p:nvPr>
            <p:ph idx="24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7" id="7"/>
          <p:cNvSpPr/>
          <p:nvPr>
            <p:ph idx="26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8400" y="1429200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76200" tIns="38100" bIns="38100">
            <a:spAutoFit/>
          </a:bodyPr>
          <a:lstStyle>
            <a:lvl1pPr algn="l">
              <a:lnSpc>
                <a:spcPct val="100000"/>
              </a:lnSpc>
              <a:defRPr sz="2000" b="true" i="false" u="none" strike="noStrike" spc="200">
                <a:solidFill>
                  <a:srgbClr val="40404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2000" spc="2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单击此处编辑文本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60840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82550" tIns="0" bIns="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6235750" y="1421729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76200" tIns="38100" bIns="38100">
            <a:spAutoFit/>
          </a:bodyPr>
          <a:lstStyle>
            <a:lvl1pPr algn="l">
              <a:lnSpc>
                <a:spcPct val="100000"/>
              </a:lnSpc>
              <a:defRPr sz="2000" b="true" i="false" u="none" strike="noStrike" spc="200">
                <a:solidFill>
                  <a:srgbClr val="40404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2000" spc="2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单击此处编辑文本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623575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82550" tIns="0" bIns="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7" id="7"/>
          <p:cNvSpPr/>
          <p:nvPr>
            <p:ph idx="32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9" id="9"/>
          <p:cNvSpPr/>
          <p:nvPr>
            <p:ph idx="34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36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5" id="5"/>
          <p:cNvSpPr/>
          <p:nvPr>
            <p:ph idx="38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4" id="4"/>
          <p:cNvSpPr/>
          <p:nvPr>
            <p:ph idx="41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pic" sz="quarter"/>
          </p:nvPr>
        </p:nvSpPr>
        <p:spPr>
          <a:xfrm rot="0" flipH="false" flipV="false">
            <a:off x="608400" y="1555200"/>
            <a:ext cx="5233077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6350400" y="1555200"/>
            <a:ext cx="5227200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6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33333"/>
              </a:lnSpc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44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46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170" rIns="90170" tIns="46990" bIns="4699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10234800" y="914400"/>
            <a:ext cx="1044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28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28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单击此处编辑标题</a:t>
            </a:r>
          </a:p>
        </p:txBody>
      </p:sp>
      <p:sp>
        <p:nvSpPr>
          <p:cNvPr name="AutoShape 3" id="3"/>
          <p:cNvSpPr/>
          <p:nvPr>
            <p:ph idx="49" type="body" sz="quarter" hasCustomPrompt="true"/>
          </p:nvPr>
        </p:nvSpPr>
        <p:spPr>
          <a:xfrm rot="0" flipH="false" flipV="false">
            <a:off x="914400" y="914400"/>
            <a:ext cx="9169200" cy="502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46800" rIns="468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3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50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52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4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4" id="4"/>
          <p:cNvSpPr/>
          <p:nvPr>
            <p:ph idx="55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56" type="body" sz="quarter" hasCustomPrompt="true"/>
          </p:nvPr>
        </p:nvSpPr>
        <p:spPr>
          <a:xfrm rot="0" flipH="false" flipV="false">
            <a:off x="608400" y="774000"/>
            <a:ext cx="10972800" cy="548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8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4" id="4"/>
          <p:cNvSpPr/>
          <p:nvPr>
            <p:ph idx="59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60" type="body" sz="quarter" hasCustomPrompt="true"/>
          </p:nvPr>
        </p:nvSpPr>
        <p:spPr>
          <a:xfrm rot="0" flipH="false" flipV="false">
            <a:off x="1198800" y="2484000"/>
            <a:ext cx="9799200" cy="1003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ctr">
              <a:lnSpc>
                <a:spcPct val="100000"/>
              </a:lnSpc>
              <a:defRPr sz="60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60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单击此处编辑标题</a:t>
            </a:r>
          </a:p>
        </p:txBody>
      </p:sp>
      <p:sp>
        <p:nvSpPr>
          <p:cNvPr name="AutoShape 6" id="6"/>
          <p:cNvSpPr/>
          <p:nvPr>
            <p:ph idx="61" type="body" sz="quarter" hasCustomPrompt="true"/>
          </p:nvPr>
        </p:nvSpPr>
        <p:spPr>
          <a:xfrm rot="0" flipH="false" flipV="false">
            <a:off x="1198800" y="3560400"/>
            <a:ext cx="9799200" cy="4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ctr">
              <a:lnSpc>
                <a:spcPct val="108333"/>
              </a:lnSpc>
              <a:defRPr sz="2400" b="false" i="false" u="none" strike="noStrike" spc="2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8333"/>
              </a:lnSpc>
            </a:pPr>
            <a:r>
              <a:rPr lang="en-US" b="false" i="false" strike="noStrike" u="none" sz="2400" spc="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12" Target="../slideLayouts/slideLayout22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WPS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  <p:sldLayoutId id="215748370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62280" y="245110"/>
            <a:ext cx="2946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effectLst>
                  <a:outerShdw dir="2700000" dist="12700" blurRad="38100" algn="tl" rotWithShape="false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VLDB 2025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87580" y="1977538"/>
            <a:ext cx="11216151" cy="1122246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2184987" y="3179890"/>
            <a:ext cx="8221337" cy="1944881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594265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066178"/>
            <a:ext cx="11264900" cy="539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Two Categories of Concurrency Control Algorithms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Deterministic Algorithms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Transactions execute in predetermined order with reproducible results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Examples: Calvin, Aria, BCDB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Approach: Batch processing + deterministic scheduling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Strengths: Excel in high-contention workloads; No 2PC for distributed transactions</a:t>
            </a:r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Non-deterministic Algorithms 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Transaction execution order determined at runtime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Examples: OCC, 2PL, MVCC, Timestamp Ordering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Approach: Individual scheduling + conflict detection</a:t>
            </a:r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Key Difference: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When the transaction execution order is determined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594265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066178"/>
            <a:ext cx="11264900" cy="4660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Existing Hybrid Approaches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 hybrid methods mainly combine non-deterministic algorithms: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MVOCC, MV2PL, MVTO (algorithm fusion)</a:t>
            </a:r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Only deterministic + non-deterministic hybrid: Snapper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Uses Calvin for pre-declared transactions, 2PL for others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Limitations:</a:t>
            </a:r>
          </a:p>
          <a:p>
            <a:pPr algn="l" indent="-203200" lvl="2" marL="11176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Coarse-grained validation leads to high abort rates</a:t>
            </a:r>
          </a:p>
          <a:p>
            <a:pPr algn="l" indent="-203200" lvl="2" marL="11176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Does not fully leverage algorithm strengths → leads to limited performance gains</a:t>
            </a:r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Gap: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Need effective integration of deterministic and non-deterministic algorithms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177697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 &amp; Contribution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29650" y="2997200"/>
            <a:ext cx="9652000" cy="698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3681095"/>
            <a:ext cx="9652000" cy="180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HDCC Contributions: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Novel mechanisms to ensure serializability (lock-sharing + global validation)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Two-log-interleaving mechanism for correct failure recovery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Rule-based assignment strategy for optimal algorithm selection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Up to 3.1× performance improvement over Snapper (undeclared transaction scenarios)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2491740"/>
            <a:ext cx="92329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 2: Correct Failure Recovery 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Separate logging mechanisms lose transaction commit ordering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1302385"/>
            <a:ext cx="92329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 1: Ensuring Serializability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Different algorithms may produce conflicting schedules across nodes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6659666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HDCC Core Architecture Overview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408910"/>
            <a:ext cx="5164346" cy="444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HDCC Core Idea: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Adaptive algorithm selection based on workload characteristics
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Routing transactions to suitable algorithms: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Distributed + high-contention transactions → Calvin path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Single-node + low-contention transactions → OCC path
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Unified Coordination Mechanism: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Lock-sharing mechanism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Global validation mechanism  </a:t>
            </a:r>
          </a:p>
          <a:p>
            <a:pPr algn="l" indent="-203200" lvl="1" marL="6604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Two-log-interleaving mechanism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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728861" y="1145804"/>
            <a:ext cx="6342399" cy="5238233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3508813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Calvin Algorithm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835669" y="2555701"/>
            <a:ext cx="5939549" cy="3058425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241348"/>
            <a:ext cx="8026400" cy="163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Core Philosophy</a:t>
            </a: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Deterministic: Pre-defined global transaction order.</a:t>
            </a: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Batch Processing: Transactions grouped for ordered execution.</a:t>
            </a: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Pre-declared R/W Sets: Enables upfront planning &amp; locking.</a:t>
            </a: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No 2PC (Distributed): Global order ensures atomicity.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3195356"/>
            <a:ext cx="8026400" cy="3390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Key Components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Sequencer: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Orders &amp; Batches Txs (Global TID).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Logs batches.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Distributes sub-Txs.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Scheduler: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Acquires all locks for sub-Txs (Strict TID order).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To Worker only when all locks held.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Worker: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Executes locked sub-Txs (Reads/Writes).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Releases locks on completion.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3241792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OCC Algorithm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41348"/>
            <a:ext cx="9232900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Core Philosophy:</a:t>
            </a:r>
            <a:r>
              <a:rPr lang="en-US" b="fals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Optimistic Execution: Execute first, then validate (assumes low conflict).</a:t>
            </a:r>
            <a:r>
              <a:rPr lang="en-US" b="fals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No Locks During Execution: Operates on private copies.</a:t>
            </a:r>
            <a:r>
              <a:rPr lang="en-US" b="fals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Conflict Detection: At validation phase.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2712342"/>
            <a:ext cx="8633631" cy="3695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Three Key Phases: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Execution Phase: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Read to private read-set.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Buffer writes to private write-set.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No direct DB modification.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Prepare Phase (Crucial for Correctness):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Acquire Locks (for write-set).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Log Changes (redo logs).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Validate Read-Set (check for conflicts).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Commit Phase (If validation passes):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Log commit, Apply writes, Release locks.</a:t>
            </a:r>
            <a:r>
              <a:rPr lang="en-US" b="fals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Abort if validation/locking fails.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738697" y="2712342"/>
            <a:ext cx="6087686" cy="295518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6659666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HDCC Core Component Overview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71324" y="1797332"/>
            <a:ext cx="6654800" cy="381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Analyzer: Routes Txs (Rule-based)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Selects Calvin or OCC path.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Assigns global TIDs.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Calvin Path (Ordered, Pre-locked):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Sequencer → Scheduler → Worker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(Batches, Logs, Acquires Locks, Executes)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 Path (Optimistic, Validate-on-Commit):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(3-Phase Protocol)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(Acts as Coordinator/Participant)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Coordination via Shared Meta Table: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Contains Lock Table &amp; Stats.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(Foundation for Lock-Sharing &amp; Local Serializability)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483657" y="1101098"/>
            <a:ext cx="5319377" cy="520246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6096000" cy="723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Challenge: Local Inconsistency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512186" y="1177585"/>
            <a:ext cx="6477968" cy="3061692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463582"/>
            <a:ext cx="4064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 from Node N₁: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3086100"/>
            <a:ext cx="6096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Problematic Execution Sequence: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5232942"/>
            <a:ext cx="73152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Result: Non-serializable Schedule!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4515" y="3477277"/>
            <a:ext cx="110236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T^c_{1-1} writes x=1, commits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T^o_{3-1} reads x=1, prepares to write x=3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T^o_{3-1} acquires lock, validation passes, decides to commit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T^c_{2-1} writes x=2, commits </a:t>
            </a:r>
            <a:r>
              <a:rPr lang="en-US" b="false" i="tru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(No conflict detection!)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T^o_{3-1} commits, final x=3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4515" y="1940035"/>
            <a:ext cx="75819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T^c_{1-1}: W₁(x,1) - Calvin transaction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T^c_{2-1}: W₂(x,2) - Calvin transaction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T^o_{3-1}: R₃(x)W₃(x,3) - OCC transaction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4515" y="5709395"/>
            <a:ext cx="36957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Lost Update: T₂'s write is overwritten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7861262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Solution: The lock-sharing mechanism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363037" y="1800291"/>
            <a:ext cx="5734285" cy="2961735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238797"/>
            <a:ext cx="71501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Core Idea: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Unify data item metadata (lock, wid) for Calvin &amp; OCC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1924597"/>
            <a:ext cx="5969000" cy="308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Key Shared Metadata: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lock (Shared Lock State):</a:t>
            </a:r>
          </a:p>
          <a:p>
            <a:pPr algn="l" indent="-228600" lvl="1" marL="685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Unified EX/SH lock per item.</a:t>
            </a:r>
          </a:p>
          <a:p>
            <a:pPr algn="l" indent="-228600" lvl="1" marL="685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Calvin: Pre-acquires locks (scheduling).</a:t>
            </a:r>
          </a:p>
          <a:p>
            <a:pPr algn="l" indent="-228600" lvl="1" marL="685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OCC: Acquires write-set locks (prepare phase).</a:t>
            </a:r>
          </a:p>
          <a:p>
            <a:pPr algn="l" indent="-228600" marL="228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wid (Write ID):</a:t>
            </a:r>
          </a:p>
          <a:p>
            <a:pPr algn="l" indent="-228600" lvl="1" marL="685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Stores TID of last Calvin write.</a:t>
            </a:r>
          </a:p>
          <a:p>
            <a:pPr algn="l" indent="-228600" lvl="1" marL="685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OCC: Read wid → Validate to detect Calvin's committed writes.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5408754"/>
            <a:ext cx="9601200" cy="965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Benefits: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OCC "sees" effects of committed Calvin Txs (via wid).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Shared locks coordinate concurrent access (especially writes).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7514134" cy="723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Challenge: Global Dependency Cycles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986633" y="1804296"/>
            <a:ext cx="5917098" cy="449105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256645"/>
            <a:ext cx="6731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Example: Multi-node Transaction Conflict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1795719"/>
            <a:ext cx="3619500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28600" marL="2286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Scenario: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T₁ᶜ: W₁(x) on N₁, W₁(z) on N₃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T₃ᵒ: W₃(x) on N₁, W₃(y) on N₂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T₄ᵒ: R₄(y) on N₂, R₄(z) on N₃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3219670"/>
            <a:ext cx="6259134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28600" marL="2286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Problematic Dependencies: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Node N₁: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T₁ᶜ writes x before T₃ᵒ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=&gt;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T₁ → T₃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Node N₂: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T₃ᵒ writes y before T₄ᵒ reads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=&gt;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T₃ → T₄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Node N₃: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T₄ᵒ reads z before T₁ᶜ writes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=&gt;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T₄ → T₁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4515" y="4643621"/>
            <a:ext cx="52451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28600" marL="2286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Result: Dependency Cycle!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T₁ → T₃ → T₄ → T₁ (Non-serializable!)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4515" y="5511447"/>
            <a:ext cx="5245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Lock-sharing ensures local serializability but cannot prevent global cycles across nodes.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8712200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Solution: The global validation mechanism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175979"/>
            <a:ext cx="9334500" cy="647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Lock-sharing ensures local serializability but cannot prevent global dependency cycle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4605480"/>
            <a:ext cx="9690100" cy="1866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Working Principle: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Calvin transactions update cid when reading/writing items (if their ID &gt; current cid)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 collects cid/cid' during locking round → computes gMaxCid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Global validation: Check if all Calvin transactions with ID ≤ gMaxCid have committed on all nodes accessed by OCC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 any Calvin transaction hasn't committed → Abort OCC to prevent cycle formation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3000241"/>
            <a:ext cx="8712200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>
              <a:defRPr/>
            </a:pPr>
            <a:br>
              <a:rPr/>
            </a:b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Key Metadata Extensions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cid: Current maximal Calvin TID on each data item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cid': Propagated gMaxCid from committed OCC transactions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gMaxCid: Maximum Calvin TID that current OCC transaction depends on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2042702"/>
            <a:ext cx="10693400" cy="647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Core Idea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 transactions collect dependency information on Calvin transactions to prevent global cycles.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8600095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Solution: The global validation mechanism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345935" y="1230524"/>
            <a:ext cx="5487533" cy="514343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394107"/>
            <a:ext cx="58547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Setup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T₁→T₃→T₄→T₁ cycle threatens serializability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2003707"/>
            <a:ext cx="6972300" cy="414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>
              <a:defRPr/>
            </a:pPr>
            <a:br>
              <a:rPr/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Step-by-step Cycle Prevention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① T₁ writes x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Updates x.cid = ⟨1,1⟩ on N₁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② T₃ prepare phase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Collects: x.cid=⟨1,1⟩, y.cid=⟨0,0⟩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Computes: gMaxCid = ⟨1,1⟩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Validates: Calvin⟨1,1⟩ committed on N₁,N₂? → YES 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③ T₃ commits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Propagates cid' = ⟨1,1⟩ to x,y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④ T₄ prepare phase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Collects: y.cid'=⟨1,1⟩, z.cid=⟨0,0⟩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Computes: gMaxCid = ⟨1,1⟩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5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Critical Check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Calvin⟨1,1⟩ committed on N₂,N₃?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5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N₃ says NO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T₄ ABORTS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Cycle T₁→T₃→T₄→T₁ broken, serializability preserved!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7610799" cy="6985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Challenge: Determine the redo order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465404"/>
            <a:ext cx="8896985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The Interleaving Order Problem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Both Calvin and OCC maintain separate commit logs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Independent ID sequences → Cannot determine relative commit order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2631348"/>
            <a:ext cx="4749800" cy="278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 Recovery Dilemma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After Crash: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Calvin Log: [T₁ᶜ inputs], [T₅ᶜ inputs]  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 Log: [T₃ᵒ commit], [T₄ᵒ commit]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Question: What was the actual commit order?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Option A: T₁ᶜ → T₃ᵒ → T₄ᵒ → T₅ᶜ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Option B: T₃ᵒ → T₁ᶜ → T₅ᶜ → T₄ᵒ  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Option C: T₄ᵒ → T₁ᶜ → T₃ᵒ → T₅ᶜ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5626092"/>
            <a:ext cx="67310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Why Order Matters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Dependencies between Calvin and OCC must be preserved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Wrong order → Dependency violations → Inconsistent recovery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8616863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Solution: Two-log-interleaving mechanism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835015" y="1621716"/>
            <a:ext cx="6210300" cy="4066922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445377"/>
            <a:ext cx="5270500" cy="2209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Key Insight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Interleaved replay guided by OCC dependency information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Enhanced Logging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 commit records include gMaxCid (dependency watermark)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Calvin logs remain standard input-based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4029362"/>
            <a:ext cx="19939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 Timeline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4399911"/>
            <a:ext cx="62103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 lvl="1" marL="45720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OCC Log: [T₃(gMaxCid=1)], [T₈(gMaxCid=7)]</a:t>
            </a:r>
            <a:endParaRPr lang="en-US" sz="1100"/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Recovery: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 Replay Calvin [1] → Apply T₃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Replay Calvin [5, 6, 7] → Apply T₈  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 Replay remaining Calvin [9→end]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954744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Optimizations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09282" y="1087663"/>
            <a:ext cx="9173437" cy="4682675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4249797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Experimental Setup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87769" y="1410247"/>
          <a:ext cx="39278088" cy="382866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42540"/>
                <a:gridCol w="9173921"/>
              </a:tblGrid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Category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Detail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Arimo"/>
                          <a:ea typeface="Arimo"/>
                          <a:cs typeface="Arimo"/>
                          <a:sym typeface="Arimo"/>
                        </a:rPr>
                        <a:t>Main Testbed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 Servers: 18-core Intel Xeon Gold 5220 (2.20 GHz), 156 GB RAM/server; 1 Gbps network (0.12 ms latency)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1405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Arimo"/>
                          <a:ea typeface="Arimo"/>
                          <a:cs typeface="Arimo"/>
                          <a:sym typeface="Arimo"/>
                        </a:rPr>
                        <a:t>Scalability Testbed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 Tencent Cloud Servers (S5.6XLARGE48): 24 vCPU, 48 GB RAM/node; Network latency 0.1-0.5 ms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Arimo"/>
                          <a:ea typeface="Arimo"/>
                          <a:cs typeface="Arimo"/>
                          <a:sym typeface="Arimo"/>
                        </a:rPr>
                        <a:t>YCSB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8M records/node, 10 ops/Tx; Zipfian (skew=0.9), 20% Writes; Default 20% Distributed Tx Rate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Arimo"/>
                          <a:ea typeface="Arimo"/>
                          <a:cs typeface="Arimo"/>
                          <a:sym typeface="Arimo"/>
                        </a:rPr>
                        <a:t>TPC-C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32 warehouses/node; NewOrder (10% dist.) &amp; Payment (15% dist.) Txs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Arimo"/>
                          <a:ea typeface="Arimo"/>
                          <a:cs typeface="Arimo"/>
                          <a:sym typeface="Arimo"/>
                        </a:rPr>
                        <a:t>Threading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Per node: 16 Workers, 1 Sequencer, 1 Scheduler, 1 Analyzer (+ communication threads)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Arimo"/>
                          <a:ea typeface="Arimo"/>
                          <a:cs typeface="Arimo"/>
                          <a:sym typeface="Arimo"/>
                        </a:rPr>
                        <a:t>Evaluation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Throughput (TPS), Abort Rate, Latency (50th &amp; 90th percentile)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4827357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Optimization Analysis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001602" y="3764988"/>
            <a:ext cx="3226649" cy="262317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564515" y="4058248"/>
            <a:ext cx="4249797" cy="203665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64515" y="1337710"/>
            <a:ext cx="50673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Baseline: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Simple assignment (pre-declared R/W sets only).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Half-O1 (Partial Rules):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Adds hot partition awareness (Rule 1 + Rule 3).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O1 (Full Rules):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Comprehensive rule-based assignment (Rules 1-4).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8228251" y="4228742"/>
            <a:ext cx="3896159" cy="169567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0" y="1642510"/>
            <a:ext cx="5487305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O1+O2 (Rules + Re-scheduling):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Adds smart re-scheduling of aborted OCC transactions (Core Optimization).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All (O1+O2+O3 - Full HDCC):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Adds immediate read &amp; deferred commit mechanism.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197723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Performance Comparison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64515" y="1275294"/>
            <a:ext cx="5215968" cy="246047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592523" y="1389834"/>
            <a:ext cx="5067062" cy="222278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396726" y="3735768"/>
            <a:ext cx="3522657" cy="284826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6185703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Dynamic workload &amp; Scalability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71025" y="2743645"/>
            <a:ext cx="5610541" cy="226231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550399" y="1733162"/>
            <a:ext cx="4882169" cy="371604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P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