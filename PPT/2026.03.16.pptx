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sldIdLst>
    <p:sldId id="256" r:id="rId3"/>
    <p:sldId id="272" r:id="rId5"/>
    <p:sldId id="273" r:id="rId6"/>
    <p:sldId id="274" r:id="rId7"/>
    <p:sldId id="275" r:id="rId8"/>
    <p:sldId id="280" r:id="rId9"/>
    <p:sldId id="284" r:id="rId10"/>
    <p:sldId id="288" r:id="rId11"/>
    <p:sldId id="282" r:id="rId12"/>
    <p:sldId id="285" r:id="rId13"/>
    <p:sldId id="286" r:id="rId14"/>
    <p:sldId id="287" r:id="rId15"/>
    <p:sldId id="276" r:id="rId16"/>
    <p:sldId id="277" r:id="rId17"/>
    <p:sldId id="279" r:id="rId18"/>
    <p:sldId id="289" r:id="rId19"/>
    <p:sldId id="293" r:id="rId20"/>
    <p:sldId id="290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3" r:id="rId30"/>
    <p:sldId id="304" r:id="rId31"/>
    <p:sldId id="305" r:id="rId32"/>
    <p:sldId id="306" r:id="rId33"/>
  </p:sldIdLst>
  <p:sldSz cx="12192000" cy="6858000" type="screen4x3"/>
  <p:notesSz cx="6858000" cy="9144000"/>
  <p:embeddedFontLst>
    <p:embeddedFont>
      <p:font typeface="华文楷体" panose="02010600040101010101" charset="-122"/>
      <p:regular r:id="rId37"/>
    </p:embeddedFont>
    <p:embeddedFont>
      <p:font typeface="Calibri" panose="020F0502020204030204" charset="0"/>
      <p:regular r:id="rId38"/>
      <p:bold r:id="rId39"/>
      <p:italic r:id="rId40"/>
      <p:boldItalic r:id="rId4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29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55C6"/>
    <a:srgbClr val="4E7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53"/>
        <p:guide pos="291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font" Target="fonts/font5.fntdata"/><Relationship Id="rId40" Type="http://schemas.openxmlformats.org/officeDocument/2006/relationships/font" Target="fonts/font4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3.fntdata"/><Relationship Id="rId38" Type="http://schemas.openxmlformats.org/officeDocument/2006/relationships/font" Target="fonts/font2.fntdata"/><Relationship Id="rId37" Type="http://schemas.openxmlformats.org/officeDocument/2006/relationships/font" Target="fonts/font1.fntdata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在真实的商业场景（如电商推荐、学术搜索、大模型</a:t>
            </a:r>
            <a:r>
              <a:rPr lang="en-US" altLang="zh-CN"/>
              <a:t>RAG</a:t>
            </a:r>
            <a:r>
              <a:rPr lang="zh-CN" altLang="en-US"/>
              <a:t>）中，用户不仅需要</a:t>
            </a:r>
            <a:r>
              <a:rPr lang="en-US" altLang="zh-CN"/>
              <a:t>“</a:t>
            </a:r>
            <a:r>
              <a:rPr lang="zh-CN" altLang="en-US"/>
              <a:t>语义相似</a:t>
            </a:r>
            <a:r>
              <a:rPr lang="en-US" altLang="zh-CN"/>
              <a:t>”</a:t>
            </a:r>
            <a:r>
              <a:rPr lang="zh-CN" altLang="en-US"/>
              <a:t>，还需要满足硬性的属性过滤条件</a:t>
            </a:r>
            <a:r>
              <a:rPr lang="en-US" altLang="zh-CN"/>
              <a:t>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olidFill>
                  <a:srgbClr val="FF0000"/>
                </a:solidFill>
                <a:sym typeface="+mn-ea"/>
              </a:rPr>
              <a:t>这里的标签是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{A、B、M、L、S...}</a:t>
            </a:r>
            <a:endParaRPr lang="en-US" altLang="zh-CN">
              <a:solidFill>
                <a:srgbClr val="FF0000"/>
              </a:solidFill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预过滤</a:t>
            </a:r>
            <a:r>
              <a:rPr lang="en-US" altLang="zh-CN"/>
              <a:t>：</a:t>
            </a:r>
            <a:r>
              <a:rPr lang="zh-CN" altLang="en-US"/>
              <a:t>现有的图算法外挂一个标签过滤</a:t>
            </a:r>
            <a:r>
              <a:rPr lang="en-US" altLang="zh-CN"/>
              <a:t>，</a:t>
            </a:r>
            <a:r>
              <a:rPr lang="zh-CN" altLang="en-US"/>
              <a:t>搜索时对不符合标签要求的节点不进行距离计算</a:t>
            </a:r>
            <a:r>
              <a:rPr lang="en-US" altLang="zh-CN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当选择性较</a:t>
            </a:r>
            <a:r>
              <a:rPr lang="en-US" altLang="zh-CN"/>
              <a:t> </a:t>
            </a:r>
            <a:r>
              <a:rPr lang="zh-CN" altLang="en-US"/>
              <a:t>低时</a:t>
            </a:r>
            <a:r>
              <a:rPr lang="en-US" altLang="zh-CN"/>
              <a:t>,</a:t>
            </a:r>
            <a:r>
              <a:rPr lang="zh-CN" altLang="en-US"/>
              <a:t>两种策略的性能都会急剧下降。</a:t>
            </a:r>
            <a:r>
              <a:rPr lang="en-US" altLang="zh-CN"/>
              <a:t> (1)</a:t>
            </a:r>
            <a:r>
              <a:rPr lang="zh-CN" altLang="en-US"/>
              <a:t>预过滤的准确性会</a:t>
            </a:r>
            <a:r>
              <a:rPr lang="en-US" altLang="zh-CN"/>
              <a:t> </a:t>
            </a:r>
            <a:r>
              <a:rPr lang="zh-CN" altLang="en-US"/>
              <a:t>降低</a:t>
            </a:r>
            <a:r>
              <a:rPr lang="en-US" altLang="zh-CN"/>
              <a:t>,</a:t>
            </a:r>
            <a:r>
              <a:rPr lang="zh-CN" altLang="en-US"/>
              <a:t>因为跳过标签不匹配的节点会使图的</a:t>
            </a:r>
            <a:r>
              <a:rPr lang="zh-CN" altLang="en-US"/>
              <a:t>搜索变得稀疏</a:t>
            </a:r>
            <a:r>
              <a:rPr lang="en-US" altLang="zh-CN"/>
              <a:t>,</a:t>
            </a:r>
            <a:r>
              <a:rPr lang="zh-CN" altLang="en-US"/>
              <a:t>难以到达目标向量。</a:t>
            </a:r>
            <a:r>
              <a:rPr lang="en-US" altLang="zh-CN"/>
              <a:t> (2)</a:t>
            </a:r>
            <a:r>
              <a:rPr lang="zh-CN" altLang="en-US"/>
              <a:t>虽然</a:t>
            </a:r>
            <a:r>
              <a:rPr lang="en-US" altLang="zh-CN"/>
              <a:t>PostFiltering</a:t>
            </a:r>
            <a:r>
              <a:rPr lang="zh-CN" altLang="en-US"/>
              <a:t>保留了所有节点</a:t>
            </a:r>
            <a:r>
              <a:rPr lang="en-US" altLang="zh-CN"/>
              <a:t>, </a:t>
            </a:r>
            <a:r>
              <a:rPr lang="zh-CN" altLang="en-US"/>
              <a:t>但它仍然需要计算查询和许多不匹配向量之间的距离</a:t>
            </a:r>
            <a:r>
              <a:rPr lang="en-US" altLang="zh-CN"/>
              <a:t>,</a:t>
            </a:r>
            <a:r>
              <a:rPr lang="zh-CN" altLang="en-US"/>
              <a:t>导致效</a:t>
            </a:r>
            <a:r>
              <a:rPr lang="en-US" altLang="zh-CN"/>
              <a:t> </a:t>
            </a:r>
            <a:r>
              <a:rPr lang="zh-CN" altLang="en-US"/>
              <a:t>率低下。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现有的解决方案</a:t>
            </a:r>
            <a:r>
              <a:rPr lang="en-US" altLang="zh-CN"/>
              <a:t>(</a:t>
            </a:r>
            <a:r>
              <a:rPr lang="zh-CN" altLang="en-US"/>
              <a:t>例如</a:t>
            </a:r>
            <a:r>
              <a:rPr lang="en-US" altLang="zh-CN"/>
              <a:t> Milvus [50],ADB [56], VBASE [65], </a:t>
            </a:r>
            <a:r>
              <a:rPr lang="zh-CN" altLang="en-US"/>
              <a:t>和</a:t>
            </a:r>
            <a:r>
              <a:rPr lang="en-US" altLang="zh-CN"/>
              <a:t> CHASE [41] )</a:t>
            </a:r>
            <a:r>
              <a:rPr lang="zh-CN" altLang="en-US"/>
              <a:t>会根据</a:t>
            </a:r>
            <a:r>
              <a:rPr lang="en-US" altLang="zh-CN"/>
              <a:t> </a:t>
            </a:r>
            <a:r>
              <a:rPr lang="zh-CN" altLang="en-US"/>
              <a:t>查询工作负载和成本估算在</a:t>
            </a:r>
            <a:r>
              <a:rPr lang="en-US" altLang="zh-CN"/>
              <a:t> PreFiltering </a:t>
            </a:r>
            <a:r>
              <a:rPr lang="zh-CN" altLang="en-US"/>
              <a:t>和</a:t>
            </a:r>
            <a:r>
              <a:rPr lang="en-US" altLang="zh-CN"/>
              <a:t> PostFiltering </a:t>
            </a:r>
            <a:r>
              <a:rPr lang="zh-CN" altLang="en-US"/>
              <a:t>之</a:t>
            </a:r>
            <a:r>
              <a:rPr lang="en-US" altLang="zh-CN"/>
              <a:t> </a:t>
            </a:r>
            <a:r>
              <a:rPr lang="zh-CN" altLang="en-US"/>
              <a:t>间动态选择。然而</a:t>
            </a:r>
            <a:r>
              <a:rPr lang="en-US" altLang="zh-CN"/>
              <a:t>,</a:t>
            </a:r>
            <a:r>
              <a:rPr lang="zh-CN" altLang="en-US"/>
              <a:t>这些搜索策略的局限性仍然存在。一些启</a:t>
            </a:r>
            <a:r>
              <a:rPr lang="en-US" altLang="zh-CN"/>
              <a:t> </a:t>
            </a:r>
            <a:r>
              <a:rPr lang="zh-CN" altLang="en-US"/>
              <a:t>发式方法</a:t>
            </a:r>
            <a:r>
              <a:rPr lang="en-US" altLang="zh-CN"/>
              <a:t>,</a:t>
            </a:r>
            <a:r>
              <a:rPr lang="zh-CN" altLang="en-US"/>
              <a:t>包括</a:t>
            </a:r>
            <a:r>
              <a:rPr lang="en-US" altLang="zh-CN"/>
              <a:t> NHQ [51] </a:t>
            </a:r>
            <a:r>
              <a:rPr lang="zh-CN" altLang="en-US"/>
              <a:t>和</a:t>
            </a:r>
            <a:r>
              <a:rPr lang="en-US" altLang="zh-CN"/>
              <a:t> HQANN [57], </a:t>
            </a:r>
            <a:r>
              <a:rPr lang="zh-CN" altLang="en-US"/>
              <a:t>提出融合距离</a:t>
            </a:r>
            <a:r>
              <a:rPr lang="en-US" altLang="zh-CN"/>
              <a:t>, </a:t>
            </a:r>
            <a:r>
              <a:rPr lang="zh-CN" altLang="en-US"/>
              <a:t>将查询向量和基向量之间的向量相似性和标签匹配结合起来。</a:t>
            </a:r>
            <a:r>
              <a:rPr lang="en-US" altLang="zh-CN"/>
              <a:t> </a:t>
            </a:r>
            <a:r>
              <a:rPr lang="zh-CN" altLang="en-US"/>
              <a:t>这些方法需要手动调整向量标签权重参数</a:t>
            </a:r>
            <a:r>
              <a:rPr lang="en-US" altLang="zh-CN"/>
              <a:t>,</a:t>
            </a:r>
            <a:r>
              <a:rPr lang="zh-CN" altLang="en-US"/>
              <a:t>但性能仍然远低于</a:t>
            </a:r>
            <a:r>
              <a:rPr lang="en-US" altLang="zh-CN"/>
              <a:t> </a:t>
            </a:r>
            <a:r>
              <a:rPr lang="zh-CN" altLang="en-US"/>
              <a:t>最先进的水平。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 b="1"/>
              <a:t>acorn</a:t>
            </a:r>
            <a:r>
              <a:rPr lang="en-US" altLang="zh-CN"/>
              <a:t>: </a:t>
            </a:r>
            <a:r>
              <a:rPr lang="zh-CN" altLang="en-US"/>
              <a:t>在构建时增加图的密度，在查询时动态展开邻居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 b="1"/>
              <a:t>构建期</a:t>
            </a:r>
            <a:r>
              <a:rPr lang="en-US" altLang="zh-CN"/>
              <a:t>：</a:t>
            </a:r>
            <a:r>
              <a:rPr lang="zh-CN" altLang="en-US"/>
              <a:t>强制每个节点去寻找</a:t>
            </a:r>
            <a:r>
              <a:rPr lang="en-US" altLang="zh-CN" b="1"/>
              <a:t>M·γ</a:t>
            </a:r>
            <a:r>
              <a:rPr lang="zh-CN" altLang="en-US"/>
              <a:t>个最近邻居（比普通的</a:t>
            </a:r>
            <a:r>
              <a:rPr lang="en-US" altLang="zh-CN"/>
              <a:t> HNSW </a:t>
            </a:r>
            <a:r>
              <a:rPr lang="zh-CN" altLang="en-US"/>
              <a:t>多</a:t>
            </a:r>
            <a:r>
              <a:rPr lang="en-US" altLang="zh-CN"/>
              <a:t>γ</a:t>
            </a:r>
            <a:r>
              <a:rPr lang="zh-CN" altLang="en-US"/>
              <a:t>倍）。解决</a:t>
            </a:r>
            <a:r>
              <a:rPr lang="zh-CN" altLang="en-US" b="1"/>
              <a:t>内存</a:t>
            </a:r>
            <a:r>
              <a:rPr lang="zh-CN" altLang="en-US"/>
              <a:t>爆炸</a:t>
            </a:r>
            <a:r>
              <a:rPr lang="en-US" altLang="zh-CN"/>
              <a:t>：</a:t>
            </a:r>
            <a:r>
              <a:rPr lang="zh-CN" altLang="en-US"/>
              <a:t>基于两跳连通性的剪枝</a:t>
            </a:r>
            <a:r>
              <a:rPr lang="en-US" altLang="zh-CN"/>
              <a:t>，</a:t>
            </a:r>
            <a:r>
              <a:rPr lang="zh-CN" altLang="en-US"/>
              <a:t>即如果一个远端候选节点可以通过亲密邻居走两跳到达，就不存它的边。</a:t>
            </a:r>
            <a:endParaRPr lang="zh-CN" altLang="en-US"/>
          </a:p>
          <a:p>
            <a:r>
              <a:rPr lang="zh-CN" altLang="en-US" b="1"/>
              <a:t>搜索期</a:t>
            </a:r>
            <a:r>
              <a:rPr lang="en-US" altLang="zh-CN"/>
              <a:t>：</a:t>
            </a:r>
            <a:r>
              <a:rPr lang="zh-CN" altLang="en-US"/>
              <a:t>遇到邻居中不符合条件的节点不直接丢弃</a:t>
            </a:r>
            <a:r>
              <a:rPr lang="en-US" altLang="zh-CN"/>
              <a:t>，</a:t>
            </a:r>
            <a:r>
              <a:rPr lang="zh-CN" altLang="en-US"/>
              <a:t>而是看邻居的邻居</a:t>
            </a:r>
            <a:r>
              <a:rPr lang="en-US" altLang="zh-CN"/>
              <a:t>。</a:t>
            </a:r>
            <a:r>
              <a:rPr lang="zh-CN" altLang="en-US"/>
              <a:t>但其实</a:t>
            </a:r>
            <a:r>
              <a:rPr lang="en-US" altLang="zh-CN"/>
              <a:t>acorn</a:t>
            </a:r>
            <a:r>
              <a:rPr lang="zh-CN" altLang="en-US"/>
              <a:t>更像是预过滤的变体</a:t>
            </a:r>
            <a:r>
              <a:rPr lang="en-US" altLang="zh-CN"/>
              <a:t>，</a:t>
            </a:r>
            <a:r>
              <a:rPr lang="zh-CN" altLang="en-US"/>
              <a:t>因为如果当前不符合条件的邻居的邻居也不符合条件</a:t>
            </a:r>
            <a:r>
              <a:rPr lang="en-US" altLang="zh-CN"/>
              <a:t>，</a:t>
            </a:r>
            <a:r>
              <a:rPr lang="zh-CN" altLang="en-US"/>
              <a:t>那直接丢弃这个邻居节点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/>
              <a:t>如果采样发现跌破最小选择率阈值</a:t>
            </a:r>
            <a:r>
              <a:rPr lang="en-US" altLang="zh-CN"/>
              <a:t>，</a:t>
            </a:r>
            <a:r>
              <a:rPr lang="zh-CN" altLang="en-US"/>
              <a:t>则退化为暴力搜索</a:t>
            </a:r>
            <a:r>
              <a:rPr lang="en-US" altLang="zh-CN"/>
              <a:t>，</a:t>
            </a:r>
            <a:r>
              <a:rPr lang="zh-CN" altLang="en-US"/>
              <a:t>先通过传统的标量索引把所有符合标签条件的数据</a:t>
            </a:r>
            <a:r>
              <a:rPr lang="zh-CN" altLang="en-US"/>
              <a:t>找出来，然后再用暴力计算（</a:t>
            </a:r>
            <a:r>
              <a:rPr lang="en-US" altLang="zh-CN"/>
              <a:t>Brute-force</a:t>
            </a:r>
            <a:r>
              <a:rPr lang="zh-CN" altLang="en-US"/>
              <a:t>）算出距离。</a:t>
            </a:r>
            <a:endParaRPr lang="zh-CN" altLang="en-US"/>
          </a:p>
          <a:p>
            <a:r>
              <a:rPr lang="zh-CN" altLang="en-US" b="1"/>
              <a:t>好处</a:t>
            </a:r>
            <a:r>
              <a:rPr lang="en-US" altLang="zh-CN"/>
              <a:t>：</a:t>
            </a:r>
            <a:r>
              <a:rPr lang="zh-CN" altLang="en-US"/>
              <a:t>弥补了部分预过滤</a:t>
            </a:r>
            <a:r>
              <a:rPr lang="zh-CN" altLang="en-US"/>
              <a:t>的连通性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 b="1"/>
              <a:t>缺点</a:t>
            </a:r>
            <a:r>
              <a:rPr lang="zh-CN" altLang="en-US"/>
              <a:t>：在极端的低选择率下无法找到正确节点，（现在只搜两圈，万一符合条件的节点在</a:t>
            </a:r>
            <a:r>
              <a:rPr lang="zh-CN" altLang="en-US"/>
              <a:t>第三圈）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 b="1"/>
              <a:t>UNG: </a:t>
            </a:r>
            <a:r>
              <a:rPr lang="zh-CN" altLang="en-US"/>
              <a:t>将数据按标签分组</a:t>
            </a:r>
            <a:r>
              <a:rPr lang="en-US" altLang="zh-CN"/>
              <a:t>，</a:t>
            </a:r>
            <a:r>
              <a:rPr lang="zh-CN" altLang="en-US"/>
              <a:t>为每个组建一张图。为存在最小超集</a:t>
            </a:r>
            <a:r>
              <a:rPr lang="zh-CN" altLang="en-US"/>
              <a:t>关系的组建立跨组边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 b="1"/>
              <a:t>好处</a:t>
            </a:r>
            <a:r>
              <a:rPr lang="en-US" altLang="zh-CN"/>
              <a:t>：</a:t>
            </a:r>
            <a:r>
              <a:rPr lang="zh-CN" altLang="en-US"/>
              <a:t>带标签的建图理论上能避免遗漏结果点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 b="1"/>
              <a:t>缺点</a:t>
            </a:r>
            <a:r>
              <a:rPr lang="en-US" altLang="zh-CN"/>
              <a:t>：</a:t>
            </a:r>
            <a:r>
              <a:rPr lang="zh-CN" altLang="en-US"/>
              <a:t>改变了图的拓扑特征，在标签集很大时</a:t>
            </a:r>
            <a:r>
              <a:rPr lang="en-US" altLang="zh-CN"/>
              <a:t>，</a:t>
            </a:r>
            <a:r>
              <a:rPr lang="zh-CN" altLang="en-US"/>
              <a:t>部分路径会因为被拉的过长而导致搜索效率下降</a:t>
            </a:r>
            <a:r>
              <a:rPr lang="en-US" altLang="zh-CN"/>
              <a:t>。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本文想法：在建立索引的时候是需要考虑标签信息</a:t>
            </a:r>
            <a:r>
              <a:rPr lang="zh-CN" altLang="en-US"/>
              <a:t>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两个索引集之间</a:t>
            </a:r>
            <a:r>
              <a:rPr lang="zh-CN" altLang="en-US"/>
              <a:t>数据的</a:t>
            </a:r>
            <a:r>
              <a:rPr lang="zh-CN" altLang="en-US"/>
              <a:t>重叠度。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从直观上</a:t>
            </a:r>
            <a:r>
              <a:rPr lang="en-US" altLang="zh-CN"/>
              <a:t>，</a:t>
            </a:r>
            <a:r>
              <a:rPr lang="zh-CN" altLang="en-US"/>
              <a:t>弹性因子越大越好</a:t>
            </a:r>
            <a:r>
              <a:rPr lang="en-US" altLang="zh-CN"/>
              <a:t>。</a:t>
            </a:r>
            <a:r>
              <a:rPr lang="zh-CN" altLang="en-US"/>
              <a:t>因为如果只用</a:t>
            </a:r>
            <a:r>
              <a:rPr lang="en-US" altLang="zh-CN"/>
              <a:t> top index</a:t>
            </a:r>
            <a:r>
              <a:rPr lang="zh-CN" altLang="en-US"/>
              <a:t>（空标签集，覆盖全部向量）来回答一个标签为</a:t>
            </a:r>
            <a:r>
              <a:rPr lang="en-US" altLang="zh-CN"/>
              <a:t>{ABC}(</a:t>
            </a:r>
            <a:r>
              <a:rPr lang="zh-CN" altLang="en-US"/>
              <a:t>选择率只有</a:t>
            </a:r>
            <a:r>
              <a:rPr lang="en-US" altLang="zh-CN"/>
              <a:t>5%)</a:t>
            </a:r>
            <a:r>
              <a:rPr lang="zh-CN" altLang="en-US"/>
              <a:t>的查询，弹性因子极低，</a:t>
            </a:r>
            <a:r>
              <a:rPr lang="en-US" altLang="zh-CN"/>
              <a:t>PostFiltering </a:t>
            </a:r>
            <a:r>
              <a:rPr lang="zh-CN" altLang="en-US"/>
              <a:t>需要遍历大量不满足标签的向量，最坏情况下要扫描</a:t>
            </a:r>
            <a:r>
              <a:rPr lang="en-US" altLang="zh-CN"/>
              <a:t> $O(N)$ </a:t>
            </a:r>
            <a:r>
              <a:rPr lang="zh-CN" altLang="en-US"/>
              <a:t>个节点才能凑够</a:t>
            </a:r>
            <a:r>
              <a:rPr lang="en-US" altLang="zh-CN"/>
              <a:t> $k$ </a:t>
            </a:r>
            <a:r>
              <a:rPr lang="zh-CN" altLang="en-US"/>
              <a:t>个结果。而如果能直接用建在</a:t>
            </a:r>
            <a:r>
              <a:rPr lang="en-US" altLang="zh-CN"/>
              <a:t>ABC</a:t>
            </a:r>
            <a:r>
              <a:rPr lang="zh-CN" altLang="en-US"/>
              <a:t>上的索引来回答查询，代价就</a:t>
            </a:r>
            <a:r>
              <a:rPr lang="zh-CN" altLang="en-US"/>
              <a:t>小的多。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数据</a:t>
            </a:r>
            <a:r>
              <a:rPr lang="zh-CN" altLang="en-US"/>
              <a:t>浓度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成立的前提条件：</a:t>
            </a:r>
            <a:r>
              <a:rPr lang="en-US" altLang="zh-CN"/>
              <a:t>MSNET</a:t>
            </a:r>
            <a:r>
              <a:rPr lang="zh-CN" altLang="en-US"/>
              <a:t>（</a:t>
            </a:r>
            <a:r>
              <a:rPr lang="en-US" altLang="zh-CN"/>
              <a:t>Monotonic Search Network</a:t>
            </a:r>
            <a:r>
              <a:rPr lang="zh-CN" altLang="en-US"/>
              <a:t>，单调搜索网络）。</a:t>
            </a:r>
            <a:r>
              <a:rPr lang="en-US" altLang="zh-CN"/>
              <a:t>1. </a:t>
            </a:r>
            <a:r>
              <a:rPr lang="zh-CN" altLang="en-US"/>
              <a:t>给定数据集中的任意两个点</a:t>
            </a:r>
            <a:r>
              <a:rPr lang="en-US" altLang="zh-CN"/>
              <a:t>p</a:t>
            </a:r>
            <a:r>
              <a:rPr lang="zh-CN" altLang="en-US"/>
              <a:t>和</a:t>
            </a:r>
            <a:r>
              <a:rPr lang="en-US" altLang="zh-CN"/>
              <a:t>q</a:t>
            </a:r>
            <a:r>
              <a:rPr lang="zh-CN" altLang="en-US"/>
              <a:t>，图中都必然存在一条从</a:t>
            </a:r>
            <a:r>
              <a:rPr lang="en-US" altLang="zh-CN"/>
              <a:t>p</a:t>
            </a:r>
            <a:r>
              <a:rPr lang="zh-CN" altLang="en-US"/>
              <a:t>到</a:t>
            </a:r>
            <a:r>
              <a:rPr lang="en-US" altLang="zh-CN"/>
              <a:t>q</a:t>
            </a:r>
            <a:r>
              <a:rPr lang="zh-CN" altLang="en-US"/>
              <a:t>的路径，使得这条路径上每一个节点到</a:t>
            </a:r>
            <a:r>
              <a:rPr lang="en-US" altLang="zh-CN"/>
              <a:t>q</a:t>
            </a:r>
            <a:r>
              <a:rPr lang="zh-CN" altLang="en-US"/>
              <a:t>的距离，都是严格单调递减的。</a:t>
            </a:r>
            <a:r>
              <a:rPr lang="en-US" altLang="zh-CN"/>
              <a:t>2. </a:t>
            </a:r>
            <a:r>
              <a:rPr lang="zh-CN" altLang="en-US"/>
              <a:t>在完美图上，从第</a:t>
            </a:r>
            <a:r>
              <a:rPr lang="en-US" altLang="zh-CN"/>
              <a:t>i</a:t>
            </a:r>
            <a:r>
              <a:rPr lang="zh-CN" altLang="en-US"/>
              <a:t>个最近邻向外扩展找到第</a:t>
            </a:r>
            <a:r>
              <a:rPr lang="en-US" altLang="zh-CN"/>
              <a:t>i+1</a:t>
            </a:r>
            <a:r>
              <a:rPr lang="zh-CN" altLang="en-US"/>
              <a:t>个最近邻，期望只需要访问常数个节点（即</a:t>
            </a:r>
            <a:r>
              <a:rPr lang="en-US" altLang="zh-CN"/>
              <a:t>O(1)</a:t>
            </a:r>
            <a:r>
              <a:rPr lang="zh-CN" altLang="en-US"/>
              <a:t>的时间），因</a:t>
            </a:r>
            <a:r>
              <a:rPr lang="en-US" altLang="zh-CN"/>
              <a:t>Top-2 </a:t>
            </a:r>
            <a:r>
              <a:rPr lang="zh-CN" altLang="en-US"/>
              <a:t>必然在</a:t>
            </a:r>
            <a:r>
              <a:rPr lang="en-US" altLang="zh-CN"/>
              <a:t> Top-1 </a:t>
            </a:r>
            <a:r>
              <a:rPr lang="zh-CN" altLang="en-US"/>
              <a:t>的直接邻居，或者邻居的邻居之中。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推导思路：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1. </a:t>
            </a:r>
            <a:r>
              <a:rPr lang="zh-CN" altLang="en-US"/>
              <a:t>找到</a:t>
            </a:r>
            <a:r>
              <a:rPr lang="en-US" altLang="zh-CN"/>
              <a:t> top-1 </a:t>
            </a:r>
            <a:r>
              <a:rPr lang="zh-CN" altLang="en-US"/>
              <a:t>后，每个后续近邻可以在均摊常数时间内找到（图索引的标准性质）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在均匀</a:t>
            </a:r>
            <a:r>
              <a:rPr lang="zh-CN" altLang="en-US"/>
              <a:t>分布下，至少有</a:t>
            </a:r>
            <a:r>
              <a:rPr lang="en-US" altLang="zh-CN"/>
              <a:t> $c$ </a:t>
            </a:r>
            <a:r>
              <a:rPr lang="zh-CN" altLang="en-US"/>
              <a:t>比例的被访问近邻满足标签约束（由弹性因子</a:t>
            </a:r>
            <a:r>
              <a:rPr lang="en-US" altLang="zh-CN"/>
              <a:t> $\geq c$ </a:t>
            </a:r>
            <a:r>
              <a:rPr lang="zh-CN" altLang="en-US"/>
              <a:t>保证）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在给定的空间预算</a:t>
            </a:r>
            <a:r>
              <a:rPr lang="en-US" altLang="zh-CN"/>
              <a:t>τ</a:t>
            </a:r>
            <a:r>
              <a:rPr lang="zh-CN" altLang="en-US"/>
              <a:t>和效率要求</a:t>
            </a:r>
            <a:r>
              <a:rPr lang="en-US" altLang="zh-CN"/>
              <a:t>c</a:t>
            </a:r>
            <a:r>
              <a:rPr lang="zh-CN" altLang="en-US"/>
              <a:t>之间寻找平衡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首先包含全量索引（保证正确性），然后迭代地选择</a:t>
            </a:r>
            <a:r>
              <a:rPr lang="en-US" altLang="zh-CN"/>
              <a:t>“</a:t>
            </a:r>
            <a:r>
              <a:rPr lang="zh-CN" altLang="en-US"/>
              <a:t>收益</a:t>
            </a:r>
            <a:r>
              <a:rPr lang="en-US" altLang="zh-CN"/>
              <a:t>/</a:t>
            </a:r>
            <a:r>
              <a:rPr lang="zh-CN" altLang="en-US"/>
              <a:t>成本比</a:t>
            </a:r>
            <a:r>
              <a:rPr lang="en-US" altLang="zh-CN"/>
              <a:t>”</a:t>
            </a:r>
            <a:r>
              <a:rPr lang="zh-CN" altLang="en-US"/>
              <a:t>最高的索引。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空索引能回答建立在空索引、建立在标签</a:t>
            </a:r>
            <a:r>
              <a:rPr lang="en-US" altLang="zh-CN"/>
              <a:t>A</a:t>
            </a:r>
            <a:r>
              <a:rPr lang="zh-CN" altLang="en-US"/>
              <a:t>的索引、建立在标签</a:t>
            </a:r>
            <a:r>
              <a:rPr lang="en-US" altLang="zh-CN"/>
              <a:t>B</a:t>
            </a:r>
            <a:r>
              <a:rPr lang="zh-CN" altLang="en-US"/>
              <a:t>的索引、建立在标签</a:t>
            </a:r>
            <a:r>
              <a:rPr lang="en-US" altLang="zh-CN"/>
              <a:t>C</a:t>
            </a:r>
            <a:r>
              <a:rPr lang="zh-CN" altLang="en-US"/>
              <a:t>的索引和建立在标签</a:t>
            </a:r>
            <a:r>
              <a:rPr lang="en-US" altLang="zh-CN"/>
              <a:t>AC</a:t>
            </a:r>
            <a:r>
              <a:rPr lang="zh-CN" altLang="en-US"/>
              <a:t>的索引能回答的查询。分子指的是覆盖</a:t>
            </a:r>
            <a:r>
              <a:rPr lang="zh-CN" altLang="en-US"/>
              <a:t>能力。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在选索引之前，通过采样或基数预估知道每个索引包含的数据量</a:t>
            </a:r>
            <a:r>
              <a:rPr lang="en-US" altLang="zh-CN"/>
              <a:t>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使用最大堆</a:t>
            </a:r>
            <a:r>
              <a:rPr lang="en-US" altLang="zh-CN"/>
              <a:t>+</a:t>
            </a:r>
            <a:r>
              <a:rPr lang="zh-CN" altLang="en-US"/>
              <a:t>懒惰更新缓解算法每次迭代重新计算的效率问题</a:t>
            </a:r>
            <a:r>
              <a:rPr lang="en-US" altLang="zh-CN"/>
              <a:t>。</a:t>
            </a:r>
            <a:r>
              <a:rPr lang="zh-CN" altLang="en-US"/>
              <a:t>每选一个索引，其它剩余候选者的收益（</a:t>
            </a:r>
            <a:r>
              <a:rPr lang="en-US" altLang="zh-CN"/>
              <a:t>Benefit</a:t>
            </a:r>
            <a:r>
              <a:rPr lang="zh-CN" altLang="en-US"/>
              <a:t>）都会发生变化，直接更新代价高</a:t>
            </a:r>
            <a:r>
              <a:rPr lang="en-US" altLang="zh-CN"/>
              <a:t>。</a:t>
            </a:r>
            <a:r>
              <a:rPr lang="zh-CN" altLang="en-US"/>
              <a:t>所以可以使用最大堆维护当前收益最高的候选者</a:t>
            </a:r>
            <a:r>
              <a:rPr lang="en-US" altLang="zh-CN"/>
              <a:t>，</a:t>
            </a:r>
            <a:r>
              <a:rPr lang="zh-CN" altLang="en-US"/>
              <a:t>只有在取出的堆顶条目过期（</a:t>
            </a:r>
            <a:r>
              <a:rPr lang="en-US" altLang="zh-CN"/>
              <a:t>Stale</a:t>
            </a:r>
            <a:r>
              <a:rPr lang="zh-CN" altLang="en-US"/>
              <a:t>）时，才重新计算其收益并插回</a:t>
            </a:r>
            <a:r>
              <a:rPr lang="en-US" altLang="zh-CN"/>
              <a:t>，</a:t>
            </a:r>
            <a:r>
              <a:rPr lang="zh-CN" altLang="en-US"/>
              <a:t>如果堆顶条目为最新时直接返回</a:t>
            </a:r>
            <a:r>
              <a:rPr lang="en-US" altLang="zh-CN"/>
              <a:t>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ε </a:t>
            </a:r>
            <a:r>
              <a:rPr lang="zh-CN" altLang="en-US"/>
              <a:t>是二分搜索的分辨率</a:t>
            </a:r>
            <a:r>
              <a:rPr lang="en-US" altLang="zh-CN"/>
              <a:t>(</a:t>
            </a:r>
            <a:r>
              <a:rPr lang="zh-CN" altLang="en-US"/>
              <a:t>在我们的论文中设置为</a:t>
            </a:r>
            <a:r>
              <a:rPr lang="en-US" altLang="zh-CN"/>
              <a:t> 0.001)</a:t>
            </a:r>
            <a:r>
              <a:rPr lang="zh-CN" altLang="en-US"/>
              <a:t>。</a:t>
            </a:r>
            <a:r>
              <a:rPr lang="en-US" altLang="zh-CN"/>
              <a:t> </a:t>
            </a:r>
            <a:r>
              <a:rPr lang="zh-CN" altLang="en-US"/>
              <a:t>在实践中</a:t>
            </a:r>
            <a:r>
              <a:rPr lang="en-US" altLang="zh-CN"/>
              <a:t>,</a:t>
            </a:r>
            <a:r>
              <a:rPr lang="zh-CN" altLang="en-US"/>
              <a:t>将二分搜索与贪婪方法相结合的开销（选择索引的这个</a:t>
            </a:r>
            <a:r>
              <a:rPr lang="zh-CN" altLang="en-US"/>
              <a:t>过程）可以忽略不计</a:t>
            </a:r>
            <a:r>
              <a:rPr lang="en-US" altLang="zh-CN"/>
              <a:t>—</a:t>
            </a:r>
            <a:r>
              <a:rPr lang="zh-CN" altLang="en-US"/>
              <a:t>通常低于索引构建时间的</a:t>
            </a:r>
            <a:r>
              <a:rPr lang="en-US" altLang="zh-CN"/>
              <a:t> 1%,</a:t>
            </a:r>
            <a:r>
              <a:rPr lang="zh-CN" altLang="en-US"/>
              <a:t>或者即使对于大型工作负载</a:t>
            </a:r>
            <a:r>
              <a:rPr lang="en-US" altLang="zh-CN"/>
              <a:t> L </a:t>
            </a:r>
            <a:r>
              <a:rPr lang="zh-CN" altLang="en-US"/>
              <a:t>也大约需要</a:t>
            </a:r>
            <a:r>
              <a:rPr lang="en-US" altLang="zh-CN"/>
              <a:t> 1‐2 </a:t>
            </a:r>
            <a:r>
              <a:rPr lang="zh-CN" altLang="en-US"/>
              <a:t>秒。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1. </a:t>
            </a:r>
            <a:r>
              <a:rPr lang="zh-CN" altLang="en-US"/>
              <a:t>数据库向量动态</a:t>
            </a:r>
            <a:endParaRPr lang="zh-CN" altLang="en-US"/>
          </a:p>
          <a:p>
            <a:r>
              <a:rPr lang="zh-CN" altLang="en-US"/>
              <a:t>插入：新向量被添加到匹配其标签集的相关索引中。</a:t>
            </a:r>
            <a:endParaRPr lang="zh-CN" altLang="en-US"/>
          </a:p>
          <a:p>
            <a:r>
              <a:rPr lang="zh-CN" altLang="en-US"/>
              <a:t>维护：定期执行批量更新（例如，每增加</a:t>
            </a:r>
            <a:r>
              <a:rPr lang="en-US" altLang="zh-CN"/>
              <a:t>10-20%</a:t>
            </a:r>
            <a:r>
              <a:rPr lang="zh-CN" altLang="en-US"/>
              <a:t>）以平衡新鲜度和效率。</a:t>
            </a:r>
            <a:endParaRPr lang="zh-CN" altLang="en-US"/>
          </a:p>
          <a:p>
            <a:r>
              <a:rPr lang="zh-CN" altLang="en-US"/>
              <a:t>删除：通过</a:t>
            </a:r>
            <a:r>
              <a:rPr lang="en-US" altLang="zh-CN"/>
              <a:t>“</a:t>
            </a:r>
            <a:r>
              <a:rPr lang="zh-CN" altLang="en-US"/>
              <a:t>懒</a:t>
            </a:r>
            <a:r>
              <a:rPr lang="en-US" altLang="zh-CN"/>
              <a:t>”</a:t>
            </a:r>
            <a:r>
              <a:rPr lang="zh-CN" altLang="en-US"/>
              <a:t>标记处理，以避免立即更改索引结构。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查询工作负载动态</a:t>
            </a:r>
            <a:endParaRPr lang="zh-CN" altLang="en-US"/>
          </a:p>
          <a:p>
            <a:r>
              <a:rPr lang="zh-CN" altLang="en-US"/>
              <a:t>自适应策略：</a:t>
            </a:r>
            <a:endParaRPr lang="zh-CN" altLang="en-US"/>
          </a:p>
          <a:p>
            <a:r>
              <a:rPr lang="zh-CN" altLang="en-US"/>
              <a:t>低频查询：直接扫描。</a:t>
            </a:r>
            <a:endParaRPr lang="zh-CN" altLang="en-US"/>
          </a:p>
          <a:p>
            <a:r>
              <a:rPr lang="zh-CN" altLang="en-US"/>
              <a:t>高频查询（</a:t>
            </a:r>
            <a:r>
              <a:rPr lang="en-US" altLang="zh-CN"/>
              <a:t>&gt;4,000</a:t>
            </a:r>
            <a:r>
              <a:rPr lang="zh-CN" altLang="en-US"/>
              <a:t>次匹配）：选择性地构建新索引。</a:t>
            </a:r>
            <a:endParaRPr lang="zh-CN" altLang="en-US"/>
          </a:p>
          <a:p>
            <a:r>
              <a:rPr lang="zh-CN" altLang="en-US"/>
              <a:t>智能路由：查询动态路由到现有索引中重叠最大的索引（弹性因子）。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结构更新策略</a:t>
            </a:r>
            <a:endParaRPr lang="zh-CN" altLang="en-US"/>
          </a:p>
          <a:p>
            <a:r>
              <a:rPr lang="zh-CN" altLang="en-US"/>
              <a:t>效率受限：如果性能阈值被违反，重新运行贪婪算法（算法</a:t>
            </a:r>
            <a:r>
              <a:rPr lang="en-US" altLang="zh-CN"/>
              <a:t>1</a:t>
            </a:r>
            <a:r>
              <a:rPr lang="zh-CN" altLang="en-US"/>
              <a:t>）以添加索引。</a:t>
            </a:r>
            <a:endParaRPr lang="zh-CN" altLang="en-US"/>
          </a:p>
          <a:p>
            <a:r>
              <a:rPr lang="zh-CN" altLang="en-US"/>
              <a:t>空间受限：利用现有状态；增加</a:t>
            </a:r>
            <a:r>
              <a:rPr lang="en-US" altLang="zh-CN"/>
              <a:t>/</a:t>
            </a:r>
            <a:r>
              <a:rPr lang="zh-CN" altLang="en-US"/>
              <a:t>减少目标弹性因子，并根据可用预算剪枝索引</a:t>
            </a:r>
            <a:r>
              <a:rPr lang="en-US" altLang="zh-CN"/>
              <a:t> </a:t>
            </a:r>
            <a:r>
              <a:rPr lang="zh-CN" altLang="en-US"/>
              <a:t>𝜏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Real labels</a:t>
            </a:r>
            <a:r>
              <a:rPr 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(</a:t>
            </a:r>
            <a:r>
              <a:rPr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PAPER, TripClick, Arxiv</a:t>
            </a:r>
            <a:r>
              <a:rPr 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)：</a:t>
            </a:r>
            <a:r>
              <a:rPr lang="zh-CN" alt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直接从原始数据集每条数据中抽取元数据信息作为标签</a:t>
            </a:r>
            <a:r>
              <a:rPr lang="en-US" altLang="zh-CN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，</a:t>
            </a:r>
            <a:r>
              <a:rPr lang="zh-CN" alt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如</a:t>
            </a:r>
            <a:r>
              <a:rPr lang="en-US" altLang="zh-CN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PAPER</a:t>
            </a:r>
            <a:r>
              <a:rPr lang="zh-CN" alt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的标签是论文的发表地点、研究领域和机构类型</a:t>
            </a:r>
            <a:r>
              <a:rPr lang="en-US" altLang="zh-CN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。</a:t>
            </a:r>
            <a:endParaRPr lang="en-US" altLang="zh-CN">
              <a:solidFill>
                <a:srgbClr val="000000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r>
              <a:rPr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Metadata-derived</a:t>
            </a:r>
            <a:r>
              <a:rPr 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(</a:t>
            </a:r>
            <a:r>
              <a:rPr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LAION, OpenAI-1536 </a:t>
            </a:r>
            <a:r>
              <a:rPr 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)：</a:t>
            </a:r>
            <a:r>
              <a:rPr lang="zh-CN" alt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从常见词语中分配标签</a:t>
            </a:r>
            <a:r>
              <a:rPr lang="en-US" altLang="zh-CN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。</a:t>
            </a:r>
            <a:r>
              <a:rPr lang="zh-CN" alt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如</a:t>
            </a:r>
            <a:r>
              <a:rPr lang="en-US" altLang="zh-CN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LAION</a:t>
            </a:r>
            <a:r>
              <a:rPr lang="zh-CN" alt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是由图片类型转成的向量</a:t>
            </a:r>
            <a:r>
              <a:rPr lang="en-US" altLang="zh-CN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，</a:t>
            </a:r>
            <a:r>
              <a:rPr lang="zh-CN" alt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处理方式为从</a:t>
            </a:r>
            <a:r>
              <a:rPr lang="en-US" altLang="zh-CN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30</a:t>
            </a:r>
            <a:r>
              <a:rPr lang="zh-CN" alt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个常见形容词和名词</a:t>
            </a:r>
            <a:r>
              <a:rPr lang="en-US" altLang="zh-CN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(</a:t>
            </a:r>
            <a:r>
              <a:rPr lang="zh-CN" alt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例如</a:t>
            </a:r>
            <a:r>
              <a:rPr lang="en-US" altLang="zh-CN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“</a:t>
            </a:r>
            <a:r>
              <a:rPr lang="zh-CN" alt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动物</a:t>
            </a:r>
            <a:r>
              <a:rPr lang="en-US" altLang="zh-CN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”</a:t>
            </a:r>
            <a:r>
              <a:rPr lang="zh-CN" alt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“</a:t>
            </a:r>
            <a:r>
              <a:rPr lang="zh-CN" alt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可怕</a:t>
            </a:r>
            <a:r>
              <a:rPr lang="en-US" altLang="zh-CN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”)</a:t>
            </a:r>
            <a:r>
              <a:rPr lang="zh-CN" alt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的候</a:t>
            </a:r>
            <a:r>
              <a:rPr lang="en-US" altLang="zh-CN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</a:t>
            </a:r>
            <a:r>
              <a:rPr lang="zh-CN" alt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选列表中选取文本到图像</a:t>
            </a:r>
            <a:r>
              <a:rPr lang="en-US" altLang="zh-CN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CLIP </a:t>
            </a:r>
            <a:r>
              <a:rPr lang="zh-CN" alt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分数最高的</a:t>
            </a:r>
            <a:r>
              <a:rPr lang="en-US" altLang="zh-CN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3 </a:t>
            </a:r>
            <a:r>
              <a:rPr lang="zh-CN" alt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个单词作为标签</a:t>
            </a:r>
            <a:r>
              <a:rPr lang="en-US" altLang="zh-CN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。</a:t>
            </a:r>
            <a:endParaRPr lang="en-US" altLang="zh-CN">
              <a:solidFill>
                <a:srgbClr val="000000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r>
              <a:rPr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Synthetic Zipf</a:t>
            </a:r>
            <a:r>
              <a:rPr 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(</a:t>
            </a:r>
            <a:r>
              <a:rPr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SIFT, MSMARCO, DEEP</a:t>
            </a:r>
            <a:r>
              <a:rPr 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)：</a:t>
            </a:r>
            <a:r>
              <a:rPr lang="zh-CN" alt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纯向量集合</a:t>
            </a:r>
            <a:r>
              <a:rPr lang="en-US" altLang="zh-CN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。</a:t>
            </a:r>
            <a:r>
              <a:rPr lang="zh-CN" alt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把随机标签</a:t>
            </a:r>
            <a:r>
              <a:rPr lang="en-US" altLang="zh-CN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（</a:t>
            </a:r>
            <a:r>
              <a:rPr lang="zh-CN" alt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如</a:t>
            </a:r>
            <a:r>
              <a:rPr lang="en-US" altLang="zh-CN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1-12）</a:t>
            </a:r>
            <a:r>
              <a:rPr lang="zh-CN" alt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按某种分布分配给这些向量</a:t>
            </a:r>
            <a:r>
              <a:rPr lang="en-US" altLang="zh-CN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。</a:t>
            </a:r>
            <a:endParaRPr lang="en-US" altLang="zh-CN">
              <a:solidFill>
                <a:srgbClr val="000000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为什么有的线不是从最左边开始</a:t>
            </a:r>
            <a:r>
              <a:rPr lang="en-US" altLang="zh-CN"/>
              <a:t>？</a:t>
            </a:r>
            <a:endParaRPr lang="en-US" altLang="zh-CN"/>
          </a:p>
          <a:p>
            <a:r>
              <a:rPr lang="zh-CN" altLang="en-US"/>
              <a:t>我觉得</a:t>
            </a:r>
            <a:r>
              <a:rPr lang="en-US" altLang="zh-CN"/>
              <a:t>：</a:t>
            </a:r>
            <a:r>
              <a:rPr lang="zh-CN" altLang="en-US"/>
              <a:t>对于使用特定的图算法</a:t>
            </a:r>
            <a:r>
              <a:rPr lang="en-US" altLang="zh-CN"/>
              <a:t>（</a:t>
            </a:r>
            <a:r>
              <a:rPr lang="zh-CN" altLang="en-US"/>
              <a:t>拿</a:t>
            </a:r>
            <a:r>
              <a:rPr lang="en-US" altLang="zh-CN"/>
              <a:t>HNSW</a:t>
            </a:r>
            <a:r>
              <a:rPr lang="zh-CN" altLang="en-US"/>
              <a:t>举例</a:t>
            </a:r>
            <a:r>
              <a:rPr lang="en-US" altLang="zh-CN"/>
              <a:t>），</a:t>
            </a:r>
            <a:r>
              <a:rPr lang="zh-CN" altLang="en-US"/>
              <a:t>得到</a:t>
            </a:r>
            <a:r>
              <a:rPr lang="en-US" altLang="zh-CN"/>
              <a:t>qps</a:t>
            </a:r>
            <a:r>
              <a:rPr lang="zh-CN" altLang="en-US"/>
              <a:t>和</a:t>
            </a:r>
            <a:r>
              <a:rPr lang="en-US" altLang="zh-CN"/>
              <a:t>recall</a:t>
            </a:r>
            <a:r>
              <a:rPr lang="zh-CN" altLang="en-US"/>
              <a:t>的图是通过调整</a:t>
            </a:r>
            <a:r>
              <a:rPr lang="en-US" altLang="zh-CN"/>
              <a:t>efsearch</a:t>
            </a:r>
            <a:r>
              <a:rPr lang="zh-CN" altLang="en-US"/>
              <a:t>来实现的</a:t>
            </a:r>
            <a:r>
              <a:rPr lang="en-US" altLang="zh-CN"/>
              <a:t>，</a:t>
            </a:r>
            <a:r>
              <a:rPr lang="zh-CN" altLang="en-US"/>
              <a:t>可能有的算法足够好</a:t>
            </a:r>
            <a:r>
              <a:rPr lang="en-US" altLang="zh-CN"/>
              <a:t>，</a:t>
            </a:r>
            <a:r>
              <a:rPr lang="zh-CN" altLang="en-US"/>
              <a:t>在那一组</a:t>
            </a:r>
            <a:r>
              <a:rPr lang="en-US" altLang="zh-CN"/>
              <a:t>efsearch</a:t>
            </a:r>
            <a:r>
              <a:rPr lang="zh-CN" altLang="en-US"/>
              <a:t>中召回率能保持得很高</a:t>
            </a:r>
            <a:r>
              <a:rPr lang="en-US" altLang="zh-CN"/>
              <a:t>，</a:t>
            </a:r>
            <a:r>
              <a:rPr lang="zh-CN" altLang="en-US"/>
              <a:t>所以没有画出在低召回率下的</a:t>
            </a:r>
            <a:r>
              <a:rPr lang="en-US" altLang="zh-CN"/>
              <a:t>qps。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索引选择还包括</a:t>
            </a:r>
            <a:r>
              <a:rPr lang="en-US" altLang="zh-CN"/>
              <a:t>paper</a:t>
            </a:r>
            <a:r>
              <a:rPr lang="zh-CN" altLang="en-US"/>
              <a:t>数据集不同的标签分布</a:t>
            </a:r>
            <a:r>
              <a:rPr lang="en-US" altLang="zh-CN"/>
              <a:t>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注意⚠️索引选择左图中</a:t>
            </a:r>
            <a:r>
              <a:rPr lang="en-US" altLang="zh-CN"/>
              <a:t>：</a:t>
            </a:r>
            <a:r>
              <a:rPr lang="zh-CN" altLang="en-US"/>
              <a:t>列的坐标轴不是均匀的</a:t>
            </a:r>
            <a:r>
              <a:rPr lang="en-US" altLang="zh-CN"/>
              <a:t>；</a:t>
            </a:r>
            <a:r>
              <a:rPr lang="zh-CN" altLang="en-US"/>
              <a:t>最高的柱子是总标签集的个数</a:t>
            </a:r>
            <a:r>
              <a:rPr lang="en-US" altLang="zh-CN"/>
              <a:t>；</a:t>
            </a:r>
            <a:r>
              <a:rPr lang="zh-CN" altLang="en-US"/>
              <a:t>紫色的和黄色的是选择的索引个数</a:t>
            </a:r>
            <a:r>
              <a:rPr lang="en-US" altLang="zh-CN"/>
              <a:t>，</a:t>
            </a:r>
            <a:r>
              <a:rPr lang="zh-CN" altLang="en-US"/>
              <a:t>代表少量的索引能够实现对原来</a:t>
            </a:r>
            <a:r>
              <a:rPr lang="zh-CN" altLang="en-US"/>
              <a:t>若干个标签组合的全覆盖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动态更新中</a:t>
            </a:r>
            <a:r>
              <a:rPr lang="en-US" altLang="zh-CN"/>
              <a:t>，ELI-0.2’</a:t>
            </a:r>
            <a:r>
              <a:rPr lang="zh-CN" altLang="en-US"/>
              <a:t>代表动态更新的方法</a:t>
            </a:r>
            <a:r>
              <a:rPr lang="en-US" altLang="zh-CN"/>
              <a:t>，ELI-0.2</a:t>
            </a:r>
            <a:r>
              <a:rPr lang="zh-CN" altLang="en-US"/>
              <a:t>则为全量更新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/>
              <a:t>对</a:t>
            </a:r>
            <a:r>
              <a:rPr lang="en-US" altLang="zh-CN"/>
              <a:t>sift</a:t>
            </a:r>
            <a:r>
              <a:rPr lang="zh-CN" altLang="en-US"/>
              <a:t>和</a:t>
            </a:r>
            <a:r>
              <a:rPr lang="en-US" altLang="zh-CN"/>
              <a:t>arxiv，</a:t>
            </a:r>
            <a:r>
              <a:rPr lang="zh-CN" altLang="en-US"/>
              <a:t>每个数据集分为两半。标签集大小为</a:t>
            </a:r>
            <a:r>
              <a:rPr lang="en-US" altLang="zh-CN"/>
              <a:t> |Σ| = 12 </a:t>
            </a:r>
            <a:r>
              <a:rPr lang="zh-CN" altLang="en-US"/>
              <a:t>的前</a:t>
            </a:r>
            <a:r>
              <a:rPr lang="en-US" altLang="zh-CN"/>
              <a:t> 50% </a:t>
            </a:r>
            <a:r>
              <a:rPr lang="zh-CN" altLang="en-US"/>
              <a:t>数据用于构建初始索引集</a:t>
            </a:r>
            <a:r>
              <a:rPr lang="en-US" altLang="zh-CN"/>
              <a:t> I</a:t>
            </a:r>
            <a:r>
              <a:rPr lang="zh-CN" altLang="en-US"/>
              <a:t>。其余</a:t>
            </a:r>
            <a:r>
              <a:rPr lang="en-US" altLang="zh-CN"/>
              <a:t> 50% </a:t>
            </a:r>
            <a:r>
              <a:rPr lang="zh-CN" altLang="en-US"/>
              <a:t>具</a:t>
            </a:r>
            <a:r>
              <a:rPr lang="en-US" altLang="zh-CN"/>
              <a:t> </a:t>
            </a:r>
            <a:r>
              <a:rPr lang="zh-CN" altLang="en-US"/>
              <a:t>有扩展的</a:t>
            </a:r>
            <a:r>
              <a:rPr lang="en-US" altLang="zh-CN"/>
              <a:t> |Σ| = 24 </a:t>
            </a:r>
            <a:r>
              <a:rPr lang="zh-CN" altLang="en-US"/>
              <a:t>标签集</a:t>
            </a:r>
            <a:r>
              <a:rPr lang="en-US" altLang="zh-CN"/>
              <a:t>,</a:t>
            </a:r>
            <a:r>
              <a:rPr lang="zh-CN" altLang="en-US"/>
              <a:t>模拟插入新向量</a:t>
            </a:r>
            <a:r>
              <a:rPr lang="en-US" altLang="zh-CN"/>
              <a:t>(</a:t>
            </a:r>
            <a:r>
              <a:rPr lang="zh-CN" altLang="en-US"/>
              <a:t>多</a:t>
            </a:r>
            <a:r>
              <a:rPr lang="en-US" altLang="zh-CN"/>
              <a:t> 50% </a:t>
            </a:r>
            <a:r>
              <a:rPr lang="zh-CN" altLang="en-US"/>
              <a:t>的向量</a:t>
            </a:r>
            <a:r>
              <a:rPr lang="en-US" altLang="zh-CN"/>
              <a:t>) </a:t>
            </a:r>
            <a:r>
              <a:rPr lang="zh-CN" altLang="en-US"/>
              <a:t>和扩大的查询工作负载</a:t>
            </a:r>
            <a:r>
              <a:rPr lang="en-US" altLang="zh-CN"/>
              <a:t>(12 </a:t>
            </a:r>
            <a:r>
              <a:rPr lang="zh-CN" altLang="en-US"/>
              <a:t>个附加标签</a:t>
            </a:r>
            <a:r>
              <a:rPr lang="en-US" altLang="zh-CN"/>
              <a:t>)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.xml"/><Relationship Id="rId2" Type="http://schemas.openxmlformats.org/officeDocument/2006/relationships/image" Target="../media/image8.png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.xml"/><Relationship Id="rId2" Type="http://schemas.openxmlformats.org/officeDocument/2006/relationships/image" Target="../media/image9.png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6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8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935" y="1198245"/>
            <a:ext cx="1196213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</a:rPr>
              <a:t>Elastic Index Selection for</a:t>
            </a:r>
            <a:r>
              <a:rPr lang="en-US" altLang="zh-CN" sz="48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</a:rPr>
              <a:t> </a:t>
            </a:r>
            <a:r>
              <a:rPr lang="zh-CN" altLang="en-US" sz="48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</a:rPr>
              <a:t>Label-Hybrid AKNN Search</a:t>
            </a:r>
            <a:endParaRPr lang="zh-CN" altLang="en-US" sz="48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5750" y="3112135"/>
            <a:ext cx="9626600" cy="19304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858385" y="6265545"/>
            <a:ext cx="33248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PVLDB Vol. 19, No. 4, 2025</a:t>
            </a:r>
            <a:endParaRPr lang="en-US" altLang="zh-CN" sz="200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Introduction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4045" y="2019300"/>
            <a:ext cx="8423910" cy="40214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12420" y="1230630"/>
            <a:ext cx="53568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"/>
            </a:pPr>
            <a:r>
              <a:rPr lang="en-US" altLang="zh-CN" sz="2800">
                <a:solidFill>
                  <a:srgbClr val="3155C6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label-hybrid AKNN search</a:t>
            </a:r>
            <a:endParaRPr lang="en-US" altLang="zh-CN" sz="2800">
              <a:solidFill>
                <a:srgbClr val="3155C6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Introduction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2420" y="1230630"/>
            <a:ext cx="53568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"/>
            </a:pPr>
            <a:r>
              <a:rPr lang="en-US" altLang="zh-CN" sz="28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Existing Solutions</a:t>
            </a:r>
            <a:endParaRPr lang="en-US" altLang="zh-CN" sz="28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7545" y="1752600"/>
            <a:ext cx="108839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Graph-based indexes combined with filter-based  search strategies.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"/>
            </a:pP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377825" y="2169160"/>
          <a:ext cx="11397615" cy="405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3590925"/>
                <a:gridCol w="5916930"/>
              </a:tblGrid>
              <a:tr h="5416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Strategy</a:t>
                      </a:r>
                      <a:endParaRPr lang="en-US" altLang="zh-CN"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solidFill>
                      <a:srgbClr val="3155C6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Idea</a:t>
                      </a:r>
                      <a:endParaRPr lang="en-US" altLang="zh-CN"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solidFill>
                      <a:srgbClr val="3155C6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Problem(when selectivity is low)</a:t>
                      </a:r>
                      <a:endParaRPr lang="en-US" altLang="zh-CN"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solidFill>
                      <a:srgbClr val="3155C6"/>
                    </a:solidFill>
                  </a:tcPr>
                </a:tc>
              </a:tr>
              <a:tr h="117030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Brute-Force</a:t>
                      </a:r>
                      <a:endParaRPr lang="en-US" altLang="zh-CN" sz="2000" b="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just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2000" b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Scan all vectors in the database to find those that match the label </a:t>
                      </a:r>
                      <a:r>
                        <a:rPr lang="en-US" altLang="zh-CN" sz="2000" b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and then compute distances.</a:t>
                      </a:r>
                      <a:endParaRPr lang="en-US" altLang="zh-CN" sz="2000" b="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 b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High computational cost.</a:t>
                      </a:r>
                      <a:endParaRPr lang="en-US" altLang="zh-CN" sz="2000" b="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117030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PostFiltering</a:t>
                      </a:r>
                      <a:endParaRPr lang="en-US" altLang="zh-CN" sz="2000" b="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2000" b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Traverse all nodes; exclude mismatched from results.</a:t>
                      </a:r>
                      <a:endParaRPr lang="en-US" altLang="zh-CN" sz="2000" b="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 b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if most nodes are label-mismatched, the algorithm may still need to examine up to </a:t>
                      </a:r>
                      <a:r>
                        <a:rPr lang="en-US" altLang="zh-CN" sz="2000" b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O(N) nodes.</a:t>
                      </a:r>
                      <a:endParaRPr lang="en-US" altLang="zh-CN" sz="2000" b="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117030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PreFiltering</a:t>
                      </a:r>
                      <a:endParaRPr lang="en-US" altLang="zh-CN" sz="20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2000" b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Skip mismatched nodes during traversal.</a:t>
                      </a:r>
                      <a:endParaRPr lang="en-US" altLang="zh-CN" sz="2000" b="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 b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PreFiltering suffers from reduced accuracy as removing many label-mismatched nodes sparsifies the graph.</a:t>
                      </a:r>
                      <a:endParaRPr lang="en-US" altLang="zh-CN" sz="2000" b="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377825" y="6240145"/>
            <a:ext cx="62611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→ State-of-the-Art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Introduction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2420" y="1230630"/>
            <a:ext cx="5356860" cy="517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"/>
            </a:pPr>
            <a:r>
              <a:rPr lang="en-US" altLang="zh-CN" sz="28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State-of-the-Art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5145" y="1838325"/>
            <a:ext cx="11666855" cy="1854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1" indent="-285750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ACORN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1"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Increases graph density (</a:t>
            </a:r>
            <a:r>
              <a:rPr lang="en-US" altLang="zh-CN" sz="24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γ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parameter) to ensure connectivity.</a:t>
            </a:r>
            <a:endParaRPr lang="en-US" altLang="zh-CN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1"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 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Connectivity Loss: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Ignoring label information may lead to potential result incompleteness because of the 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Pre-filtering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 </a:t>
            </a:r>
            <a:endParaRPr lang="en-US" altLang="zh-CN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525145" y="6195060"/>
            <a:ext cx="633730" cy="360045"/>
          </a:xfrm>
          <a:prstGeom prst="rightArrow">
            <a:avLst/>
          </a:prstGeom>
          <a:solidFill>
            <a:srgbClr val="3155C6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303655" y="6120130"/>
            <a:ext cx="106984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3155C6"/>
                </a:solidFill>
              </a:rPr>
              <a:t>Index Selection With Lable I</a:t>
            </a:r>
            <a:r>
              <a:rPr lang="en-US" altLang="zh-CN" sz="2400">
                <a:solidFill>
                  <a:srgbClr val="3155C6"/>
                </a:solidFill>
              </a:rPr>
              <a:t>nformation  </a:t>
            </a:r>
            <a:endParaRPr lang="en-US" altLang="zh-CN" sz="2400">
              <a:solidFill>
                <a:srgbClr val="3155C6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25145" y="3692525"/>
            <a:ext cx="9777095" cy="2675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lvl="1" indent="-342900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UNG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1"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Partitions base vectors into label-based subgraphs; adds cross-group edges.</a:t>
            </a:r>
            <a:endParaRPr lang="en-US" altLang="zh-CN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1"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 </a:t>
            </a: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Complexity Explosion: 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With large label alphabets (</a:t>
            </a:r>
            <a:r>
              <a:rPr lang="en-US" altLang="zh-CN" sz="24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Σ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), the number of subgraphs/edges grows exponentially.</a:t>
            </a:r>
            <a:endParaRPr lang="en-US" altLang="zh-CN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1"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 </a:t>
            </a: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Rigid Structure: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Hard to adjust index granularity when storage is limited.</a:t>
            </a:r>
            <a:endParaRPr lang="en-US" altLang="zh-CN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0405745" y="3612515"/>
            <a:ext cx="1289685" cy="386080"/>
            <a:chOff x="2904" y="2365"/>
            <a:chExt cx="2031" cy="608"/>
          </a:xfrm>
        </p:grpSpPr>
        <p:sp>
          <p:nvSpPr>
            <p:cNvPr id="16" name="圆角矩形 15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A[3]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0414000" y="4639310"/>
            <a:ext cx="1289685" cy="386080"/>
            <a:chOff x="2904" y="2365"/>
            <a:chExt cx="2031" cy="608"/>
          </a:xfrm>
        </p:grpSpPr>
        <p:sp>
          <p:nvSpPr>
            <p:cNvPr id="25" name="圆角矩形 24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AB[1]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0405745" y="5751830"/>
            <a:ext cx="1289685" cy="386080"/>
            <a:chOff x="2904" y="2365"/>
            <a:chExt cx="2031" cy="608"/>
          </a:xfrm>
        </p:grpSpPr>
        <p:sp>
          <p:nvSpPr>
            <p:cNvPr id="13" name="圆角矩形 12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ABC[3]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cxnSp>
        <p:nvCxnSpPr>
          <p:cNvPr id="75" name="直接箭头连接符 74"/>
          <p:cNvCxnSpPr/>
          <p:nvPr/>
        </p:nvCxnSpPr>
        <p:spPr>
          <a:xfrm>
            <a:off x="11097260" y="3998595"/>
            <a:ext cx="0" cy="64071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11097260" y="5022850"/>
            <a:ext cx="0" cy="74231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Index S</a:t>
            </a:r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election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4635" y="1231265"/>
            <a:ext cx="11351895" cy="10509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Naive approach</a:t>
            </a:r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A vector labeled {</a:t>
            </a:r>
            <a:r>
              <a:rPr lang="en-US" altLang="zh-CN" sz="24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ABC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}: eight indexes: {</a:t>
            </a:r>
            <a:r>
              <a:rPr lang="en-US" altLang="zh-CN" sz="24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emptyset, A, B, C, AB, AC, BC, ABC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}. 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313055" y="4199890"/>
                <a:ext cx="11689080" cy="1713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Wingdings" panose="05000000000000000000" charset="0"/>
                  <a:buChar char=""/>
                </a:pPr>
                <a:r>
                  <a:rPr lang="en-US" altLang="zh-CN" sz="2800">
                    <a:solidFill>
                      <a:srgbClr val="3155C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Elastic Factor</a:t>
                </a:r>
                <a:endParaRPr lang="en-US" altLang="zh-CN" sz="28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marL="285750" indent="-285750">
                  <a:buFont typeface="Wingdings" panose="05000000000000000000" charset="0"/>
                  <a:buChar char=""/>
                </a:pPr>
                <a:endParaRPr lang="en-US" altLang="zh-CN" sz="28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indent="0">
                  <a:buFont typeface="Wingdings" panose="05000000000000000000" charset="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3155C6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𝑒</m:t>
                      </m:r>
                      <m:r>
                        <a:rPr lang="en-US" altLang="zh-CN" sz="2400" i="1">
                          <a:solidFill>
                            <a:srgbClr val="3155C6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altLang="zh-CN" sz="2400" i="1">
                          <a:solidFill>
                            <a:srgbClr val="3155C6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𝐿</m:t>
                      </m:r>
                      <m:r>
                        <a:rPr lang="en-US" altLang="zh-CN" sz="2400" i="1">
                          <a:solidFill>
                            <a:srgbClr val="3155C6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,</m:t>
                      </m:r>
                      <m:r>
                        <a:rPr lang="en-US" altLang="zh-CN" sz="2400" i="1">
                          <a:solidFill>
                            <a:srgbClr val="3155C6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𝐿</m:t>
                      </m:r>
                      <m:r>
                        <a:rPr lang="en-US" altLang="zh-CN" sz="2400" i="1">
                          <a:solidFill>
                            <a:srgbClr val="3155C6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’) 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3155C6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3155C6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𝑆</m:t>
                          </m:r>
                          <m:r>
                            <a:rPr lang="en-US" altLang="zh-CN" sz="2400" i="1">
                              <a:solidFill>
                                <a:srgbClr val="3155C6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(</m:t>
                          </m:r>
                          <m:r>
                            <a:rPr lang="en-US" altLang="zh-CN" sz="2400" i="1">
                              <a:solidFill>
                                <a:srgbClr val="3155C6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𝐿</m:t>
                          </m:r>
                          <m:r>
                            <a:rPr lang="en-US" altLang="zh-CN" sz="2400" i="1">
                              <a:solidFill>
                                <a:srgbClr val="3155C6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rgbClr val="3155C6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𝑆</m:t>
                          </m:r>
                          <m:r>
                            <a:rPr lang="en-US" altLang="zh-CN" sz="2400" i="1">
                              <a:solidFill>
                                <a:srgbClr val="3155C6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(</m:t>
                          </m:r>
                          <m:r>
                            <a:rPr lang="en-US" altLang="zh-CN" sz="2400" i="1">
                              <a:solidFill>
                                <a:srgbClr val="3155C6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𝐿</m:t>
                          </m:r>
                          <m:r>
                            <a:rPr lang="en-US" altLang="zh-CN" sz="2400" i="1">
                              <a:solidFill>
                                <a:srgbClr val="3155C6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’)</m:t>
                          </m:r>
                        </m:den>
                      </m:f>
                      <m:r>
                        <a:rPr lang="en-US" altLang="zh-CN" sz="2400" i="1">
                          <a:solidFill>
                            <a:srgbClr val="3155C6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</m:t>
                      </m:r>
                    </m:oMath>
                  </m:oMathPara>
                </a14:m>
                <a:endParaRPr lang="en-US" altLang="zh-CN" sz="2800" i="1">
                  <a:solidFill>
                    <a:srgbClr val="3155C6"/>
                  </a:solidFill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055" y="4199890"/>
                <a:ext cx="11689080" cy="171323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313055" y="2429510"/>
            <a:ext cx="11689080" cy="1514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en-US" altLang="zh-CN" sz="28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Some fingings</a:t>
            </a:r>
            <a:endParaRPr lang="en-US" altLang="zh-CN" sz="2800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400">
                <a:latin typeface="Times New Roman Regular" panose="02020503050405090304" charset="0"/>
                <a:cs typeface="Times New Roman Regular" panose="02020503050405090304" charset="0"/>
              </a:rPr>
              <a:t>    an index built for a label set </a:t>
            </a:r>
            <a:r>
              <a:rPr lang="en-US" altLang="zh-CN" sz="2400" i="1">
                <a:latin typeface="Times New Roman" panose="02020603050405020304" charset="0"/>
                <a:cs typeface="Times New Roman" panose="02020603050405020304" charset="0"/>
              </a:rPr>
              <a:t>L</a:t>
            </a:r>
            <a:r>
              <a:rPr lang="en-US" altLang="zh-CN" sz="2400">
                <a:latin typeface="Times New Roman Regular" panose="02020503050405090304" charset="0"/>
                <a:cs typeface="Times New Roman Regular" panose="02020503050405090304" charset="0"/>
              </a:rPr>
              <a:t> can also serve any query whose label set </a:t>
            </a:r>
            <a:r>
              <a:rPr lang="en-US" altLang="zh-CN" sz="2400" i="1">
                <a:latin typeface="Times New Roman" panose="02020603050405020304" charset="0"/>
                <a:cs typeface="Times New Roman" panose="02020603050405020304" charset="0"/>
              </a:rPr>
              <a:t>L'</a:t>
            </a:r>
            <a:r>
              <a:rPr lang="en-US" altLang="zh-CN" sz="2400">
                <a:latin typeface="Times New Roman Regular" panose="02020503050405090304" charset="0"/>
                <a:cs typeface="Times New Roman Regular" panose="02020503050405090304" charset="0"/>
              </a:rPr>
              <a:t> is a superset of </a:t>
            </a:r>
            <a:r>
              <a:rPr lang="en-US" altLang="zh-CN" sz="2400" i="1">
                <a:latin typeface="Times New Roman" panose="02020603050405020304" charset="0"/>
                <a:cs typeface="Times New Roman" panose="02020603050405020304" charset="0"/>
              </a:rPr>
              <a:t>L</a:t>
            </a:r>
            <a:r>
              <a:rPr lang="en-US" altLang="zh-CN" sz="2400">
                <a:latin typeface="Times New Roman Regular" panose="02020503050405090304" charset="0"/>
                <a:cs typeface="Times New Roman Regular" panose="02020503050405090304" charset="0"/>
              </a:rPr>
              <a:t>.</a:t>
            </a:r>
            <a:endParaRPr lang="en-US" altLang="zh-CN" sz="24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sz="2400">
                <a:solidFill>
                  <a:srgbClr val="FFC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e.g.</a:t>
            </a:r>
            <a:r>
              <a:rPr lang="en-US" sz="240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sz="2400">
                <a:solidFill>
                  <a:srgbClr val="FFC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∑ = {ABC}, index{A} : lable{A[3], AB[1], AC[3], ABC[1]}.                       </a:t>
            </a:r>
            <a:r>
              <a:rPr lang="en-US" sz="2400">
                <a:solidFill>
                  <a:srgbClr val="FFC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lable{AB}？</a:t>
            </a:r>
            <a:endParaRPr lang="en-US" sz="2400">
              <a:solidFill>
                <a:srgbClr val="FFC000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4284980" y="6169025"/>
                <a:ext cx="3569970" cy="38608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𝑒</m:t>
                      </m:r>
                      <m:r>
                        <a:rPr lang="en-US" altLang="zh-CN" sz="24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∈ </m:t>
                      </m:r>
                      <m:r>
                        <a:rPr lang="en-US" altLang="zh-CN" sz="2400">
                          <a:latin typeface="DejaVu Math TeX Gyre" panose="02000503000000000000" charset="0"/>
                          <a:sym typeface="+mn-ea"/>
                        </a:rPr>
                        <m:t>(</m:t>
                      </m:r>
                      <m:r>
                        <a:rPr lang="en-US" altLang="zh-CN" sz="2400">
                          <a:latin typeface="DejaVu Math TeX Gyre" panose="02000503000000000000" charset="0"/>
                          <a:sym typeface="+mn-ea"/>
                        </a:rPr>
                        <m:t>0</m:t>
                      </m:r>
                      <m:r>
                        <a:rPr lang="en-US" altLang="zh-CN" sz="2400">
                          <a:latin typeface="DejaVu Math TeX Gyre" panose="02000503000000000000" charset="0"/>
                          <a:sym typeface="+mn-ea"/>
                        </a:rPr>
                        <m:t>,</m:t>
                      </m:r>
                      <m:r>
                        <a:rPr lang="en-US" altLang="zh-CN" sz="2400">
                          <a:latin typeface="DejaVu Math TeX Gyre" panose="02000503000000000000" charset="0"/>
                          <a:sym typeface="+mn-ea"/>
                        </a:rPr>
                        <m:t>1</m:t>
                      </m:r>
                      <m:r>
                        <a:rPr lang="en-US" altLang="zh-CN" sz="2400">
                          <a:latin typeface="DejaVu Math TeX Gyre" panose="02000503000000000000" charset="0"/>
                          <a:sym typeface="+mn-ea"/>
                        </a:rPr>
                        <m:t>]</m:t>
                      </m:r>
                    </m:oMath>
                  </m:oMathPara>
                </a14:m>
                <a:endParaRPr lang="en-US" altLang="zh-CN" sz="2400"/>
              </a:p>
              <a:p>
                <a:endParaRPr lang="en-US" altLang="zh-CN" sz="2400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980" y="6169025"/>
                <a:ext cx="3569970" cy="386080"/>
              </a:xfrm>
              <a:prstGeom prst="rect">
                <a:avLst/>
              </a:prstGeom>
              <a:blipFill rotWithShape="1">
                <a:blip r:embed="rId2"/>
                <a:stretch>
                  <a:fillRect b="-10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Index S</a:t>
            </a:r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election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932940" y="1822450"/>
            <a:ext cx="1289050" cy="386080"/>
            <a:chOff x="2904" y="2365"/>
            <a:chExt cx="2030" cy="608"/>
          </a:xfrm>
        </p:grpSpPr>
        <p:sp>
          <p:nvSpPr>
            <p:cNvPr id="6" name="圆角矩形 5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Empty[3]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12420" y="2954020"/>
            <a:ext cx="1289685" cy="386080"/>
            <a:chOff x="2904" y="2365"/>
            <a:chExt cx="2031" cy="608"/>
          </a:xfrm>
        </p:grpSpPr>
        <p:sp>
          <p:nvSpPr>
            <p:cNvPr id="16" name="圆角矩形 15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A[3]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888490" y="2950845"/>
            <a:ext cx="1289685" cy="386080"/>
            <a:chOff x="2904" y="2365"/>
            <a:chExt cx="2031" cy="608"/>
          </a:xfrm>
        </p:grpSpPr>
        <p:sp>
          <p:nvSpPr>
            <p:cNvPr id="19" name="圆角矩形 18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B[1]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541395" y="2950845"/>
            <a:ext cx="1289685" cy="386080"/>
            <a:chOff x="2904" y="2365"/>
            <a:chExt cx="2031" cy="608"/>
          </a:xfrm>
        </p:grpSpPr>
        <p:sp>
          <p:nvSpPr>
            <p:cNvPr id="22" name="圆角矩形 21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C[1]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0675" y="3980815"/>
            <a:ext cx="1289685" cy="386080"/>
            <a:chOff x="2904" y="2365"/>
            <a:chExt cx="2031" cy="608"/>
          </a:xfrm>
        </p:grpSpPr>
        <p:sp>
          <p:nvSpPr>
            <p:cNvPr id="25" name="圆角矩形 24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AB[1]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888490" y="3973195"/>
            <a:ext cx="1289685" cy="386080"/>
            <a:chOff x="2904" y="2365"/>
            <a:chExt cx="2031" cy="608"/>
          </a:xfrm>
        </p:grpSpPr>
        <p:sp>
          <p:nvSpPr>
            <p:cNvPr id="28" name="圆角矩形 27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AC[3]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541395" y="3955415"/>
            <a:ext cx="1289685" cy="386080"/>
            <a:chOff x="2904" y="2365"/>
            <a:chExt cx="2031" cy="608"/>
          </a:xfrm>
        </p:grpSpPr>
        <p:sp>
          <p:nvSpPr>
            <p:cNvPr id="31" name="圆角矩形 30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BC[2]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888490" y="5231765"/>
            <a:ext cx="1289685" cy="386080"/>
            <a:chOff x="2904" y="2365"/>
            <a:chExt cx="2031" cy="608"/>
          </a:xfrm>
        </p:grpSpPr>
        <p:sp>
          <p:nvSpPr>
            <p:cNvPr id="34" name="圆角矩形 33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ABC[3]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2054225" y="5961380"/>
            <a:ext cx="9296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Lable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8529320" y="5943600"/>
            <a:ext cx="9296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Index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7" name="右箭头 86"/>
          <p:cNvSpPr/>
          <p:nvPr/>
        </p:nvSpPr>
        <p:spPr>
          <a:xfrm>
            <a:off x="5278120" y="3325495"/>
            <a:ext cx="974725" cy="47053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grpSp>
        <p:nvGrpSpPr>
          <p:cNvPr id="88" name="组合 87"/>
          <p:cNvGrpSpPr/>
          <p:nvPr/>
        </p:nvGrpSpPr>
        <p:grpSpPr>
          <a:xfrm>
            <a:off x="8324850" y="1804670"/>
            <a:ext cx="1338580" cy="386080"/>
            <a:chOff x="2903" y="2365"/>
            <a:chExt cx="2108" cy="608"/>
          </a:xfrm>
        </p:grpSpPr>
        <p:sp>
          <p:nvSpPr>
            <p:cNvPr id="89" name="圆角矩形 88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2903" y="2365"/>
              <a:ext cx="210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:Empty[17]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6704965" y="2936240"/>
            <a:ext cx="1289685" cy="386080"/>
            <a:chOff x="2904" y="2365"/>
            <a:chExt cx="2031" cy="608"/>
          </a:xfrm>
        </p:grpSpPr>
        <p:sp>
          <p:nvSpPr>
            <p:cNvPr id="92" name="圆角矩形 91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A[10]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8281035" y="2933065"/>
            <a:ext cx="1289685" cy="386080"/>
            <a:chOff x="2904" y="2365"/>
            <a:chExt cx="2031" cy="608"/>
          </a:xfrm>
        </p:grpSpPr>
        <p:sp>
          <p:nvSpPr>
            <p:cNvPr id="95" name="圆角矩形 94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3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B[7]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9933940" y="2933065"/>
            <a:ext cx="1289685" cy="386080"/>
            <a:chOff x="2904" y="2365"/>
            <a:chExt cx="2031" cy="608"/>
          </a:xfrm>
        </p:grpSpPr>
        <p:sp>
          <p:nvSpPr>
            <p:cNvPr id="98" name="圆角矩形 97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4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C[9]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6713220" y="3963035"/>
            <a:ext cx="1289685" cy="386080"/>
            <a:chOff x="2904" y="2365"/>
            <a:chExt cx="2031" cy="608"/>
          </a:xfrm>
        </p:grpSpPr>
        <p:sp>
          <p:nvSpPr>
            <p:cNvPr id="101" name="圆角矩形 100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5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AB[4]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8281035" y="3955415"/>
            <a:ext cx="1289685" cy="386080"/>
            <a:chOff x="2904" y="2365"/>
            <a:chExt cx="2031" cy="608"/>
          </a:xfrm>
        </p:grpSpPr>
        <p:sp>
          <p:nvSpPr>
            <p:cNvPr id="104" name="圆角矩形 103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6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AC[6]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9933940" y="3937635"/>
            <a:ext cx="1289685" cy="386080"/>
            <a:chOff x="2904" y="2365"/>
            <a:chExt cx="2031" cy="608"/>
          </a:xfrm>
        </p:grpSpPr>
        <p:sp>
          <p:nvSpPr>
            <p:cNvPr id="107" name="圆角矩形 106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7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BC[5]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8281035" y="5213985"/>
            <a:ext cx="1289685" cy="386080"/>
            <a:chOff x="2904" y="2365"/>
            <a:chExt cx="2031" cy="608"/>
          </a:xfrm>
        </p:grpSpPr>
        <p:sp>
          <p:nvSpPr>
            <p:cNvPr id="110" name="圆角矩形 109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11" name="文本框 110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8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ABC[3]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Index S</a:t>
            </a:r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election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359410" y="1306830"/>
            <a:ext cx="12426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3155C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 &gt; 0.3</a:t>
            </a:r>
            <a:endParaRPr lang="en-US" altLang="zh-CN" sz="2800">
              <a:solidFill>
                <a:srgbClr val="3155C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5529580" y="2007870"/>
            <a:ext cx="1338580" cy="386080"/>
            <a:chOff x="2903" y="2365"/>
            <a:chExt cx="2108" cy="608"/>
          </a:xfrm>
        </p:grpSpPr>
        <p:sp>
          <p:nvSpPr>
            <p:cNvPr id="51" name="圆角矩形 50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903" y="2365"/>
              <a:ext cx="210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Empty[17]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3909695" y="3139440"/>
            <a:ext cx="1289685" cy="386080"/>
            <a:chOff x="2904" y="2365"/>
            <a:chExt cx="2031" cy="608"/>
          </a:xfrm>
        </p:grpSpPr>
        <p:sp>
          <p:nvSpPr>
            <p:cNvPr id="54" name="圆角矩形 53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A[10]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5485765" y="3136265"/>
            <a:ext cx="1289685" cy="386080"/>
            <a:chOff x="2904" y="2365"/>
            <a:chExt cx="2031" cy="608"/>
          </a:xfrm>
        </p:grpSpPr>
        <p:sp>
          <p:nvSpPr>
            <p:cNvPr id="57" name="圆角矩形 56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3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B[7]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7138670" y="3136265"/>
            <a:ext cx="1289685" cy="386080"/>
            <a:chOff x="2904" y="2365"/>
            <a:chExt cx="2031" cy="608"/>
          </a:xfrm>
        </p:grpSpPr>
        <p:sp>
          <p:nvSpPr>
            <p:cNvPr id="60" name="圆角矩形 59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4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C[9]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3917950" y="4166235"/>
            <a:ext cx="1289685" cy="386080"/>
            <a:chOff x="2904" y="2365"/>
            <a:chExt cx="2031" cy="608"/>
          </a:xfrm>
        </p:grpSpPr>
        <p:sp>
          <p:nvSpPr>
            <p:cNvPr id="63" name="圆角矩形 62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5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AB[4]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5485765" y="4158615"/>
            <a:ext cx="1289685" cy="386080"/>
            <a:chOff x="2904" y="2365"/>
            <a:chExt cx="2031" cy="608"/>
          </a:xfrm>
        </p:grpSpPr>
        <p:sp>
          <p:nvSpPr>
            <p:cNvPr id="66" name="圆角矩形 65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6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AC[6]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7138670" y="4140835"/>
            <a:ext cx="1289685" cy="386080"/>
            <a:chOff x="2904" y="2365"/>
            <a:chExt cx="2031" cy="608"/>
          </a:xfrm>
        </p:grpSpPr>
        <p:sp>
          <p:nvSpPr>
            <p:cNvPr id="69" name="圆角矩形 68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7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BC[5]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5485765" y="5417185"/>
            <a:ext cx="1289685" cy="386080"/>
            <a:chOff x="2904" y="2365"/>
            <a:chExt cx="2031" cy="608"/>
          </a:xfrm>
        </p:grpSpPr>
        <p:sp>
          <p:nvSpPr>
            <p:cNvPr id="72" name="圆角矩形 71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8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ABC[3]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86" name="文本框 85"/>
          <p:cNvSpPr txBox="1"/>
          <p:nvPr/>
        </p:nvSpPr>
        <p:spPr>
          <a:xfrm>
            <a:off x="5801360" y="6251575"/>
            <a:ext cx="9296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Index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Index S</a:t>
            </a:r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election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359410" y="1306830"/>
            <a:ext cx="12426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3155C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 &gt; 0.3</a:t>
            </a:r>
            <a:endParaRPr lang="en-US" altLang="zh-CN" sz="2800">
              <a:solidFill>
                <a:srgbClr val="3155C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5529580" y="2007870"/>
            <a:ext cx="1338580" cy="386080"/>
            <a:chOff x="2903" y="2365"/>
            <a:chExt cx="2108" cy="608"/>
          </a:xfrm>
        </p:grpSpPr>
        <p:sp>
          <p:nvSpPr>
            <p:cNvPr id="51" name="圆角矩形 50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903" y="2365"/>
              <a:ext cx="210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Empty[17]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3909695" y="3139440"/>
            <a:ext cx="1289685" cy="386080"/>
            <a:chOff x="2904" y="2365"/>
            <a:chExt cx="2031" cy="608"/>
          </a:xfrm>
        </p:grpSpPr>
        <p:sp>
          <p:nvSpPr>
            <p:cNvPr id="54" name="圆角矩形 53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A[10]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5485765" y="3136265"/>
            <a:ext cx="1289685" cy="386080"/>
            <a:chOff x="2904" y="2365"/>
            <a:chExt cx="2031" cy="608"/>
          </a:xfrm>
        </p:grpSpPr>
        <p:sp>
          <p:nvSpPr>
            <p:cNvPr id="57" name="圆角矩形 56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3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B[7]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7138670" y="3136265"/>
            <a:ext cx="1289685" cy="386080"/>
            <a:chOff x="2904" y="2365"/>
            <a:chExt cx="2031" cy="608"/>
          </a:xfrm>
        </p:grpSpPr>
        <p:sp>
          <p:nvSpPr>
            <p:cNvPr id="60" name="圆角矩形 59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4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C[9]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3917950" y="4166235"/>
            <a:ext cx="1289685" cy="386080"/>
            <a:chOff x="2904" y="2365"/>
            <a:chExt cx="2031" cy="608"/>
          </a:xfrm>
        </p:grpSpPr>
        <p:sp>
          <p:nvSpPr>
            <p:cNvPr id="63" name="圆角矩形 62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5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AB[4]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5485765" y="4158615"/>
            <a:ext cx="1289685" cy="386080"/>
            <a:chOff x="2904" y="2365"/>
            <a:chExt cx="2031" cy="608"/>
          </a:xfrm>
        </p:grpSpPr>
        <p:sp>
          <p:nvSpPr>
            <p:cNvPr id="66" name="圆角矩形 65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6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AC[6]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7138670" y="4140835"/>
            <a:ext cx="1289685" cy="386080"/>
            <a:chOff x="2904" y="2365"/>
            <a:chExt cx="2031" cy="608"/>
          </a:xfrm>
        </p:grpSpPr>
        <p:sp>
          <p:nvSpPr>
            <p:cNvPr id="69" name="圆角矩形 68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7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BC[5]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5485765" y="5417185"/>
            <a:ext cx="1289685" cy="386080"/>
            <a:chOff x="2904" y="2365"/>
            <a:chExt cx="2031" cy="608"/>
          </a:xfrm>
        </p:grpSpPr>
        <p:sp>
          <p:nvSpPr>
            <p:cNvPr id="72" name="圆角矩形 71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8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ABC[3]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86" name="文本框 85"/>
          <p:cNvSpPr txBox="1"/>
          <p:nvPr/>
        </p:nvSpPr>
        <p:spPr>
          <a:xfrm>
            <a:off x="5801360" y="6251575"/>
            <a:ext cx="9296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Index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62120" y="2755900"/>
            <a:ext cx="631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0.59</a:t>
            </a:r>
            <a:endParaRPr lang="en-US" altLang="zh-CN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526905" y="3525520"/>
            <a:ext cx="2066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10/17 ≈ 0.59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Index S</a:t>
            </a:r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election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359410" y="1306830"/>
            <a:ext cx="12426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3155C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 &gt; 0.3</a:t>
            </a:r>
            <a:endParaRPr lang="en-US" altLang="zh-CN" sz="2800">
              <a:solidFill>
                <a:srgbClr val="3155C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5529580" y="2007870"/>
            <a:ext cx="1338580" cy="386080"/>
            <a:chOff x="2903" y="2365"/>
            <a:chExt cx="2108" cy="608"/>
          </a:xfrm>
        </p:grpSpPr>
        <p:sp>
          <p:nvSpPr>
            <p:cNvPr id="51" name="圆角矩形 50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903" y="2365"/>
              <a:ext cx="210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Empty[17]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3909695" y="3139440"/>
            <a:ext cx="1289685" cy="386080"/>
            <a:chOff x="2904" y="2365"/>
            <a:chExt cx="2031" cy="608"/>
          </a:xfrm>
        </p:grpSpPr>
        <p:sp>
          <p:nvSpPr>
            <p:cNvPr id="54" name="圆角矩形 53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A[10]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5485765" y="3136265"/>
            <a:ext cx="1289685" cy="386080"/>
            <a:chOff x="2904" y="2365"/>
            <a:chExt cx="2031" cy="608"/>
          </a:xfrm>
        </p:grpSpPr>
        <p:sp>
          <p:nvSpPr>
            <p:cNvPr id="57" name="圆角矩形 56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3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B[7]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7138670" y="3136265"/>
            <a:ext cx="1289685" cy="386080"/>
            <a:chOff x="2904" y="2365"/>
            <a:chExt cx="2031" cy="608"/>
          </a:xfrm>
        </p:grpSpPr>
        <p:sp>
          <p:nvSpPr>
            <p:cNvPr id="60" name="圆角矩形 59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4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C[9]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3917950" y="4166235"/>
            <a:ext cx="1289685" cy="386080"/>
            <a:chOff x="2904" y="2365"/>
            <a:chExt cx="2031" cy="608"/>
          </a:xfrm>
        </p:grpSpPr>
        <p:sp>
          <p:nvSpPr>
            <p:cNvPr id="63" name="圆角矩形 62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5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AB[4]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5485765" y="4158615"/>
            <a:ext cx="1289685" cy="386080"/>
            <a:chOff x="2904" y="2365"/>
            <a:chExt cx="2031" cy="608"/>
          </a:xfrm>
        </p:grpSpPr>
        <p:sp>
          <p:nvSpPr>
            <p:cNvPr id="66" name="圆角矩形 65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6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AC[6]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7138670" y="4140835"/>
            <a:ext cx="1289685" cy="386080"/>
            <a:chOff x="2904" y="2365"/>
            <a:chExt cx="2031" cy="608"/>
          </a:xfrm>
        </p:grpSpPr>
        <p:sp>
          <p:nvSpPr>
            <p:cNvPr id="69" name="圆角矩形 68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7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BC[5]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5485765" y="5417185"/>
            <a:ext cx="1289685" cy="386080"/>
            <a:chOff x="2904" y="2365"/>
            <a:chExt cx="2031" cy="608"/>
          </a:xfrm>
        </p:grpSpPr>
        <p:sp>
          <p:nvSpPr>
            <p:cNvPr id="72" name="圆角矩形 71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8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ABC[3]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86" name="文本框 85"/>
          <p:cNvSpPr txBox="1"/>
          <p:nvPr/>
        </p:nvSpPr>
        <p:spPr>
          <a:xfrm>
            <a:off x="5801360" y="6251575"/>
            <a:ext cx="9296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Index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62120" y="2755900"/>
            <a:ext cx="631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0.59</a:t>
            </a:r>
            <a:endParaRPr lang="en-US" altLang="zh-CN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76925" y="2778760"/>
            <a:ext cx="631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0.41</a:t>
            </a:r>
            <a:endParaRPr lang="en-US" altLang="zh-CN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06335" y="2769870"/>
            <a:ext cx="631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0.53</a:t>
            </a:r>
            <a:endParaRPr lang="en-US" altLang="zh-CN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57875" y="3804920"/>
            <a:ext cx="631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0.35</a:t>
            </a:r>
            <a:endParaRPr lang="en-US" altLang="zh-CN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506335" y="3790315"/>
            <a:ext cx="631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0.29</a:t>
            </a:r>
            <a:endParaRPr lang="en-US" altLang="zh-CN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89425" y="3826510"/>
            <a:ext cx="631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0.24</a:t>
            </a:r>
            <a:endParaRPr lang="en-US" altLang="zh-CN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857875" y="5028565"/>
            <a:ext cx="631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0.18</a:t>
            </a:r>
            <a:endParaRPr lang="en-US" altLang="zh-CN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Index S</a:t>
            </a:r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election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359410" y="1306830"/>
            <a:ext cx="12426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3155C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 &gt; 0.3</a:t>
            </a:r>
            <a:endParaRPr lang="en-US" altLang="zh-CN" sz="2800">
              <a:solidFill>
                <a:srgbClr val="3155C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5529580" y="2007870"/>
            <a:ext cx="1338580" cy="386080"/>
            <a:chOff x="2903" y="2365"/>
            <a:chExt cx="2108" cy="608"/>
          </a:xfrm>
        </p:grpSpPr>
        <p:sp>
          <p:nvSpPr>
            <p:cNvPr id="51" name="圆角矩形 50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903" y="2365"/>
              <a:ext cx="210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Empty[17]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3909695" y="3139440"/>
            <a:ext cx="1289685" cy="386080"/>
            <a:chOff x="2904" y="2365"/>
            <a:chExt cx="2031" cy="608"/>
          </a:xfrm>
        </p:grpSpPr>
        <p:sp>
          <p:nvSpPr>
            <p:cNvPr id="54" name="圆角矩形 53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:A[10]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5485765" y="3136265"/>
            <a:ext cx="1289685" cy="386080"/>
            <a:chOff x="2904" y="2365"/>
            <a:chExt cx="2031" cy="608"/>
          </a:xfrm>
        </p:grpSpPr>
        <p:sp>
          <p:nvSpPr>
            <p:cNvPr id="57" name="圆角矩形 56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3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B[7]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7138670" y="3136265"/>
            <a:ext cx="1289685" cy="386080"/>
            <a:chOff x="2904" y="2365"/>
            <a:chExt cx="2031" cy="608"/>
          </a:xfrm>
        </p:grpSpPr>
        <p:sp>
          <p:nvSpPr>
            <p:cNvPr id="60" name="圆角矩形 59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4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C[9]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3917950" y="4166235"/>
            <a:ext cx="1289685" cy="386080"/>
            <a:chOff x="2904" y="2365"/>
            <a:chExt cx="2031" cy="608"/>
          </a:xfrm>
        </p:grpSpPr>
        <p:sp>
          <p:nvSpPr>
            <p:cNvPr id="63" name="圆角矩形 62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5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AB[4]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5485765" y="4158615"/>
            <a:ext cx="1289685" cy="386080"/>
            <a:chOff x="2904" y="2365"/>
            <a:chExt cx="2031" cy="608"/>
          </a:xfrm>
        </p:grpSpPr>
        <p:sp>
          <p:nvSpPr>
            <p:cNvPr id="66" name="圆角矩形 65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6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AC[6]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7138670" y="4140835"/>
            <a:ext cx="1289685" cy="386080"/>
            <a:chOff x="2904" y="2365"/>
            <a:chExt cx="2031" cy="608"/>
          </a:xfrm>
        </p:grpSpPr>
        <p:sp>
          <p:nvSpPr>
            <p:cNvPr id="69" name="圆角矩形 68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7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BC[5]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5485765" y="5417185"/>
            <a:ext cx="1289685" cy="386080"/>
            <a:chOff x="2904" y="2365"/>
            <a:chExt cx="2031" cy="608"/>
          </a:xfrm>
        </p:grpSpPr>
        <p:sp>
          <p:nvSpPr>
            <p:cNvPr id="72" name="圆角矩形 71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8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ABC[3]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cxnSp>
        <p:nvCxnSpPr>
          <p:cNvPr id="74" name="直接箭头连接符 73"/>
          <p:cNvCxnSpPr/>
          <p:nvPr/>
        </p:nvCxnSpPr>
        <p:spPr>
          <a:xfrm flipH="1">
            <a:off x="4592955" y="2393950"/>
            <a:ext cx="1029970" cy="74549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>
            <a:off x="6279515" y="2385060"/>
            <a:ext cx="0" cy="74231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6731000" y="2393950"/>
            <a:ext cx="969645" cy="73533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5801360" y="6251575"/>
            <a:ext cx="9296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Index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6025515" y="2397125"/>
            <a:ext cx="0" cy="174371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Index S</a:t>
            </a:r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election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359410" y="1306830"/>
            <a:ext cx="12426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3155C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 &gt; 0.3</a:t>
            </a:r>
            <a:endParaRPr lang="en-US" altLang="zh-CN" sz="2800">
              <a:solidFill>
                <a:srgbClr val="3155C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5529580" y="2007870"/>
            <a:ext cx="1338580" cy="386080"/>
            <a:chOff x="2903" y="2365"/>
            <a:chExt cx="2108" cy="608"/>
          </a:xfrm>
        </p:grpSpPr>
        <p:sp>
          <p:nvSpPr>
            <p:cNvPr id="51" name="圆角矩形 50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903" y="2365"/>
              <a:ext cx="210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:Empty[17]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3909695" y="3139440"/>
            <a:ext cx="1289685" cy="386080"/>
            <a:chOff x="2904" y="2365"/>
            <a:chExt cx="2031" cy="608"/>
          </a:xfrm>
        </p:grpSpPr>
        <p:sp>
          <p:nvSpPr>
            <p:cNvPr id="54" name="圆角矩形 53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:A[10]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5485765" y="3136265"/>
            <a:ext cx="1289685" cy="386080"/>
            <a:chOff x="2904" y="2365"/>
            <a:chExt cx="2031" cy="608"/>
          </a:xfrm>
        </p:grpSpPr>
        <p:sp>
          <p:nvSpPr>
            <p:cNvPr id="57" name="圆角矩形 56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3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B[7]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7138670" y="3136265"/>
            <a:ext cx="1289685" cy="386080"/>
            <a:chOff x="2904" y="2365"/>
            <a:chExt cx="2031" cy="608"/>
          </a:xfrm>
        </p:grpSpPr>
        <p:sp>
          <p:nvSpPr>
            <p:cNvPr id="60" name="圆角矩形 59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4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C[9]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3917950" y="4166235"/>
            <a:ext cx="1289685" cy="386080"/>
            <a:chOff x="2904" y="2365"/>
            <a:chExt cx="2031" cy="608"/>
          </a:xfrm>
        </p:grpSpPr>
        <p:sp>
          <p:nvSpPr>
            <p:cNvPr id="63" name="圆角矩形 62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5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AB[4]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5485765" y="4158615"/>
            <a:ext cx="1289685" cy="386080"/>
            <a:chOff x="2904" y="2365"/>
            <a:chExt cx="2031" cy="608"/>
          </a:xfrm>
        </p:grpSpPr>
        <p:sp>
          <p:nvSpPr>
            <p:cNvPr id="66" name="圆角矩形 65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6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AC[6]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7138670" y="4140835"/>
            <a:ext cx="1289685" cy="386080"/>
            <a:chOff x="2904" y="2365"/>
            <a:chExt cx="2031" cy="608"/>
          </a:xfrm>
        </p:grpSpPr>
        <p:sp>
          <p:nvSpPr>
            <p:cNvPr id="69" name="圆角矩形 68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7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BC[5]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5485765" y="5417185"/>
            <a:ext cx="1289685" cy="386080"/>
            <a:chOff x="2904" y="2365"/>
            <a:chExt cx="2031" cy="608"/>
          </a:xfrm>
        </p:grpSpPr>
        <p:sp>
          <p:nvSpPr>
            <p:cNvPr id="72" name="圆角矩形 71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8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ABC[3]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cxnSp>
        <p:nvCxnSpPr>
          <p:cNvPr id="74" name="直接箭头连接符 73"/>
          <p:cNvCxnSpPr/>
          <p:nvPr/>
        </p:nvCxnSpPr>
        <p:spPr>
          <a:xfrm flipH="1">
            <a:off x="4592955" y="2393950"/>
            <a:ext cx="1029970" cy="74549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>
            <a:off x="6279515" y="2385060"/>
            <a:ext cx="0" cy="74231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6731000" y="2393950"/>
            <a:ext cx="969645" cy="73533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5801360" y="6251575"/>
            <a:ext cx="9296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Index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6025515" y="2397125"/>
            <a:ext cx="0" cy="174371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H="1">
            <a:off x="4741545" y="3533140"/>
            <a:ext cx="1029970" cy="63309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endCxn id="64" idx="0"/>
          </p:cNvCxnSpPr>
          <p:nvPr/>
        </p:nvCxnSpPr>
        <p:spPr>
          <a:xfrm>
            <a:off x="4601210" y="3525520"/>
            <a:ext cx="0" cy="64071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7796530" y="3520440"/>
            <a:ext cx="0" cy="64071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6336665" y="3528060"/>
            <a:ext cx="1029970" cy="63309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4984115" y="3528060"/>
            <a:ext cx="817245" cy="63309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6585585" y="3533140"/>
            <a:ext cx="1029970" cy="188404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6731000" y="4538980"/>
            <a:ext cx="1074420" cy="87820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6019165" y="4551680"/>
            <a:ext cx="0" cy="86550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4593590" y="4559935"/>
            <a:ext cx="969645" cy="85725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4744720" y="3538220"/>
            <a:ext cx="1056640" cy="187896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6290310" y="3529330"/>
            <a:ext cx="0" cy="188785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6634480" y="3520440"/>
            <a:ext cx="981075" cy="62039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Index S</a:t>
            </a:r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election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359410" y="1306830"/>
            <a:ext cx="12426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3155C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 &gt; 0.3</a:t>
            </a:r>
            <a:endParaRPr lang="en-US" altLang="zh-CN" sz="2800">
              <a:solidFill>
                <a:srgbClr val="3155C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2312035" y="1990090"/>
            <a:ext cx="1338580" cy="386080"/>
            <a:chOff x="2903" y="2365"/>
            <a:chExt cx="2108" cy="608"/>
          </a:xfrm>
        </p:grpSpPr>
        <p:sp>
          <p:nvSpPr>
            <p:cNvPr id="51" name="圆角矩形 50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903" y="2365"/>
              <a:ext cx="210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:Empty[17]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692150" y="3121660"/>
            <a:ext cx="1289685" cy="386080"/>
            <a:chOff x="2904" y="2365"/>
            <a:chExt cx="2031" cy="608"/>
          </a:xfrm>
        </p:grpSpPr>
        <p:sp>
          <p:nvSpPr>
            <p:cNvPr id="54" name="圆角矩形 53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:A[10]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2268220" y="3118485"/>
            <a:ext cx="1289685" cy="386080"/>
            <a:chOff x="2904" y="2365"/>
            <a:chExt cx="2031" cy="608"/>
          </a:xfrm>
        </p:grpSpPr>
        <p:sp>
          <p:nvSpPr>
            <p:cNvPr id="57" name="圆角矩形 56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3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B[7]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3921125" y="3118485"/>
            <a:ext cx="1289685" cy="386080"/>
            <a:chOff x="2904" y="2365"/>
            <a:chExt cx="2031" cy="608"/>
          </a:xfrm>
        </p:grpSpPr>
        <p:sp>
          <p:nvSpPr>
            <p:cNvPr id="60" name="圆角矩形 59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4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C[9]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700405" y="4148455"/>
            <a:ext cx="1289685" cy="386080"/>
            <a:chOff x="2904" y="2365"/>
            <a:chExt cx="2031" cy="608"/>
          </a:xfrm>
        </p:grpSpPr>
        <p:sp>
          <p:nvSpPr>
            <p:cNvPr id="63" name="圆角矩形 62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5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AB[4]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2268220" y="4140835"/>
            <a:ext cx="1289685" cy="386080"/>
            <a:chOff x="2904" y="2365"/>
            <a:chExt cx="2031" cy="608"/>
          </a:xfrm>
        </p:grpSpPr>
        <p:sp>
          <p:nvSpPr>
            <p:cNvPr id="66" name="圆角矩形 65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6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AC[6]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921125" y="4123055"/>
            <a:ext cx="1289685" cy="386080"/>
            <a:chOff x="2904" y="2365"/>
            <a:chExt cx="2031" cy="608"/>
          </a:xfrm>
        </p:grpSpPr>
        <p:sp>
          <p:nvSpPr>
            <p:cNvPr id="69" name="圆角矩形 68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7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BC[5]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2268220" y="5399405"/>
            <a:ext cx="1289685" cy="386080"/>
            <a:chOff x="2904" y="2365"/>
            <a:chExt cx="2031" cy="608"/>
          </a:xfrm>
        </p:grpSpPr>
        <p:sp>
          <p:nvSpPr>
            <p:cNvPr id="72" name="圆角矩形 71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8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ABC[3]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cxnSp>
        <p:nvCxnSpPr>
          <p:cNvPr id="74" name="直接箭头连接符 73"/>
          <p:cNvCxnSpPr/>
          <p:nvPr/>
        </p:nvCxnSpPr>
        <p:spPr>
          <a:xfrm flipH="1">
            <a:off x="1375410" y="2376170"/>
            <a:ext cx="1029970" cy="74549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>
            <a:off x="3061970" y="2367280"/>
            <a:ext cx="0" cy="74231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3513455" y="2376170"/>
            <a:ext cx="969645" cy="73533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2583815" y="6233795"/>
            <a:ext cx="9296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Index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2807970" y="2379345"/>
            <a:ext cx="0" cy="174371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H="1">
            <a:off x="1524000" y="3515360"/>
            <a:ext cx="1029970" cy="63309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1383665" y="3507740"/>
            <a:ext cx="0" cy="64071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4578985" y="3502660"/>
            <a:ext cx="0" cy="64071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3119120" y="3510280"/>
            <a:ext cx="1029970" cy="63309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1766570" y="3510280"/>
            <a:ext cx="817245" cy="63309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3368040" y="3515360"/>
            <a:ext cx="1029970" cy="188404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3513455" y="4521200"/>
            <a:ext cx="1074420" cy="87820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2801620" y="4533900"/>
            <a:ext cx="0" cy="86550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1376045" y="4542155"/>
            <a:ext cx="969645" cy="85725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1527175" y="3520440"/>
            <a:ext cx="1056640" cy="187896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3072765" y="3511550"/>
            <a:ext cx="0" cy="188785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3416935" y="3502660"/>
            <a:ext cx="981075" cy="62039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1845" y="2161540"/>
            <a:ext cx="3327400" cy="36061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86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Index Selection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  <a:p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  <a:p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3690" y="1561465"/>
            <a:ext cx="111728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The expected time to obtain the top-k  label-hybrid AKNN results with PostFiltering is 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5169472" y="2296414"/>
                <a:ext cx="1851025" cy="80645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3155C6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𝑂</m:t>
                      </m:r>
                      <m:r>
                        <a:rPr lang="en-US" altLang="zh-CN" sz="2400" i="1">
                          <a:solidFill>
                            <a:srgbClr val="3155C6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altLang="zh-CN" sz="2400" i="1">
                          <a:solidFill>
                            <a:srgbClr val="3155C6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𝐶</m:t>
                      </m:r>
                      <m:r>
                        <a:rPr lang="en-US" altLang="zh-CN" sz="2400" i="1">
                          <a:solidFill>
                            <a:srgbClr val="3155C6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+ 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3155C6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3155C6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𝑘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rgbClr val="3155C6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𝑐</m:t>
                          </m:r>
                        </m:den>
                      </m:f>
                      <m:r>
                        <a:rPr lang="en-US" altLang="zh-CN" sz="2400" i="1">
                          <a:solidFill>
                            <a:srgbClr val="3155C6"/>
                          </a:solidFill>
                          <a:latin typeface="DejaVu Math TeX Gyre" panose="02000503000000000000" charset="0"/>
                          <a:ea typeface="宋体" panose="02010600030101010101" pitchFamily="2" charset="-122"/>
                          <a:cs typeface="DejaVu Math TeX Gyre" panose="02000503000000000000" charset="0"/>
                        </a:rPr>
                        <m:t>)</m:t>
                      </m:r>
                    </m:oMath>
                  </m:oMathPara>
                </a14:m>
                <a:endParaRPr lang="en-US" altLang="zh-CN" sz="2400" i="1">
                  <a:solidFill>
                    <a:srgbClr val="3155C6"/>
                  </a:solidFill>
                  <a:latin typeface="DejaVu Math TeX Gyre" panose="02000503000000000000" charset="0"/>
                  <a:ea typeface="宋体" panose="02010600030101010101" pitchFamily="2" charset="-122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9472" y="2296414"/>
                <a:ext cx="1851025" cy="806450"/>
              </a:xfrm>
              <a:prstGeom prst="rect">
                <a:avLst/>
              </a:prstGeom>
              <a:blipFill rotWithShape="1">
                <a:blip r:embed="rId1"/>
                <a:stretch>
                  <a:fillRect l="-31" t="-31" r="-278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3359785" y="3567430"/>
            <a:ext cx="7407910" cy="902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O (C): 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the cost for locating the first  neighbor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c: elastic factor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13690" y="4651375"/>
            <a:ext cx="84588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Assumption: </a:t>
            </a:r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MSNET (Monotonic Search Network)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monotonous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the trait of the neighbers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426085" y="6180455"/>
            <a:ext cx="633730" cy="360045"/>
          </a:xfrm>
          <a:prstGeom prst="rightArrow">
            <a:avLst/>
          </a:prstGeom>
          <a:solidFill>
            <a:srgbClr val="3155C6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01725" y="6060440"/>
            <a:ext cx="7486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Maximum elastic factor = Minimum query cost</a:t>
            </a:r>
            <a:endParaRPr lang="en-US" altLang="zh-CN" sz="28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86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Elastic Index Selection(EIS)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5145" y="1280795"/>
            <a:ext cx="11452860" cy="200977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en-US" altLang="zh-CN" sz="2400" b="0" i="0">
                <a:solidFill>
                  <a:srgbClr val="3155C6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Decision Problem</a:t>
            </a:r>
            <a:endParaRPr lang="en-US" altLang="zh-CN" sz="2400" b="0" i="0">
              <a:solidFill>
                <a:srgbClr val="3155C6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  <a:p>
            <a:pPr marL="0" indent="0">
              <a:lnSpc>
                <a:spcPct val="130000"/>
              </a:lnSpc>
            </a:pPr>
            <a:r>
              <a:rPr lang="en-US" altLang="zh-CN" sz="2400" b="0" i="0">
                <a:solidFill>
                  <a:schemeClr val="tx1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Whether a subset of indexes from the universal set I can be chosen such that  </a:t>
            </a:r>
            <a:endParaRPr lang="en-US" altLang="zh-CN" sz="2400" b="0" i="0">
              <a:solidFill>
                <a:schemeClr val="tx1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  <a:p>
            <a:pPr marL="0" indent="0">
              <a:lnSpc>
                <a:spcPct val="130000"/>
              </a:lnSpc>
            </a:pPr>
            <a:r>
              <a:rPr lang="en-US" altLang="zh-CN" sz="2400" b="0" i="0">
                <a:solidFill>
                  <a:schemeClr val="tx1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(1) the total space usage is within a user-specified bound </a:t>
            </a:r>
            <a:r>
              <a:rPr lang="en-US" altLang="zh-CN" sz="2400" b="0" i="1">
                <a:solidFill>
                  <a:schemeClr val="tx1"/>
                </a:solidFill>
                <a:latin typeface="Times New Roman" panose="02020603050405020304" charset="0"/>
                <a:ea typeface="Inter"/>
                <a:cs typeface="Times New Roman" panose="02020603050405020304" charset="0"/>
              </a:rPr>
              <a:t>τ</a:t>
            </a:r>
            <a:r>
              <a:rPr lang="en-US" altLang="zh-CN" sz="2400" b="0" i="0">
                <a:solidFill>
                  <a:schemeClr val="tx1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, and  </a:t>
            </a:r>
            <a:endParaRPr lang="en-US" altLang="zh-CN" sz="2400" b="0" i="0">
              <a:solidFill>
                <a:schemeClr val="tx1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  <a:p>
            <a:pPr marL="0" indent="0">
              <a:lnSpc>
                <a:spcPct val="130000"/>
              </a:lnSpc>
            </a:pPr>
            <a:r>
              <a:rPr lang="en-US" altLang="zh-CN" sz="2400" b="0" i="0">
                <a:solidFill>
                  <a:schemeClr val="tx1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(2) the elastic factor—which governs query efficiency—is at least a  given threshold </a:t>
            </a:r>
            <a:r>
              <a:rPr lang="en-US" altLang="zh-CN" sz="2400" b="0" i="1">
                <a:solidFill>
                  <a:schemeClr val="tx1"/>
                </a:solidFill>
                <a:latin typeface="Times New Roman" panose="02020603050405020304" charset="0"/>
                <a:ea typeface="Inter"/>
                <a:cs typeface="Times New Roman" panose="02020603050405020304" charset="0"/>
              </a:rPr>
              <a:t>c</a:t>
            </a:r>
            <a:r>
              <a:rPr lang="en-US" altLang="zh-CN" sz="2400" b="0" i="0">
                <a:solidFill>
                  <a:schemeClr val="tx1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.</a:t>
            </a:r>
            <a:endParaRPr lang="en-US" altLang="zh-CN" sz="2400" b="0" i="0">
              <a:solidFill>
                <a:schemeClr val="tx1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5145" y="3290570"/>
            <a:ext cx="10846435" cy="13087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742950" lvl="1" indent="-285750">
              <a:lnSpc>
                <a:spcPct val="110000"/>
              </a:lnSpc>
              <a:buFont typeface="Wingdings" panose="05000000000000000000" charset="0"/>
              <a:buChar char=""/>
            </a:pP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Efficiency-constrained Variant</a:t>
            </a:r>
            <a:r>
              <a:rPr lang="en-US" altLang="zh-CN" sz="2400">
                <a:latin typeface="Times New Roman Regular" panose="02020503050405090304" charset="0"/>
                <a:cs typeface="Times New Roman Regular" panose="02020503050405090304" charset="0"/>
              </a:rPr>
              <a:t>: given elastic factor </a:t>
            </a:r>
            <a:r>
              <a:rPr lang="en-US" altLang="zh-CN" sz="2400" i="1"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lang="en-US" altLang="zh-CN" sz="2400">
                <a:latin typeface="Times New Roman Regular" panose="02020503050405090304" charset="0"/>
                <a:cs typeface="Times New Roman Regular" panose="02020503050405090304" charset="0"/>
              </a:rPr>
              <a:t>, minimizes index space </a:t>
            </a:r>
            <a:r>
              <a:rPr lang="en-US" altLang="zh-CN" sz="2400" i="1">
                <a:latin typeface="Times New Roman" panose="02020603050405020304" charset="0"/>
                <a:ea typeface="Inter"/>
                <a:cs typeface="Times New Roman" panose="02020603050405020304" charset="0"/>
                <a:sym typeface="+mn-ea"/>
              </a:rPr>
              <a:t>τ</a:t>
            </a:r>
            <a:r>
              <a:rPr lang="en-US" altLang="zh-CN" sz="2400">
                <a:latin typeface="Times New Roman Regular" panose="02020503050405090304" charset="0"/>
                <a:ea typeface="Inter"/>
                <a:cs typeface="Times New Roman Regular" panose="02020503050405090304" charset="0"/>
                <a:sym typeface="+mn-ea"/>
              </a:rPr>
              <a:t>.</a:t>
            </a:r>
            <a:endParaRPr lang="en-US" altLang="zh-CN" sz="2400">
              <a:latin typeface="Times New Roman Regular" panose="02020503050405090304" charset="0"/>
              <a:ea typeface="Inter"/>
              <a:cs typeface="Times New Roman Regular" panose="02020503050405090304" charset="0"/>
              <a:sym typeface="+mn-ea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"/>
            </a:pPr>
            <a:endParaRPr lang="en-US" altLang="zh-CN" sz="24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742950" lvl="1" indent="-285750">
              <a:lnSpc>
                <a:spcPct val="110000"/>
              </a:lnSpc>
              <a:buFont typeface="Wingdings" panose="05000000000000000000" charset="0"/>
              <a:buChar char=""/>
            </a:pP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Space-Constrained Variant</a:t>
            </a:r>
            <a:r>
              <a:rPr lang="en-US" altLang="zh-CN" sz="2400">
                <a:latin typeface="Times New Roman Regular" panose="02020503050405090304" charset="0"/>
                <a:cs typeface="Times New Roman Regular" panose="02020503050405090304" charset="0"/>
              </a:rPr>
              <a:t>: given </a:t>
            </a:r>
            <a:r>
              <a:rPr lang="en-US" altLang="zh-CN" sz="24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index space </a:t>
            </a:r>
            <a:r>
              <a:rPr lang="en-US" altLang="zh-CN" sz="2400" i="1">
                <a:latin typeface="Times New Roman" panose="02020603050405020304" charset="0"/>
                <a:ea typeface="Inter"/>
                <a:cs typeface="Times New Roman" panose="02020603050405020304" charset="0"/>
                <a:sym typeface="+mn-ea"/>
              </a:rPr>
              <a:t>τ</a:t>
            </a:r>
            <a:r>
              <a:rPr lang="en-US" altLang="zh-CN" sz="2400">
                <a:latin typeface="Times New Roman Regular" panose="02020503050405090304" charset="0"/>
                <a:ea typeface="Inter"/>
                <a:cs typeface="Times New Roman Regular" panose="02020503050405090304" charset="0"/>
                <a:sym typeface="+mn-ea"/>
              </a:rPr>
              <a:t>, maximizes elastic factor </a:t>
            </a:r>
            <a:r>
              <a:rPr lang="en-US" altLang="zh-CN" sz="2400" i="1">
                <a:latin typeface="Times New Roman" panose="02020603050405020304" charset="0"/>
                <a:ea typeface="Inter"/>
                <a:cs typeface="Times New Roman" panose="02020603050405020304" charset="0"/>
                <a:sym typeface="+mn-ea"/>
              </a:rPr>
              <a:t>c</a:t>
            </a:r>
            <a:r>
              <a:rPr lang="en-US" altLang="zh-CN" sz="2400">
                <a:latin typeface="Times New Roman Regular" panose="02020503050405090304" charset="0"/>
                <a:cs typeface="Times New Roman Regular" panose="02020503050405090304" charset="0"/>
              </a:rPr>
              <a:t>.</a:t>
            </a:r>
            <a:endParaRPr lang="en-US" altLang="zh-CN" sz="24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9440" y="5155565"/>
            <a:ext cx="101079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Times New Roman Regular" panose="02020503050405090304" charset="0"/>
                <a:cs typeface="Times New Roman Regular" panose="02020503050405090304" charset="0"/>
              </a:rPr>
              <a:t>The EIS is NP-complete, so the two variants are NP-hard. → </a:t>
            </a:r>
            <a:r>
              <a:rPr lang="en-US" altLang="zh-CN" sz="2400">
                <a:solidFill>
                  <a:srgbClr val="3155C6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Greedy Method</a:t>
            </a:r>
            <a:endParaRPr lang="en-US" altLang="zh-CN" sz="2400">
              <a:solidFill>
                <a:srgbClr val="3155C6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86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PROBLEM SOLUTION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5145" y="1280795"/>
            <a:ext cx="11452860" cy="164147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lnSpc>
                <a:spcPct val="140000"/>
              </a:lnSpc>
              <a:buFont typeface="Wingdings" panose="05000000000000000000" charset="0"/>
              <a:buChar char=""/>
            </a:pPr>
            <a:r>
              <a:rPr lang="en-US" altLang="zh-CN" sz="2400" b="0" i="0">
                <a:solidFill>
                  <a:srgbClr val="3155C6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Method for </a:t>
            </a:r>
            <a:r>
              <a:rPr lang="en-US" altLang="zh-CN" sz="2400" b="1" i="0">
                <a:solidFill>
                  <a:srgbClr val="3155C6"/>
                </a:solidFill>
                <a:latin typeface="Times New Roman" panose="02020603050405020304" charset="0"/>
                <a:ea typeface="Inter"/>
                <a:cs typeface="Times New Roman" panose="02020603050405020304" charset="0"/>
              </a:rPr>
              <a:t>Efficiency-Constrained</a:t>
            </a:r>
            <a:r>
              <a:rPr lang="en-US" altLang="zh-CN" sz="2400" b="0" i="0">
                <a:solidFill>
                  <a:srgbClr val="3155C6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 Variant</a:t>
            </a:r>
            <a:endParaRPr lang="en-US" altLang="zh-CN" sz="2400" b="0" i="0">
              <a:solidFill>
                <a:srgbClr val="3155C6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  <a:p>
            <a:pPr marL="0" indent="0">
              <a:lnSpc>
                <a:spcPct val="140000"/>
              </a:lnSpc>
            </a:pPr>
            <a:r>
              <a:rPr lang="en-US" altLang="zh-CN" sz="2400" b="0" i="0">
                <a:solidFill>
                  <a:schemeClr val="tx1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Always include the top index (built on 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Inter"/>
                <a:cs typeface="Times New Roman" panose="02020603050405020304" charset="0"/>
              </a:rPr>
              <a:t>empty set</a:t>
            </a:r>
            <a:r>
              <a:rPr lang="en-US" altLang="zh-CN" sz="2400" b="0" i="0">
                <a:solidFill>
                  <a:schemeClr val="tx1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, covering all vectors). Then </a:t>
            </a:r>
            <a:r>
              <a:rPr lang="en-US" altLang="zh-CN" sz="2400" b="1" i="0">
                <a:solidFill>
                  <a:schemeClr val="tx1"/>
                </a:solidFill>
                <a:latin typeface="Times New Roman" panose="02020603050405020304" charset="0"/>
                <a:ea typeface="Inter"/>
                <a:cs typeface="Times New Roman" panose="02020603050405020304" charset="0"/>
              </a:rPr>
              <a:t>greedily</a:t>
            </a:r>
            <a:r>
              <a:rPr lang="en-US" altLang="zh-CN" sz="2400" b="0" i="0">
                <a:solidFill>
                  <a:schemeClr val="tx1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 add the index with the highest </a:t>
            </a:r>
            <a:r>
              <a:rPr lang="en-US" altLang="zh-CN" sz="2400" b="1" i="0">
                <a:solidFill>
                  <a:schemeClr val="tx1"/>
                </a:solidFill>
                <a:latin typeface="Times New Roman" panose="02020603050405020304" charset="0"/>
                <a:ea typeface="Inter"/>
                <a:cs typeface="Times New Roman" panose="02020603050405020304" charset="0"/>
              </a:rPr>
              <a:t>benefit</a:t>
            </a:r>
            <a:r>
              <a:rPr lang="en-US" altLang="zh-CN" sz="2400" b="0" i="0">
                <a:solidFill>
                  <a:schemeClr val="tx1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 until all queries satisfy the elastic factor threshold </a:t>
            </a:r>
            <a:r>
              <a:rPr lang="en-US" altLang="zh-CN" sz="2400" b="0" i="1">
                <a:solidFill>
                  <a:schemeClr val="tx1"/>
                </a:solidFill>
                <a:latin typeface="Times New Roman" panose="02020603050405020304" charset="0"/>
                <a:ea typeface="Inter"/>
                <a:cs typeface="Times New Roman" panose="02020603050405020304" charset="0"/>
              </a:rPr>
              <a:t>c</a:t>
            </a:r>
            <a:r>
              <a:rPr lang="en-US" altLang="zh-CN" sz="2400" b="0" i="0">
                <a:solidFill>
                  <a:schemeClr val="tx1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.</a:t>
            </a:r>
            <a:endParaRPr lang="en-US" altLang="zh-CN" sz="2400" b="0" i="0">
              <a:solidFill>
                <a:schemeClr val="tx1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86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PROBLEM SOLUTION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5145" y="963930"/>
            <a:ext cx="11452860" cy="112458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lnSpc>
                <a:spcPct val="140000"/>
              </a:lnSpc>
              <a:buFont typeface="Wingdings" panose="05000000000000000000" charset="0"/>
              <a:buChar char=""/>
            </a:pPr>
            <a:r>
              <a:rPr lang="en-US" altLang="zh-CN" sz="2400" b="0" i="0">
                <a:solidFill>
                  <a:srgbClr val="3155C6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Method for </a:t>
            </a:r>
            <a:r>
              <a:rPr lang="en-US" altLang="zh-CN" sz="2400" b="1" i="0">
                <a:solidFill>
                  <a:srgbClr val="3155C6"/>
                </a:solidFill>
                <a:latin typeface="Times New Roman" panose="02020603050405020304" charset="0"/>
                <a:ea typeface="Inter"/>
                <a:cs typeface="Times New Roman" panose="02020603050405020304" charset="0"/>
              </a:rPr>
              <a:t>Efficiency-Constrained</a:t>
            </a:r>
            <a:r>
              <a:rPr lang="en-US" altLang="zh-CN" sz="2400" b="0" i="0">
                <a:solidFill>
                  <a:srgbClr val="3155C6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 Variant</a:t>
            </a:r>
            <a:endParaRPr lang="en-US" altLang="zh-CN" sz="2400" b="0" i="0">
              <a:solidFill>
                <a:srgbClr val="3155C6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  <a:p>
            <a:pPr marL="0" indent="0">
              <a:lnSpc>
                <a:spcPct val="140000"/>
              </a:lnSpc>
            </a:pPr>
            <a:endParaRPr lang="en-US" altLang="zh-CN" sz="2400" b="0" i="0">
              <a:solidFill>
                <a:schemeClr val="tx1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77545" y="1566545"/>
            <a:ext cx="12426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3155C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 &gt; 0.3</a:t>
            </a:r>
            <a:endParaRPr lang="en-US" altLang="zh-CN" sz="2800">
              <a:solidFill>
                <a:srgbClr val="3155C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499360" y="2312035"/>
            <a:ext cx="1338580" cy="386080"/>
            <a:chOff x="2903" y="2365"/>
            <a:chExt cx="2108" cy="608"/>
          </a:xfrm>
        </p:grpSpPr>
        <p:sp>
          <p:nvSpPr>
            <p:cNvPr id="26" name="圆角矩形 25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2903" y="2365"/>
              <a:ext cx="210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Empty[17]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79475" y="3443605"/>
            <a:ext cx="1289685" cy="386080"/>
            <a:chOff x="2904" y="2365"/>
            <a:chExt cx="2031" cy="608"/>
          </a:xfrm>
        </p:grpSpPr>
        <p:sp>
          <p:nvSpPr>
            <p:cNvPr id="29" name="圆角矩形 28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:A[10]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2455545" y="3440430"/>
            <a:ext cx="1289685" cy="386080"/>
            <a:chOff x="2904" y="2365"/>
            <a:chExt cx="2031" cy="608"/>
          </a:xfrm>
        </p:grpSpPr>
        <p:sp>
          <p:nvSpPr>
            <p:cNvPr id="32" name="圆角矩形 31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3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B[7]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4108450" y="3440430"/>
            <a:ext cx="1289685" cy="386080"/>
            <a:chOff x="2904" y="2365"/>
            <a:chExt cx="2031" cy="608"/>
          </a:xfrm>
        </p:grpSpPr>
        <p:sp>
          <p:nvSpPr>
            <p:cNvPr id="35" name="圆角矩形 34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4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C[9]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887730" y="4470400"/>
            <a:ext cx="1289685" cy="386080"/>
            <a:chOff x="2904" y="2365"/>
            <a:chExt cx="2031" cy="608"/>
          </a:xfrm>
        </p:grpSpPr>
        <p:sp>
          <p:nvSpPr>
            <p:cNvPr id="38" name="圆角矩形 37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5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AB[4]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2455545" y="4462780"/>
            <a:ext cx="1289685" cy="386080"/>
            <a:chOff x="2904" y="2365"/>
            <a:chExt cx="2031" cy="608"/>
          </a:xfrm>
        </p:grpSpPr>
        <p:sp>
          <p:nvSpPr>
            <p:cNvPr id="41" name="圆角矩形 40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6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AC[6]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4108450" y="4445000"/>
            <a:ext cx="1289685" cy="386080"/>
            <a:chOff x="2904" y="2365"/>
            <a:chExt cx="2031" cy="608"/>
          </a:xfrm>
        </p:grpSpPr>
        <p:sp>
          <p:nvSpPr>
            <p:cNvPr id="44" name="圆角矩形 43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7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BC[5]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2455545" y="5721350"/>
            <a:ext cx="1289685" cy="386080"/>
            <a:chOff x="2904" y="2365"/>
            <a:chExt cx="2031" cy="608"/>
          </a:xfrm>
        </p:grpSpPr>
        <p:sp>
          <p:nvSpPr>
            <p:cNvPr id="47" name="圆角矩形 46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8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ABC[3]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cxnSp>
        <p:nvCxnSpPr>
          <p:cNvPr id="77" name="直接箭头连接符 76"/>
          <p:cNvCxnSpPr/>
          <p:nvPr/>
        </p:nvCxnSpPr>
        <p:spPr>
          <a:xfrm flipH="1">
            <a:off x="1562735" y="2698115"/>
            <a:ext cx="1029970" cy="74549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/>
        </p:nvCxnSpPr>
        <p:spPr>
          <a:xfrm>
            <a:off x="3249295" y="2689225"/>
            <a:ext cx="0" cy="74231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/>
          <p:nvPr/>
        </p:nvCxnSpPr>
        <p:spPr>
          <a:xfrm>
            <a:off x="3700780" y="2698115"/>
            <a:ext cx="969645" cy="73533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>
            <a:off x="2995295" y="2701290"/>
            <a:ext cx="0" cy="174371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文本框 81"/>
              <p:cNvSpPr txBox="1"/>
              <p:nvPr/>
            </p:nvSpPr>
            <p:spPr>
              <a:xfrm>
                <a:off x="6458585" y="1724025"/>
                <a:ext cx="3709035" cy="639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400">
                    <a:latin typeface="Times New Roman Regular" panose="02020503050405090304" charset="0"/>
                    <a:cs typeface="Times New Roman Regular" panose="02020503050405090304" charset="0"/>
                  </a:rPr>
                  <a:t>Benefit: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Times New Roman Regular" panose="02020503050405090304" charset="0"/>
                        <a:cs typeface="Times New Roman Regular" panose="02020503050405090304" charset="0"/>
                      </a:rPr>
                      <m:t>  </m:t>
                    </m:r>
                    <m:f>
                      <m:fPr>
                        <m:ctrlPr>
                          <a:rPr lang="en-US" altLang="zh-CN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𝑎𝑑𝑑𝑒𝑑</m:t>
                        </m:r>
                        <m:r>
                          <a:rPr lang="en-US" altLang="zh-CN" sz="2400" i="1">
                            <a:latin typeface="DejaVu Math TeX Gyre" panose="02000503000000000000" charset="0"/>
                            <a:ea typeface="宋体" panose="02010600030101010101" pitchFamily="2" charset="-122"/>
                            <a:cs typeface="DejaVu Math TeX Gyre" panose="02000503000000000000" charset="0"/>
                          </a:rPr>
                          <m:t> </m:t>
                        </m:r>
                        <m:r>
                          <a:rPr lang="en-US" altLang="zh-CN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𝑣𝑎𝑙𝑢𝑒</m:t>
                        </m:r>
                      </m:num>
                      <m:den>
                        <m:r>
                          <a:rPr lang="en-US" altLang="zh-CN" sz="2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𝑐𝑜𝑠𝑡</m:t>
                        </m:r>
                      </m:den>
                    </m:f>
                  </m:oMath>
                </a14:m>
                <a:r>
                  <a:rPr lang="en-US" altLang="zh-CN" sz="2400">
                    <a:latin typeface="Times New Roman Regular" panose="02020503050405090304" charset="0"/>
                    <a:cs typeface="Times New Roman Regular" panose="02020503050405090304" charset="0"/>
                  </a:rPr>
                  <a:t> </a:t>
                </a:r>
                <a:endParaRPr lang="en-US" altLang="zh-CN" sz="2400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</mc:Choice>
        <mc:Fallback>
          <p:sp>
            <p:nvSpPr>
              <p:cNvPr id="82" name="文本框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585" y="1724025"/>
                <a:ext cx="3709035" cy="63944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文本框 82"/>
          <p:cNvSpPr txBox="1"/>
          <p:nvPr/>
        </p:nvSpPr>
        <p:spPr>
          <a:xfrm>
            <a:off x="6458585" y="3190875"/>
            <a:ext cx="484314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added value: 17+10+7+9+6 = 49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cost: 17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B: 49/17 = 2.88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6458585" y="2663190"/>
            <a:ext cx="4182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"/>
            </a:pPr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Init Round (e.g. I</a:t>
            </a:r>
            <a:r>
              <a:rPr lang="en-US" altLang="zh-CN" sz="2400" baseline="-250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86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PROBLEM SOLUTION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5145" y="963930"/>
            <a:ext cx="11452860" cy="112458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lnSpc>
                <a:spcPct val="140000"/>
              </a:lnSpc>
              <a:buFont typeface="Wingdings" panose="05000000000000000000" charset="0"/>
              <a:buChar char=""/>
            </a:pPr>
            <a:r>
              <a:rPr lang="en-US" altLang="zh-CN" sz="2400" b="0" i="0">
                <a:solidFill>
                  <a:srgbClr val="3155C6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Method for </a:t>
            </a:r>
            <a:r>
              <a:rPr lang="en-US" altLang="zh-CN" sz="2400" b="1" i="0">
                <a:solidFill>
                  <a:srgbClr val="3155C6"/>
                </a:solidFill>
                <a:latin typeface="Times New Roman" panose="02020603050405020304" charset="0"/>
                <a:ea typeface="Inter"/>
                <a:cs typeface="Times New Roman" panose="02020603050405020304" charset="0"/>
              </a:rPr>
              <a:t>Efficiency-Constrained</a:t>
            </a:r>
            <a:r>
              <a:rPr lang="en-US" altLang="zh-CN" sz="2400" b="0" i="0">
                <a:solidFill>
                  <a:srgbClr val="3155C6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 Variant</a:t>
            </a:r>
            <a:endParaRPr lang="en-US" altLang="zh-CN" sz="2400" b="0" i="0">
              <a:solidFill>
                <a:srgbClr val="3155C6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  <a:p>
            <a:pPr marL="0" indent="0">
              <a:lnSpc>
                <a:spcPct val="140000"/>
              </a:lnSpc>
            </a:pPr>
            <a:endParaRPr lang="en-US" altLang="zh-CN" sz="2400" b="0" i="0">
              <a:solidFill>
                <a:schemeClr val="tx1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77545" y="1566545"/>
            <a:ext cx="12426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3155C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 &gt; 0.3</a:t>
            </a:r>
            <a:endParaRPr lang="en-US" altLang="zh-CN" sz="2800">
              <a:solidFill>
                <a:srgbClr val="3155C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2460625" y="2314575"/>
            <a:ext cx="1338580" cy="386080"/>
            <a:chOff x="2903" y="2365"/>
            <a:chExt cx="2108" cy="608"/>
          </a:xfrm>
        </p:grpSpPr>
        <p:sp>
          <p:nvSpPr>
            <p:cNvPr id="27" name="圆角矩形 26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2903" y="2365"/>
              <a:ext cx="210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Empty[17]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840740" y="3446145"/>
            <a:ext cx="1289685" cy="386080"/>
            <a:chOff x="2904" y="2365"/>
            <a:chExt cx="2031" cy="608"/>
          </a:xfrm>
        </p:grpSpPr>
        <p:sp>
          <p:nvSpPr>
            <p:cNvPr id="30" name="圆角矩形 29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:A[10]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2416810" y="3442970"/>
            <a:ext cx="1289685" cy="386080"/>
            <a:chOff x="2904" y="2365"/>
            <a:chExt cx="2031" cy="608"/>
          </a:xfrm>
        </p:grpSpPr>
        <p:sp>
          <p:nvSpPr>
            <p:cNvPr id="33" name="圆角矩形 32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3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B[7]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069715" y="3442970"/>
            <a:ext cx="1289685" cy="386080"/>
            <a:chOff x="2904" y="2365"/>
            <a:chExt cx="2031" cy="608"/>
          </a:xfrm>
        </p:grpSpPr>
        <p:sp>
          <p:nvSpPr>
            <p:cNvPr id="36" name="圆角矩形 35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4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C[9]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848995" y="4472940"/>
            <a:ext cx="1289685" cy="386080"/>
            <a:chOff x="2904" y="2365"/>
            <a:chExt cx="2031" cy="608"/>
          </a:xfrm>
        </p:grpSpPr>
        <p:sp>
          <p:nvSpPr>
            <p:cNvPr id="39" name="圆角矩形 38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5</a:t>
              </a:r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</a:rPr>
                <a:t>AB[4]</a:t>
              </a:r>
              <a:endParaRPr lang="en-US" altLang="zh-CN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2416810" y="4465320"/>
            <a:ext cx="1289685" cy="386080"/>
            <a:chOff x="2904" y="2365"/>
            <a:chExt cx="2031" cy="608"/>
          </a:xfrm>
        </p:grpSpPr>
        <p:sp>
          <p:nvSpPr>
            <p:cNvPr id="42" name="圆角矩形 41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6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AC[6]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4069715" y="4447540"/>
            <a:ext cx="1289685" cy="386080"/>
            <a:chOff x="2904" y="2365"/>
            <a:chExt cx="2031" cy="608"/>
          </a:xfrm>
        </p:grpSpPr>
        <p:sp>
          <p:nvSpPr>
            <p:cNvPr id="45" name="圆角矩形 44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7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BC[5]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2416810" y="5723890"/>
            <a:ext cx="1289685" cy="386080"/>
            <a:chOff x="2904" y="2365"/>
            <a:chExt cx="2031" cy="608"/>
          </a:xfrm>
        </p:grpSpPr>
        <p:sp>
          <p:nvSpPr>
            <p:cNvPr id="48" name="圆角矩形 47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8</a:t>
              </a:r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</a:rPr>
                <a:t>ABC[3]</a:t>
              </a:r>
              <a:endParaRPr lang="en-US" altLang="zh-CN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cxnSp>
        <p:nvCxnSpPr>
          <p:cNvPr id="78" name="直接箭头连接符 77"/>
          <p:cNvCxnSpPr/>
          <p:nvPr/>
        </p:nvCxnSpPr>
        <p:spPr>
          <a:xfrm flipH="1">
            <a:off x="1524000" y="2700655"/>
            <a:ext cx="1029970" cy="74549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/>
          <p:nvPr/>
        </p:nvCxnSpPr>
        <p:spPr>
          <a:xfrm>
            <a:off x="3210560" y="2691765"/>
            <a:ext cx="0" cy="74231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>
            <a:off x="3662045" y="2700655"/>
            <a:ext cx="969645" cy="73533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>
            <a:off x="2956560" y="2703830"/>
            <a:ext cx="0" cy="174371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6505575" y="2209165"/>
            <a:ext cx="4182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"/>
            </a:pPr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Second Round (e.g. I</a:t>
            </a:r>
            <a:r>
              <a:rPr lang="en-US" altLang="zh-CN" sz="2400" baseline="-250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1524000" y="3832225"/>
            <a:ext cx="0" cy="633095"/>
          </a:xfrm>
          <a:prstGeom prst="straightConnector1">
            <a:avLst/>
          </a:prstGeom>
          <a:ln>
            <a:solidFill>
              <a:srgbClr val="FFC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1732915" y="3823335"/>
            <a:ext cx="1223645" cy="1900555"/>
          </a:xfrm>
          <a:prstGeom prst="straightConnector1">
            <a:avLst/>
          </a:prstGeom>
          <a:ln>
            <a:solidFill>
              <a:srgbClr val="FFC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1986915" y="3830320"/>
            <a:ext cx="567055" cy="617220"/>
          </a:xfrm>
          <a:prstGeom prst="straightConnector1">
            <a:avLst/>
          </a:prstGeom>
          <a:ln>
            <a:solidFill>
              <a:srgbClr val="FFC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550660" y="2935605"/>
            <a:ext cx="306006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added value: 4+3 = 7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cost: 10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B: 7/10 = 0.7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86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PROBLEM SOLUTION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5145" y="963930"/>
            <a:ext cx="11452860" cy="112458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lnSpc>
                <a:spcPct val="140000"/>
              </a:lnSpc>
              <a:buFont typeface="Wingdings" panose="05000000000000000000" charset="0"/>
              <a:buChar char=""/>
            </a:pPr>
            <a:r>
              <a:rPr lang="en-US" altLang="zh-CN" sz="2400" b="0" i="0">
                <a:solidFill>
                  <a:srgbClr val="3155C6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Method for </a:t>
            </a:r>
            <a:r>
              <a:rPr lang="en-US" altLang="zh-CN" sz="2400" b="1" i="0">
                <a:solidFill>
                  <a:srgbClr val="3155C6"/>
                </a:solidFill>
                <a:latin typeface="Times New Roman" panose="02020603050405020304" charset="0"/>
                <a:ea typeface="Inter"/>
                <a:cs typeface="Times New Roman" panose="02020603050405020304" charset="0"/>
              </a:rPr>
              <a:t>Efficiency-Constrained</a:t>
            </a:r>
            <a:r>
              <a:rPr lang="en-US" altLang="zh-CN" sz="2400" b="0" i="0">
                <a:solidFill>
                  <a:srgbClr val="3155C6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 Variant</a:t>
            </a:r>
            <a:endParaRPr lang="en-US" altLang="zh-CN" sz="2400" b="0" i="0">
              <a:solidFill>
                <a:srgbClr val="3155C6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  <a:p>
            <a:pPr marL="0" indent="0">
              <a:lnSpc>
                <a:spcPct val="140000"/>
              </a:lnSpc>
            </a:pPr>
            <a:endParaRPr lang="en-US" altLang="zh-CN" sz="2400" b="0" i="0">
              <a:solidFill>
                <a:schemeClr val="tx1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8030" y="2847340"/>
            <a:ext cx="2249170" cy="243776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77545" y="1566545"/>
            <a:ext cx="12426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3155C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 &gt; 0.3</a:t>
            </a:r>
            <a:endParaRPr lang="en-US" altLang="zh-CN" sz="2800">
              <a:solidFill>
                <a:srgbClr val="3155C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8634095" y="2697480"/>
            <a:ext cx="2011680" cy="2423327"/>
            <a:chOff x="12981" y="5080"/>
            <a:chExt cx="2508" cy="3021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rcRect l="41868" t="20808" r="30748" b="6044"/>
            <a:stretch>
              <a:fillRect/>
            </a:stretch>
          </p:blipFill>
          <p:spPr>
            <a:xfrm>
              <a:off x="13381" y="5080"/>
              <a:ext cx="2108" cy="2953"/>
            </a:xfrm>
            <a:prstGeom prst="rect">
              <a:avLst/>
            </a:prstGeom>
          </p:spPr>
        </p:pic>
        <p:pic>
          <p:nvPicPr>
            <p:cNvPr id="82" name="图片 81"/>
            <p:cNvPicPr>
              <a:picLocks noChangeAspect="1"/>
            </p:cNvPicPr>
            <p:nvPr/>
          </p:nvPicPr>
          <p:blipFill>
            <a:blip r:embed="rId2"/>
            <a:srcRect l="1741" t="29122" r="89257" b="4830"/>
            <a:stretch>
              <a:fillRect/>
            </a:stretch>
          </p:blipFill>
          <p:spPr>
            <a:xfrm>
              <a:off x="12981" y="5435"/>
              <a:ext cx="693" cy="2666"/>
            </a:xfrm>
            <a:prstGeom prst="rect">
              <a:avLst/>
            </a:prstGeom>
          </p:spPr>
        </p:pic>
      </p:grpSp>
      <p:sp>
        <p:nvSpPr>
          <p:cNvPr id="126" name="文本框 125"/>
          <p:cNvSpPr txBox="1"/>
          <p:nvPr/>
        </p:nvSpPr>
        <p:spPr>
          <a:xfrm>
            <a:off x="5935345" y="2209165"/>
            <a:ext cx="4182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"/>
            </a:pPr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Second Round (e.g. I</a:t>
            </a:r>
            <a:r>
              <a:rPr lang="en-US" altLang="zh-CN" sz="2400" baseline="-250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10645775" y="38417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endParaRPr lang="zh-CN" altLang="en-US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8" name="组合 127"/>
          <p:cNvGrpSpPr/>
          <p:nvPr/>
        </p:nvGrpSpPr>
        <p:grpSpPr>
          <a:xfrm>
            <a:off x="2460625" y="2314575"/>
            <a:ext cx="1338580" cy="386080"/>
            <a:chOff x="2903" y="2365"/>
            <a:chExt cx="2108" cy="608"/>
          </a:xfrm>
        </p:grpSpPr>
        <p:sp>
          <p:nvSpPr>
            <p:cNvPr id="129" name="圆角矩形 128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30" name="文本框 129"/>
            <p:cNvSpPr txBox="1"/>
            <p:nvPr/>
          </p:nvSpPr>
          <p:spPr>
            <a:xfrm>
              <a:off x="2903" y="2365"/>
              <a:ext cx="210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Empty[17]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31" name="组合 130"/>
          <p:cNvGrpSpPr/>
          <p:nvPr/>
        </p:nvGrpSpPr>
        <p:grpSpPr>
          <a:xfrm>
            <a:off x="840740" y="3446145"/>
            <a:ext cx="1289685" cy="386080"/>
            <a:chOff x="2904" y="2365"/>
            <a:chExt cx="2031" cy="608"/>
          </a:xfrm>
        </p:grpSpPr>
        <p:sp>
          <p:nvSpPr>
            <p:cNvPr id="132" name="圆角矩形 131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33" name="文本框 132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:A[10]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2416810" y="3442970"/>
            <a:ext cx="1289685" cy="386080"/>
            <a:chOff x="2904" y="2365"/>
            <a:chExt cx="2031" cy="608"/>
          </a:xfrm>
        </p:grpSpPr>
        <p:sp>
          <p:nvSpPr>
            <p:cNvPr id="135" name="圆角矩形 134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36" name="文本框 135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3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B[7]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37" name="组合 136"/>
          <p:cNvGrpSpPr/>
          <p:nvPr/>
        </p:nvGrpSpPr>
        <p:grpSpPr>
          <a:xfrm>
            <a:off x="4069715" y="3442970"/>
            <a:ext cx="1289685" cy="386080"/>
            <a:chOff x="2904" y="2365"/>
            <a:chExt cx="2031" cy="608"/>
          </a:xfrm>
        </p:grpSpPr>
        <p:sp>
          <p:nvSpPr>
            <p:cNvPr id="138" name="圆角矩形 137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39" name="文本框 138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4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C[9]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40" name="组合 139"/>
          <p:cNvGrpSpPr/>
          <p:nvPr/>
        </p:nvGrpSpPr>
        <p:grpSpPr>
          <a:xfrm>
            <a:off x="848995" y="4472940"/>
            <a:ext cx="1289685" cy="386080"/>
            <a:chOff x="2904" y="2365"/>
            <a:chExt cx="2031" cy="608"/>
          </a:xfrm>
        </p:grpSpPr>
        <p:sp>
          <p:nvSpPr>
            <p:cNvPr id="141" name="圆角矩形 140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42" name="文本框 141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5</a:t>
              </a:r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</a:rPr>
                <a:t>AB[4]</a:t>
              </a:r>
              <a:endParaRPr lang="en-US" altLang="zh-CN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2416810" y="4465320"/>
            <a:ext cx="1289685" cy="386080"/>
            <a:chOff x="2904" y="2365"/>
            <a:chExt cx="2031" cy="608"/>
          </a:xfrm>
        </p:grpSpPr>
        <p:sp>
          <p:nvSpPr>
            <p:cNvPr id="144" name="圆角矩形 143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45" name="文本框 144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6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AC[6]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46" name="组合 145"/>
          <p:cNvGrpSpPr/>
          <p:nvPr/>
        </p:nvGrpSpPr>
        <p:grpSpPr>
          <a:xfrm>
            <a:off x="4069715" y="4447540"/>
            <a:ext cx="1289685" cy="386080"/>
            <a:chOff x="2904" y="2365"/>
            <a:chExt cx="2031" cy="608"/>
          </a:xfrm>
        </p:grpSpPr>
        <p:sp>
          <p:nvSpPr>
            <p:cNvPr id="147" name="圆角矩形 146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48" name="文本框 147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7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BC[5]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49" name="组合 148"/>
          <p:cNvGrpSpPr/>
          <p:nvPr/>
        </p:nvGrpSpPr>
        <p:grpSpPr>
          <a:xfrm>
            <a:off x="2416810" y="5723890"/>
            <a:ext cx="1289685" cy="386080"/>
            <a:chOff x="2904" y="2365"/>
            <a:chExt cx="2031" cy="608"/>
          </a:xfrm>
        </p:grpSpPr>
        <p:sp>
          <p:nvSpPr>
            <p:cNvPr id="150" name="圆角矩形 149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51" name="文本框 150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8</a:t>
              </a:r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</a:rPr>
                <a:t>ABC[3]</a:t>
              </a:r>
              <a:endParaRPr lang="en-US" altLang="zh-CN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cxnSp>
        <p:nvCxnSpPr>
          <p:cNvPr id="152" name="直接箭头连接符 151"/>
          <p:cNvCxnSpPr/>
          <p:nvPr/>
        </p:nvCxnSpPr>
        <p:spPr>
          <a:xfrm flipH="1">
            <a:off x="1524000" y="2700655"/>
            <a:ext cx="1029970" cy="74549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3" name="直接箭头连接符 152"/>
          <p:cNvCxnSpPr/>
          <p:nvPr/>
        </p:nvCxnSpPr>
        <p:spPr>
          <a:xfrm>
            <a:off x="3210560" y="2691765"/>
            <a:ext cx="0" cy="74231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4" name="直接箭头连接符 153"/>
          <p:cNvCxnSpPr/>
          <p:nvPr/>
        </p:nvCxnSpPr>
        <p:spPr>
          <a:xfrm>
            <a:off x="3662045" y="2700655"/>
            <a:ext cx="969645" cy="73533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5" name="直接箭头连接符 154"/>
          <p:cNvCxnSpPr/>
          <p:nvPr/>
        </p:nvCxnSpPr>
        <p:spPr>
          <a:xfrm>
            <a:off x="2956560" y="2703830"/>
            <a:ext cx="0" cy="174371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9" name="直接箭头连接符 158"/>
          <p:cNvCxnSpPr>
            <a:endCxn id="151" idx="0"/>
          </p:cNvCxnSpPr>
          <p:nvPr/>
        </p:nvCxnSpPr>
        <p:spPr>
          <a:xfrm>
            <a:off x="1524000" y="4852035"/>
            <a:ext cx="1576070" cy="871855"/>
          </a:xfrm>
          <a:prstGeom prst="straightConnector1">
            <a:avLst/>
          </a:prstGeom>
          <a:ln>
            <a:solidFill>
              <a:srgbClr val="FFC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86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PROBLEM SOLUTION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5145" y="963930"/>
            <a:ext cx="11452860" cy="112458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lnSpc>
                <a:spcPct val="140000"/>
              </a:lnSpc>
              <a:buFont typeface="Wingdings" panose="05000000000000000000" charset="0"/>
              <a:buChar char=""/>
            </a:pPr>
            <a:r>
              <a:rPr lang="en-US" altLang="zh-CN" sz="2400" b="0" i="0">
                <a:solidFill>
                  <a:srgbClr val="3155C6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Method for </a:t>
            </a:r>
            <a:r>
              <a:rPr lang="en-US" altLang="zh-CN" sz="2400" b="1" i="0">
                <a:solidFill>
                  <a:srgbClr val="3155C6"/>
                </a:solidFill>
                <a:latin typeface="Times New Roman" panose="02020603050405020304" charset="0"/>
                <a:ea typeface="Inter"/>
                <a:cs typeface="Times New Roman" panose="02020603050405020304" charset="0"/>
              </a:rPr>
              <a:t>Efficiency-Constrained</a:t>
            </a:r>
            <a:r>
              <a:rPr lang="en-US" altLang="zh-CN" sz="2400" b="0" i="0">
                <a:solidFill>
                  <a:srgbClr val="3155C6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 Variant</a:t>
            </a:r>
            <a:endParaRPr lang="en-US" altLang="zh-CN" sz="2400" b="0" i="0">
              <a:solidFill>
                <a:srgbClr val="3155C6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  <a:p>
            <a:pPr marL="0" indent="0">
              <a:lnSpc>
                <a:spcPct val="140000"/>
              </a:lnSpc>
            </a:pPr>
            <a:endParaRPr lang="en-US" altLang="zh-CN" sz="2400" b="0" i="0">
              <a:solidFill>
                <a:schemeClr val="tx1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8030" y="2847340"/>
            <a:ext cx="2249170" cy="243776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77545" y="1566545"/>
            <a:ext cx="12426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3155C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 &gt; 0.3</a:t>
            </a:r>
            <a:endParaRPr lang="en-US" altLang="zh-CN" sz="2800">
              <a:solidFill>
                <a:srgbClr val="3155C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5935345" y="2209165"/>
            <a:ext cx="4182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"/>
            </a:pPr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Th</a:t>
            </a:r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ird Round (e.g. I</a:t>
            </a:r>
            <a:r>
              <a:rPr lang="en-US" altLang="zh-CN" sz="2400" baseline="-250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28" name="组合 127"/>
          <p:cNvGrpSpPr/>
          <p:nvPr/>
        </p:nvGrpSpPr>
        <p:grpSpPr>
          <a:xfrm>
            <a:off x="2460625" y="2314575"/>
            <a:ext cx="1338580" cy="386080"/>
            <a:chOff x="2903" y="2365"/>
            <a:chExt cx="2108" cy="608"/>
          </a:xfrm>
        </p:grpSpPr>
        <p:sp>
          <p:nvSpPr>
            <p:cNvPr id="129" name="圆角矩形 128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30" name="文本框 129"/>
            <p:cNvSpPr txBox="1"/>
            <p:nvPr/>
          </p:nvSpPr>
          <p:spPr>
            <a:xfrm>
              <a:off x="2903" y="2365"/>
              <a:ext cx="210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Empty[17]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31" name="组合 130"/>
          <p:cNvGrpSpPr/>
          <p:nvPr/>
        </p:nvGrpSpPr>
        <p:grpSpPr>
          <a:xfrm>
            <a:off x="840740" y="3446145"/>
            <a:ext cx="1289685" cy="386080"/>
            <a:chOff x="2904" y="2365"/>
            <a:chExt cx="2031" cy="608"/>
          </a:xfrm>
        </p:grpSpPr>
        <p:sp>
          <p:nvSpPr>
            <p:cNvPr id="132" name="圆角矩形 131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33" name="文本框 132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:A[10]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2416810" y="3442970"/>
            <a:ext cx="1289685" cy="386080"/>
            <a:chOff x="2904" y="2365"/>
            <a:chExt cx="2031" cy="608"/>
          </a:xfrm>
        </p:grpSpPr>
        <p:sp>
          <p:nvSpPr>
            <p:cNvPr id="135" name="圆角矩形 134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36" name="文本框 135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3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B[7]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37" name="组合 136"/>
          <p:cNvGrpSpPr/>
          <p:nvPr/>
        </p:nvGrpSpPr>
        <p:grpSpPr>
          <a:xfrm>
            <a:off x="4069715" y="3442970"/>
            <a:ext cx="1289685" cy="386080"/>
            <a:chOff x="2904" y="2365"/>
            <a:chExt cx="2031" cy="608"/>
          </a:xfrm>
        </p:grpSpPr>
        <p:sp>
          <p:nvSpPr>
            <p:cNvPr id="138" name="圆角矩形 137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39" name="文本框 138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4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C[9]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40" name="组合 139"/>
          <p:cNvGrpSpPr/>
          <p:nvPr/>
        </p:nvGrpSpPr>
        <p:grpSpPr>
          <a:xfrm>
            <a:off x="848995" y="4472940"/>
            <a:ext cx="1289685" cy="386080"/>
            <a:chOff x="2904" y="2365"/>
            <a:chExt cx="2031" cy="608"/>
          </a:xfrm>
        </p:grpSpPr>
        <p:sp>
          <p:nvSpPr>
            <p:cNvPr id="141" name="圆角矩形 140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42" name="文本框 141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5</a:t>
              </a:r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</a:rPr>
                <a:t>AB[4]</a:t>
              </a:r>
              <a:endParaRPr lang="en-US" altLang="zh-CN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2416810" y="4465320"/>
            <a:ext cx="1289685" cy="386080"/>
            <a:chOff x="2904" y="2365"/>
            <a:chExt cx="2031" cy="608"/>
          </a:xfrm>
        </p:grpSpPr>
        <p:sp>
          <p:nvSpPr>
            <p:cNvPr id="144" name="圆角矩形 143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45" name="文本框 144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6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AC[6]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46" name="组合 145"/>
          <p:cNvGrpSpPr/>
          <p:nvPr/>
        </p:nvGrpSpPr>
        <p:grpSpPr>
          <a:xfrm>
            <a:off x="4069715" y="4447540"/>
            <a:ext cx="1289685" cy="386080"/>
            <a:chOff x="2904" y="2365"/>
            <a:chExt cx="2031" cy="608"/>
          </a:xfrm>
        </p:grpSpPr>
        <p:sp>
          <p:nvSpPr>
            <p:cNvPr id="147" name="圆角矩形 146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48" name="文本框 147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92D05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92D05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7</a:t>
              </a:r>
              <a:r>
                <a:rPr lang="en-US" altLang="zh-CN">
                  <a:solidFill>
                    <a:srgbClr val="92D05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92D050"/>
                  </a:solidFill>
                  <a:latin typeface="Times New Roman" panose="02020603050405020304" charset="0"/>
                  <a:cs typeface="Times New Roman" panose="02020603050405020304" charset="0"/>
                </a:rPr>
                <a:t>BC[5]</a:t>
              </a:r>
              <a:endParaRPr lang="en-US" altLang="zh-CN">
                <a:solidFill>
                  <a:srgbClr val="92D05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49" name="组合 148"/>
          <p:cNvGrpSpPr/>
          <p:nvPr/>
        </p:nvGrpSpPr>
        <p:grpSpPr>
          <a:xfrm>
            <a:off x="2416810" y="5723890"/>
            <a:ext cx="1289685" cy="386080"/>
            <a:chOff x="2904" y="2365"/>
            <a:chExt cx="2031" cy="608"/>
          </a:xfrm>
        </p:grpSpPr>
        <p:sp>
          <p:nvSpPr>
            <p:cNvPr id="150" name="圆角矩形 149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51" name="文本框 150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8</a:t>
              </a:r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</a:rPr>
                <a:t>ABC[3]</a:t>
              </a:r>
              <a:endParaRPr lang="en-US" altLang="zh-CN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cxnSp>
        <p:nvCxnSpPr>
          <p:cNvPr id="152" name="直接箭头连接符 151"/>
          <p:cNvCxnSpPr/>
          <p:nvPr/>
        </p:nvCxnSpPr>
        <p:spPr>
          <a:xfrm flipH="1">
            <a:off x="1524000" y="2700655"/>
            <a:ext cx="1029970" cy="74549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3" name="直接箭头连接符 152"/>
          <p:cNvCxnSpPr/>
          <p:nvPr/>
        </p:nvCxnSpPr>
        <p:spPr>
          <a:xfrm>
            <a:off x="3210560" y="2691765"/>
            <a:ext cx="0" cy="74231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4" name="直接箭头连接符 153"/>
          <p:cNvCxnSpPr/>
          <p:nvPr/>
        </p:nvCxnSpPr>
        <p:spPr>
          <a:xfrm>
            <a:off x="3662045" y="2700655"/>
            <a:ext cx="969645" cy="73533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5" name="直接箭头连接符 154"/>
          <p:cNvCxnSpPr/>
          <p:nvPr/>
        </p:nvCxnSpPr>
        <p:spPr>
          <a:xfrm>
            <a:off x="2956560" y="2703830"/>
            <a:ext cx="0" cy="174371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9" name="直接箭头连接符 158"/>
          <p:cNvCxnSpPr>
            <a:endCxn id="151" idx="0"/>
          </p:cNvCxnSpPr>
          <p:nvPr/>
        </p:nvCxnSpPr>
        <p:spPr>
          <a:xfrm>
            <a:off x="1524000" y="4852035"/>
            <a:ext cx="1576070" cy="871855"/>
          </a:xfrm>
          <a:prstGeom prst="straightConnector1">
            <a:avLst/>
          </a:prstGeom>
          <a:ln>
            <a:solidFill>
              <a:srgbClr val="FFC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8590280" y="3176270"/>
            <a:ext cx="2087880" cy="1835150"/>
            <a:chOff x="14503" y="6795"/>
            <a:chExt cx="2771" cy="2584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rcRect l="72943" t="29895" r="1938" b="9028"/>
            <a:stretch>
              <a:fillRect/>
            </a:stretch>
          </p:blipFill>
          <p:spPr>
            <a:xfrm>
              <a:off x="15318" y="6795"/>
              <a:ext cx="1957" cy="2564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rcRect t="65507" r="88500" b="9314"/>
            <a:stretch>
              <a:fillRect/>
            </a:stretch>
          </p:blipFill>
          <p:spPr>
            <a:xfrm>
              <a:off x="14503" y="8323"/>
              <a:ext cx="896" cy="1057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rcRect t="29609" r="88500" b="43783"/>
            <a:stretch>
              <a:fillRect/>
            </a:stretch>
          </p:blipFill>
          <p:spPr>
            <a:xfrm>
              <a:off x="14503" y="6816"/>
              <a:ext cx="896" cy="1117"/>
            </a:xfrm>
            <a:prstGeom prst="rect">
              <a:avLst/>
            </a:prstGeom>
          </p:spPr>
        </p:pic>
      </p:grpSp>
      <p:sp>
        <p:nvSpPr>
          <p:cNvPr id="14" name="文本框 13"/>
          <p:cNvSpPr txBox="1"/>
          <p:nvPr/>
        </p:nvSpPr>
        <p:spPr>
          <a:xfrm>
            <a:off x="10694670" y="4447540"/>
            <a:ext cx="675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endParaRPr lang="zh-CN" altLang="en-US">
              <a:solidFill>
                <a:srgbClr val="92D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86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PROBLEM SOLUTION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5145" y="963930"/>
            <a:ext cx="11452860" cy="112458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lnSpc>
                <a:spcPct val="140000"/>
              </a:lnSpc>
              <a:buFont typeface="Wingdings" panose="05000000000000000000" charset="0"/>
              <a:buChar char=""/>
            </a:pPr>
            <a:r>
              <a:rPr lang="en-US" altLang="zh-CN" sz="2400" b="0" i="0">
                <a:solidFill>
                  <a:srgbClr val="3155C6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Method for </a:t>
            </a:r>
            <a:r>
              <a:rPr lang="en-US" altLang="zh-CN" sz="2400" b="1" i="0">
                <a:solidFill>
                  <a:srgbClr val="3155C6"/>
                </a:solidFill>
                <a:latin typeface="Times New Roman" panose="02020603050405020304" charset="0"/>
                <a:ea typeface="Inter"/>
                <a:cs typeface="Times New Roman" panose="02020603050405020304" charset="0"/>
              </a:rPr>
              <a:t>Efficiency-Constrained</a:t>
            </a:r>
            <a:r>
              <a:rPr lang="en-US" altLang="zh-CN" sz="2400" b="0" i="0">
                <a:solidFill>
                  <a:srgbClr val="3155C6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 Variant</a:t>
            </a:r>
            <a:endParaRPr lang="en-US" altLang="zh-CN" sz="2400" b="0" i="0">
              <a:solidFill>
                <a:srgbClr val="3155C6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  <a:p>
            <a:pPr marL="0" indent="0">
              <a:lnSpc>
                <a:spcPct val="140000"/>
              </a:lnSpc>
            </a:pPr>
            <a:endParaRPr lang="en-US" altLang="zh-CN" sz="2400" b="0" i="0">
              <a:solidFill>
                <a:schemeClr val="tx1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77545" y="1566545"/>
            <a:ext cx="12426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3155C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 &gt; 0.3</a:t>
            </a:r>
            <a:endParaRPr lang="en-US" altLang="zh-CN" sz="2800">
              <a:solidFill>
                <a:srgbClr val="3155C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28" name="组合 127"/>
          <p:cNvGrpSpPr/>
          <p:nvPr/>
        </p:nvGrpSpPr>
        <p:grpSpPr>
          <a:xfrm>
            <a:off x="2460625" y="2314575"/>
            <a:ext cx="1338580" cy="386080"/>
            <a:chOff x="2903" y="2365"/>
            <a:chExt cx="2108" cy="608"/>
          </a:xfrm>
        </p:grpSpPr>
        <p:sp>
          <p:nvSpPr>
            <p:cNvPr id="129" name="圆角矩形 128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30" name="文本框 129"/>
            <p:cNvSpPr txBox="1"/>
            <p:nvPr/>
          </p:nvSpPr>
          <p:spPr>
            <a:xfrm>
              <a:off x="2903" y="2365"/>
              <a:ext cx="210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Empty[17]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31" name="组合 130"/>
          <p:cNvGrpSpPr/>
          <p:nvPr/>
        </p:nvGrpSpPr>
        <p:grpSpPr>
          <a:xfrm>
            <a:off x="840740" y="3446145"/>
            <a:ext cx="1289685" cy="386080"/>
            <a:chOff x="2904" y="2365"/>
            <a:chExt cx="2031" cy="608"/>
          </a:xfrm>
        </p:grpSpPr>
        <p:sp>
          <p:nvSpPr>
            <p:cNvPr id="132" name="圆角矩形 131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33" name="文本框 132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:A[10]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2416810" y="3442970"/>
            <a:ext cx="1289685" cy="386080"/>
            <a:chOff x="2904" y="2365"/>
            <a:chExt cx="2031" cy="608"/>
          </a:xfrm>
        </p:grpSpPr>
        <p:sp>
          <p:nvSpPr>
            <p:cNvPr id="135" name="圆角矩形 134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36" name="文本框 135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3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B[7]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37" name="组合 136"/>
          <p:cNvGrpSpPr/>
          <p:nvPr/>
        </p:nvGrpSpPr>
        <p:grpSpPr>
          <a:xfrm>
            <a:off x="4069715" y="3442970"/>
            <a:ext cx="1289685" cy="386080"/>
            <a:chOff x="2904" y="2365"/>
            <a:chExt cx="2031" cy="608"/>
          </a:xfrm>
        </p:grpSpPr>
        <p:sp>
          <p:nvSpPr>
            <p:cNvPr id="138" name="圆角矩形 137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39" name="文本框 138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4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C[9]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40" name="组合 139"/>
          <p:cNvGrpSpPr/>
          <p:nvPr/>
        </p:nvGrpSpPr>
        <p:grpSpPr>
          <a:xfrm>
            <a:off x="848995" y="4472940"/>
            <a:ext cx="1289685" cy="386080"/>
            <a:chOff x="2904" y="2365"/>
            <a:chExt cx="2031" cy="608"/>
          </a:xfrm>
        </p:grpSpPr>
        <p:sp>
          <p:nvSpPr>
            <p:cNvPr id="141" name="圆角矩形 140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42" name="文本框 141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5</a:t>
              </a:r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</a:rPr>
                <a:t>AB[4]</a:t>
              </a:r>
              <a:endParaRPr lang="en-US" altLang="zh-CN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2416810" y="4465320"/>
            <a:ext cx="1289685" cy="386080"/>
            <a:chOff x="2904" y="2365"/>
            <a:chExt cx="2031" cy="608"/>
          </a:xfrm>
        </p:grpSpPr>
        <p:sp>
          <p:nvSpPr>
            <p:cNvPr id="144" name="圆角矩形 143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45" name="文本框 144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6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AC[6]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46" name="组合 145"/>
          <p:cNvGrpSpPr/>
          <p:nvPr/>
        </p:nvGrpSpPr>
        <p:grpSpPr>
          <a:xfrm>
            <a:off x="4069715" y="4447540"/>
            <a:ext cx="1289685" cy="386080"/>
            <a:chOff x="2904" y="2365"/>
            <a:chExt cx="2031" cy="608"/>
          </a:xfrm>
        </p:grpSpPr>
        <p:sp>
          <p:nvSpPr>
            <p:cNvPr id="147" name="圆角矩形 146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48" name="文本框 147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92D05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92D05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7</a:t>
              </a:r>
              <a:r>
                <a:rPr lang="en-US" altLang="zh-CN">
                  <a:solidFill>
                    <a:srgbClr val="92D05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92D050"/>
                  </a:solidFill>
                  <a:latin typeface="Times New Roman" panose="02020603050405020304" charset="0"/>
                  <a:cs typeface="Times New Roman" panose="02020603050405020304" charset="0"/>
                </a:rPr>
                <a:t>BC[5]</a:t>
              </a:r>
              <a:endParaRPr lang="en-US" altLang="zh-CN">
                <a:solidFill>
                  <a:srgbClr val="92D05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49" name="组合 148"/>
          <p:cNvGrpSpPr/>
          <p:nvPr/>
        </p:nvGrpSpPr>
        <p:grpSpPr>
          <a:xfrm>
            <a:off x="2416810" y="5723890"/>
            <a:ext cx="1289685" cy="386080"/>
            <a:chOff x="2904" y="2365"/>
            <a:chExt cx="2031" cy="608"/>
          </a:xfrm>
        </p:grpSpPr>
        <p:sp>
          <p:nvSpPr>
            <p:cNvPr id="150" name="圆角矩形 149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51" name="文本框 150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8</a:t>
              </a:r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</a:rPr>
                <a:t>ABC[3]</a:t>
              </a:r>
              <a:endParaRPr lang="en-US" altLang="zh-CN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cxnSp>
        <p:nvCxnSpPr>
          <p:cNvPr id="152" name="直接箭头连接符 151"/>
          <p:cNvCxnSpPr/>
          <p:nvPr/>
        </p:nvCxnSpPr>
        <p:spPr>
          <a:xfrm flipH="1">
            <a:off x="1524000" y="2700655"/>
            <a:ext cx="1029970" cy="74549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3" name="直接箭头连接符 152"/>
          <p:cNvCxnSpPr/>
          <p:nvPr/>
        </p:nvCxnSpPr>
        <p:spPr>
          <a:xfrm>
            <a:off x="3210560" y="2691765"/>
            <a:ext cx="0" cy="74231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4" name="直接箭头连接符 153"/>
          <p:cNvCxnSpPr/>
          <p:nvPr/>
        </p:nvCxnSpPr>
        <p:spPr>
          <a:xfrm>
            <a:off x="3662045" y="2700655"/>
            <a:ext cx="969645" cy="73533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5" name="直接箭头连接符 154"/>
          <p:cNvCxnSpPr/>
          <p:nvPr/>
        </p:nvCxnSpPr>
        <p:spPr>
          <a:xfrm>
            <a:off x="2956560" y="2703830"/>
            <a:ext cx="0" cy="174371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9" name="直接箭头连接符 158"/>
          <p:cNvCxnSpPr>
            <a:endCxn id="151" idx="0"/>
          </p:cNvCxnSpPr>
          <p:nvPr/>
        </p:nvCxnSpPr>
        <p:spPr>
          <a:xfrm>
            <a:off x="1524000" y="4852035"/>
            <a:ext cx="1576070" cy="871855"/>
          </a:xfrm>
          <a:prstGeom prst="straightConnector1">
            <a:avLst/>
          </a:prstGeom>
          <a:ln>
            <a:solidFill>
              <a:srgbClr val="FFC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282055" y="1566545"/>
            <a:ext cx="53308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However, </a:t>
            </a:r>
            <a:r>
              <a:rPr lang="en-US" altLang="zh-CN" sz="24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greedy is not the best.</a:t>
            </a:r>
            <a:r>
              <a:rPr lang="en-US" altLang="zh-CN" sz="24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endParaRPr lang="en-US" altLang="zh-CN" sz="24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20240" y="6290310"/>
            <a:ext cx="27127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cost: 17+4+5 = 26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流程图: 过程 14"/>
          <p:cNvSpPr/>
          <p:nvPr/>
        </p:nvSpPr>
        <p:spPr>
          <a:xfrm>
            <a:off x="2138680" y="2088515"/>
            <a:ext cx="1931035" cy="807720"/>
          </a:xfrm>
          <a:prstGeom prst="flowChartProcess">
            <a:avLst/>
          </a:prstGeom>
          <a:ln w="28575">
            <a:solidFill>
              <a:schemeClr val="accent4">
                <a:lumMod val="40000"/>
                <a:lumOff val="6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16" name="流程图: 过程 15"/>
          <p:cNvSpPr/>
          <p:nvPr/>
        </p:nvSpPr>
        <p:spPr>
          <a:xfrm>
            <a:off x="485775" y="4224655"/>
            <a:ext cx="1931035" cy="807720"/>
          </a:xfrm>
          <a:prstGeom prst="flowChartProcess">
            <a:avLst/>
          </a:prstGeom>
          <a:ln w="28575">
            <a:solidFill>
              <a:schemeClr val="accent4">
                <a:lumMod val="40000"/>
                <a:lumOff val="6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17" name="流程图: 过程 16"/>
          <p:cNvSpPr/>
          <p:nvPr/>
        </p:nvSpPr>
        <p:spPr>
          <a:xfrm>
            <a:off x="3765550" y="4224655"/>
            <a:ext cx="1931035" cy="807720"/>
          </a:xfrm>
          <a:prstGeom prst="flowChartProcess">
            <a:avLst/>
          </a:prstGeom>
          <a:ln w="28575">
            <a:solidFill>
              <a:schemeClr val="accent4">
                <a:lumMod val="40000"/>
                <a:lumOff val="6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8278495" y="2296795"/>
            <a:ext cx="1338580" cy="386080"/>
            <a:chOff x="2903" y="2365"/>
            <a:chExt cx="2108" cy="608"/>
          </a:xfrm>
        </p:grpSpPr>
        <p:sp>
          <p:nvSpPr>
            <p:cNvPr id="19" name="圆角矩形 18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903" y="2365"/>
              <a:ext cx="210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Empty[17]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658610" y="3428365"/>
            <a:ext cx="1289685" cy="386080"/>
            <a:chOff x="2904" y="2365"/>
            <a:chExt cx="2031" cy="608"/>
          </a:xfrm>
        </p:grpSpPr>
        <p:sp>
          <p:nvSpPr>
            <p:cNvPr id="24" name="圆角矩形 23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:A[10]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234680" y="3425190"/>
            <a:ext cx="1289685" cy="386080"/>
            <a:chOff x="2904" y="2365"/>
            <a:chExt cx="2031" cy="608"/>
          </a:xfrm>
        </p:grpSpPr>
        <p:sp>
          <p:nvSpPr>
            <p:cNvPr id="27" name="圆角矩形 26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3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B[7]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9887585" y="3425190"/>
            <a:ext cx="1289685" cy="386080"/>
            <a:chOff x="2904" y="2365"/>
            <a:chExt cx="2031" cy="608"/>
          </a:xfrm>
        </p:grpSpPr>
        <p:sp>
          <p:nvSpPr>
            <p:cNvPr id="30" name="圆角矩形 29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4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C[9]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6666865" y="4455160"/>
            <a:ext cx="1289685" cy="386080"/>
            <a:chOff x="2904" y="2365"/>
            <a:chExt cx="2031" cy="608"/>
          </a:xfrm>
        </p:grpSpPr>
        <p:sp>
          <p:nvSpPr>
            <p:cNvPr id="33" name="圆角矩形 32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5</a:t>
              </a:r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</a:rPr>
                <a:t>AB[4]</a:t>
              </a:r>
              <a:endParaRPr lang="en-US" altLang="zh-CN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8234680" y="4447540"/>
            <a:ext cx="1289685" cy="386080"/>
            <a:chOff x="2904" y="2365"/>
            <a:chExt cx="2031" cy="608"/>
          </a:xfrm>
        </p:grpSpPr>
        <p:sp>
          <p:nvSpPr>
            <p:cNvPr id="36" name="圆角矩形 35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6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3155C6"/>
                  </a:solidFill>
                  <a:latin typeface="Times New Roman" panose="02020603050405020304" charset="0"/>
                  <a:cs typeface="Times New Roman" panose="02020603050405020304" charset="0"/>
                </a:rPr>
                <a:t>AC[6]</a:t>
              </a:r>
              <a:endParaRPr lang="en-US" altLang="zh-CN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9887585" y="4429760"/>
            <a:ext cx="1289685" cy="386080"/>
            <a:chOff x="2904" y="2365"/>
            <a:chExt cx="2031" cy="608"/>
          </a:xfrm>
        </p:grpSpPr>
        <p:sp>
          <p:nvSpPr>
            <p:cNvPr id="39" name="圆角矩形 38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7</a:t>
              </a:r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</a:rPr>
                <a:t>BC[5]</a:t>
              </a:r>
              <a:endParaRPr lang="en-US" altLang="zh-CN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8234680" y="5706110"/>
            <a:ext cx="1289685" cy="386080"/>
            <a:chOff x="2904" y="2365"/>
            <a:chExt cx="2031" cy="608"/>
          </a:xfrm>
        </p:grpSpPr>
        <p:sp>
          <p:nvSpPr>
            <p:cNvPr id="42" name="圆角矩形 41"/>
            <p:cNvSpPr/>
            <p:nvPr/>
          </p:nvSpPr>
          <p:spPr>
            <a:xfrm>
              <a:off x="2904" y="2365"/>
              <a:ext cx="2031" cy="6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155C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3095" y="2365"/>
              <a:ext cx="17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</a:t>
              </a:r>
              <a:r>
                <a:rPr lang="en-US" altLang="zh-CN" baseline="-25000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8</a:t>
              </a:r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:</a:t>
              </a:r>
              <a:r>
                <a:rPr lang="en-US" altLang="zh-CN">
                  <a:solidFill>
                    <a:srgbClr val="FFC000"/>
                  </a:solidFill>
                  <a:latin typeface="Times New Roman" panose="02020603050405020304" charset="0"/>
                  <a:cs typeface="Times New Roman" panose="02020603050405020304" charset="0"/>
                </a:rPr>
                <a:t>ABC[3]</a:t>
              </a:r>
              <a:endParaRPr lang="en-US" altLang="zh-CN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cxnSp>
        <p:nvCxnSpPr>
          <p:cNvPr id="44" name="直接箭头连接符 43"/>
          <p:cNvCxnSpPr/>
          <p:nvPr/>
        </p:nvCxnSpPr>
        <p:spPr>
          <a:xfrm flipH="1">
            <a:off x="7341870" y="2682875"/>
            <a:ext cx="1029970" cy="74549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9028430" y="2673985"/>
            <a:ext cx="0" cy="742315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9479915" y="2682875"/>
            <a:ext cx="969645" cy="73533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8774430" y="2686050"/>
            <a:ext cx="0" cy="1743710"/>
          </a:xfrm>
          <a:prstGeom prst="straightConnector1">
            <a:avLst/>
          </a:prstGeom>
          <a:ln>
            <a:solidFill>
              <a:srgbClr val="3155C6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endCxn id="40" idx="0"/>
          </p:cNvCxnSpPr>
          <p:nvPr/>
        </p:nvCxnSpPr>
        <p:spPr>
          <a:xfrm>
            <a:off x="9186545" y="3811270"/>
            <a:ext cx="1384300" cy="618490"/>
          </a:xfrm>
          <a:prstGeom prst="straightConnector1">
            <a:avLst/>
          </a:prstGeom>
          <a:ln>
            <a:solidFill>
              <a:srgbClr val="FFC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endCxn id="34" idx="0"/>
          </p:cNvCxnSpPr>
          <p:nvPr/>
        </p:nvCxnSpPr>
        <p:spPr>
          <a:xfrm flipH="1">
            <a:off x="7350125" y="3814445"/>
            <a:ext cx="1278255" cy="640715"/>
          </a:xfrm>
          <a:prstGeom prst="straightConnector1">
            <a:avLst/>
          </a:prstGeom>
          <a:ln>
            <a:solidFill>
              <a:srgbClr val="FFC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9028430" y="3814445"/>
            <a:ext cx="0" cy="1891665"/>
          </a:xfrm>
          <a:prstGeom prst="straightConnector1">
            <a:avLst/>
          </a:prstGeom>
          <a:ln>
            <a:solidFill>
              <a:srgbClr val="FFC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7858125" y="6290310"/>
            <a:ext cx="27127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cost: 17+7 = 24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2" name="流程图: 过程 51"/>
          <p:cNvSpPr/>
          <p:nvPr/>
        </p:nvSpPr>
        <p:spPr>
          <a:xfrm>
            <a:off x="7956550" y="2088515"/>
            <a:ext cx="1931035" cy="807720"/>
          </a:xfrm>
          <a:prstGeom prst="flowChartProcess">
            <a:avLst/>
          </a:prstGeom>
          <a:ln w="28575">
            <a:solidFill>
              <a:schemeClr val="accent4">
                <a:lumMod val="40000"/>
                <a:lumOff val="6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53" name="流程图: 过程 52"/>
          <p:cNvSpPr/>
          <p:nvPr/>
        </p:nvSpPr>
        <p:spPr>
          <a:xfrm>
            <a:off x="7956550" y="3154045"/>
            <a:ext cx="1931035" cy="807720"/>
          </a:xfrm>
          <a:prstGeom prst="flowChartProcess">
            <a:avLst/>
          </a:prstGeom>
          <a:ln w="28575">
            <a:solidFill>
              <a:schemeClr val="accent4">
                <a:lumMod val="40000"/>
                <a:lumOff val="6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798820" y="6290310"/>
            <a:ext cx="482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&lt;</a:t>
            </a:r>
            <a:endParaRPr lang="en-US" altLang="zh-CN"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86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PROBLEM SOLUTION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5145" y="963930"/>
            <a:ext cx="11452860" cy="60769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lnSpc>
                <a:spcPct val="140000"/>
              </a:lnSpc>
              <a:buFont typeface="Wingdings" panose="05000000000000000000" charset="0"/>
              <a:buChar char=""/>
            </a:pPr>
            <a:r>
              <a:rPr lang="en-US" altLang="zh-CN" sz="2400" b="0" i="0">
                <a:solidFill>
                  <a:srgbClr val="3155C6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Method for </a:t>
            </a:r>
            <a:r>
              <a:rPr lang="en-US" altLang="zh-CN" sz="2400" b="1" i="0">
                <a:solidFill>
                  <a:srgbClr val="3155C6"/>
                </a:solidFill>
                <a:latin typeface="Times New Roman" panose="02020603050405020304" charset="0"/>
                <a:ea typeface="Inter"/>
                <a:cs typeface="Times New Roman" panose="02020603050405020304" charset="0"/>
              </a:rPr>
              <a:t>Efficiency-Constrained</a:t>
            </a:r>
            <a:r>
              <a:rPr lang="en-US" altLang="zh-CN" sz="2400" b="0" i="0">
                <a:solidFill>
                  <a:srgbClr val="3155C6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 Variant</a:t>
            </a:r>
            <a:endParaRPr lang="en-US" altLang="zh-CN" sz="2400" b="0" i="0">
              <a:solidFill>
                <a:schemeClr val="tx1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90270" y="169227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"/>
            </a:pPr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Some Optimization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43635" y="2273300"/>
            <a:ext cx="8797925" cy="26752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40000"/>
              </a:lnSpc>
              <a:buFont typeface="Wingdings" panose="05000000000000000000" charset="0"/>
              <a:buNone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 - Preprocessing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lnSpc>
                <a:spcPct val="140000"/>
              </a:lnSpc>
              <a:buFont typeface="Wingdings" panose="05000000000000000000" charset="0"/>
              <a:buNone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Use Sampling/Cardinality Estimation to approximate index sizes.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lnSpc>
                <a:spcPct val="140000"/>
              </a:lnSpc>
              <a:buFont typeface="Wingdings" panose="05000000000000000000" charset="0"/>
              <a:buNone/>
            </a:pPr>
            <a:endParaRPr lang="zh-CN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lnSpc>
                <a:spcPct val="140000"/>
              </a:lnSpc>
              <a:buFont typeface="Wingdings" panose="05000000000000000000" charset="0"/>
              <a:buNone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 - Iterative Selection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lnSpc>
                <a:spcPct val="140000"/>
              </a:lnSpc>
              <a:buFont typeface="Wingdings" panose="05000000000000000000" charset="0"/>
              <a:buNone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Max-Heap &amp; Lazy Updates.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86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PROBLEM SOLUTION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5145" y="963930"/>
            <a:ext cx="11452860" cy="60769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lnSpc>
                <a:spcPct val="140000"/>
              </a:lnSpc>
              <a:buFont typeface="Wingdings" panose="05000000000000000000" charset="0"/>
              <a:buChar char=""/>
            </a:pPr>
            <a:r>
              <a:rPr lang="en-US" altLang="zh-CN" sz="2400" b="0" i="0">
                <a:solidFill>
                  <a:srgbClr val="3155C6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Method for </a:t>
            </a:r>
            <a:r>
              <a:rPr lang="en-US" altLang="zh-CN" sz="2400" b="1" i="0">
                <a:solidFill>
                  <a:srgbClr val="3155C6"/>
                </a:solidFill>
                <a:latin typeface="Times New Roman" panose="02020603050405020304" charset="0"/>
                <a:ea typeface="Inter"/>
                <a:cs typeface="Times New Roman" panose="02020603050405020304" charset="0"/>
              </a:rPr>
              <a:t>Space-Constrained</a:t>
            </a:r>
            <a:r>
              <a:rPr lang="en-US" altLang="zh-CN" sz="2400" b="0" i="0">
                <a:solidFill>
                  <a:srgbClr val="3155C6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 Variant</a:t>
            </a:r>
            <a:endParaRPr lang="en-US" altLang="zh-CN" sz="2400" b="0" i="0">
              <a:solidFill>
                <a:schemeClr val="tx1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90270" y="1692275"/>
            <a:ext cx="6823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lang="en-US" altLang="zh-CN" sz="24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Given </a:t>
            </a:r>
            <a:r>
              <a:rPr lang="en-US" altLang="zh-CN" sz="24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index space </a:t>
            </a:r>
            <a:r>
              <a:rPr lang="en-US" altLang="zh-CN" sz="2400" i="1">
                <a:latin typeface="Times New Roman" panose="02020603050405020304" charset="0"/>
                <a:ea typeface="Inter"/>
                <a:cs typeface="Times New Roman" panose="02020603050405020304" charset="0"/>
                <a:sym typeface="+mn-ea"/>
              </a:rPr>
              <a:t>τ</a:t>
            </a:r>
            <a:r>
              <a:rPr lang="en-US" altLang="zh-CN" sz="2400">
                <a:latin typeface="Times New Roman Regular" panose="02020503050405090304" charset="0"/>
                <a:ea typeface="Inter"/>
                <a:cs typeface="Times New Roman Regular" panose="02020503050405090304" charset="0"/>
                <a:sym typeface="+mn-ea"/>
              </a:rPr>
              <a:t>, maximizes elastic factor </a:t>
            </a:r>
            <a:r>
              <a:rPr lang="en-US" altLang="zh-CN" sz="2400" i="1">
                <a:latin typeface="Times New Roman" panose="02020603050405020304" charset="0"/>
                <a:ea typeface="Inter"/>
                <a:cs typeface="Times New Roman" panose="02020603050405020304" charset="0"/>
                <a:sym typeface="+mn-ea"/>
              </a:rPr>
              <a:t>c</a:t>
            </a:r>
            <a:r>
              <a:rPr lang="en-US" altLang="zh-CN" sz="24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.</a:t>
            </a:r>
            <a:endParaRPr lang="en-US" altLang="zh-CN" sz="24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25145" y="2273300"/>
            <a:ext cx="795845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Wingdings" panose="05000000000000000000" charset="0"/>
              <a:buChar char=""/>
            </a:pPr>
            <a:r>
              <a:rPr lang="en-US" altLang="zh-CN" sz="2400" i="0">
                <a:solidFill>
                  <a:srgbClr val="3155C6"/>
                </a:solidFill>
                <a:latin typeface="Times New Roman" panose="02020603050405020304" charset="0"/>
                <a:ea typeface="Inter"/>
                <a:cs typeface="Times New Roman" panose="02020603050405020304" charset="0"/>
              </a:rPr>
              <a:t>Binary Search + </a:t>
            </a:r>
            <a:r>
              <a:rPr lang="en-US" altLang="zh-CN" sz="2400" b="1">
                <a:solidFill>
                  <a:srgbClr val="3155C6"/>
                </a:solidFill>
                <a:latin typeface="Times New Roman" panose="02020603050405020304" charset="0"/>
                <a:ea typeface="Inter"/>
                <a:cs typeface="Times New Roman" panose="02020603050405020304" charset="0"/>
                <a:sym typeface="+mn-ea"/>
              </a:rPr>
              <a:t>Efficiency-Constrained</a:t>
            </a:r>
            <a:r>
              <a:rPr lang="en-US" altLang="zh-CN" sz="2400">
                <a:solidFill>
                  <a:srgbClr val="3155C6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  <a:sym typeface="+mn-ea"/>
              </a:rPr>
              <a:t> Variant</a:t>
            </a:r>
            <a:r>
              <a:rPr lang="en-US" altLang="zh-CN" sz="2400" i="0">
                <a:solidFill>
                  <a:srgbClr val="3155C6"/>
                </a:solidFill>
                <a:latin typeface="Times New Roman" panose="02020603050405020304" charset="0"/>
                <a:ea typeface="Inter"/>
                <a:cs typeface="Times New Roman" panose="02020603050405020304" charset="0"/>
              </a:rPr>
              <a:t> </a:t>
            </a:r>
            <a:endParaRPr lang="en-US" altLang="zh-CN" sz="2400" i="0">
              <a:solidFill>
                <a:srgbClr val="3155C6"/>
              </a:solidFill>
              <a:latin typeface="Times New Roman" panose="02020603050405020304" charset="0"/>
              <a:ea typeface="Inter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90270" y="2787650"/>
            <a:ext cx="6789420" cy="2992120"/>
          </a:xfrm>
          <a:prstGeom prst="rect">
            <a:avLst/>
          </a:prstGeom>
        </p:spPr>
        <p:txBody>
          <a:bodyPr wrap="square">
            <a:noAutofit/>
          </a:bodyPr>
          <a:p>
            <a:pPr marL="0" lvl="1" indent="0">
              <a:lnSpc>
                <a:spcPct val="120000"/>
              </a:lnSpc>
              <a:spcBef>
                <a:spcPct val="0"/>
              </a:spcBef>
              <a:spcAft>
                <a:spcPts val="700"/>
              </a:spcAft>
              <a:buFont typeface="Arial" panose="020B0604020202020204"/>
              <a:buNone/>
            </a:pPr>
            <a:r>
              <a:rPr lang="en-US" altLang="zh-CN" sz="2400" b="0" i="0">
                <a:solidFill>
                  <a:schemeClr val="tx1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1. Propose a candidate threshold </a:t>
            </a:r>
            <a:r>
              <a:rPr lang="en-US" altLang="zh-CN" sz="2400" b="0" i="1">
                <a:solidFill>
                  <a:schemeClr val="tx1"/>
                </a:solidFill>
                <a:latin typeface="Times New Roman Regular" panose="02020503050405090304" charset="0"/>
                <a:ea typeface="KaTeX_Math"/>
                <a:cs typeface="Times New Roman Regular" panose="02020503050405090304" charset="0"/>
              </a:rPr>
              <a:t>c</a:t>
            </a:r>
            <a:r>
              <a:rPr lang="en-US" altLang="zh-CN" sz="2400" b="0" i="0">
                <a:solidFill>
                  <a:schemeClr val="tx1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.</a:t>
            </a:r>
            <a:endParaRPr lang="en-US" altLang="zh-CN" sz="2400" b="0" i="0">
              <a:solidFill>
                <a:schemeClr val="tx1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  <a:p>
            <a:pPr marL="0" lvl="1" indent="0">
              <a:lnSpc>
                <a:spcPct val="120000"/>
              </a:lnSpc>
              <a:spcBef>
                <a:spcPct val="0"/>
              </a:spcBef>
              <a:spcAft>
                <a:spcPts val="700"/>
              </a:spcAft>
              <a:buFont typeface="Arial" panose="020B0604020202020204"/>
              <a:buNone/>
            </a:pPr>
            <a:r>
              <a:rPr lang="en-US" altLang="zh-CN" sz="2400" b="0" i="0">
                <a:solidFill>
                  <a:schemeClr val="tx1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2. Invoke the Greedy Algorithm to build an index set.</a:t>
            </a:r>
            <a:endParaRPr lang="en-US" altLang="zh-CN" sz="2400" b="0" i="0">
              <a:solidFill>
                <a:schemeClr val="tx1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  <a:p>
            <a:pPr marL="0" lvl="1" indent="0">
              <a:lnSpc>
                <a:spcPct val="120000"/>
              </a:lnSpc>
              <a:spcBef>
                <a:spcPct val="0"/>
              </a:spcBef>
              <a:spcAft>
                <a:spcPts val="700"/>
              </a:spcAft>
              <a:buFont typeface="Arial" panose="020B0604020202020204"/>
              <a:buNone/>
            </a:pPr>
            <a:r>
              <a:rPr lang="en-US" altLang="zh-CN" sz="2400" b="0" i="0">
                <a:solidFill>
                  <a:schemeClr val="tx1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3. Check: Does the total cost </a:t>
            </a:r>
            <a:r>
              <a:rPr lang="en-US" altLang="zh-CN" sz="2400" b="0" i="0">
                <a:solidFill>
                  <a:schemeClr val="tx1"/>
                </a:solidFill>
                <a:latin typeface="Times New Roman Regular" panose="02020503050405090304" charset="0"/>
                <a:ea typeface="katex_main"/>
                <a:cs typeface="Times New Roman Regular" panose="02020503050405090304" charset="0"/>
              </a:rPr>
              <a:t>≤</a:t>
            </a:r>
            <a:r>
              <a:rPr lang="en-US" altLang="zh-CN" sz="2400" b="0" i="1">
                <a:solidFill>
                  <a:schemeClr val="tx1"/>
                </a:solidFill>
                <a:latin typeface="Times New Roman Regular" panose="02020503050405090304" charset="0"/>
                <a:ea typeface="KaTeX_Math"/>
                <a:cs typeface="Times New Roman Regular" panose="02020503050405090304" charset="0"/>
              </a:rPr>
              <a:t>τ </a:t>
            </a:r>
            <a:r>
              <a:rPr lang="en-US" altLang="zh-CN" sz="2400" b="0" i="0">
                <a:solidFill>
                  <a:schemeClr val="tx1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?</a:t>
            </a:r>
            <a:endParaRPr lang="en-US" altLang="zh-CN" sz="2400" b="0" i="0">
              <a:solidFill>
                <a:schemeClr val="tx1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  <a:p>
            <a:pPr marL="0" lvl="2" indent="0">
              <a:lnSpc>
                <a:spcPct val="120000"/>
              </a:lnSpc>
              <a:spcBef>
                <a:spcPct val="0"/>
              </a:spcBef>
              <a:spcAft>
                <a:spcPts val="700"/>
              </a:spcAft>
              <a:buFont typeface="Arial" panose="020B0604020202020204"/>
              <a:buNone/>
            </a:pPr>
            <a:r>
              <a:rPr lang="en-US" altLang="zh-CN" sz="2400" b="0" i="0">
                <a:solidFill>
                  <a:schemeClr val="tx1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     - Yes: Try a stricter </a:t>
            </a:r>
            <a:r>
              <a:rPr lang="en-US" altLang="zh-CN" sz="2400" b="0" i="1">
                <a:solidFill>
                  <a:schemeClr val="tx1"/>
                </a:solidFill>
                <a:latin typeface="Times New Roman Regular" panose="02020503050405090304" charset="0"/>
                <a:ea typeface="KaTeX_Math"/>
                <a:cs typeface="Times New Roman Regular" panose="02020503050405090304" charset="0"/>
              </a:rPr>
              <a:t>c</a:t>
            </a:r>
            <a:r>
              <a:rPr lang="en-US" altLang="zh-CN" sz="2400" b="0" i="0">
                <a:solidFill>
                  <a:schemeClr val="tx1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 (aim for higher efficiency).</a:t>
            </a:r>
            <a:endParaRPr lang="en-US" altLang="zh-CN" sz="2400" b="0" i="0">
              <a:solidFill>
                <a:schemeClr val="tx1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  <a:p>
            <a:pPr marL="0" lvl="2" indent="0">
              <a:lnSpc>
                <a:spcPct val="120000"/>
              </a:lnSpc>
              <a:spcBef>
                <a:spcPct val="0"/>
              </a:spcBef>
              <a:spcAft>
                <a:spcPts val="700"/>
              </a:spcAft>
              <a:buFont typeface="Arial" panose="020B0604020202020204"/>
              <a:buNone/>
            </a:pPr>
            <a:r>
              <a:rPr lang="en-US" altLang="zh-CN" sz="2400" b="0" i="0">
                <a:solidFill>
                  <a:schemeClr val="tx1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     - No: Try a looser </a:t>
            </a:r>
            <a:r>
              <a:rPr lang="en-US" altLang="zh-CN" sz="2400" b="0" i="1">
                <a:solidFill>
                  <a:schemeClr val="tx1"/>
                </a:solidFill>
                <a:latin typeface="Times New Roman Regular" panose="02020503050405090304" charset="0"/>
                <a:ea typeface="KaTeX_Math"/>
                <a:cs typeface="Times New Roman Regular" panose="02020503050405090304" charset="0"/>
              </a:rPr>
              <a:t>c</a:t>
            </a:r>
            <a:r>
              <a:rPr lang="en-US" altLang="zh-CN" sz="2400" b="0" i="0">
                <a:solidFill>
                  <a:schemeClr val="tx1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 (reduce storage cost).</a:t>
            </a:r>
            <a:endParaRPr lang="en-US" altLang="zh-CN" sz="2400" b="0" i="0">
              <a:solidFill>
                <a:schemeClr val="tx1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  <a:p>
            <a:pPr marL="0" lvl="1" indent="0">
              <a:lnSpc>
                <a:spcPct val="120000"/>
              </a:lnSpc>
              <a:spcBef>
                <a:spcPct val="0"/>
              </a:spcBef>
              <a:spcAft>
                <a:spcPts val="700"/>
              </a:spcAft>
              <a:buFont typeface="Arial" panose="020B0604020202020204"/>
              <a:buNone/>
            </a:pPr>
            <a:r>
              <a:rPr lang="en-US" altLang="zh-CN" sz="2400" b="0" i="0">
                <a:solidFill>
                  <a:schemeClr val="tx1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4. Repeat until the maximum achievable </a:t>
            </a:r>
            <a:r>
              <a:rPr lang="en-US" altLang="zh-CN" sz="2400" b="0" i="1">
                <a:solidFill>
                  <a:schemeClr val="tx1"/>
                </a:solidFill>
                <a:latin typeface="Times New Roman Regular" panose="02020503050405090304" charset="0"/>
                <a:ea typeface="KaTeX_Math"/>
                <a:cs typeface="Times New Roman Regular" panose="02020503050405090304" charset="0"/>
              </a:rPr>
              <a:t>c</a:t>
            </a:r>
            <a:r>
              <a:rPr lang="en-US" altLang="zh-CN" sz="2400" b="0" i="0">
                <a:solidFill>
                  <a:schemeClr val="tx1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 is found.</a:t>
            </a:r>
            <a:endParaRPr lang="en-US" altLang="zh-CN" sz="2400" b="0" i="0">
              <a:solidFill>
                <a:schemeClr val="tx1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86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PROBLEM SOLUTION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5145" y="963930"/>
            <a:ext cx="11452860" cy="60769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lnSpc>
                <a:spcPct val="140000"/>
              </a:lnSpc>
              <a:buFont typeface="Wingdings" panose="05000000000000000000" charset="0"/>
              <a:buChar char=""/>
            </a:pPr>
            <a:r>
              <a:rPr lang="en-US" altLang="zh-CN" sz="2400" b="0" i="0">
                <a:solidFill>
                  <a:srgbClr val="3155C6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Method for </a:t>
            </a:r>
            <a:r>
              <a:rPr lang="en-US" altLang="zh-CN" sz="2400" b="1" i="0">
                <a:solidFill>
                  <a:srgbClr val="3155C6"/>
                </a:solidFill>
                <a:latin typeface="Times New Roman" panose="02020603050405020304" charset="0"/>
                <a:ea typeface="Inter"/>
                <a:cs typeface="Times New Roman" panose="02020603050405020304" charset="0"/>
              </a:rPr>
              <a:t>Space-Constrained</a:t>
            </a:r>
            <a:r>
              <a:rPr lang="en-US" altLang="zh-CN" sz="2400" b="0" i="0">
                <a:solidFill>
                  <a:srgbClr val="3155C6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 Variant</a:t>
            </a:r>
            <a:endParaRPr lang="en-US" altLang="zh-CN" sz="2400" b="0" i="0">
              <a:solidFill>
                <a:schemeClr val="tx1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90270" y="2273300"/>
            <a:ext cx="84874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If ε = 0.001, , this procedure will requires O(log1/ε)≈10 calls.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90270" y="2934970"/>
            <a:ext cx="10481310" cy="14204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In practice, the overhead of combining binary search  with the greedy method is negligible—typically under 1% of the  index-construction time, or about 1–2 seconds even for large  workloads L.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90270" y="1463675"/>
            <a:ext cx="11452860" cy="60769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lnSpc>
                <a:spcPct val="140000"/>
              </a:lnSpc>
              <a:buFont typeface="Wingdings" panose="05000000000000000000" charset="0"/>
              <a:buChar char=""/>
            </a:pPr>
            <a:r>
              <a:rPr lang="en-US" altLang="zh-CN" sz="2400" b="0" i="0">
                <a:solidFill>
                  <a:srgbClr val="3155C6"/>
                </a:solidFill>
                <a:latin typeface="Times New Roman Regular" panose="02020503050405090304" charset="0"/>
                <a:ea typeface="Inter"/>
                <a:cs typeface="Times New Roman Regular" panose="02020503050405090304" charset="0"/>
              </a:rPr>
              <a:t>cost</a:t>
            </a:r>
            <a:endParaRPr lang="en-US" altLang="zh-CN" sz="2400" b="0" i="0">
              <a:solidFill>
                <a:schemeClr val="tx1"/>
              </a:solidFill>
              <a:latin typeface="Times New Roman Regular" panose="02020503050405090304" charset="0"/>
              <a:ea typeface="Inter"/>
              <a:cs typeface="Times New Roman Regular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86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Dynamic Updates (Non-Blocking)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25145" y="1029335"/>
            <a:ext cx="11418570" cy="54082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Database Vector Dynamics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 - Insert: Add new vectors to relevant indexes.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 - Maintenance: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Batch updates index sets periodically (e.g., every 10–20% increase) .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 - Deletion: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Handle via "lazy" marking.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Query Workload Dynamics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 - Low-frequency queries: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Brute-force scan.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 - High-frequency queries (&gt;4,000 matches):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oute queries to the existing index with the maximum overlap (elastic factor).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Structural Update Policies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 - Efficiency-Constrained: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re-run greedy algorithm when elastic factor is violated.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 - Space-Constrained: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re-run binary search and greedy algorithm to increase/decrease target elastic factor based on available space budget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τ.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2413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86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Experiments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5145" y="1073785"/>
            <a:ext cx="7602220" cy="39655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lnSpc>
                <a:spcPct val="140000"/>
              </a:lnSpc>
              <a:buFont typeface="Wingdings" panose="05000000000000000000" charset="0"/>
              <a:buChar char=""/>
            </a:pPr>
            <a:r>
              <a:rPr lang="en-US" altLang="zh-CN" sz="2400">
                <a:solidFill>
                  <a:srgbClr val="3155C6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8 Datasets  (dim 96–4000, size 100K–100M)</a:t>
            </a:r>
            <a:endParaRPr lang="en-US" altLang="zh-CN" sz="2400">
              <a:solidFill>
                <a:srgbClr val="3155C6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457200" algn="l">
              <a:lnSpc>
                <a:spcPct val="140000"/>
              </a:lnSpc>
            </a:pPr>
            <a:r>
              <a:rPr lang="en-US" altLang="zh-CN" sz="2400">
                <a:solidFill>
                  <a:srgbClr val="3155C6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Label Sources</a:t>
            </a:r>
            <a:endParaRPr lang="en-US" altLang="zh-CN" sz="2400">
              <a:solidFill>
                <a:srgbClr val="3155C6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>
              <a:lnSpc>
                <a:spcPct val="140000"/>
              </a:lnSpc>
            </a:pPr>
            <a:r>
              <a:rPr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 </a:t>
            </a:r>
            <a:r>
              <a:rPr 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	 - </a:t>
            </a:r>
            <a:r>
              <a:rPr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Real labels: PAPER, TripClick, Arxiv</a:t>
            </a:r>
            <a:endParaRPr sz="1800" b="0">
              <a:solidFill>
                <a:srgbClr val="000000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>
              <a:lnSpc>
                <a:spcPct val="140000"/>
              </a:lnSpc>
            </a:pPr>
            <a:r>
              <a:rPr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 </a:t>
            </a:r>
            <a:r>
              <a:rPr 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	 - </a:t>
            </a:r>
            <a:r>
              <a:rPr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Metadata-derived: LAION, OpenAI-1536  (top-3 tags per vector)</a:t>
            </a:r>
            <a:endParaRPr sz="1800" b="0">
              <a:solidFill>
                <a:srgbClr val="000000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>
              <a:lnSpc>
                <a:spcPct val="140000"/>
              </a:lnSpc>
            </a:pPr>
            <a:r>
              <a:rPr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 </a:t>
            </a:r>
            <a:r>
              <a:rPr 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	 - </a:t>
            </a:r>
            <a:r>
              <a:rPr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Synthetic Zipf: SIFT, MSMARCO, DEEP  (|Σ| ∈ {8,12,24,32})</a:t>
            </a:r>
            <a:endParaRPr>
              <a:solidFill>
                <a:srgbClr val="000000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marL="342900" indent="-342900" algn="l">
              <a:lnSpc>
                <a:spcPct val="140000"/>
              </a:lnSpc>
              <a:buFont typeface="Wingdings" panose="05000000000000000000" charset="0"/>
              <a:buChar char=""/>
            </a:pPr>
            <a:r>
              <a:rPr lang="en-US" altLang="zh-CN" sz="2400">
                <a:solidFill>
                  <a:srgbClr val="3155C6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Baseline</a:t>
            </a:r>
            <a:endParaRPr lang="en-US" altLang="zh-CN" sz="2400">
              <a:solidFill>
                <a:srgbClr val="3155C6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indent="457200" algn="l">
              <a:lnSpc>
                <a:spcPct val="140000"/>
              </a:lnSpc>
              <a:buFont typeface="Wingdings" panose="05000000000000000000" charset="0"/>
              <a:buNone/>
            </a:pPr>
            <a:r>
              <a:rPr 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- </a:t>
            </a:r>
            <a:r>
              <a:rPr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UNG,  ACORN-1,  ACORN-γ,  Brute-Force</a:t>
            </a:r>
            <a:endParaRPr sz="1800" b="0">
              <a:solidFill>
                <a:srgbClr val="000000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457200" algn="l">
              <a:lnSpc>
                <a:spcPct val="140000"/>
              </a:lnSpc>
            </a:pPr>
            <a:r>
              <a:rPr 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- </a:t>
            </a:r>
            <a:r>
              <a:rPr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ELI-0.2 (efficiency-constrained, c</a:t>
            </a:r>
            <a:r>
              <a:rPr 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</a:t>
            </a:r>
            <a:r>
              <a:rPr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=</a:t>
            </a:r>
            <a:r>
              <a:rPr 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</a:t>
            </a:r>
            <a:r>
              <a:rPr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0.2)</a:t>
            </a:r>
            <a:endParaRPr sz="1800" b="0">
              <a:solidFill>
                <a:srgbClr val="000000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457200" algn="l">
              <a:lnSpc>
                <a:spcPct val="140000"/>
              </a:lnSpc>
            </a:pPr>
            <a:r>
              <a:rPr 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- </a:t>
            </a:r>
            <a:r>
              <a:rPr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ELI-2.0 (space-constrained, τ</a:t>
            </a:r>
            <a:r>
              <a:rPr 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</a:t>
            </a:r>
            <a:r>
              <a:rPr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=</a:t>
            </a:r>
            <a:r>
              <a:rPr lang="en-US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</a:t>
            </a:r>
            <a:r>
              <a:rPr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2× original)</a:t>
            </a:r>
            <a:endParaRPr lang="zh-CN" altLang="en-US">
              <a:solidFill>
                <a:srgbClr val="000000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86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Experiments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1172" r="1672" b="1920"/>
          <a:stretch>
            <a:fillRect/>
          </a:stretch>
        </p:blipFill>
        <p:spPr>
          <a:xfrm>
            <a:off x="1635125" y="1387475"/>
            <a:ext cx="9246870" cy="536003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12420" y="96393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"/>
            </a:pPr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Efficiency Comparison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86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Experiments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2420" y="96393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"/>
            </a:pPr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Query Selectivity (on Arxiv)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48435"/>
            <a:ext cx="12192000" cy="2413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12420" y="386143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"/>
            </a:pPr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Index Selection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rcRect b="50361"/>
          <a:stretch>
            <a:fillRect/>
          </a:stretch>
        </p:blipFill>
        <p:spPr>
          <a:xfrm>
            <a:off x="3383280" y="4164330"/>
            <a:ext cx="5629275" cy="25317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86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Experiments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2420" y="963930"/>
            <a:ext cx="5198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"/>
            </a:pPr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The Comparison of Indexing Time (s)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875" y="1400810"/>
            <a:ext cx="6012815" cy="23869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15595" y="3787775"/>
            <a:ext cx="5161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"/>
            </a:pPr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The Comparison of Index Size (Mb)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425" y="4316095"/>
            <a:ext cx="6661785" cy="23418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2420" y="266065"/>
            <a:ext cx="577215" cy="577215"/>
            <a:chOff x="492" y="419"/>
            <a:chExt cx="909" cy="909"/>
          </a:xfrm>
          <a:solidFill>
            <a:srgbClr val="3155C6"/>
          </a:solidFill>
        </p:grpSpPr>
        <p:sp>
          <p:nvSpPr>
            <p:cNvPr id="3" name="矩形 2"/>
            <p:cNvSpPr/>
            <p:nvPr/>
          </p:nvSpPr>
          <p:spPr>
            <a:xfrm>
              <a:off x="492" y="419"/>
              <a:ext cx="575" cy="6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155C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827" y="720"/>
              <a:ext cx="575" cy="608"/>
            </a:xfrm>
            <a:prstGeom prst="rect">
              <a:avLst/>
            </a:prstGeom>
            <a:grpFill/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007745" y="939800"/>
            <a:ext cx="10994390" cy="0"/>
          </a:xfrm>
          <a:prstGeom prst="line">
            <a:avLst/>
          </a:prstGeom>
          <a:ln>
            <a:solidFill>
              <a:srgbClr val="3155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43635" y="177800"/>
            <a:ext cx="9853295" cy="786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40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Experiments</a:t>
            </a:r>
            <a:endParaRPr lang="en-US" altLang="zh-CN" sz="40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2420" y="971550"/>
            <a:ext cx="5198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"/>
            </a:pPr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Varying Label Distributions (PAPER)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455" y="1397635"/>
            <a:ext cx="11717655" cy="22110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l="904" r="1182"/>
          <a:stretch>
            <a:fillRect/>
          </a:stretch>
        </p:blipFill>
        <p:spPr>
          <a:xfrm>
            <a:off x="81915" y="4203700"/>
            <a:ext cx="5428615" cy="233870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l="1317" r="1308"/>
          <a:stretch>
            <a:fillRect/>
          </a:stretch>
        </p:blipFill>
        <p:spPr>
          <a:xfrm>
            <a:off x="5587365" y="4218305"/>
            <a:ext cx="6604635" cy="228854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12420" y="360870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"/>
            </a:pPr>
            <a:r>
              <a:rPr lang="en-US" altLang="zh-CN" sz="24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Incremental Updates</a:t>
            </a:r>
            <a:endParaRPr lang="en-US" altLang="zh-CN" sz="24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712595" y="6459220"/>
            <a:ext cx="27895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Query Performance Drop</a:t>
            </a:r>
            <a:endParaRPr lang="en-US" altLang="zh-CN" sz="20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682230" y="6459220"/>
            <a:ext cx="24155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rgbClr val="3155C6"/>
                </a:solidFill>
                <a:latin typeface="Times New Roman" panose="02020603050405020304" charset="0"/>
                <a:cs typeface="Times New Roman" panose="02020603050405020304" charset="0"/>
              </a:rPr>
              <a:t>Time and Space Cost</a:t>
            </a:r>
            <a:endParaRPr lang="en-US" altLang="zh-CN" sz="2000">
              <a:solidFill>
                <a:srgbClr val="3155C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935" y="2967990"/>
            <a:ext cx="1196213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>
                <a:solidFill>
                  <a:srgbClr val="3155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</a:rPr>
              <a:t>Thank You ! </a:t>
            </a:r>
            <a:endParaRPr lang="en-US" sz="5400" b="1">
              <a:solidFill>
                <a:srgbClr val="3155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6677</Words>
  <Application>WPS 演示</Application>
  <PresentationFormat>On-screen Show (4:3)</PresentationFormat>
  <Paragraphs>557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8" baseType="lpstr">
      <vt:lpstr>Arial</vt:lpstr>
      <vt:lpstr>宋体</vt:lpstr>
      <vt:lpstr>Wingdings</vt:lpstr>
      <vt:lpstr>Arial</vt:lpstr>
      <vt:lpstr>Times New Roman</vt:lpstr>
      <vt:lpstr>华文楷体</vt:lpstr>
      <vt:lpstr>Wingdings</vt:lpstr>
      <vt:lpstr>Times New Roman Regular</vt:lpstr>
      <vt:lpstr>DejaVu Math TeX Gyre</vt:lpstr>
      <vt:lpstr>微软雅黑</vt:lpstr>
      <vt:lpstr>Arial Unicode MS</vt:lpstr>
      <vt:lpstr>Calibri</vt:lpstr>
      <vt:lpstr>Inter</vt:lpstr>
      <vt:lpstr>KaTeX_Math</vt:lpstr>
      <vt:lpstr>katex_main</vt:lpstr>
      <vt:lpstr>Segoe Print</vt:lpstr>
      <vt:lpstr>BatangChe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杜祥云</cp:lastModifiedBy>
  <cp:revision>19</cp:revision>
  <dcterms:created xsi:type="dcterms:W3CDTF">2026-03-15T14:57:00Z</dcterms:created>
  <dcterms:modified xsi:type="dcterms:W3CDTF">2026-03-15T16:50:05Z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F2B5B75E0AC549DFAA06336BD6B9F01E_13</vt:lpwstr>
  </property>
</Properties>
</file>