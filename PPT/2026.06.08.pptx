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0" r:id="rId4"/>
    <p:sldId id="272" r:id="rId5"/>
    <p:sldId id="273" r:id="rId6"/>
    <p:sldId id="274" r:id="rId7"/>
    <p:sldId id="275" r:id="rId8"/>
    <p:sldId id="277" r:id="rId9"/>
    <p:sldId id="276" r:id="rId10"/>
    <p:sldId id="278" r:id="rId11"/>
    <p:sldId id="280" r:id="rId12"/>
    <p:sldId id="281" r:id="rId13"/>
    <p:sldId id="282" r:id="rId14"/>
    <p:sldId id="279" r:id="rId15"/>
    <p:sldId id="283" r:id="rId16"/>
    <p:sldId id="285" r:id="rId17"/>
    <p:sldId id="284" r:id="rId18"/>
    <p:sldId id="286" r:id="rId19"/>
    <p:sldId id="289" r:id="rId20"/>
    <p:sldId id="287" r:id="rId21"/>
    <p:sldId id="288" r:id="rId22"/>
    <p:sldId id="291" r:id="rId23"/>
    <p:sldId id="290" r:id="rId24"/>
    <p:sldId id="292" r:id="rId25"/>
    <p:sldId id="293" r:id="rId26"/>
    <p:sldId id="294" r:id="rId27"/>
    <p:sldId id="29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59" autoAdjust="0"/>
  </p:normalViewPr>
  <p:slideViewPr>
    <p:cSldViewPr snapToGrid="0" snapToObjects="1">
      <p:cViewPr varScale="1">
        <p:scale>
          <a:sx n="84" d="100"/>
          <a:sy n="84" d="100"/>
        </p:scale>
        <p:origin x="10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B7D8D-CFE3-4E08-862D-23D46E03BDCE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D1E4E-4524-43CC-A0F3-333F4ACE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50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WoW</a:t>
            </a:r>
            <a:r>
              <a:rPr lang="zh-CN" altLang="en-US"/>
              <a:t>：一种用于 范围过滤近似最近邻搜索 的窗口到窗口增量索引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87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</a:t>
            </a:r>
            <a:r>
              <a:rPr lang="en-US" altLang="zh-CN"/>
              <a:t>/</a:t>
            </a:r>
            <a:r>
              <a:rPr lang="zh-CN" altLang="en-US"/>
              <a:t>后</a:t>
            </a:r>
            <a:r>
              <a:rPr lang="en-US" altLang="zh-CN"/>
              <a:t>/</a:t>
            </a:r>
            <a:r>
              <a:rPr lang="zh-CN" altLang="en-US"/>
              <a:t>搜索中 过滤</a:t>
            </a:r>
            <a:endParaRPr lang="en-US" altLang="zh-CN"/>
          </a:p>
          <a:p>
            <a:r>
              <a:rPr lang="zh-CN" altLang="en-US"/>
              <a:t>“理想邻近图”（</a:t>
            </a:r>
            <a:r>
              <a:rPr lang="en-US" altLang="zh-CN"/>
              <a:t>Oracle Proximity Graph</a:t>
            </a:r>
            <a:r>
              <a:rPr lang="zh-CN" altLang="en-US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536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30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基于窗口的连接性：</a:t>
            </a:r>
            <a:endParaRPr lang="zh-CN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将属性相似性建模为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属性窗口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节点仅与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窗口内的向量最近邻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建立连接，平衡了向量与属性的双重相似性。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为什么需要分层？</a:t>
            </a:r>
            <a:endParaRPr lang="zh-CN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单一窗口图无法推广到所有查询范围。</a:t>
            </a:r>
          </a:p>
          <a:p>
            <a:pPr lvl="1"/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小窗口图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作为补充，用于找回在窄范围查询中缺失的关键连接。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5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全增量构建：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支持从空索引开始实时构建，无需任何数据预排序。</a:t>
                </a: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插入复杂度为 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zh-CN" alt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log</m:t>
                                  </m:r>
                                </m:fName>
                                <m:e/>
                              </m:func>
                            </m:e>
                            <m:sup>
                              <m:r>
                                <a:rPr lang="en-US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，且具有高度的可并行性。</a:t>
                </a:r>
              </a:p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最优查询效率：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首个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同时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减少“属性过滤测试”和“向量距离计算”的方案。</a:t>
                </a: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查询复杂度为 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func>
                        </m:e>
                      </m:d>
                    </m:oMath>
                  </m:oMathPara>
                </a14:m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，等同于在理想 RNG 图上的搜索效率。</a:t>
                </a:r>
              </a:p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卓越的性能表现：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索引构建：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比最快基准 (DIGRA) 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4.9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，体积缩小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50%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lvl="1"/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查询性能：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比最佳增量索引 (HSIG) 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；在高选择率场景下，比最佳静态索引快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1.5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全增量构建：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支持从空索引开始实时构建，无需任何数据预排序。</a:t>
                </a: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插入复杂度为 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𝑂(〖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 〗^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𝑛)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，且具有高度的可并行性。</a:t>
                </a:r>
              </a:p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最优查询效率：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首个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同时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减少“属性过滤测试”和“向量距离计算”的方案。</a:t>
                </a: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查询复杂度为 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𝑂(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⁡〖𝑛^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′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〗 )</a:t>
                </a:r>
                <a:endParaRPr lang="zh-CN" altLang="zh-CN" sz="1200" b="1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，等同于在理想 RNG 图上的搜索效率。</a:t>
                </a:r>
              </a:p>
              <a:p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卓越的性能表现：</a:t>
                </a:r>
                <a:endParaRPr lang="zh-CN" altLang="zh-CN" sz="12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索引构建：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比最快基准 (DIGRA) 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4.9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，体积缩小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50%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lvl="1"/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查询性能：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比最佳增量索引 (HSIG) 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；在高选择率场景下，比最佳静态索引快 </a:t>
                </a:r>
                <a:r>
                  <a:rPr lang="zh-CN" altLang="zh-C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1.5 倍</a:t>
                </a:r>
                <a:r>
                  <a:rPr lang="zh-CN" altLang="zh-CN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zh-CN" altLang="en-US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767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ANNS 索引的三大类别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基于哈希：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通过静态或学习型哈希函数将相似向量映射到哈希桶。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基于分区：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将相似向量分入同一个聚类中（如 IVF, PQ）。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基于图：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通过边表示向量相似性，旨在逼近 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RNG（相对邻域图）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zh-CN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核心算法：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HNSW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是目前高性能和快速索引的主流方案。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图构建策略分类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优化式 (Refinement-based)：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(如 NSG, NSSG) 优化预建图以提升查询质量；通常为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静态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增量式 (Increment-based)：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(如 NSW, HNSW) 通过逐个插入节点构建；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灵活性更高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现状：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针对“带过滤”搜索的增量支持仍是一个尚未解决的挑战。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过滤 ANNS 的演进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过滤器类型：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标签过滤、范围过滤（本文重点）、通用谓词过滤。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从基准方法转向专用索引：</a:t>
            </a:r>
            <a:endParaRPr lang="zh-CN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预/后过滤：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存在固有缺陷（效率低、召回率不稳定）。</a:t>
            </a:r>
          </a:p>
          <a:p>
            <a:pPr lvl="1"/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专用索引：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专门设计为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仅访问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满足过滤条件的向量，避免无效计算。</a:t>
            </a:r>
          </a:p>
          <a:p>
            <a:br>
              <a:rPr lang="zh-CN" altLang="zh-CN"/>
            </a:br>
            <a:br>
              <a:rPr lang="zh-CN" altLang="zh-CN"/>
            </a:b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6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altLang="zh-CN"/>
              <a:t>ANNS </a:t>
            </a:r>
            <a:r>
              <a:rPr lang="zh-CN" altLang="en-US"/>
              <a:t>表示所基于的 </a:t>
            </a:r>
            <a:r>
              <a:rPr lang="en-US" altLang="zh-CN"/>
              <a:t>ANNS </a:t>
            </a:r>
            <a:r>
              <a:rPr lang="zh-CN" altLang="en-US"/>
              <a:t>算法。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</a:t>
            </a:r>
            <a:r>
              <a:rPr lang="zh-CN" altLang="en-US"/>
              <a:t>索引比较如何构造索引</a:t>
            </a:r>
            <a:r>
              <a:rPr lang="en-US" altLang="zh-CN"/>
              <a:t>:</a:t>
            </a:r>
            <a:r>
              <a:rPr lang="zh-CN" altLang="en-US"/>
              <a:t>静态、后增量、有序增量或无序增量。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(3)OOR </a:t>
            </a:r>
            <a:r>
              <a:rPr lang="zh-CN" altLang="en-US"/>
              <a:t>标记是否需要 计算超出范围的向量的距离。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(4)</a:t>
            </a:r>
            <a:r>
              <a:rPr lang="zh-CN" altLang="en-US"/>
              <a:t>键结构列出了用于排列向量和属性值的结构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0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E62B-1FB5-B36E-66EF-8BCED6C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A782D6-EB93-B49A-3ED0-8A7B6F925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09105B-250E-192C-2361-E0FE2AD95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16CC3-AFAD-E5B5-4FD2-938E2C47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918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AC79F-6AB8-AD5D-6257-242017A4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77897F-E64A-DB2F-FA8A-028159711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70DEF1-8D0F-3120-3EBD-8B0C8F41C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13272-4F1F-C57D-ED62-57742EFAB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84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F68F-095B-EE52-7758-7ADC19DA1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4874A8-1ABE-163D-9FA2-A1ED2F016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2FCD1A-7D2A-A50B-7965-A19EDB0FB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136C65-4374-2D43-C90C-0F3E972D9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46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23B33-9D2E-96A2-0CBD-F9F527AA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758BB6-E297-2A9D-C7D0-31A1DADDB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31E082-EA0E-027C-CBD9-A4698097D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86024-7C16-2DBB-D874-32B965C9D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356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4F0A-5CA7-08F0-E9E4-6E3F4E28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7821E0-A712-BAEA-6591-21EA7214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897287-1683-7F6A-30D8-8175A061E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BC11A6-BBD6-F0B5-E549-6BF2EAD52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83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67A4-3A33-E78A-8430-26403C9D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ED1403-1DAC-1762-4878-02A837B4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F8ACA7-035B-6F1F-FB7C-F0D0509F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99267-25C2-9F89-71D7-7D8D89B92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112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EB85-C458-0277-E48A-5A25F07A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BFF543-FF5A-A5DE-0D4C-D8693BC87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955DF8-2D37-E512-2B5B-87CE4F206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B39CF-A247-80AB-43FA-1B2517F90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13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50F1-5A0B-13DB-0311-7539F901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4A7981-121F-A6C5-1B53-867CC778C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F1F75A-4343-1AFD-1899-C9AEE0748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全称是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局部本征维度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。在向量搜索领域，它被用来衡量一个查询点周围数据的“拥挤程度”或“检索难度”。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直观理解：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即使两个数据集原始维度都是 100，但如果数据集 A 的点都挤在一起（像一团乱麻），而数据集 B 的点分布很均匀，那么搜索 A 就要比搜索 B 难得多。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数值意义：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 值越大，意味着该数据集越难搜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，召回率越难提升。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这些数值代表了不同的</a:t>
            </a:r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查询选择率（Selectivity）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25B190-7D62-59CB-1421-4510136F0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8269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7D86-B03C-9CF7-A2A2-B970BDB0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572D1C-1AFF-A990-9616-8234C3673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E3FB3E-C32B-B1A9-E318-3F75BB39D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它们是标准的向量索引（Vanilla HNSW），在构建时完全不考虑任何过滤条件。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后过滤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ACORN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这是一个通用的谓词过滤索引（Generic Predicate Filter）。它被设计用来处理各种复杂的过滤条件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37DD3B-1F10-AA4A-0E5B-36ABB9D47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40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5285-3729-22C7-B275-91287103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AA4CF8-AF4C-DD68-C28E-0FAFC9850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FD30BD-3DF4-15DC-56D1-E0EC30AEC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它们是标准的向量索引（Vanilla HNSW），在构建时完全不考虑任何过滤条件。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后过滤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ACORN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这是一个通用的谓词过滤索引（Generic Predicate Filter）。它被设计用来处理各种复杂的过滤条件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35E57-91A8-71B7-2AE5-47C4E4D73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495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59DE-AFF8-483A-D682-226C6850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20FFDF-8D3D-EE1E-9D44-D299FB585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6E3D24-34EB-AC46-AB32-6F5C3067E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048591-AFAB-0CB8-8FAE-2974DD6B4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14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A028-A8E1-F515-993C-64BCFF66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310DBA-EF44-CEBE-E60C-6DFFE7E3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1B586E-81DA-6B90-10E9-61AC28899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87DA3B-26B4-C0B7-50FB-ACC846D74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806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F1E3-0590-985E-7983-230CA22E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F97653-035D-7BA6-84C3-B1A76B372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25816B-9902-A5B7-1BE8-26D084A11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39CE1D-EA41-9B83-5A4D-B19A8BB2B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667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3E54-AF7C-D7F6-D547-720765A1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9A31D2-2DB5-A4E4-2841-F7A352869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FAF2F3-AEC8-37DC-85DD-FE35B426C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距离计算次数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7A4FAE-3975-BE49-79CB-A71655C0D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23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4ACD-D215-F63F-9D25-84FE82D0D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89DE9E-C7F1-A6F9-5D78-5950DDBD6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02EB53-802C-F205-4031-5D64ADB11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8BA447-B291-FF2E-4590-16149C78A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65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D3F38-ED2A-CD86-435C-6180DEC3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EC6A0-5D34-C5E9-5B17-27E7D224A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47FE02-2885-FAAC-EBEE-223AA872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E4279-B5C3-FAE5-B743-0DF996722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039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131C-A233-CE22-84E4-CA7CD528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02062-AABD-121C-40D9-AFF19B52E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B9D847-C8A4-A75F-430D-58FEDFC2C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E27EE4-045C-E9BF-74DB-444C58B15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980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2A54-4D90-359A-FC32-AFEF6CAC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28E39A-0104-B6E2-F430-3FE642C02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BD4506-A92C-B960-E9B5-1A9C0106B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B4FD92-5CC0-3E8D-EC36-712F19784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1E4E-4524-43CC-A0F3-333F4ACE5B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01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tm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371600" cy="508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1828800"/>
            <a:ext cx="1087214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rPr sz="4000"/>
              <a:t>WoW: </a:t>
            </a:r>
            <a:endParaRPr lang="en-US" sz="4000"/>
          </a:p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rPr sz="4000"/>
              <a:t>A Window-to-Window Incremental Index</a:t>
            </a:r>
            <a:r>
              <a:rPr lang="en-US" sz="4000"/>
              <a:t> </a:t>
            </a:r>
            <a:r>
              <a:rPr lang="en-US" altLang="zh-CN" sz="4000"/>
              <a:t>for Range-Filtering Approximate Nearest Neighbor Search</a:t>
            </a:r>
          </a:p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endParaRPr sz="4400"/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7315200" cy="1270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BBDD"/>
                </a:solidFill>
                <a:latin typeface="Microsoft YaHei"/>
              </a:defRPr>
            </a:pPr>
            <a:r>
              <a:t>Ziqi Wang, Jingzhe Zhang, Wei Hu*   |   Nanjing University, China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7799BB"/>
                </a:solidFill>
                <a:latin typeface="Microsoft YaHei"/>
              </a:defRPr>
            </a:pPr>
            <a:r>
              <a:rPr lang="en-US"/>
              <a:t>Proc. ACM Manag. Data, Vol. 3, No. 6 (SIGMOD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/>
              <a:t>Background — The Era of Vector Databases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262" y="979486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Nearest neighbor search is widely used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88F49B8-0212-9F29-C13F-F9FB4930B223}"/>
              </a:ext>
            </a:extLst>
          </p:cNvPr>
          <p:cNvSpPr txBox="1"/>
          <p:nvPr/>
        </p:nvSpPr>
        <p:spPr>
          <a:xfrm>
            <a:off x="792482" y="5010322"/>
            <a:ext cx="530351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searching for similar commodities by an image and a price range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a query comes with “What symptoms are  common for people with hypertension aged from 50 to 60?”</a:t>
            </a:r>
            <a:endParaRPr lang="zh-CN" altLang="zh-CN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79DF2467-A210-7962-876B-3E6586C34582}"/>
              </a:ext>
            </a:extLst>
          </p:cNvPr>
          <p:cNvSpPr txBox="1"/>
          <p:nvPr/>
        </p:nvSpPr>
        <p:spPr>
          <a:xfrm>
            <a:off x="792480" y="1379596"/>
            <a:ext cx="530352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/>
              <a:t>Essential for RAG (Retrieval-Augmented Generation)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/>
              <a:t>Image Search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15609211-0EAF-2539-E6CA-A3975DB32553}"/>
              </a:ext>
            </a:extLst>
          </p:cNvPr>
          <p:cNvSpPr/>
          <p:nvPr/>
        </p:nvSpPr>
        <p:spPr>
          <a:xfrm>
            <a:off x="7876598" y="1297171"/>
            <a:ext cx="2436982" cy="598967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B2A4A"/>
                </a:solidFill>
              </a:defRPr>
            </a:pPr>
            <a:r>
              <a:rPr lang="en-US"/>
              <a:t>NNS</a:t>
            </a:r>
            <a:endParaRPr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CFBC5753-584B-6F44-CF80-21F3487EE9F5}"/>
              </a:ext>
            </a:extLst>
          </p:cNvPr>
          <p:cNvSpPr txBox="1"/>
          <p:nvPr/>
        </p:nvSpPr>
        <p:spPr>
          <a:xfrm>
            <a:off x="486262" y="235765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Approximate nearest neighbor search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715B4EA0-6DC4-0134-33D9-35CE61318C8E}"/>
              </a:ext>
            </a:extLst>
          </p:cNvPr>
          <p:cNvSpPr/>
          <p:nvPr/>
        </p:nvSpPr>
        <p:spPr>
          <a:xfrm>
            <a:off x="585499" y="2757767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5EBBC456-43AC-5F5D-7E30-D15BC4483B95}"/>
              </a:ext>
            </a:extLst>
          </p:cNvPr>
          <p:cNvSpPr txBox="1"/>
          <p:nvPr/>
        </p:nvSpPr>
        <p:spPr>
          <a:xfrm>
            <a:off x="792480" y="2776817"/>
            <a:ext cx="530352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Three categories: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hashing-based (LSH)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partition-based (KD-Tree)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graph-based algorithms (HNSW)</a:t>
            </a:r>
            <a:endParaRPr lang="zh-CN" altLang="zh-CN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2FE5315-1033-9E64-FAAB-63E79D908733}"/>
              </a:ext>
            </a:extLst>
          </p:cNvPr>
          <p:cNvSpPr txBox="1"/>
          <p:nvPr/>
        </p:nvSpPr>
        <p:spPr>
          <a:xfrm>
            <a:off x="486262" y="4587311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Range-filtering ANNS</a:t>
            </a:r>
            <a:endParaRPr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4D2B3DB5-AF53-1E56-9F9C-512718F5EDD2}"/>
              </a:ext>
            </a:extLst>
          </p:cNvPr>
          <p:cNvSpPr/>
          <p:nvPr/>
        </p:nvSpPr>
        <p:spPr>
          <a:xfrm>
            <a:off x="585499" y="4964950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96B6E1A6-1E28-649D-B95F-25CF02EC801C}"/>
              </a:ext>
            </a:extLst>
          </p:cNvPr>
          <p:cNvSpPr/>
          <p:nvPr/>
        </p:nvSpPr>
        <p:spPr>
          <a:xfrm>
            <a:off x="7876598" y="3308873"/>
            <a:ext cx="2436982" cy="598967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B2A4A"/>
                </a:solidFill>
              </a:defRPr>
            </a:pPr>
            <a:r>
              <a:rPr lang="en-US"/>
              <a:t>ANNS</a:t>
            </a:r>
            <a:endParaRPr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BB2A29D1-61BC-0915-E92B-F22D493E4C8D}"/>
              </a:ext>
            </a:extLst>
          </p:cNvPr>
          <p:cNvSpPr/>
          <p:nvPr/>
        </p:nvSpPr>
        <p:spPr>
          <a:xfrm>
            <a:off x="7876598" y="5320576"/>
            <a:ext cx="2436982" cy="598967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B2A4A"/>
                </a:solidFill>
              </a:defRPr>
            </a:pPr>
            <a:r>
              <a:rPr lang="en-US"/>
              <a:t>RFANNS</a:t>
            </a:r>
            <a:endParaRPr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6EBCBF8-1FCD-2FD5-21D8-E7433CF60CC3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9095089" y="1896138"/>
            <a:ext cx="0" cy="1412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7AAB367-367C-DA99-E69C-76A6178D942B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9095089" y="3907840"/>
            <a:ext cx="0" cy="1412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29E31-27FE-4935-659E-83EB4A9D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4A2B8-B906-0F3F-84D8-D5F879894DA9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9380F-5A8B-35A3-5DD9-20D1048B85F0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/>
              <a:t>RFANNS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4DE36-1AC5-9ED8-BCA8-9C6451F2DA63}"/>
              </a:ext>
            </a:extLst>
          </p:cNvPr>
          <p:cNvSpPr txBox="1"/>
          <p:nvPr/>
        </p:nvSpPr>
        <p:spPr>
          <a:xfrm>
            <a:off x="486261" y="979486"/>
            <a:ext cx="7991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Three methods to address the RFANNS problem</a:t>
            </a:r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DF54A1-D266-FCC0-E7F0-F89A0E3A80E3}"/>
              </a:ext>
            </a:extLst>
          </p:cNvPr>
          <p:cNvSpPr/>
          <p:nvPr/>
        </p:nvSpPr>
        <p:spPr>
          <a:xfrm>
            <a:off x="548640" y="1609715"/>
            <a:ext cx="329184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t>Pre-filtering 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A2380B85-C543-A748-23F7-8CDDA82CD973}"/>
              </a:ext>
            </a:extLst>
          </p:cNvPr>
          <p:cNvSpPr/>
          <p:nvPr/>
        </p:nvSpPr>
        <p:spPr>
          <a:xfrm>
            <a:off x="4206240" y="1609715"/>
            <a:ext cx="3291840" cy="64008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t>Post-filtering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79E7A5B-7E87-4214-719E-E6C99F0BADCD}"/>
              </a:ext>
            </a:extLst>
          </p:cNvPr>
          <p:cNvSpPr txBox="1"/>
          <p:nvPr/>
        </p:nvSpPr>
        <p:spPr>
          <a:xfrm>
            <a:off x="4389120" y="2432675"/>
            <a:ext cx="318835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Build a standard ANNS index on the entire dataset.</a:t>
            </a: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Exclude out-of-range vectors after the initial search.</a:t>
            </a: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May require multiple search iterations to retrieve sufficient (k) results.</a:t>
            </a:r>
            <a:endParaRPr/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5ADC3751-858F-507A-9EC0-A4E0419AB839}"/>
              </a:ext>
            </a:extLst>
          </p:cNvPr>
          <p:cNvSpPr/>
          <p:nvPr/>
        </p:nvSpPr>
        <p:spPr>
          <a:xfrm>
            <a:off x="7863840" y="1609715"/>
            <a:ext cx="329184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rPr lang="en-US"/>
              <a:t>Dedicated RFANNS indices</a:t>
            </a:r>
            <a:endParaRPr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C8E32B7A-1E5F-6599-B304-A57FD5E92AA2}"/>
              </a:ext>
            </a:extLst>
          </p:cNvPr>
          <p:cNvSpPr txBox="1"/>
          <p:nvPr/>
        </p:nvSpPr>
        <p:spPr>
          <a:xfrm>
            <a:off x="8046718" y="2432675"/>
            <a:ext cx="3188351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Construct specialized indices that visit only in-range vectors.</a:t>
            </a: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Simulate the connectivity of an Oracle Proximity Graph.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lang="en-US" altLang="zh-CN"/>
              <a:t>• </a:t>
            </a:r>
            <a:r>
              <a:rPr lang="en-US"/>
              <a:t>graph-based RFANNS indices are superior in query efficiency.</a:t>
            </a: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Superior performance, yet still hindered by two major challenges.</a:t>
            </a:r>
            <a:endParaRPr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7BB24230-EA31-A0C6-DD79-E915A9397BA0}"/>
              </a:ext>
            </a:extLst>
          </p:cNvPr>
          <p:cNvSpPr txBox="1"/>
          <p:nvPr/>
        </p:nvSpPr>
        <p:spPr>
          <a:xfrm>
            <a:off x="731522" y="2432675"/>
            <a:ext cx="318835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Filter in-range data from the dataset first.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lang="en-US"/>
              <a:t>• Perform a linear scan on the filtered results.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3333"/>
                </a:solidFill>
                <a:latin typeface="Microsoft YaHei"/>
              </a:defRPr>
            </a:pPr>
            <a:r>
              <a:t>• </a:t>
            </a:r>
            <a:r>
              <a:rPr lang="en-US"/>
              <a:t>Extremely inefficient due to the absence of index support.</a:t>
            </a:r>
            <a:endParaRPr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C54508E8-30A3-F476-C72B-1728DAC004BB}"/>
              </a:ext>
            </a:extLst>
          </p:cNvPr>
          <p:cNvSpPr/>
          <p:nvPr/>
        </p:nvSpPr>
        <p:spPr>
          <a:xfrm>
            <a:off x="548640" y="4608206"/>
            <a:ext cx="10607040" cy="1564531"/>
          </a:xfrm>
          <a:prstGeom prst="roundRect">
            <a:avLst/>
          </a:prstGeom>
          <a:solidFill>
            <a:srgbClr val="FCE4EC"/>
          </a:solidFill>
          <a:ln>
            <a:solidFill>
              <a:srgbClr val="F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1A63738-48DF-299B-7AAE-8826B0F07F2F}"/>
              </a:ext>
            </a:extLst>
          </p:cNvPr>
          <p:cNvSpPr txBox="1"/>
          <p:nvPr/>
        </p:nvSpPr>
        <p:spPr>
          <a:xfrm>
            <a:off x="822960" y="4795200"/>
            <a:ext cx="100584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33"/>
                </a:solidFill>
                <a:latin typeface="Microsoft YaHei"/>
              </a:defRPr>
            </a:pPr>
            <a:r>
              <a:rPr lang="en-US" altLang="zh-CN"/>
              <a:t>T</a:t>
            </a:r>
            <a:r>
              <a:rPr lang="en-US"/>
              <a:t>wo key challenges</a:t>
            </a: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rPr lang="en-US" sz="1400" b="1"/>
              <a:t>Challenge 1</a:t>
            </a:r>
            <a:r>
              <a:rPr lang="en-US" sz="1400"/>
              <a:t>: Can RFANNS indices be </a:t>
            </a:r>
            <a:r>
              <a:rPr lang="en-US" sz="1400" b="1"/>
              <a:t>built incrementally</a:t>
            </a:r>
            <a:r>
              <a:rPr lang="en-US" sz="1400"/>
              <a:t>? 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rPr lang="en-US" sz="1400" b="1"/>
              <a:t>Challenge 2</a:t>
            </a:r>
            <a:r>
              <a:rPr lang="en-US" sz="1400"/>
              <a:t>:</a:t>
            </a:r>
            <a:r>
              <a:rPr lang="en-US" altLang="zh-CN" sz="1400"/>
              <a:t> </a:t>
            </a:r>
            <a:r>
              <a:rPr lang="en-US" sz="1400"/>
              <a:t>Can RFANNS indices handle </a:t>
            </a:r>
            <a:r>
              <a:rPr lang="en-US" sz="1400" b="1"/>
              <a:t>varying query correlations and selectivity</a:t>
            </a:r>
            <a:r>
              <a:rPr lang="en-US" sz="1400"/>
              <a:t>?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0005C6BD-42BF-FE3C-ABFD-7F0ECC752476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E67815-5EEA-787E-FF5F-8A5BCAEE8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33" y="1538699"/>
            <a:ext cx="6900487" cy="49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  <p:bldP spid="18" grpId="0" animBg="1"/>
      <p:bldP spid="21" grpId="0"/>
      <p:bldP spid="23" grpId="0"/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65DB4-7389-5B0A-71E5-93055522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C2F811-2742-ED65-A1F5-2F7B936F3B4A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D050F-2EF2-A79A-3C93-A155922B34DF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RFANNS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184E-EC42-81CC-1F53-8C1F6F32386F}"/>
              </a:ext>
            </a:extLst>
          </p:cNvPr>
          <p:cNvSpPr txBox="1"/>
          <p:nvPr/>
        </p:nvSpPr>
        <p:spPr>
          <a:xfrm>
            <a:off x="486261" y="979486"/>
            <a:ext cx="7920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Challenge 1: </a:t>
            </a:r>
            <a:r>
              <a:rPr lang="zh-CN" altLang="zh-CN" sz="2000" b="1"/>
              <a:t>Incremental Support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A445B-8C99-5382-78A2-AEB8F4D5B023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AB992E2-7996-90AD-824C-2199B5377E16}"/>
              </a:ext>
            </a:extLst>
          </p:cNvPr>
          <p:cNvSpPr txBox="1"/>
          <p:nvPr/>
        </p:nvSpPr>
        <p:spPr>
          <a:xfrm>
            <a:off x="792479" y="1379596"/>
            <a:ext cx="10442591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Dedicated graph-based RFANNS indices  are </a:t>
            </a:r>
            <a:r>
              <a:rPr lang="en-US" altLang="zh-CN" b="1"/>
              <a:t>slower to build </a:t>
            </a:r>
            <a:r>
              <a:rPr lang="en-US" altLang="zh-CN"/>
              <a:t>compared with hashing/partition-based ones.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Longer indexing time </a:t>
            </a:r>
            <a:r>
              <a:rPr lang="en-US" altLang="zh-CN"/>
              <a:t>and </a:t>
            </a:r>
            <a:r>
              <a:rPr lang="en-US" altLang="zh-CN" b="1"/>
              <a:t>larger size </a:t>
            </a:r>
            <a:r>
              <a:rPr lang="en-US" altLang="zh-CN"/>
              <a:t>than a vanilla graph built on the vector set. (for Simulate OPG)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Most RFANNS indices are either </a:t>
            </a:r>
            <a:r>
              <a:rPr lang="en-US" altLang="zh-CN" b="1"/>
              <a:t>static</a:t>
            </a:r>
            <a:r>
              <a:rPr lang="en-US" altLang="zh-CN"/>
              <a:t> or only provide limited incremental support.</a:t>
            </a:r>
            <a:endParaRPr lang="zh-CN" altLang="zh-CN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9E49569-FDE9-8612-8FFF-D3212E935AFE}"/>
              </a:ext>
            </a:extLst>
          </p:cNvPr>
          <p:cNvSpPr txBox="1"/>
          <p:nvPr/>
        </p:nvSpPr>
        <p:spPr>
          <a:xfrm>
            <a:off x="486262" y="331458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Challenge 2: Multi-Range Adaptability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79D3EA79-F18E-2A20-69E3-E563D53A00C2}"/>
              </a:ext>
            </a:extLst>
          </p:cNvPr>
          <p:cNvSpPr/>
          <p:nvPr/>
        </p:nvSpPr>
        <p:spPr>
          <a:xfrm>
            <a:off x="585499" y="3714697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C011A2D7-C59E-3A41-76B4-3B169E87001F}"/>
              </a:ext>
            </a:extLst>
          </p:cNvPr>
          <p:cNvSpPr txBox="1"/>
          <p:nvPr/>
        </p:nvSpPr>
        <p:spPr>
          <a:xfrm>
            <a:off x="792479" y="3733747"/>
            <a:ext cx="10924599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No or negative </a:t>
            </a:r>
            <a:r>
              <a:rPr lang="en-US" altLang="zh-CN" b="1"/>
              <a:t>correlation</a:t>
            </a:r>
            <a:r>
              <a:rPr lang="en-US" altLang="zh-CN"/>
              <a:t> between the query vector neighborhood and the filtering subset.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Queries of </a:t>
            </a:r>
            <a:r>
              <a:rPr lang="en-US" altLang="zh-CN" b="1"/>
              <a:t>high selectivity </a:t>
            </a:r>
            <a:r>
              <a:rPr lang="en-US" altLang="zh-CN"/>
              <a:t>are also challenging as most of nearest neighbors are out of range.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Many RFANNS indices fail to obtain the optimal balance between </a:t>
            </a:r>
            <a:r>
              <a:rPr lang="en-US" altLang="zh-CN" b="1"/>
              <a:t>query speed </a:t>
            </a:r>
            <a:r>
              <a:rPr lang="en-US" altLang="zh-CN"/>
              <a:t>and </a:t>
            </a:r>
            <a:r>
              <a:rPr lang="en-US" altLang="zh-CN" b="1"/>
              <a:t>accuracy</a:t>
            </a:r>
            <a:r>
              <a:rPr lang="en-US" altLang="zh-CN"/>
              <a:t> for all levels.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iRangeGraph is a </a:t>
            </a:r>
            <a:r>
              <a:rPr lang="en-US" altLang="zh-CN" b="1"/>
              <a:t>static index </a:t>
            </a:r>
            <a:r>
              <a:rPr lang="en-US" altLang="zh-CN"/>
              <a:t>and lacks support for insertion.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DIGRA encounters severe accuracy loss after frequent insertions.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037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49039-201F-CAFC-D973-BAC4B2DD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6166F5-2F08-AFB1-04F3-52BC48F81AEE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C9589-ACBE-E0B7-82DA-4949A4B2F9D7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Core Design: Hierarchical Window Graphs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D562D-FB36-41BA-6BC6-E56508E9D9A0}"/>
              </a:ext>
            </a:extLst>
          </p:cNvPr>
          <p:cNvSpPr txBox="1"/>
          <p:nvPr/>
        </p:nvSpPr>
        <p:spPr>
          <a:xfrm>
            <a:off x="486261" y="979486"/>
            <a:ext cx="7920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Window-Based Connectivity:</a:t>
            </a:r>
            <a:endParaRPr lang="zh-CN" altLang="zh-CN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297F-485F-FAD1-1E1D-155A48BD0466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5381086D-4CDA-0E71-4A6C-FB2A682E1D78}"/>
              </a:ext>
            </a:extLst>
          </p:cNvPr>
          <p:cNvSpPr txBox="1"/>
          <p:nvPr/>
        </p:nvSpPr>
        <p:spPr>
          <a:xfrm>
            <a:off x="792479" y="1379596"/>
            <a:ext cx="5409847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Models attribute similarity as an </a:t>
            </a:r>
            <a:r>
              <a:rPr lang="en-US" altLang="zh-CN" b="1"/>
              <a:t>Attribute Window</a:t>
            </a:r>
            <a:r>
              <a:rPr lang="en-US" altLang="zh-CN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Vertices connect only to </a:t>
            </a:r>
            <a:r>
              <a:rPr lang="en-US" altLang="zh-CN" b="1"/>
              <a:t>in-window nearest neighbors</a:t>
            </a:r>
            <a:r>
              <a:rPr lang="en-US" altLang="zh-CN"/>
              <a:t>, balancing vector and attribute similarity.</a:t>
            </a:r>
            <a:endParaRPr lang="zh-CN" altLang="zh-CN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DC680C6-55DE-9703-D9C5-F3917779609E}"/>
              </a:ext>
            </a:extLst>
          </p:cNvPr>
          <p:cNvSpPr txBox="1"/>
          <p:nvPr/>
        </p:nvSpPr>
        <p:spPr>
          <a:xfrm>
            <a:off x="486261" y="34767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Why Hierarchy?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B60927E-1958-2006-77AE-6C0759E37FFA}"/>
              </a:ext>
            </a:extLst>
          </p:cNvPr>
          <p:cNvSpPr/>
          <p:nvPr/>
        </p:nvSpPr>
        <p:spPr>
          <a:xfrm>
            <a:off x="585498" y="3876850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E7FAA83-DF71-5AB7-4C0B-34ABD17CEFBE}"/>
              </a:ext>
            </a:extLst>
          </p:cNvPr>
          <p:cNvSpPr txBox="1"/>
          <p:nvPr/>
        </p:nvSpPr>
        <p:spPr>
          <a:xfrm>
            <a:off x="792479" y="3895900"/>
            <a:ext cx="5147577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A single window graph cannot generalize to all query ranges.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Small Window Graphs </a:t>
            </a:r>
            <a:r>
              <a:rPr lang="en-US" altLang="zh-CN"/>
              <a:t>act as complements to recover missing connections in narrow ranges.</a:t>
            </a:r>
            <a:endParaRPr lang="zh-CN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2F3E4C-E3BB-A4CF-D11F-AA335B978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46" y="1638553"/>
            <a:ext cx="5969200" cy="42554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807F19F-D418-55DA-E073-AA448B3411CC}"/>
              </a:ext>
            </a:extLst>
          </p:cNvPr>
          <p:cNvSpPr/>
          <p:nvPr/>
        </p:nvSpPr>
        <p:spPr>
          <a:xfrm>
            <a:off x="7116726" y="2011910"/>
            <a:ext cx="1389320" cy="270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6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5B07E-27F1-FDE7-9337-D01BDB17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980F3-320B-AA17-318E-12899A691A0A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D4242C-5794-67FF-9181-C868C6D3A0A3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Main Contributions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6E19F-147A-0933-B76A-13ED89CA05DF}"/>
              </a:ext>
            </a:extLst>
          </p:cNvPr>
          <p:cNvSpPr txBox="1"/>
          <p:nvPr/>
        </p:nvSpPr>
        <p:spPr>
          <a:xfrm>
            <a:off x="486261" y="979486"/>
            <a:ext cx="7920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Fully Incremental Construction:</a:t>
            </a:r>
            <a:endParaRPr lang="zh-CN" altLang="zh-CN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B84DD-EC37-E741-AC97-E605ECBB54B0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F225FACE-6D45-A638-31F3-6526F59914BA}"/>
              </a:ext>
            </a:extLst>
          </p:cNvPr>
          <p:cNvSpPr txBox="1"/>
          <p:nvPr/>
        </p:nvSpPr>
        <p:spPr>
          <a:xfrm>
            <a:off x="792480" y="1379596"/>
            <a:ext cx="7075614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Supports building from an </a:t>
            </a:r>
            <a:r>
              <a:rPr lang="en-US" altLang="zh-CN" b="1"/>
              <a:t>empty index </a:t>
            </a:r>
            <a:r>
              <a:rPr lang="en-US" altLang="zh-CN"/>
              <a:t>without data presorting.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Insertion complexity: O (log</a:t>
            </a:r>
            <a:r>
              <a:rPr lang="en-US" altLang="zh-CN" baseline="30000"/>
              <a:t>2</a:t>
            </a:r>
            <a:r>
              <a:rPr lang="en-US" altLang="zh-CN"/>
              <a:t> n) </a:t>
            </a:r>
            <a:r>
              <a:rPr lang="en-US" altLang="zh-CN" b="1"/>
              <a:t>highly parallelizable</a:t>
            </a:r>
            <a:r>
              <a:rPr lang="en-US" altLang="zh-CN"/>
              <a:t>.</a:t>
            </a:r>
            <a:endParaRPr lang="zh-CN" altLang="zh-CN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689B726-F7B7-21C0-4FFB-A11F765B482C}"/>
              </a:ext>
            </a:extLst>
          </p:cNvPr>
          <p:cNvSpPr txBox="1"/>
          <p:nvPr/>
        </p:nvSpPr>
        <p:spPr>
          <a:xfrm>
            <a:off x="486262" y="261992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Optimal Query Efficiency: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436F173-B8B7-3597-1DDA-7FA7DF3F3277}"/>
              </a:ext>
            </a:extLst>
          </p:cNvPr>
          <p:cNvSpPr/>
          <p:nvPr/>
        </p:nvSpPr>
        <p:spPr>
          <a:xfrm>
            <a:off x="585499" y="3020037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890913C-34F6-4771-3BE6-CEC669E8EA19}"/>
              </a:ext>
            </a:extLst>
          </p:cNvPr>
          <p:cNvSpPr txBox="1"/>
          <p:nvPr/>
        </p:nvSpPr>
        <p:spPr>
          <a:xfrm>
            <a:off x="792480" y="3039087"/>
            <a:ext cx="7817510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First to reduce </a:t>
            </a:r>
            <a:r>
              <a:rPr lang="en-US" altLang="zh-CN" b="1"/>
              <a:t>filter tests </a:t>
            </a:r>
            <a:r>
              <a:rPr lang="en-US" altLang="zh-CN"/>
              <a:t>and </a:t>
            </a:r>
            <a:r>
              <a:rPr lang="en-US" altLang="zh-CN" b="1"/>
              <a:t>distance computations </a:t>
            </a:r>
            <a:r>
              <a:rPr lang="en-US" altLang="zh-CN"/>
              <a:t>simultaneously.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Query complexity: O (log n′) , </a:t>
            </a:r>
            <a:r>
              <a:rPr lang="en-US" altLang="zh-CN" b="1"/>
              <a:t>equivalent to an Oracle RNG</a:t>
            </a:r>
            <a:r>
              <a:rPr lang="en-US" altLang="zh-CN"/>
              <a:t>.</a:t>
            </a:r>
            <a:endParaRPr lang="zh-CN" altLang="zh-C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DADFEF-A6BA-745A-7A74-57092297BD70}"/>
              </a:ext>
            </a:extLst>
          </p:cNvPr>
          <p:cNvSpPr txBox="1"/>
          <p:nvPr/>
        </p:nvSpPr>
        <p:spPr>
          <a:xfrm>
            <a:off x="486262" y="427941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State-of-the-Art Performance:</a:t>
            </a: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6AEBA24-11C2-1237-E2AA-AE68F4C73791}"/>
              </a:ext>
            </a:extLst>
          </p:cNvPr>
          <p:cNvSpPr/>
          <p:nvPr/>
        </p:nvSpPr>
        <p:spPr>
          <a:xfrm>
            <a:off x="585499" y="4679528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AF77AEB-3176-CE9C-9521-D62CC60223CA}"/>
              </a:ext>
            </a:extLst>
          </p:cNvPr>
          <p:cNvSpPr txBox="1"/>
          <p:nvPr/>
        </p:nvSpPr>
        <p:spPr>
          <a:xfrm>
            <a:off x="792480" y="4698578"/>
            <a:ext cx="8961120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Indexing</a:t>
            </a:r>
            <a:r>
              <a:rPr lang="en-US" altLang="zh-CN"/>
              <a:t>: 4.9x </a:t>
            </a:r>
            <a:r>
              <a:rPr lang="en-US" altLang="zh-CN" b="1"/>
              <a:t>faster</a:t>
            </a:r>
            <a:r>
              <a:rPr lang="en-US" altLang="zh-CN"/>
              <a:t> and 0.5x </a:t>
            </a:r>
            <a:r>
              <a:rPr lang="en-US" altLang="zh-CN" b="1"/>
              <a:t>smaller</a:t>
            </a:r>
            <a:r>
              <a:rPr lang="en-US" altLang="zh-CN"/>
              <a:t> than the most efficient baseline (DIGRA).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Querying</a:t>
            </a:r>
            <a:r>
              <a:rPr lang="en-US" altLang="zh-CN"/>
              <a:t>: 4x </a:t>
            </a:r>
            <a:r>
              <a:rPr lang="en-US" altLang="zh-CN" b="1"/>
              <a:t>faster</a:t>
            </a:r>
            <a:r>
              <a:rPr lang="en-US" altLang="zh-CN"/>
              <a:t> than the best </a:t>
            </a:r>
            <a:r>
              <a:rPr lang="en-US" altLang="zh-CN" b="1"/>
              <a:t>incremental index </a:t>
            </a:r>
            <a:r>
              <a:rPr lang="en-US" altLang="zh-CN"/>
              <a:t>(HSIG) and 1.5x </a:t>
            </a:r>
            <a:r>
              <a:rPr lang="en-US" altLang="zh-CN" b="1"/>
              <a:t>faster</a:t>
            </a:r>
            <a:r>
              <a:rPr lang="en-US" altLang="zh-CN"/>
              <a:t> than the best </a:t>
            </a:r>
            <a:r>
              <a:rPr lang="en-US" altLang="zh-CN" b="1"/>
              <a:t>static index </a:t>
            </a:r>
            <a:r>
              <a:rPr lang="en-US" altLang="zh-CN"/>
              <a:t>in high-selectivity workloads.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9333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4CC4D-C897-C46C-1A65-FE292AAB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1949B-4ADA-120E-70A7-D5F3BABF16E5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0C5D2-7694-A129-794C-1B05407827AC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Problem Formulation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2170B6B-57FA-E8EF-57C4-3DC1167B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501678"/>
            <a:ext cx="8109367" cy="825542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20AA9CE8-8C4C-A8CB-AD09-59E524A95396}"/>
              </a:ext>
            </a:extLst>
          </p:cNvPr>
          <p:cNvSpPr txBox="1"/>
          <p:nvPr/>
        </p:nvSpPr>
        <p:spPr>
          <a:xfrm>
            <a:off x="486262" y="979486"/>
            <a:ext cx="2724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ANNS</a:t>
            </a:r>
            <a:endParaRPr lang="zh-CN" altLang="zh-CN" sz="2000" b="1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287A534F-C2DC-7CE1-5CA5-B633D5D52527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21248506-3D23-AFD1-84DB-D76C3EAA66C1}"/>
              </a:ext>
            </a:extLst>
          </p:cNvPr>
          <p:cNvSpPr txBox="1"/>
          <p:nvPr/>
        </p:nvSpPr>
        <p:spPr>
          <a:xfrm>
            <a:off x="798831" y="2235706"/>
            <a:ext cx="10038553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The search accuracy can be defined by the fraction of the exact nearest neighbors:</a:t>
            </a:r>
            <a:endParaRPr lang="zh-CN" altLang="zh-CN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4DE8DC0-5365-7631-7A00-296FD65D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19" y="2370360"/>
            <a:ext cx="1181161" cy="330217"/>
          </a:xfrm>
          <a:prstGeom prst="rect">
            <a:avLst/>
          </a:prstGeom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id="{79A53DD2-C293-8F39-D207-3F6F80D168CC}"/>
              </a:ext>
            </a:extLst>
          </p:cNvPr>
          <p:cNvSpPr txBox="1"/>
          <p:nvPr/>
        </p:nvSpPr>
        <p:spPr>
          <a:xfrm>
            <a:off x="486262" y="2836924"/>
            <a:ext cx="2724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RFANNS</a:t>
            </a:r>
            <a:endParaRPr lang="zh-CN" altLang="zh-CN" sz="2000" b="1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3AEAADEA-1922-C571-98DA-B23A67334BEA}"/>
              </a:ext>
            </a:extLst>
          </p:cNvPr>
          <p:cNvSpPr/>
          <p:nvPr/>
        </p:nvSpPr>
        <p:spPr>
          <a:xfrm>
            <a:off x="585499" y="3210281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BD0D4AB-2705-F114-EE20-F2C3E4951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31" y="3342501"/>
            <a:ext cx="8103016" cy="1257365"/>
          </a:xfrm>
          <a:prstGeom prst="rect">
            <a:avLst/>
          </a:prstGeom>
        </p:spPr>
      </p:pic>
      <p:sp>
        <p:nvSpPr>
          <p:cNvPr id="27" name="TextBox 4">
            <a:extLst>
              <a:ext uri="{FF2B5EF4-FFF2-40B4-BE49-F238E27FC236}">
                <a16:creationId xmlns:a16="http://schemas.microsoft.com/office/drawing/2014/main" id="{848261BE-DCBE-24AA-A6F6-4CAD66A3F3AF}"/>
              </a:ext>
            </a:extLst>
          </p:cNvPr>
          <p:cNvSpPr txBox="1"/>
          <p:nvPr/>
        </p:nvSpPr>
        <p:spPr>
          <a:xfrm>
            <a:off x="486262" y="4731690"/>
            <a:ext cx="2724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Query Selectivity</a:t>
            </a:r>
            <a:endParaRPr lang="zh-CN" altLang="zh-CN" sz="2000" b="1"/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14CC2050-4582-81AC-F8DB-072D006B8525}"/>
              </a:ext>
            </a:extLst>
          </p:cNvPr>
          <p:cNvSpPr/>
          <p:nvPr/>
        </p:nvSpPr>
        <p:spPr>
          <a:xfrm>
            <a:off x="585499" y="5105047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863A495-FF4C-D4DA-27BF-814B2709B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62" y="5263054"/>
            <a:ext cx="8160169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7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2B56-CC56-E6A8-B434-8D191AA6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BF91C0-B909-4C95-4E9F-4A245294E6B7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57775-C1FE-6F14-7D47-4C0E0A8F86A0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Related Work: ANNS &amp; Filtering Strategies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36A73-A456-57FF-74BA-CDCB1743056A}"/>
              </a:ext>
            </a:extLst>
          </p:cNvPr>
          <p:cNvSpPr txBox="1"/>
          <p:nvPr/>
        </p:nvSpPr>
        <p:spPr>
          <a:xfrm>
            <a:off x="486261" y="979486"/>
            <a:ext cx="7920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 altLang="zh-CN" sz="2000" b="1"/>
              <a:t>Three Categories of ANNS Indices</a:t>
            </a:r>
            <a:endParaRPr lang="zh-CN" altLang="zh-CN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585B0-F870-A1D7-631B-BF01275A741C}"/>
              </a:ext>
            </a:extLst>
          </p:cNvPr>
          <p:cNvSpPr/>
          <p:nvPr/>
        </p:nvSpPr>
        <p:spPr>
          <a:xfrm>
            <a:off x="585499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2B92F5B7-6962-0C79-8C1F-1FEB5BE99340}"/>
              </a:ext>
            </a:extLst>
          </p:cNvPr>
          <p:cNvSpPr txBox="1"/>
          <p:nvPr/>
        </p:nvSpPr>
        <p:spPr>
          <a:xfrm>
            <a:off x="763219" y="1346865"/>
            <a:ext cx="10669419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Hashing-based: Maps similar vectors to buckets via static or learnable hash functions.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Partition-based: Groups similar vectors into clusters/cell.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Graph-based: Represents similarity via proximity edges, aiming to approximate the Relative Neighborhood Graph (RNG). </a:t>
            </a:r>
            <a:r>
              <a:rPr lang="zh-CN" altLang="zh-CN" b="1"/>
              <a:t>HNSW</a:t>
            </a:r>
            <a:r>
              <a:rPr lang="zh-CN" altLang="zh-CN"/>
              <a:t> is the state-of-the-art for performance and speed.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2BD55ECA-561E-714A-E618-5FFD26F332BE}"/>
              </a:ext>
            </a:extLst>
          </p:cNvPr>
          <p:cNvSpPr txBox="1"/>
          <p:nvPr/>
        </p:nvSpPr>
        <p:spPr>
          <a:xfrm>
            <a:off x="486262" y="3058231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Graph Construction Strategies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EF73E4F-5173-667B-2425-A905D0D4AC04}"/>
              </a:ext>
            </a:extLst>
          </p:cNvPr>
          <p:cNvSpPr/>
          <p:nvPr/>
        </p:nvSpPr>
        <p:spPr>
          <a:xfrm>
            <a:off x="585499" y="3458341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8BDF2582-EE16-4C90-6DC1-555EC2488A33}"/>
              </a:ext>
            </a:extLst>
          </p:cNvPr>
          <p:cNvSpPr txBox="1"/>
          <p:nvPr/>
        </p:nvSpPr>
        <p:spPr>
          <a:xfrm>
            <a:off x="763220" y="3477391"/>
            <a:ext cx="1056071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Refinement-based: (e.g., NSG, NSSG) Optimizes a pre-built graph for better search quality; typically static.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Increment-based: (e.g., NSW, HNSW) Builds the graph by inserting nodes one by one; offers greater flexibility.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The Gap: Incremental support for filtered search remains an unaddressed challenge.</a:t>
            </a:r>
            <a:endParaRPr lang="zh-CN" altLang="zh-CN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233911AA-BBF3-8697-0AF2-343DC7A171D1}"/>
              </a:ext>
            </a:extLst>
          </p:cNvPr>
          <p:cNvSpPr txBox="1"/>
          <p:nvPr/>
        </p:nvSpPr>
        <p:spPr>
          <a:xfrm>
            <a:off x="486261" y="476401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Evolution of Filtering ANNS</a:t>
            </a:r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AB76853-A539-C129-E5DF-20EC77989291}"/>
              </a:ext>
            </a:extLst>
          </p:cNvPr>
          <p:cNvSpPr/>
          <p:nvPr/>
        </p:nvSpPr>
        <p:spPr>
          <a:xfrm>
            <a:off x="585498" y="5164128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85AD361D-3598-AA8D-ADFF-AC002FCE84D7}"/>
              </a:ext>
            </a:extLst>
          </p:cNvPr>
          <p:cNvSpPr txBox="1"/>
          <p:nvPr/>
        </p:nvSpPr>
        <p:spPr>
          <a:xfrm>
            <a:off x="763218" y="5183178"/>
            <a:ext cx="1149705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Filter Types: Label, Range (this paper's focus), and Generic Predicates.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From Baselines to Dedicated Indices:</a:t>
            </a:r>
          </a:p>
          <a:p>
            <a:pPr>
              <a:lnSpc>
                <a:spcPct val="150000"/>
              </a:lnSpc>
            </a:pPr>
            <a:r>
              <a:rPr lang="en-US" altLang="zh-CN"/>
              <a:t>	Pre/Post-filtering: Inherent defects (inefficiency and low recall).</a:t>
            </a:r>
          </a:p>
          <a:p>
            <a:pPr>
              <a:lnSpc>
                <a:spcPct val="150000"/>
              </a:lnSpc>
            </a:pPr>
            <a:r>
              <a:rPr lang="en-US" altLang="zh-CN"/>
              <a:t>	Dedicated Indices: Specifically designed to only visit vectors satisfying the predicate, avoiding wasteful computations.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400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0AA13-4038-F3EF-D56E-7711D820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6D8940-3A42-BAB6-9779-444CACA8A113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37C46-5BDC-FEC5-BE88-7196CE429214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Related Work </a:t>
            </a:r>
            <a:r>
              <a:rPr lang="zh-CN" altLang="zh-CN" sz="3200" b="1"/>
              <a:t>Comparison </a:t>
            </a:r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3CA305B-9006-CEA5-E8AA-9ED60A373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579" y="762031"/>
            <a:ext cx="5670841" cy="3238666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4BA42920-78FB-AFC3-FD1A-D4D3FA0EAA05}"/>
              </a:ext>
            </a:extLst>
          </p:cNvPr>
          <p:cNvSpPr txBox="1"/>
          <p:nvPr/>
        </p:nvSpPr>
        <p:spPr>
          <a:xfrm>
            <a:off x="694638" y="3817817"/>
            <a:ext cx="10731703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ANNS:</a:t>
            </a:r>
            <a:r>
              <a:rPr lang="en-US" altLang="zh-CN"/>
              <a:t> indicates the ANNS algorithm that an index is based 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Indexing:</a:t>
            </a:r>
            <a:r>
              <a:rPr lang="en-US" altLang="zh-CN"/>
              <a:t> compares how to construct the indices: static, post-incremental, ordered incremental, or unordered incremental.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OOR:</a:t>
            </a:r>
            <a:r>
              <a:rPr lang="en-US" altLang="zh-CN"/>
              <a:t> marks whether the distance of out-of-range vectors needs be calculated.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/>
              <a:t>Key structure: </a:t>
            </a:r>
            <a:r>
              <a:rPr lang="en-US" altLang="zh-CN"/>
              <a:t>lists the structure employed to arrange vectors and attribute values.</a:t>
            </a:r>
            <a:endParaRPr lang="zh-CN" altLang="zh-CN"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1A63BD2A-2D28-A371-770A-E5F88A21CCFE}"/>
              </a:ext>
            </a:extLst>
          </p:cNvPr>
          <p:cNvSpPr/>
          <p:nvPr/>
        </p:nvSpPr>
        <p:spPr>
          <a:xfrm>
            <a:off x="411797" y="6017833"/>
            <a:ext cx="11368099" cy="598967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B2A4A"/>
                </a:solidFill>
              </a:defRPr>
            </a:pPr>
            <a:r>
              <a:rPr lang="en-US"/>
              <a:t>WoW is the only index to support fully incremental construction (cf. Challenge 1) without OOR-vector visit (cf. Challenge 2).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82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5D85C-A21D-3AC0-A720-613B0D7C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C08688-ADD2-FF7B-A4E4-EA4C0CDD8191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81580E-C135-A053-B840-B22AFC16A64D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Definitions &amp; Structure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CF91E-50D5-8B0B-F6B1-41B22803B18B}"/>
              </a:ext>
            </a:extLst>
          </p:cNvPr>
          <p:cNvSpPr txBox="1"/>
          <p:nvPr/>
        </p:nvSpPr>
        <p:spPr>
          <a:xfrm>
            <a:off x="6422268" y="979486"/>
            <a:ext cx="5283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WBT and Hierarchical Window Graphs</a:t>
            </a:r>
            <a:endParaRPr lang="zh-CN" altLang="zh-CN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64145-5C12-8E78-8A26-9612B0CCC660}"/>
              </a:ext>
            </a:extLst>
          </p:cNvPr>
          <p:cNvSpPr/>
          <p:nvPr/>
        </p:nvSpPr>
        <p:spPr>
          <a:xfrm>
            <a:off x="6521505" y="135284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F97260-0395-2E97-449A-FEAA3301B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0"/>
          <a:stretch>
            <a:fillRect/>
          </a:stretch>
        </p:blipFill>
        <p:spPr>
          <a:xfrm>
            <a:off x="374417" y="801617"/>
            <a:ext cx="5207081" cy="491352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EA2D30-6895-11CF-F176-6B5E0528C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267" y="2298662"/>
            <a:ext cx="5283472" cy="341647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9B921AD-F360-62E7-1FAD-1336F9B7E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95" y="5891316"/>
            <a:ext cx="7163168" cy="68583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622B213-9C4E-A981-3527-D10943A67D04}"/>
              </a:ext>
            </a:extLst>
          </p:cNvPr>
          <p:cNvSpPr txBox="1"/>
          <p:nvPr/>
        </p:nvSpPr>
        <p:spPr>
          <a:xfrm>
            <a:off x="2777764" y="5018398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m=4 o=4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25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9C777-898F-8F1F-94BD-5210E910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B29F3A-12E3-F501-802B-D390A95CCCAC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4C267-3011-FDC3-B110-2DC5EF3E9CE4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Top-down Insertion</a:t>
            </a:r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4E430C-9AC5-C8F7-DBA2-67607DCC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813" y="1048141"/>
            <a:ext cx="6742713" cy="54581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6D2AF31-1DF2-94E9-D032-BF4E2AD95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5" y="1484986"/>
            <a:ext cx="4959916" cy="399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90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E8676-3429-0903-3923-8E3FDA0B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817218-C0A5-2226-FC5B-28E3473F793B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037AD-A158-F161-631C-E254AAA6E37F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Multi-layer Candidate Acquisition</a:t>
            </a: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2A3B13-D321-BEED-0250-F962F5C2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6" y="1140975"/>
            <a:ext cx="6722171" cy="52859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B397F46-572D-1CC2-E839-AACCB62EA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975" y="906888"/>
            <a:ext cx="4432788" cy="3113103"/>
          </a:xfrm>
          <a:prstGeom prst="rect">
            <a:avLst/>
          </a:prstGeom>
        </p:spPr>
      </p:pic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B119D3E3-09B4-1F8E-ADF7-3BA66BA10029}"/>
              </a:ext>
            </a:extLst>
          </p:cNvPr>
          <p:cNvSpPr/>
          <p:nvPr/>
        </p:nvSpPr>
        <p:spPr>
          <a:xfrm>
            <a:off x="7483449" y="4177512"/>
            <a:ext cx="329184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rPr lang="zh-CN" altLang="zh-CN" b="1"/>
              <a:t>Multi-layer Traversal</a:t>
            </a: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63E8D5-12BC-D442-31EA-99C5F28940BF}"/>
              </a:ext>
            </a:extLst>
          </p:cNvPr>
          <p:cNvSpPr/>
          <p:nvPr/>
        </p:nvSpPr>
        <p:spPr>
          <a:xfrm>
            <a:off x="7483449" y="5077256"/>
            <a:ext cx="329184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rPr lang="zh-CN" altLang="zh-CN" b="1"/>
              <a:t>Selectivity Filtering </a:t>
            </a:r>
            <a:endParaRPr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A4F1977C-2C26-9768-3E1F-3067915662D2}"/>
              </a:ext>
            </a:extLst>
          </p:cNvPr>
          <p:cNvSpPr/>
          <p:nvPr/>
        </p:nvSpPr>
        <p:spPr>
          <a:xfrm>
            <a:off x="7483449" y="5977000"/>
            <a:ext cx="329184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</a:defRPr>
            </a:pPr>
            <a:r>
              <a:rPr lang="zh-CN" altLang="zh-CN" b="1"/>
              <a:t>Early-stop Strategy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96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C935A-2606-CBAA-3375-17C2F04A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E5D959-4901-50E9-C769-43DFE6763F11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30F622-BDAF-E2F7-C0BA-B9D93E691F69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Multi-layer Candidate Acquisition</a:t>
            </a: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6DCFDA-952B-7397-EF01-91A7DEEFB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19" y="994670"/>
            <a:ext cx="4432788" cy="3113103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80F1B9D-BFA0-5451-3009-898F9681DC4F}"/>
              </a:ext>
            </a:extLst>
          </p:cNvPr>
          <p:cNvSpPr txBox="1"/>
          <p:nvPr/>
        </p:nvSpPr>
        <p:spPr>
          <a:xfrm>
            <a:off x="5151207" y="994670"/>
            <a:ext cx="6748074" cy="5485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layer range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L = [1, 2],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range filter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R =  [48, 99],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target vector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73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and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beam search width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ω = 4. The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random entry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ep is set to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400" baseline="-25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HOP1- v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72 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The neighbors of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in Layer 2 are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.(out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R)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The algorithm then checks Layer 1 and appends the only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in-range neighbor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into the candidate list.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HOP2- v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At the 2-hop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it finds an in-range neighbor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in Layer 2 and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in Layer 1.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HOP3- v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Since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is closer to va, it is picked as the 3-hop whose neighbor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in Layer 1 is added into C, U at this hop.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The last hop is v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and there are no more candidates in C because other vertices are far away from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. The search converges and the algorithm returns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, v</a:t>
            </a:r>
            <a:r>
              <a:rPr lang="en-US" altLang="zh-CN" sz="1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endParaRPr lang="zh-CN" altLang="zh-CN" sz="1400" baseline="-25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20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584F2-2A19-8CF9-1CDF-8333E492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DB56B1-842E-FB84-B3B7-103A89AE7E44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27C2E-AA3B-04E8-8BE3-0CC5B007E581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Selectivity-Aware Range Search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F81D1A-6046-B7FF-D6DA-B54C635E7261}"/>
              </a:ext>
            </a:extLst>
          </p:cNvPr>
          <p:cNvSpPr txBox="1"/>
          <p:nvPr/>
        </p:nvSpPr>
        <p:spPr>
          <a:xfrm>
            <a:off x="486262" y="427941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Decide landing layer</a:t>
            </a: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5306E0C-93D2-6789-1A0B-D72BD88AA192}"/>
              </a:ext>
            </a:extLst>
          </p:cNvPr>
          <p:cNvSpPr/>
          <p:nvPr/>
        </p:nvSpPr>
        <p:spPr>
          <a:xfrm>
            <a:off x="585499" y="4679528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BEA407D-5E61-5AF7-A955-8D370887C2B5}"/>
              </a:ext>
            </a:extLst>
          </p:cNvPr>
          <p:cNvSpPr txBox="1"/>
          <p:nvPr/>
        </p:nvSpPr>
        <p:spPr>
          <a:xfrm>
            <a:off x="792480" y="4698578"/>
            <a:ext cx="10889894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The Balance: Minimizes filter checks while maintaining high-quality candidates.</a:t>
            </a:r>
            <a:endParaRPr lang="zh-CN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8B24A48-BD61-5BDC-D605-D817624D2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74" y="837995"/>
            <a:ext cx="7544188" cy="3194214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E78B0E35-7139-2C1F-2BCB-D328CD253C56}"/>
              </a:ext>
            </a:extLst>
          </p:cNvPr>
          <p:cNvSpPr txBox="1"/>
          <p:nvPr/>
        </p:nvSpPr>
        <p:spPr>
          <a:xfrm>
            <a:off x="431681" y="5308481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Acquire multi-layer candidates</a:t>
            </a:r>
            <a:endParaRPr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A65E4974-F2D0-27E0-74B5-E77865493428}"/>
              </a:ext>
            </a:extLst>
          </p:cNvPr>
          <p:cNvSpPr/>
          <p:nvPr/>
        </p:nvSpPr>
        <p:spPr>
          <a:xfrm>
            <a:off x="530918" y="5708591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06893994-4E26-DD2A-9650-E980A9FE40B9}"/>
              </a:ext>
            </a:extLst>
          </p:cNvPr>
          <p:cNvSpPr txBox="1"/>
          <p:nvPr/>
        </p:nvSpPr>
        <p:spPr>
          <a:xfrm>
            <a:off x="737899" y="5727641"/>
            <a:ext cx="10889894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Call Algorithm 2 with beam width ω</a:t>
            </a:r>
            <a:r>
              <a:rPr lang="en-US" altLang="zh-CN" baseline="-25000"/>
              <a:t>s</a:t>
            </a:r>
            <a:r>
              <a:rPr lang="en-US" altLang="zh-CN"/>
              <a:t> to retrieve top-k results.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83861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24299-D431-F484-2237-DD41FACF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89AEFB-8933-BEA4-AB67-3F751AF85F68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784FB-9428-8CA9-CED3-BB8C2190872F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Influence of Hyperparameters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A39F9BD-83FA-3DF3-3395-745FBAA7A4CB}"/>
              </a:ext>
            </a:extLst>
          </p:cNvPr>
          <p:cNvSpPr txBox="1"/>
          <p:nvPr/>
        </p:nvSpPr>
        <p:spPr>
          <a:xfrm>
            <a:off x="486262" y="978646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Standard Graph Parameters</a:t>
            </a: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E2CE7C3-85C5-69FD-D97A-75133FFB7047}"/>
              </a:ext>
            </a:extLst>
          </p:cNvPr>
          <p:cNvSpPr/>
          <p:nvPr/>
        </p:nvSpPr>
        <p:spPr>
          <a:xfrm>
            <a:off x="585499" y="1378756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2BC4299-8EA6-31C5-AEEE-D0BCABA414DD}"/>
              </a:ext>
            </a:extLst>
          </p:cNvPr>
          <p:cNvSpPr txBox="1"/>
          <p:nvPr/>
        </p:nvSpPr>
        <p:spPr>
          <a:xfrm>
            <a:off x="792479" y="1397806"/>
            <a:ext cx="10246157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Max Outdegree m: Controls graph density.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Trade-off: Higher m improves connectivity but increases distance computations per hop.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Beam Search Width ω</a:t>
            </a:r>
            <a:r>
              <a:rPr lang="en-US" altLang="zh-CN" baseline="-25000"/>
              <a:t>c</a:t>
            </a:r>
            <a:r>
              <a:rPr lang="en-US" altLang="zh-CN"/>
              <a:t>: Controls candidate quality during indexing.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Trade-off: Higher ω</a:t>
            </a:r>
            <a:r>
              <a:rPr lang="en-US" altLang="zh-CN" baseline="-25000"/>
              <a:t>c</a:t>
            </a:r>
            <a:r>
              <a:rPr lang="en-US" altLang="zh-CN"/>
              <a:t> leads to more diversified connections but increases indexing time.</a:t>
            </a:r>
            <a:endParaRPr lang="zh-CN" altLang="zh-CN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685B9BA-43F5-4AB6-E086-52D8BB38BD0E}"/>
              </a:ext>
            </a:extLst>
          </p:cNvPr>
          <p:cNvSpPr txBox="1"/>
          <p:nvPr/>
        </p:nvSpPr>
        <p:spPr>
          <a:xfrm>
            <a:off x="431680" y="3810286"/>
            <a:ext cx="7600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WoW-Specific Parameter: Window Boosting Base o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668531E-3780-FE8C-B7A4-AFD4E7D53248}"/>
              </a:ext>
            </a:extLst>
          </p:cNvPr>
          <p:cNvSpPr/>
          <p:nvPr/>
        </p:nvSpPr>
        <p:spPr>
          <a:xfrm>
            <a:off x="530918" y="4210396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83AF94D1-963E-A318-848F-AEB3D95368E2}"/>
              </a:ext>
            </a:extLst>
          </p:cNvPr>
          <p:cNvSpPr txBox="1"/>
          <p:nvPr/>
        </p:nvSpPr>
        <p:spPr>
          <a:xfrm>
            <a:off x="792479" y="4229446"/>
            <a:ext cx="9883771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Layer Control: Determines the total number of layers and affects indexing speed.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o </a:t>
            </a:r>
            <a:r>
              <a:rPr lang="zh-CN" altLang="zh-CN"/>
              <a:t>directly impacts the </a:t>
            </a:r>
            <a:r>
              <a:rPr lang="zh-CN" altLang="zh-CN" b="1"/>
              <a:t>fraction of in-range neighbors</a:t>
            </a:r>
            <a:r>
              <a:rPr lang="en-US" altLang="zh-CN" b="1"/>
              <a:t> </a:t>
            </a:r>
            <a:r>
              <a:rPr lang="zh-CN" altLang="zh-CN"/>
              <a:t>on the landing layer.</a:t>
            </a:r>
            <a:endParaRPr lang="en-US" altLang="zh-CN"/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More in-range neighbors in the landing layer would benefit query with faster navigation speed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08562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98385-1317-FFD2-7D26-7A178998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4577A-FBA8-E49C-9644-A1FBD3191512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B29AC-7F3E-9DE6-29EA-5294A96D89E6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Experiments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D89333-C8C4-2904-24DA-D8FDACE8B311}"/>
              </a:ext>
            </a:extLst>
          </p:cNvPr>
          <p:cNvSpPr txBox="1"/>
          <p:nvPr/>
        </p:nvSpPr>
        <p:spPr>
          <a:xfrm>
            <a:off x="486262" y="978646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Three research questions</a:t>
            </a: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73A3A66-B5C2-6799-B20D-A11B6415F02F}"/>
              </a:ext>
            </a:extLst>
          </p:cNvPr>
          <p:cNvSpPr/>
          <p:nvPr/>
        </p:nvSpPr>
        <p:spPr>
          <a:xfrm>
            <a:off x="585499" y="1378756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BCEC56-A982-3FD0-FC0A-3B1325B89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88" y="1569055"/>
            <a:ext cx="8813490" cy="1591324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F146916A-4A3A-4692-36C9-3BDE3A643ED9}"/>
              </a:ext>
            </a:extLst>
          </p:cNvPr>
          <p:cNvSpPr txBox="1"/>
          <p:nvPr/>
        </p:nvSpPr>
        <p:spPr>
          <a:xfrm>
            <a:off x="486262" y="3312262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Environment</a:t>
            </a:r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FD411AC-D6B8-0A64-BD35-C13467BA475C}"/>
              </a:ext>
            </a:extLst>
          </p:cNvPr>
          <p:cNvSpPr/>
          <p:nvPr/>
        </p:nvSpPr>
        <p:spPr>
          <a:xfrm>
            <a:off x="585499" y="3712372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50BEF8-03D5-085E-0816-621A6777C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740" y="4192950"/>
            <a:ext cx="9224246" cy="90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64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3B4B6-E2CC-36EC-2962-BB8D6E3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71E6F1-ADA4-E526-0F84-0DCD1373A161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4CEC5-C70D-24FE-A910-7F32A9B84654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Experiments</a:t>
            </a:r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882BD2F-CBB7-0634-A430-0A816A06A506}"/>
              </a:ext>
            </a:extLst>
          </p:cNvPr>
          <p:cNvSpPr txBox="1"/>
          <p:nvPr/>
        </p:nvSpPr>
        <p:spPr>
          <a:xfrm>
            <a:off x="486262" y="942137"/>
            <a:ext cx="2944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/>
              <a:t>Datasets</a:t>
            </a:r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5C02527-BF1D-74B8-7F1F-B449A56A9622}"/>
              </a:ext>
            </a:extLst>
          </p:cNvPr>
          <p:cNvSpPr/>
          <p:nvPr/>
        </p:nvSpPr>
        <p:spPr>
          <a:xfrm>
            <a:off x="585499" y="1342247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6800D08-39A1-14A5-BEEB-77C524D7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9" y="1419455"/>
            <a:ext cx="10176206" cy="2305547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A9EF6F0C-0BC7-67F9-0771-C5005CFEE523}"/>
              </a:ext>
            </a:extLst>
          </p:cNvPr>
          <p:cNvSpPr txBox="1"/>
          <p:nvPr/>
        </p:nvSpPr>
        <p:spPr>
          <a:xfrm>
            <a:off x="486262" y="3953873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en-US" altLang="zh-CN"/>
              <a:t>Workload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3ADB509-CE91-8EE9-7160-D2EEFB767501}"/>
              </a:ext>
            </a:extLst>
          </p:cNvPr>
          <p:cNvSpPr/>
          <p:nvPr/>
        </p:nvSpPr>
        <p:spPr>
          <a:xfrm>
            <a:off x="585499" y="435398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9877A2-84F8-22E5-BBC4-AE2CC0C880DC}"/>
              </a:ext>
            </a:extLst>
          </p:cNvPr>
          <p:cNvSpPr txBox="1"/>
          <p:nvPr/>
        </p:nvSpPr>
        <p:spPr>
          <a:xfrm>
            <a:off x="701678" y="4561382"/>
            <a:ext cx="10644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ea typeface="微软雅黑" panose="020B0503020204020204" pitchFamily="34" charset="-122"/>
              </a:rPr>
              <a:t>We refer to ranges with fractions in  [2</a:t>
            </a:r>
            <a:r>
              <a:rPr lang="en-US" altLang="zh-CN" baseline="30000">
                <a:ea typeface="微软雅黑" panose="020B0503020204020204" pitchFamily="34" charset="-122"/>
              </a:rPr>
              <a:t>−10</a:t>
            </a:r>
            <a:r>
              <a:rPr lang="en-US" altLang="zh-CN">
                <a:ea typeface="微软雅黑" panose="020B0503020204020204" pitchFamily="34" charset="-122"/>
              </a:rPr>
              <a:t>, 2</a:t>
            </a:r>
            <a:r>
              <a:rPr lang="en-US" altLang="zh-CN" baseline="30000">
                <a:ea typeface="微软雅黑" panose="020B0503020204020204" pitchFamily="34" charset="-122"/>
              </a:rPr>
              <a:t>−9</a:t>
            </a:r>
            <a:r>
              <a:rPr lang="en-US" altLang="zh-CN">
                <a:ea typeface="微软雅黑" panose="020B0503020204020204" pitchFamily="34" charset="-122"/>
              </a:rPr>
              <a:t>] as exhibiting extreme selectivity, [2</a:t>
            </a:r>
            <a:r>
              <a:rPr lang="en-US" altLang="zh-CN" baseline="30000">
                <a:ea typeface="微软雅黑" panose="020B0503020204020204" pitchFamily="34" charset="-122"/>
              </a:rPr>
              <a:t>−8</a:t>
            </a:r>
            <a:r>
              <a:rPr lang="en-US" altLang="zh-CN">
                <a:ea typeface="微软雅黑" panose="020B0503020204020204" pitchFamily="34" charset="-122"/>
              </a:rPr>
              <a:t>, 2</a:t>
            </a:r>
            <a:r>
              <a:rPr lang="en-US" altLang="zh-CN" baseline="30000">
                <a:ea typeface="微软雅黑" panose="020B0503020204020204" pitchFamily="34" charset="-122"/>
              </a:rPr>
              <a:t>−6</a:t>
            </a:r>
            <a:r>
              <a:rPr lang="en-US" altLang="zh-CN">
                <a:ea typeface="微软雅黑" panose="020B0503020204020204" pitchFamily="34" charset="-122"/>
              </a:rPr>
              <a:t>] as high selectivity, [2</a:t>
            </a:r>
            <a:r>
              <a:rPr lang="en-US" altLang="zh-CN" baseline="30000">
                <a:ea typeface="微软雅黑" panose="020B0503020204020204" pitchFamily="34" charset="-122"/>
              </a:rPr>
              <a:t>−5</a:t>
            </a:r>
            <a:r>
              <a:rPr lang="en-US" altLang="zh-CN">
                <a:ea typeface="微软雅黑" panose="020B0503020204020204" pitchFamily="34" charset="-122"/>
              </a:rPr>
              <a:t>, 2</a:t>
            </a:r>
            <a:r>
              <a:rPr lang="en-US" altLang="zh-CN" baseline="30000">
                <a:ea typeface="微软雅黑" panose="020B0503020204020204" pitchFamily="34" charset="-122"/>
              </a:rPr>
              <a:t>−3</a:t>
            </a:r>
            <a:r>
              <a:rPr lang="en-US" altLang="zh-CN">
                <a:ea typeface="微软雅黑" panose="020B0503020204020204" pitchFamily="34" charset="-122"/>
              </a:rPr>
              <a:t>] as moderate  selectivity, and [2</a:t>
            </a:r>
            <a:r>
              <a:rPr lang="en-US" altLang="zh-CN" baseline="30000">
                <a:ea typeface="微软雅黑" panose="020B0503020204020204" pitchFamily="34" charset="-122"/>
              </a:rPr>
              <a:t>−2</a:t>
            </a:r>
            <a:r>
              <a:rPr lang="en-US" altLang="zh-CN">
                <a:ea typeface="微软雅黑" panose="020B0503020204020204" pitchFamily="34" charset="-122"/>
              </a:rPr>
              <a:t>, 2</a:t>
            </a:r>
            <a:r>
              <a:rPr lang="en-US" altLang="zh-CN" baseline="30000">
                <a:ea typeface="微软雅黑" panose="020B0503020204020204" pitchFamily="34" charset="-122"/>
              </a:rPr>
              <a:t>0</a:t>
            </a:r>
            <a:r>
              <a:rPr lang="en-US" altLang="zh-CN">
                <a:ea typeface="微软雅黑" panose="020B0503020204020204" pitchFamily="34" charset="-122"/>
              </a:rPr>
              <a:t>] as low selectivity.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ea typeface="微软雅黑" panose="020B0503020204020204" pitchFamily="34" charset="-122"/>
              </a:rPr>
              <a:t>We further assemble a mixed range workload comprising query ranges with equal number of fractions in [2</a:t>
            </a:r>
            <a:r>
              <a:rPr lang="en-US" altLang="zh-CN" baseline="30000">
                <a:ea typeface="微软雅黑" panose="020B0503020204020204" pitchFamily="34" charset="-122"/>
              </a:rPr>
              <a:t>−10</a:t>
            </a:r>
            <a:r>
              <a:rPr lang="en-US" altLang="zh-CN">
                <a:ea typeface="微软雅黑" panose="020B0503020204020204" pitchFamily="34" charset="-122"/>
              </a:rPr>
              <a:t>, 2</a:t>
            </a:r>
            <a:r>
              <a:rPr lang="en-US" altLang="zh-CN" baseline="30000">
                <a:ea typeface="微软雅黑" panose="020B0503020204020204" pitchFamily="34" charset="-122"/>
              </a:rPr>
              <a:t>0</a:t>
            </a:r>
            <a:r>
              <a:rPr lang="en-US" altLang="zh-CN">
                <a:ea typeface="微软雅黑" panose="020B0503020204020204" pitchFamily="34" charset="-122"/>
              </a:rPr>
              <a:t>].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ea typeface="微软雅黑" panose="020B0503020204020204" pitchFamily="34" charset="-122"/>
              </a:rPr>
              <a:t>In our experiments, each query workload contains 1,000 range-filtering queries.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ea typeface="微软雅黑" panose="020B0503020204020204" pitchFamily="34" charset="-122"/>
              </a:rPr>
              <a:t>We estimate the hardness of a query workload by Local Intrinsic Dimensionality (LID)</a:t>
            </a:r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923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58699-B176-A998-D970-5F8EA9A1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197DD-49ED-4776-4B7E-5677B263F728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BAE46-0F25-5A75-13E5-211097418364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RQ1: Index Construction Efficiency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F69001D-2386-651F-680D-98280D9359A9}"/>
              </a:ext>
            </a:extLst>
          </p:cNvPr>
          <p:cNvSpPr txBox="1"/>
          <p:nvPr/>
        </p:nvSpPr>
        <p:spPr>
          <a:xfrm>
            <a:off x="5240121" y="1799693"/>
            <a:ext cx="658124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Dedicated vs. Generic:</a:t>
            </a:r>
            <a:r>
              <a:rPr lang="zh-CN" altLang="zh-CN"/>
              <a:t> </a:t>
            </a:r>
            <a:r>
              <a:rPr lang="zh-CN" altLang="zh-CN" b="1"/>
              <a:t>ACORN</a:t>
            </a:r>
            <a:r>
              <a:rPr lang="zh-CN" altLang="zh-CN"/>
              <a:t> has the largest size (10x+ others) due to its dense graph without pruning. </a:t>
            </a:r>
            <a:r>
              <a:rPr lang="zh-CN" altLang="zh-CN" b="1"/>
              <a:t>Milvus-HNSW</a:t>
            </a:r>
            <a:r>
              <a:rPr lang="zh-CN" altLang="zh-CN"/>
              <a:t> is fast but lacks specialized range-filtering optimizations.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Easy Datasets (Sift, ArXiv, Deep10M):</a:t>
            </a:r>
            <a:r>
              <a:rPr lang="zh-CN" altLang="zh-CN"/>
              <a:t> </a:t>
            </a:r>
            <a:r>
              <a:rPr lang="zh-CN" altLang="zh-CN" b="1"/>
              <a:t>SeRF</a:t>
            </a:r>
            <a:r>
              <a:rPr lang="zh-CN" altLang="zh-CN"/>
              <a:t> is the fastest and smallest, but its performance relies on ordered insertion and suffers from </a:t>
            </a:r>
            <a:r>
              <a:rPr lang="zh-CN" altLang="zh-CN" b="1"/>
              <a:t>unstable recall</a:t>
            </a:r>
            <a:r>
              <a:rPr lang="zh-CN" altLang="zh-CN"/>
              <a:t> (to be shown in RQ2).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Hard Datasets (Gist, Wikidata4M):</a:t>
            </a:r>
            <a:r>
              <a:rPr lang="zh-CN" altLang="zh-CN"/>
              <a:t> </a:t>
            </a:r>
            <a:r>
              <a:rPr lang="zh-CN" altLang="zh-CN" b="1"/>
              <a:t>WoW</a:t>
            </a:r>
            <a:r>
              <a:rPr lang="zh-CN" altLang="zh-CN"/>
              <a:t> outperforms all competitors. It handles high-dimensional and dense neighborhoods more effectively than </a:t>
            </a:r>
            <a:r>
              <a:rPr lang="zh-CN" altLang="zh-CN" b="1"/>
              <a:t>RangePQ</a:t>
            </a:r>
            <a:r>
              <a:rPr lang="zh-CN" altLang="zh-CN"/>
              <a:t> or </a:t>
            </a:r>
            <a:r>
              <a:rPr lang="zh-CN" altLang="zh-CN" b="1"/>
              <a:t>DIGRA</a:t>
            </a:r>
            <a:r>
              <a:rPr lang="zh-CN" altLang="zh-CN"/>
              <a:t>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B1CAF1-E760-6835-8EAC-B6204F0E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63" y="955199"/>
            <a:ext cx="4794496" cy="5664491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DD3D9BA4-5F74-570D-66AA-461A984F3492}"/>
              </a:ext>
            </a:extLst>
          </p:cNvPr>
          <p:cNvSpPr txBox="1"/>
          <p:nvPr/>
        </p:nvSpPr>
        <p:spPr>
          <a:xfrm>
            <a:off x="5240121" y="999473"/>
            <a:ext cx="2944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Overall Performance</a:t>
            </a: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E558C46-C50B-FF31-EF60-20C5B812D066}"/>
              </a:ext>
            </a:extLst>
          </p:cNvPr>
          <p:cNvSpPr/>
          <p:nvPr/>
        </p:nvSpPr>
        <p:spPr>
          <a:xfrm>
            <a:off x="5339358" y="139958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84313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7FAC5-61DD-6394-B51D-F160CA5F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020D4-2FC7-1F34-5E26-2AE5E0A27456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CBCB0-6A58-2D73-2774-8F5144545CDE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RQ1: Index Construction Efficiency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272421-DC05-DB8D-B0D8-E19C85873685}"/>
              </a:ext>
            </a:extLst>
          </p:cNvPr>
          <p:cNvSpPr txBox="1"/>
          <p:nvPr/>
        </p:nvSpPr>
        <p:spPr>
          <a:xfrm>
            <a:off x="5240121" y="1532767"/>
            <a:ext cx="65812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b="1"/>
              <a:t>Complexity:</a:t>
            </a:r>
            <a:r>
              <a:rPr lang="zh-CN" altLang="zh-CN"/>
              <a:t> WoW's worst-case complexity is on par with others' </a:t>
            </a:r>
            <a:r>
              <a:rPr lang="zh-CN" altLang="zh-CN" i="1"/>
              <a:t>average</a:t>
            </a:r>
            <a:r>
              <a:rPr lang="zh-CN" altLang="zh-CN"/>
              <a:t> case.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b="1"/>
              <a:t>Graph Quality:</a:t>
            </a:r>
            <a:r>
              <a:rPr lang="zh-CN" altLang="zh-CN"/>
              <a:t> Unlike SeRF (lossy compression), WoW maintains </a:t>
            </a:r>
            <a:r>
              <a:rPr lang="zh-CN" altLang="zh-CN" b="1"/>
              <a:t>high-quality connections</a:t>
            </a:r>
            <a:r>
              <a:rPr lang="zh-CN" altLang="zh-CN"/>
              <a:t> equivalent to an "Oracle Graph," allowing faster candidate acquisition during indexing.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36D118-4530-B964-FE0C-848DD09A2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63" y="955199"/>
            <a:ext cx="4794496" cy="5664491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BB200437-D797-1D80-5F51-175DBB7BEFC3}"/>
              </a:ext>
            </a:extLst>
          </p:cNvPr>
          <p:cNvSpPr txBox="1"/>
          <p:nvPr/>
        </p:nvSpPr>
        <p:spPr>
          <a:xfrm>
            <a:off x="5240121" y="999473"/>
            <a:ext cx="369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Acceleration Rationale</a:t>
            </a: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1784E9A-4D88-DC8B-586B-E20939291586}"/>
              </a:ext>
            </a:extLst>
          </p:cNvPr>
          <p:cNvSpPr/>
          <p:nvPr/>
        </p:nvSpPr>
        <p:spPr>
          <a:xfrm>
            <a:off x="5339358" y="1399583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2AA1E-B7EB-619A-333D-AEF994A76E5C}"/>
              </a:ext>
            </a:extLst>
          </p:cNvPr>
          <p:cNvSpPr txBox="1"/>
          <p:nvPr/>
        </p:nvSpPr>
        <p:spPr>
          <a:xfrm>
            <a:off x="5240121" y="3760842"/>
            <a:ext cx="6581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b="1"/>
              <a:t>Linear Growth:</a:t>
            </a:r>
            <a:r>
              <a:rPr lang="zh-CN" altLang="zh-CN"/>
              <a:t> Size grows linearly with vector count and layer number</a:t>
            </a:r>
            <a:endParaRPr lang="en-US" altLang="zh-CN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DD603F5-7E6E-88DB-4CB3-2B6EA5D73610}"/>
              </a:ext>
            </a:extLst>
          </p:cNvPr>
          <p:cNvSpPr txBox="1"/>
          <p:nvPr/>
        </p:nvSpPr>
        <p:spPr>
          <a:xfrm>
            <a:off x="5240121" y="3227548"/>
            <a:ext cx="369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Index Size Characteristics</a:t>
            </a:r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B39CECF-BE46-E266-5473-3DD92AE89E32}"/>
              </a:ext>
            </a:extLst>
          </p:cNvPr>
          <p:cNvSpPr/>
          <p:nvPr/>
        </p:nvSpPr>
        <p:spPr>
          <a:xfrm>
            <a:off x="5339358" y="3627658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1BC0622F-3601-D19F-CA16-F81D41262FDA}"/>
                  </a:ext>
                </a:extLst>
              </p:cNvPr>
              <p:cNvSpPr txBox="1"/>
              <p:nvPr/>
            </p:nvSpPr>
            <p:spPr>
              <a:xfrm>
                <a:off x="5240121" y="5157042"/>
                <a:ext cx="658124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zh-CN" b="1"/>
                  <a:t>Speedup:</a:t>
                </a:r>
                <a:r>
                  <a:rPr lang="zh-CN" altLang="zh-CN"/>
                  <a:t> Achieves </a:t>
                </a:r>
                <a:r>
                  <a:rPr lang="zh-CN" altLang="zh-CN" b="1"/>
                  <a:t>5.0–6.9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zh-CN" b="1"/>
                  <a:t> acceleration</a:t>
                </a:r>
                <a:r>
                  <a:rPr lang="zh-CN" altLang="zh-CN"/>
                  <a:t> with 16 threads using fine-grained vertex-level locks.</a:t>
                </a:r>
                <a:endParaRPr lang="en-US" altLang="zh-CN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/>
                  <a:t>The parallelism ability enables WoW to scale to datasets with larger size and higher dimensions.</a:t>
                </a:r>
                <a:endParaRPr lang="zh-CN" altLang="zh-CN"/>
              </a:p>
            </p:txBody>
          </p:sp>
        </mc:Choice>
        <mc:Fallback xmlns="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1BC0622F-3601-D19F-CA16-F81D41262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121" y="5157042"/>
                <a:ext cx="6581242" cy="1200329"/>
              </a:xfrm>
              <a:prstGeom prst="rect">
                <a:avLst/>
              </a:prstGeom>
              <a:blipFill>
                <a:blip r:embed="rId4"/>
                <a:stretch>
                  <a:fillRect l="-649" t="-304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4">
            <a:extLst>
              <a:ext uri="{FF2B5EF4-FFF2-40B4-BE49-F238E27FC236}">
                <a16:creationId xmlns:a16="http://schemas.microsoft.com/office/drawing/2014/main" id="{48409AD8-78BD-D21E-2143-C5A5256C832C}"/>
              </a:ext>
            </a:extLst>
          </p:cNvPr>
          <p:cNvSpPr txBox="1"/>
          <p:nvPr/>
        </p:nvSpPr>
        <p:spPr>
          <a:xfrm>
            <a:off x="5240121" y="4623748"/>
            <a:ext cx="369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Multi-thread Acceleration</a:t>
            </a:r>
            <a:endParaRPr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C3BA855-7810-2EEE-474F-4B2CAE6AC567}"/>
              </a:ext>
            </a:extLst>
          </p:cNvPr>
          <p:cNvSpPr/>
          <p:nvPr/>
        </p:nvSpPr>
        <p:spPr>
          <a:xfrm>
            <a:off x="5339358" y="5023858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2327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46E84-3D56-ED5A-B634-BB6B5E98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7F87CA-1B23-0E44-4700-B0F3B5A87148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0E53A-6A8E-B708-60CA-0DA2CC0DAA60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RQ2: RFANNS Query Performance</a:t>
            </a: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AC9D9C-5BA1-F694-5DA4-4497615DD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83" y="837995"/>
            <a:ext cx="7955535" cy="589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48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85013-47AD-8634-DB80-287F61B4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EFE9DA-AB37-2FB9-E99C-12AB40A6AEE9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811C5-0EC8-18B7-0A89-F6EC0BA9DB8A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RQ2: RFANNS Query Performance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EA4F2F-84BE-ACA3-E3C9-7BF348B80956}"/>
                  </a:ext>
                </a:extLst>
              </p:cNvPr>
              <p:cNvSpPr txBox="1"/>
              <p:nvPr/>
            </p:nvSpPr>
            <p:spPr>
              <a:xfrm>
                <a:off x="470611" y="1605919"/>
                <a:ext cx="9653626" cy="1295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/>
                  <a:t>WoW surpasses all competitors across mixed workloads on all datasets.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b="1"/>
                  <a:t>Vs. Best Static Indices:</a:t>
                </a:r>
                <a:r>
                  <a:rPr lang="zh-CN" altLang="zh-CN"/>
                  <a:t> </a:t>
                </a:r>
                <a:r>
                  <a:rPr lang="zh-CN" altLang="zh-CN" b="1"/>
                  <a:t>1.4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zh-CN" b="1"/>
                  <a:t> faster</a:t>
                </a:r>
                <a:r>
                  <a:rPr lang="zh-CN" altLang="zh-CN"/>
                  <a:t> than iRangeGraph and </a:t>
                </a:r>
                <a:r>
                  <a:rPr lang="zh-CN" altLang="zh-CN" b="1"/>
                  <a:t>6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zh-CN" b="1"/>
                  <a:t> faster</a:t>
                </a:r>
                <a:r>
                  <a:rPr lang="zh-CN" altLang="zh-CN"/>
                  <a:t> than WST.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b="1"/>
                  <a:t>Vs. Dynamic Indices:</a:t>
                </a:r>
                <a:r>
                  <a:rPr lang="zh-CN" altLang="zh-CN"/>
                  <a:t> </a:t>
                </a:r>
                <a:r>
                  <a:rPr lang="zh-CN" altLang="zh-CN" b="1"/>
                  <a:t>4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zh-CN" b="1"/>
                  <a:t> faster</a:t>
                </a:r>
                <a:r>
                  <a:rPr lang="zh-CN" altLang="zh-CN"/>
                  <a:t> than HSIG (Unordered Inc.) and </a:t>
                </a:r>
                <a:r>
                  <a:rPr lang="zh-CN" altLang="zh-CN" b="1"/>
                  <a:t>6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zh-CN" b="1"/>
                  <a:t> faster</a:t>
                </a:r>
                <a:r>
                  <a:rPr lang="zh-CN" altLang="zh-CN"/>
                  <a:t> than SeRF (Ordered Inc.).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EA4F2F-84BE-ACA3-E3C9-7BF348B80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11" y="1605919"/>
                <a:ext cx="9653626" cy="1295163"/>
              </a:xfrm>
              <a:prstGeom prst="rect">
                <a:avLst/>
              </a:prstGeom>
              <a:blipFill>
                <a:blip r:embed="rId3"/>
                <a:stretch>
                  <a:fillRect l="-379" r="-253" b="-6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4">
            <a:extLst>
              <a:ext uri="{FF2B5EF4-FFF2-40B4-BE49-F238E27FC236}">
                <a16:creationId xmlns:a16="http://schemas.microsoft.com/office/drawing/2014/main" id="{7E8122E9-C9C3-E533-22AA-B2EA6BA4FCAF}"/>
              </a:ext>
            </a:extLst>
          </p:cNvPr>
          <p:cNvSpPr txBox="1"/>
          <p:nvPr/>
        </p:nvSpPr>
        <p:spPr>
          <a:xfrm>
            <a:off x="470611" y="1072625"/>
            <a:ext cx="50889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Overall Dominance </a:t>
            </a: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6BF2886-248F-DABB-C3AA-49E869AAC3FD}"/>
              </a:ext>
            </a:extLst>
          </p:cNvPr>
          <p:cNvSpPr/>
          <p:nvPr/>
        </p:nvSpPr>
        <p:spPr>
          <a:xfrm>
            <a:off x="569848" y="1472735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3E075A0-87F3-5631-B1DD-75BB096FE0AE}"/>
              </a:ext>
            </a:extLst>
          </p:cNvPr>
          <p:cNvSpPr txBox="1"/>
          <p:nvPr/>
        </p:nvSpPr>
        <p:spPr>
          <a:xfrm>
            <a:off x="470611" y="3534028"/>
            <a:ext cx="965362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/>
              <a:t>WoW matches or even beats the best </a:t>
            </a:r>
            <a:r>
              <a:rPr lang="zh-CN" altLang="zh-CN" b="1"/>
              <a:t>statically-built</a:t>
            </a:r>
            <a:r>
              <a:rPr lang="zh-CN" altLang="zh-CN"/>
              <a:t> indices (like iRangeGraph/DIGRA).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/>
              <a:t>Key Achievement</a:t>
            </a:r>
            <a:r>
              <a:rPr lang="zh-CN" altLang="zh-CN" i="1"/>
              <a:t>:</a:t>
            </a:r>
            <a:r>
              <a:rPr lang="zh-CN" altLang="zh-CN"/>
              <a:t> WoW successfully maintains high-quality neighbor relations even after frequent incremental insertions.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56CC69F-2E7B-C67B-710A-8226E1FB201D}"/>
              </a:ext>
            </a:extLst>
          </p:cNvPr>
          <p:cNvSpPr txBox="1"/>
          <p:nvPr/>
        </p:nvSpPr>
        <p:spPr>
          <a:xfrm>
            <a:off x="470611" y="3000734"/>
            <a:ext cx="50889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Dynamic vs. Static Performance</a:t>
            </a:r>
            <a:endParaRPr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0A99B3C6-AFD8-7B4F-9EDA-2771A2FAE159}"/>
              </a:ext>
            </a:extLst>
          </p:cNvPr>
          <p:cNvSpPr/>
          <p:nvPr/>
        </p:nvSpPr>
        <p:spPr>
          <a:xfrm>
            <a:off x="569848" y="3400844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69BC0E43-ED4F-258A-BCD5-3E221C2D187B}"/>
              </a:ext>
            </a:extLst>
          </p:cNvPr>
          <p:cNvSpPr txBox="1"/>
          <p:nvPr/>
        </p:nvSpPr>
        <p:spPr>
          <a:xfrm>
            <a:off x="470611" y="5462209"/>
            <a:ext cx="9653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/>
              <a:t>WoW (ordered) is slightly better because fixed window boundaries during ordered insertion lead to fewer pruning-induced neighbor losses.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E58AA50-9337-7C70-85B0-911DF72F7328}"/>
              </a:ext>
            </a:extLst>
          </p:cNvPr>
          <p:cNvSpPr txBox="1"/>
          <p:nvPr/>
        </p:nvSpPr>
        <p:spPr>
          <a:xfrm>
            <a:off x="470611" y="4928915"/>
            <a:ext cx="50889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Ordered vs. Unordered WoW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DBA8A20-ECD3-7E12-F609-EC50C1B862D5}"/>
              </a:ext>
            </a:extLst>
          </p:cNvPr>
          <p:cNvSpPr/>
          <p:nvPr/>
        </p:nvSpPr>
        <p:spPr>
          <a:xfrm>
            <a:off x="569848" y="5329025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491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6DEB9-F364-CF09-F376-BA76ABA5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0E1CB0-229F-FF35-1E28-38B6016B6FCA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11F37-A8F9-0F94-0EE2-228137F81FA2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RQ2: RFANNS Query Performance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6A26E-81D4-E9D4-8148-FD8CA1133DF5}"/>
              </a:ext>
            </a:extLst>
          </p:cNvPr>
          <p:cNvSpPr txBox="1"/>
          <p:nvPr/>
        </p:nvSpPr>
        <p:spPr>
          <a:xfrm>
            <a:off x="470611" y="1605919"/>
            <a:ext cx="965362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/>
              <a:t>WoW remains stable while others degrade.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Why WoW Wins:</a:t>
            </a:r>
            <a:r>
              <a:rPr lang="zh-CN" altLang="zh-CN"/>
              <a:t> Benefits from the </a:t>
            </a:r>
            <a:r>
              <a:rPr lang="zh-CN" altLang="zh-CN" b="1"/>
              <a:t>Early-stop strategy</a:t>
            </a:r>
            <a:r>
              <a:rPr lang="zh-CN" altLang="zh-CN"/>
              <a:t> (Alg. 2) and </a:t>
            </a:r>
            <a:r>
              <a:rPr lang="zh-CN" altLang="zh-CN" b="1"/>
              <a:t>Selectivity-aware layer selection</a:t>
            </a:r>
            <a:r>
              <a:rPr lang="zh-CN" altLang="zh-CN"/>
              <a:t> (Alg. 3).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3C5D1CE-40B8-85CE-7C4E-973E4F41A779}"/>
              </a:ext>
            </a:extLst>
          </p:cNvPr>
          <p:cNvSpPr txBox="1"/>
          <p:nvPr/>
        </p:nvSpPr>
        <p:spPr>
          <a:xfrm>
            <a:off x="470611" y="1072625"/>
            <a:ext cx="7488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Superiority in High Selectivity</a:t>
            </a: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3F013F-4468-9990-492F-F438BE0C79C4}"/>
              </a:ext>
            </a:extLst>
          </p:cNvPr>
          <p:cNvSpPr/>
          <p:nvPr/>
        </p:nvSpPr>
        <p:spPr>
          <a:xfrm>
            <a:off x="569848" y="1472735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13DBDDC-9920-96DF-5530-FF6477D185B7}"/>
              </a:ext>
            </a:extLst>
          </p:cNvPr>
          <p:cNvSpPr txBox="1"/>
          <p:nvPr/>
        </p:nvSpPr>
        <p:spPr>
          <a:xfrm>
            <a:off x="470611" y="3534028"/>
            <a:ext cx="965362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In dense datasets, WoW’s high-quality </a:t>
            </a:r>
            <a:r>
              <a:rPr lang="en-US" altLang="zh-CN" b="1"/>
              <a:t>RNG structure </a:t>
            </a:r>
            <a:r>
              <a:rPr lang="en-US" altLang="zh-CN"/>
              <a:t>provides superior navigation.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26A49D8-FCF6-B07A-A82B-F63495C272CF}"/>
              </a:ext>
            </a:extLst>
          </p:cNvPr>
          <p:cNvSpPr txBox="1"/>
          <p:nvPr/>
        </p:nvSpPr>
        <p:spPr>
          <a:xfrm>
            <a:off x="470611" y="3000734"/>
            <a:ext cx="7144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Analysis on Hard Datasets (Gist, Wikidata4M)</a:t>
            </a:r>
            <a:endParaRPr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1E35985-C153-4C9B-DD76-6CE200B2D854}"/>
              </a:ext>
            </a:extLst>
          </p:cNvPr>
          <p:cNvSpPr/>
          <p:nvPr/>
        </p:nvSpPr>
        <p:spPr>
          <a:xfrm>
            <a:off x="569848" y="3400844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2F1EB52B-3E20-0120-3851-9FA841E22CEB}"/>
              </a:ext>
            </a:extLst>
          </p:cNvPr>
          <p:cNvSpPr txBox="1"/>
          <p:nvPr/>
        </p:nvSpPr>
        <p:spPr>
          <a:xfrm>
            <a:off x="470610" y="4631140"/>
            <a:ext cx="1034125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DIGRA/RangePQ:</a:t>
            </a:r>
            <a:r>
              <a:rPr lang="zh-CN" altLang="zh-CN"/>
              <a:t> Suffer from a "Performance Cliff" after insertions (e.g., Recall drops from </a:t>
            </a:r>
            <a:r>
              <a:rPr lang="zh-CN" altLang="zh-CN" b="1"/>
              <a:t>99% to 27%</a:t>
            </a:r>
            <a:r>
              <a:rPr lang="zh-CN" altLang="zh-CN"/>
              <a:t>) due to broken graph interconnections.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SeRF:</a:t>
            </a:r>
            <a:r>
              <a:rPr lang="zh-CN" altLang="zh-CN"/>
              <a:t> Fails to reach </a:t>
            </a:r>
            <a:r>
              <a:rPr lang="en-US" altLang="zh-CN"/>
              <a:t>8</a:t>
            </a:r>
            <a:r>
              <a:rPr lang="zh-CN" altLang="zh-CN"/>
              <a:t>5% recall due to </a:t>
            </a:r>
            <a:r>
              <a:rPr lang="zh-CN" altLang="zh-CN" b="1"/>
              <a:t>lossy compression</a:t>
            </a:r>
            <a:r>
              <a:rPr lang="zh-CN" altLang="zh-CN"/>
              <a:t> and falling into local optima.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ACORN:</a:t>
            </a:r>
            <a:r>
              <a:rPr lang="zh-CN" altLang="zh-CN"/>
              <a:t> Performance drops at high selectivity as beam search ends prematurely.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/>
              <a:t>iRangeGraph:</a:t>
            </a:r>
            <a:r>
              <a:rPr lang="zh-CN" altLang="zh-CN"/>
              <a:t> High per-hop tree-traversal overhead on large-scale datasets (Deep10M).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8A37EEC4-2134-7949-7020-DF6CB467BD89}"/>
              </a:ext>
            </a:extLst>
          </p:cNvPr>
          <p:cNvSpPr txBox="1"/>
          <p:nvPr/>
        </p:nvSpPr>
        <p:spPr>
          <a:xfrm>
            <a:off x="470611" y="4097846"/>
            <a:ext cx="50889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rPr lang="zh-CN" altLang="zh-CN" sz="2000" b="1"/>
              <a:t>Why Competitors Fail? </a:t>
            </a:r>
            <a:endParaRPr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77BC78D-0B86-1107-B50A-8C8C0AFADAF4}"/>
              </a:ext>
            </a:extLst>
          </p:cNvPr>
          <p:cNvSpPr/>
          <p:nvPr/>
        </p:nvSpPr>
        <p:spPr>
          <a:xfrm>
            <a:off x="569848" y="4497956"/>
            <a:ext cx="2286000" cy="381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2086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FEF45-4D14-806E-1948-C588AC41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8BBBEF-51A6-C218-6C83-82C4E9CD9256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962E4-64E8-3B7B-DBBA-94EBE10C0792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RQ3: Detailed Analysis</a:t>
            </a:r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FD5361-0D44-B8AC-5A8A-C47D35BCC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95" y="1488532"/>
            <a:ext cx="9341330" cy="4565885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4E87058C-C079-5BB9-EB9A-011254EEE08E}"/>
              </a:ext>
            </a:extLst>
          </p:cNvPr>
          <p:cNvSpPr txBox="1"/>
          <p:nvPr/>
        </p:nvSpPr>
        <p:spPr>
          <a:xfrm>
            <a:off x="287732" y="886514"/>
            <a:ext cx="965362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WoW’s DC-Recall curves coincide closely with the Oracle HNSW (the theoretical lower bound).</a:t>
            </a:r>
          </a:p>
        </p:txBody>
      </p:sp>
    </p:spTree>
    <p:extLst>
      <p:ext uri="{BB962C8B-B14F-4D97-AF65-F5344CB8AC3E}">
        <p14:creationId xmlns:p14="http://schemas.microsoft.com/office/powerpoint/2010/main" val="682505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FA862-D237-0162-8569-996113C2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FA6925-9644-915D-662D-574C46E75ABA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DD391-517F-5834-58AC-B51166EFB2E1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RQ3: Detailed Analysis</a:t>
            </a: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83604C-4101-7FBF-1D97-31F2E31C8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75" y="1145234"/>
            <a:ext cx="9373082" cy="51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23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4FBAE-24DB-D2DD-2F97-08E49450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A0459F-359E-EA3D-CB49-543A48FD18E0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CCD5A-6372-CB6D-2428-04D1A04E91F2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RQ3: Detailed Analysis</a:t>
            </a: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3E3F0F-45A4-F29D-2D87-160A8165C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304" y="837995"/>
            <a:ext cx="8141118" cy="26290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A38B20-857C-43DC-4EC9-916537509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304" y="3555658"/>
            <a:ext cx="8169601" cy="321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1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AF4F1-6466-868C-C57B-2C24787B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461E1-B9B0-BF6C-7594-025595908AF5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ADA0D-BDF6-3D8B-B0DE-228A883B97B1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RQ3: Detailed Analysis</a:t>
            </a: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C07327-7E8D-D4F6-B73A-547F48D3D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2" y="816193"/>
            <a:ext cx="5426334" cy="60418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937C9F-DEDE-C04E-8108-FFEB9F543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086" y="2388757"/>
            <a:ext cx="4896102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80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71275-1B2B-428D-7491-EC9CF477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A4032-26D5-D839-763A-CCB6145F26B8}"/>
              </a:ext>
            </a:extLst>
          </p:cNvPr>
          <p:cNvSpPr/>
          <p:nvPr/>
        </p:nvSpPr>
        <p:spPr>
          <a:xfrm>
            <a:off x="0" y="0"/>
            <a:ext cx="12191695" cy="74936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C097D-B962-702A-C539-75588AE90D6D}"/>
              </a:ext>
            </a:extLst>
          </p:cNvPr>
          <p:cNvSpPr txBox="1"/>
          <p:nvPr/>
        </p:nvSpPr>
        <p:spPr>
          <a:xfrm>
            <a:off x="181463" y="8862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/>
              <a:t>Conclusion</a:t>
            </a: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B3F1D4-4E79-AB46-56B5-7036F2FA4278}"/>
              </a:ext>
            </a:extLst>
          </p:cNvPr>
          <p:cNvSpPr txBox="1"/>
          <p:nvPr/>
        </p:nvSpPr>
        <p:spPr>
          <a:xfrm>
            <a:off x="470611" y="1605919"/>
            <a:ext cx="9653626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In this paper, we propose a dedicated RFANNS index WoW.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/>
              <a:t>The index addresses two main challenges about incremental construction and efficiency for varying range-filtering query correlations and selectivity.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66959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2601</Words>
  <Application>Microsoft Office PowerPoint</Application>
  <PresentationFormat>宽屏</PresentationFormat>
  <Paragraphs>249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微软雅黑</vt:lpstr>
      <vt:lpstr>Arial</vt:lpstr>
      <vt:lpstr>Calibri</vt:lpstr>
      <vt:lpstr>Cambria Math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xinyu xiang</dc:creator>
  <cp:keywords/>
  <dc:description>generated using python-pptx</dc:description>
  <cp:lastModifiedBy>xinyu xiang</cp:lastModifiedBy>
  <cp:revision>35</cp:revision>
  <dcterms:created xsi:type="dcterms:W3CDTF">2013-01-27T09:14:16Z</dcterms:created>
  <dcterms:modified xsi:type="dcterms:W3CDTF">2026-06-08T03:57:32Z</dcterms:modified>
  <cp:category/>
</cp:coreProperties>
</file>