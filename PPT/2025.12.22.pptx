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8" r:id="rId2"/>
  </p:sldMasterIdLst>
  <p:notesMasterIdLst>
    <p:notesMasterId r:id="rId23"/>
  </p:notesMasterIdLst>
  <p:handoutMasterIdLst>
    <p:handoutMasterId r:id="rId24"/>
  </p:handoutMasterIdLst>
  <p:sldIdLst>
    <p:sldId id="522" r:id="rId3"/>
    <p:sldId id="529" r:id="rId4"/>
    <p:sldId id="2105" r:id="rId5"/>
    <p:sldId id="530" r:id="rId6"/>
    <p:sldId id="531" r:id="rId7"/>
    <p:sldId id="532" r:id="rId8"/>
    <p:sldId id="533" r:id="rId9"/>
    <p:sldId id="534" r:id="rId10"/>
    <p:sldId id="535" r:id="rId11"/>
    <p:sldId id="536" r:id="rId12"/>
    <p:sldId id="2107" r:id="rId13"/>
    <p:sldId id="2108" r:id="rId14"/>
    <p:sldId id="2110" r:id="rId15"/>
    <p:sldId id="2111" r:id="rId16"/>
    <p:sldId id="2115" r:id="rId17"/>
    <p:sldId id="2112" r:id="rId18"/>
    <p:sldId id="2113" r:id="rId19"/>
    <p:sldId id="2114" r:id="rId20"/>
    <p:sldId id="2117" r:id="rId21"/>
    <p:sldId id="2118"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3840" userDrawn="1">
          <p15:clr>
            <a:srgbClr val="A4A3A4"/>
          </p15:clr>
        </p15:guide>
        <p15:guide id="3" orient="horz" pos="16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5F35"/>
    <a:srgbClr val="FB4447"/>
    <a:srgbClr val="7FB9FD"/>
    <a:srgbClr val="FB8867"/>
    <a:srgbClr val="004088"/>
    <a:srgbClr val="EDF4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71" autoAdjust="0"/>
    <p:restoredTop sz="94660"/>
  </p:normalViewPr>
  <p:slideViewPr>
    <p:cSldViewPr snapToGrid="0" showGuides="1">
      <p:cViewPr>
        <p:scale>
          <a:sx n="122" d="100"/>
          <a:sy n="122" d="100"/>
        </p:scale>
        <p:origin x="1016" y="304"/>
      </p:cViewPr>
      <p:guideLst>
        <p:guide orient="horz" pos="2212"/>
        <p:guide pos="3840"/>
        <p:guide orient="horz" pos="1684"/>
      </p:guideLst>
    </p:cSldViewPr>
  </p:slideViewPr>
  <p:notesTextViewPr>
    <p:cViewPr>
      <p:scale>
        <a:sx n="1" d="1"/>
        <a:sy n="1" d="1"/>
      </p:scale>
      <p:origin x="0" y="0"/>
    </p:cViewPr>
  </p:notesTextViewPr>
  <p:sorterViewPr>
    <p:cViewPr>
      <p:scale>
        <a:sx n="100" d="100"/>
        <a:sy n="100" d="100"/>
      </p:scale>
      <p:origin x="0" y="-129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2025/12/22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111149" y="107795"/>
            <a:ext cx="11969702" cy="66424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2B5FE7A-DBDB-429E-9692-DFC5CE67DC57}" type="slidenum">
              <a:rPr lang="zh-CN" altLang="en-US" smtClean="0"/>
              <a:t>‹#›</a:t>
            </a:fld>
            <a:endParaRPr lang="zh-CN" altLang="en-US"/>
          </a:p>
        </p:txBody>
      </p:sp>
      <p:sp>
        <p:nvSpPr>
          <p:cNvPr id="5" name="矩形 4"/>
          <p:cNvSpPr/>
          <p:nvPr userDrawn="1"/>
        </p:nvSpPr>
        <p:spPr>
          <a:xfrm>
            <a:off x="0" y="1361287"/>
            <a:ext cx="12192000" cy="26538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6" name="矩形 5"/>
          <p:cNvSpPr/>
          <p:nvPr userDrawn="1"/>
        </p:nvSpPr>
        <p:spPr>
          <a:xfrm>
            <a:off x="111149" y="107795"/>
            <a:ext cx="11969702" cy="66424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矩形 7"/>
          <p:cNvSpPr/>
          <p:nvPr userDrawn="1"/>
        </p:nvSpPr>
        <p:spPr>
          <a:xfrm>
            <a:off x="0" y="0"/>
            <a:ext cx="217943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1454564" y="6460113"/>
            <a:ext cx="165005" cy="165005"/>
          </a:xfrm>
          <a:prstGeom prst="ellipse">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11468100" y="6462605"/>
            <a:ext cx="83820" cy="160020"/>
          </a:xfrm>
          <a:custGeom>
            <a:avLst/>
            <a:gdLst>
              <a:gd name="connsiteX0" fmla="*/ 0 w 83820"/>
              <a:gd name="connsiteY0" fmla="*/ 0 h 160020"/>
              <a:gd name="connsiteX1" fmla="*/ 83820 w 83820"/>
              <a:gd name="connsiteY1" fmla="*/ 83820 h 160020"/>
              <a:gd name="connsiteX2" fmla="*/ 7620 w 83820"/>
              <a:gd name="connsiteY2" fmla="*/ 160020 h 160020"/>
            </a:gdLst>
            <a:ahLst/>
            <a:cxnLst>
              <a:cxn ang="0">
                <a:pos x="connsiteX0" y="connsiteY0"/>
              </a:cxn>
              <a:cxn ang="0">
                <a:pos x="connsiteX1" y="connsiteY1"/>
              </a:cxn>
              <a:cxn ang="0">
                <a:pos x="connsiteX2" y="connsiteY2"/>
              </a:cxn>
            </a:cxnLst>
            <a:rect l="l" t="t" r="r" b="b"/>
            <a:pathLst>
              <a:path w="83820" h="160020">
                <a:moveTo>
                  <a:pt x="0" y="0"/>
                </a:moveTo>
                <a:lnTo>
                  <a:pt x="83820" y="83820"/>
                </a:lnTo>
                <a:lnTo>
                  <a:pt x="7620" y="160020"/>
                </a:lnTo>
              </a:path>
            </a:pathLst>
          </a:custGeom>
          <a:noFill/>
          <a:ln w="19050" cap="rnd">
            <a:solidFill>
              <a:schemeClr val="bg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灯片编号占位符 6"/>
          <p:cNvSpPr txBox="1"/>
          <p:nvPr userDrawn="1"/>
        </p:nvSpPr>
        <p:spPr>
          <a:xfrm>
            <a:off x="11631903" y="6370572"/>
            <a:ext cx="440927"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B5FE7A-DBDB-429E-9692-DFC5CE67DC57}" type="slidenum">
              <a:rPr lang="zh-CN" altLang="en-US" sz="1600" smtClean="0">
                <a:solidFill>
                  <a:srgbClr val="004088"/>
                </a:solidFill>
              </a:rPr>
              <a:t>‹#›</a:t>
            </a:fld>
            <a:endParaRPr lang="zh-CN" altLang="en-US" sz="1600">
              <a:solidFill>
                <a:srgbClr val="004088"/>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B5FE7A-DBDB-429E-9692-DFC5CE67DC57}" type="slidenum">
              <a:rPr lang="zh-CN" altLang="en-US" smtClean="0"/>
              <a:t>‹#›</a:t>
            </a:fld>
            <a:endParaRPr lang="zh-CN" altLang="en-US"/>
          </a:p>
        </p:txBody>
      </p:sp>
      <p:sp>
        <p:nvSpPr>
          <p:cNvPr id="8" name="椭圆 7"/>
          <p:cNvSpPr/>
          <p:nvPr userDrawn="1"/>
        </p:nvSpPr>
        <p:spPr>
          <a:xfrm>
            <a:off x="11454564" y="6460113"/>
            <a:ext cx="165005" cy="165005"/>
          </a:xfrm>
          <a:prstGeom prst="ellipse">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11468100" y="6462605"/>
            <a:ext cx="83820" cy="160020"/>
          </a:xfrm>
          <a:custGeom>
            <a:avLst/>
            <a:gdLst>
              <a:gd name="connsiteX0" fmla="*/ 0 w 83820"/>
              <a:gd name="connsiteY0" fmla="*/ 0 h 160020"/>
              <a:gd name="connsiteX1" fmla="*/ 83820 w 83820"/>
              <a:gd name="connsiteY1" fmla="*/ 83820 h 160020"/>
              <a:gd name="connsiteX2" fmla="*/ 7620 w 83820"/>
              <a:gd name="connsiteY2" fmla="*/ 160020 h 160020"/>
            </a:gdLst>
            <a:ahLst/>
            <a:cxnLst>
              <a:cxn ang="0">
                <a:pos x="connsiteX0" y="connsiteY0"/>
              </a:cxn>
              <a:cxn ang="0">
                <a:pos x="connsiteX1" y="connsiteY1"/>
              </a:cxn>
              <a:cxn ang="0">
                <a:pos x="connsiteX2" y="connsiteY2"/>
              </a:cxn>
            </a:cxnLst>
            <a:rect l="l" t="t" r="r" b="b"/>
            <a:pathLst>
              <a:path w="83820" h="160020">
                <a:moveTo>
                  <a:pt x="0" y="0"/>
                </a:moveTo>
                <a:lnTo>
                  <a:pt x="83820" y="83820"/>
                </a:lnTo>
                <a:lnTo>
                  <a:pt x="7620" y="160020"/>
                </a:lnTo>
              </a:path>
            </a:pathLst>
          </a:custGeom>
          <a:noFill/>
          <a:ln w="19050" cap="rnd">
            <a:solidFill>
              <a:schemeClr val="bg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6"/>
          <p:cNvSpPr txBox="1"/>
          <p:nvPr userDrawn="1"/>
        </p:nvSpPr>
        <p:spPr>
          <a:xfrm>
            <a:off x="11631903" y="6370572"/>
            <a:ext cx="440927"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B5FE7A-DBDB-429E-9692-DFC5CE67DC57}" type="slidenum">
              <a:rPr lang="zh-CN" altLang="en-US" sz="1600" smtClean="0">
                <a:solidFill>
                  <a:srgbClr val="004088"/>
                </a:solidFill>
              </a:rPr>
              <a:t>‹#›</a:t>
            </a:fld>
            <a:endParaRPr lang="zh-CN" altLang="en-US" sz="1600">
              <a:solidFill>
                <a:srgbClr val="004088"/>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B5FE7A-DBDB-429E-9692-DFC5CE67DC57}" type="slidenum">
              <a:rPr lang="zh-CN" altLang="en-US" smtClean="0"/>
              <a:t>‹#›</a:t>
            </a:fld>
            <a:endParaRPr lang="zh-CN" altLang="en-US"/>
          </a:p>
        </p:txBody>
      </p:sp>
      <p:sp>
        <p:nvSpPr>
          <p:cNvPr id="8" name="椭圆 7"/>
          <p:cNvSpPr/>
          <p:nvPr userDrawn="1"/>
        </p:nvSpPr>
        <p:spPr>
          <a:xfrm>
            <a:off x="11454564" y="6460113"/>
            <a:ext cx="165005" cy="165005"/>
          </a:xfrm>
          <a:prstGeom prst="ellipse">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11468100" y="6462605"/>
            <a:ext cx="83820" cy="160020"/>
          </a:xfrm>
          <a:custGeom>
            <a:avLst/>
            <a:gdLst>
              <a:gd name="connsiteX0" fmla="*/ 0 w 83820"/>
              <a:gd name="connsiteY0" fmla="*/ 0 h 160020"/>
              <a:gd name="connsiteX1" fmla="*/ 83820 w 83820"/>
              <a:gd name="connsiteY1" fmla="*/ 83820 h 160020"/>
              <a:gd name="connsiteX2" fmla="*/ 7620 w 83820"/>
              <a:gd name="connsiteY2" fmla="*/ 160020 h 160020"/>
            </a:gdLst>
            <a:ahLst/>
            <a:cxnLst>
              <a:cxn ang="0">
                <a:pos x="connsiteX0" y="connsiteY0"/>
              </a:cxn>
              <a:cxn ang="0">
                <a:pos x="connsiteX1" y="connsiteY1"/>
              </a:cxn>
              <a:cxn ang="0">
                <a:pos x="connsiteX2" y="connsiteY2"/>
              </a:cxn>
            </a:cxnLst>
            <a:rect l="l" t="t" r="r" b="b"/>
            <a:pathLst>
              <a:path w="83820" h="160020">
                <a:moveTo>
                  <a:pt x="0" y="0"/>
                </a:moveTo>
                <a:lnTo>
                  <a:pt x="83820" y="83820"/>
                </a:lnTo>
                <a:lnTo>
                  <a:pt x="7620" y="160020"/>
                </a:lnTo>
              </a:path>
            </a:pathLst>
          </a:custGeom>
          <a:noFill/>
          <a:ln w="19050" cap="rnd">
            <a:solidFill>
              <a:schemeClr val="bg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6"/>
          <p:cNvSpPr txBox="1"/>
          <p:nvPr userDrawn="1"/>
        </p:nvSpPr>
        <p:spPr>
          <a:xfrm>
            <a:off x="11631903" y="6370572"/>
            <a:ext cx="440927"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B5FE7A-DBDB-429E-9692-DFC5CE67DC57}" type="slidenum">
              <a:rPr lang="zh-CN" altLang="en-US" sz="1600" smtClean="0">
                <a:solidFill>
                  <a:srgbClr val="004088"/>
                </a:solidFill>
              </a:rPr>
              <a:t>‹#›</a:t>
            </a:fld>
            <a:endParaRPr lang="zh-CN" altLang="en-US" sz="1600">
              <a:solidFill>
                <a:srgbClr val="004088"/>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图片与标题">
    <p:spTree>
      <p:nvGrpSpPr>
        <p:cNvPr id="1" name=""/>
        <p:cNvGrpSpPr/>
        <p:nvPr/>
      </p:nvGrpSpPr>
      <p:grpSpPr>
        <a:xfrm>
          <a:off x="0" y="0"/>
          <a:ext cx="0" cy="0"/>
          <a:chOff x="0" y="0"/>
          <a:chExt cx="0" cy="0"/>
        </a:xfrm>
      </p:grpSpPr>
      <p:sp>
        <p:nvSpPr>
          <p:cNvPr id="8" name="椭圆 7"/>
          <p:cNvSpPr/>
          <p:nvPr userDrawn="1"/>
        </p:nvSpPr>
        <p:spPr>
          <a:xfrm>
            <a:off x="11454564" y="6460113"/>
            <a:ext cx="165005" cy="165005"/>
          </a:xfrm>
          <a:prstGeom prst="ellipse">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11468100" y="6462605"/>
            <a:ext cx="83820" cy="160020"/>
          </a:xfrm>
          <a:custGeom>
            <a:avLst/>
            <a:gdLst>
              <a:gd name="connsiteX0" fmla="*/ 0 w 83820"/>
              <a:gd name="connsiteY0" fmla="*/ 0 h 160020"/>
              <a:gd name="connsiteX1" fmla="*/ 83820 w 83820"/>
              <a:gd name="connsiteY1" fmla="*/ 83820 h 160020"/>
              <a:gd name="connsiteX2" fmla="*/ 7620 w 83820"/>
              <a:gd name="connsiteY2" fmla="*/ 160020 h 160020"/>
            </a:gdLst>
            <a:ahLst/>
            <a:cxnLst>
              <a:cxn ang="0">
                <a:pos x="connsiteX0" y="connsiteY0"/>
              </a:cxn>
              <a:cxn ang="0">
                <a:pos x="connsiteX1" y="connsiteY1"/>
              </a:cxn>
              <a:cxn ang="0">
                <a:pos x="connsiteX2" y="connsiteY2"/>
              </a:cxn>
            </a:cxnLst>
            <a:rect l="l" t="t" r="r" b="b"/>
            <a:pathLst>
              <a:path w="83820" h="160020">
                <a:moveTo>
                  <a:pt x="0" y="0"/>
                </a:moveTo>
                <a:lnTo>
                  <a:pt x="83820" y="83820"/>
                </a:lnTo>
                <a:lnTo>
                  <a:pt x="7620" y="160020"/>
                </a:lnTo>
              </a:path>
            </a:pathLst>
          </a:custGeom>
          <a:noFill/>
          <a:ln w="19050" cap="rnd">
            <a:solidFill>
              <a:schemeClr val="bg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6"/>
          <p:cNvSpPr txBox="1"/>
          <p:nvPr userDrawn="1"/>
        </p:nvSpPr>
        <p:spPr>
          <a:xfrm>
            <a:off x="11631903" y="6370572"/>
            <a:ext cx="440927"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B5FE7A-DBDB-429E-9692-DFC5CE67DC57}" type="slidenum">
              <a:rPr lang="zh-CN" altLang="en-US" sz="1600" smtClean="0">
                <a:solidFill>
                  <a:srgbClr val="004088"/>
                </a:solidFill>
              </a:rPr>
              <a:t>‹#›</a:t>
            </a:fld>
            <a:endParaRPr lang="zh-CN" altLang="en-US" sz="1600">
              <a:solidFill>
                <a:srgbClr val="004088"/>
              </a:solidFill>
            </a:endParaRPr>
          </a:p>
        </p:txBody>
      </p:sp>
      <p:cxnSp>
        <p:nvCxnSpPr>
          <p:cNvPr id="11" name="直接连接符 10"/>
          <p:cNvCxnSpPr/>
          <p:nvPr userDrawn="1"/>
        </p:nvCxnSpPr>
        <p:spPr>
          <a:xfrm>
            <a:off x="165005" y="728770"/>
            <a:ext cx="11861991" cy="0"/>
          </a:xfrm>
          <a:prstGeom prst="line">
            <a:avLst/>
          </a:prstGeom>
          <a:ln w="12700">
            <a:solidFill>
              <a:srgbClr val="004088"/>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247505" y="188008"/>
            <a:ext cx="250586" cy="407411"/>
            <a:chOff x="82503" y="355734"/>
            <a:chExt cx="250586" cy="407411"/>
          </a:xfrm>
        </p:grpSpPr>
        <p:sp>
          <p:nvSpPr>
            <p:cNvPr id="13" name="矩形 12"/>
            <p:cNvSpPr/>
            <p:nvPr/>
          </p:nvSpPr>
          <p:spPr>
            <a:xfrm>
              <a:off x="168085" y="598141"/>
              <a:ext cx="82502" cy="82502"/>
            </a:xfrm>
            <a:prstGeom prst="rect">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50587" y="515639"/>
              <a:ext cx="82502" cy="82502"/>
            </a:xfrm>
            <a:prstGeom prst="rect">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65005" y="433137"/>
              <a:ext cx="82502" cy="82502"/>
            </a:xfrm>
            <a:prstGeom prst="rect">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5583" y="355734"/>
              <a:ext cx="82502" cy="82502"/>
            </a:xfrm>
            <a:prstGeom prst="rect">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2503" y="680643"/>
              <a:ext cx="82502" cy="82502"/>
            </a:xfrm>
            <a:prstGeom prst="rect">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111149" y="107795"/>
            <a:ext cx="11969702" cy="66424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2B5FE7A-DBDB-429E-9692-DFC5CE67DC57}" type="slidenum">
              <a:rPr lang="zh-CN" altLang="en-US" smtClean="0"/>
              <a:t>‹#›</a:t>
            </a:fld>
            <a:endParaRPr lang="zh-CN" altLang="en-US"/>
          </a:p>
        </p:txBody>
      </p:sp>
      <p:sp>
        <p:nvSpPr>
          <p:cNvPr id="5" name="矩形 4"/>
          <p:cNvSpPr/>
          <p:nvPr userDrawn="1"/>
        </p:nvSpPr>
        <p:spPr>
          <a:xfrm>
            <a:off x="0" y="1361287"/>
            <a:ext cx="12192000" cy="26538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6" name="矩形 5"/>
          <p:cNvSpPr/>
          <p:nvPr userDrawn="1"/>
        </p:nvSpPr>
        <p:spPr>
          <a:xfrm>
            <a:off x="111149" y="107795"/>
            <a:ext cx="11969702" cy="66424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矩形 7"/>
          <p:cNvSpPr/>
          <p:nvPr userDrawn="1"/>
        </p:nvSpPr>
        <p:spPr>
          <a:xfrm>
            <a:off x="0" y="0"/>
            <a:ext cx="217943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1454564" y="6460113"/>
            <a:ext cx="165005" cy="165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11468100" y="6462605"/>
            <a:ext cx="83820" cy="160020"/>
          </a:xfrm>
          <a:custGeom>
            <a:avLst/>
            <a:gdLst>
              <a:gd name="connsiteX0" fmla="*/ 0 w 83820"/>
              <a:gd name="connsiteY0" fmla="*/ 0 h 160020"/>
              <a:gd name="connsiteX1" fmla="*/ 83820 w 83820"/>
              <a:gd name="connsiteY1" fmla="*/ 83820 h 160020"/>
              <a:gd name="connsiteX2" fmla="*/ 7620 w 83820"/>
              <a:gd name="connsiteY2" fmla="*/ 160020 h 160020"/>
            </a:gdLst>
            <a:ahLst/>
            <a:cxnLst>
              <a:cxn ang="0">
                <a:pos x="connsiteX0" y="connsiteY0"/>
              </a:cxn>
              <a:cxn ang="0">
                <a:pos x="connsiteX1" y="connsiteY1"/>
              </a:cxn>
              <a:cxn ang="0">
                <a:pos x="connsiteX2" y="connsiteY2"/>
              </a:cxn>
            </a:cxnLst>
            <a:rect l="l" t="t" r="r" b="b"/>
            <a:pathLst>
              <a:path w="83820" h="160020">
                <a:moveTo>
                  <a:pt x="0" y="0"/>
                </a:moveTo>
                <a:lnTo>
                  <a:pt x="83820" y="83820"/>
                </a:lnTo>
                <a:lnTo>
                  <a:pt x="7620" y="160020"/>
                </a:lnTo>
              </a:path>
            </a:pathLst>
          </a:custGeom>
          <a:noFill/>
          <a:ln w="19050" cap="rnd">
            <a:solidFill>
              <a:schemeClr val="bg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灯片编号占位符 6"/>
          <p:cNvSpPr txBox="1"/>
          <p:nvPr userDrawn="1"/>
        </p:nvSpPr>
        <p:spPr>
          <a:xfrm>
            <a:off x="11631903" y="6370572"/>
            <a:ext cx="440927"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B5FE7A-DBDB-429E-9692-DFC5CE67DC57}" type="slidenum">
              <a:rPr lang="zh-CN" altLang="en-US" sz="1600" smtClean="0">
                <a:solidFill>
                  <a:schemeClr val="accent1"/>
                </a:solidFill>
              </a:rPr>
              <a:t>‹#›</a:t>
            </a:fld>
            <a:endParaRPr lang="zh-CN" altLang="en-US" sz="1600">
              <a:solidFill>
                <a:schemeClr val="accent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B5FE7A-DBDB-429E-9692-DFC5CE67DC57}" type="slidenum">
              <a:rPr lang="zh-CN" altLang="en-US" smtClean="0"/>
              <a:t>‹#›</a:t>
            </a:fld>
            <a:endParaRPr lang="zh-CN" altLang="en-US"/>
          </a:p>
        </p:txBody>
      </p:sp>
      <p:sp>
        <p:nvSpPr>
          <p:cNvPr id="8" name="椭圆 7"/>
          <p:cNvSpPr/>
          <p:nvPr userDrawn="1"/>
        </p:nvSpPr>
        <p:spPr>
          <a:xfrm>
            <a:off x="11454564" y="6460113"/>
            <a:ext cx="165005" cy="165005"/>
          </a:xfrm>
          <a:prstGeom prst="ellipse">
            <a:avLst/>
          </a:prstGeom>
          <a:solidFill>
            <a:srgbClr val="0040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11468100" y="6462605"/>
            <a:ext cx="83820" cy="160020"/>
          </a:xfrm>
          <a:custGeom>
            <a:avLst/>
            <a:gdLst>
              <a:gd name="connsiteX0" fmla="*/ 0 w 83820"/>
              <a:gd name="connsiteY0" fmla="*/ 0 h 160020"/>
              <a:gd name="connsiteX1" fmla="*/ 83820 w 83820"/>
              <a:gd name="connsiteY1" fmla="*/ 83820 h 160020"/>
              <a:gd name="connsiteX2" fmla="*/ 7620 w 83820"/>
              <a:gd name="connsiteY2" fmla="*/ 160020 h 160020"/>
            </a:gdLst>
            <a:ahLst/>
            <a:cxnLst>
              <a:cxn ang="0">
                <a:pos x="connsiteX0" y="connsiteY0"/>
              </a:cxn>
              <a:cxn ang="0">
                <a:pos x="connsiteX1" y="connsiteY1"/>
              </a:cxn>
              <a:cxn ang="0">
                <a:pos x="connsiteX2" y="connsiteY2"/>
              </a:cxn>
            </a:cxnLst>
            <a:rect l="l" t="t" r="r" b="b"/>
            <a:pathLst>
              <a:path w="83820" h="160020">
                <a:moveTo>
                  <a:pt x="0" y="0"/>
                </a:moveTo>
                <a:lnTo>
                  <a:pt x="83820" y="83820"/>
                </a:lnTo>
                <a:lnTo>
                  <a:pt x="7620" y="160020"/>
                </a:lnTo>
              </a:path>
            </a:pathLst>
          </a:custGeom>
          <a:noFill/>
          <a:ln w="19050" cap="rnd">
            <a:solidFill>
              <a:schemeClr val="bg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6"/>
          <p:cNvSpPr txBox="1"/>
          <p:nvPr userDrawn="1"/>
        </p:nvSpPr>
        <p:spPr>
          <a:xfrm>
            <a:off x="11631903" y="6370572"/>
            <a:ext cx="440927"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B5FE7A-DBDB-429E-9692-DFC5CE67DC57}" type="slidenum">
              <a:rPr lang="zh-CN" altLang="en-US" sz="1600" smtClean="0">
                <a:solidFill>
                  <a:srgbClr val="004088"/>
                </a:solidFill>
              </a:rPr>
              <a:t>‹#›</a:t>
            </a:fld>
            <a:endParaRPr lang="zh-CN" altLang="en-US" sz="1600">
              <a:solidFill>
                <a:srgbClr val="004088"/>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B5FE7A-DBDB-429E-9692-DFC5CE67DC57}" type="slidenum">
              <a:rPr lang="zh-CN" altLang="en-US" smtClean="0"/>
              <a:t>‹#›</a:t>
            </a:fld>
            <a:endParaRPr lang="zh-CN" altLang="en-US"/>
          </a:p>
        </p:txBody>
      </p:sp>
      <p:sp>
        <p:nvSpPr>
          <p:cNvPr id="8" name="椭圆 7"/>
          <p:cNvSpPr/>
          <p:nvPr userDrawn="1"/>
        </p:nvSpPr>
        <p:spPr>
          <a:xfrm>
            <a:off x="11454564" y="6460113"/>
            <a:ext cx="165005" cy="165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11468100" y="6462605"/>
            <a:ext cx="83820" cy="160020"/>
          </a:xfrm>
          <a:custGeom>
            <a:avLst/>
            <a:gdLst>
              <a:gd name="connsiteX0" fmla="*/ 0 w 83820"/>
              <a:gd name="connsiteY0" fmla="*/ 0 h 160020"/>
              <a:gd name="connsiteX1" fmla="*/ 83820 w 83820"/>
              <a:gd name="connsiteY1" fmla="*/ 83820 h 160020"/>
              <a:gd name="connsiteX2" fmla="*/ 7620 w 83820"/>
              <a:gd name="connsiteY2" fmla="*/ 160020 h 160020"/>
            </a:gdLst>
            <a:ahLst/>
            <a:cxnLst>
              <a:cxn ang="0">
                <a:pos x="connsiteX0" y="connsiteY0"/>
              </a:cxn>
              <a:cxn ang="0">
                <a:pos x="connsiteX1" y="connsiteY1"/>
              </a:cxn>
              <a:cxn ang="0">
                <a:pos x="connsiteX2" y="connsiteY2"/>
              </a:cxn>
            </a:cxnLst>
            <a:rect l="l" t="t" r="r" b="b"/>
            <a:pathLst>
              <a:path w="83820" h="160020">
                <a:moveTo>
                  <a:pt x="0" y="0"/>
                </a:moveTo>
                <a:lnTo>
                  <a:pt x="83820" y="83820"/>
                </a:lnTo>
                <a:lnTo>
                  <a:pt x="7620" y="160020"/>
                </a:lnTo>
              </a:path>
            </a:pathLst>
          </a:custGeom>
          <a:noFill/>
          <a:ln w="19050" cap="rnd">
            <a:solidFill>
              <a:schemeClr val="bg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6"/>
          <p:cNvSpPr txBox="1"/>
          <p:nvPr userDrawn="1"/>
        </p:nvSpPr>
        <p:spPr>
          <a:xfrm>
            <a:off x="11631903" y="6370572"/>
            <a:ext cx="440927"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B5FE7A-DBDB-429E-9692-DFC5CE67DC57}" type="slidenum">
              <a:rPr lang="zh-CN" altLang="en-US" sz="1600" smtClean="0">
                <a:solidFill>
                  <a:schemeClr val="accent1"/>
                </a:solidFill>
              </a:rPr>
              <a:t>‹#›</a:t>
            </a:fld>
            <a:endParaRPr lang="zh-CN" altLang="en-US" sz="1600">
              <a:solidFill>
                <a:schemeClr val="accent1"/>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图片与标题">
    <p:spTree>
      <p:nvGrpSpPr>
        <p:cNvPr id="1" name=""/>
        <p:cNvGrpSpPr/>
        <p:nvPr/>
      </p:nvGrpSpPr>
      <p:grpSpPr>
        <a:xfrm>
          <a:off x="0" y="0"/>
          <a:ext cx="0" cy="0"/>
          <a:chOff x="0" y="0"/>
          <a:chExt cx="0" cy="0"/>
        </a:xfrm>
      </p:grpSpPr>
      <p:sp>
        <p:nvSpPr>
          <p:cNvPr id="8" name="椭圆 7"/>
          <p:cNvSpPr/>
          <p:nvPr userDrawn="1"/>
        </p:nvSpPr>
        <p:spPr>
          <a:xfrm>
            <a:off x="11454564" y="6460113"/>
            <a:ext cx="165005" cy="165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11468100" y="6462605"/>
            <a:ext cx="83820" cy="160020"/>
          </a:xfrm>
          <a:custGeom>
            <a:avLst/>
            <a:gdLst>
              <a:gd name="connsiteX0" fmla="*/ 0 w 83820"/>
              <a:gd name="connsiteY0" fmla="*/ 0 h 160020"/>
              <a:gd name="connsiteX1" fmla="*/ 83820 w 83820"/>
              <a:gd name="connsiteY1" fmla="*/ 83820 h 160020"/>
              <a:gd name="connsiteX2" fmla="*/ 7620 w 83820"/>
              <a:gd name="connsiteY2" fmla="*/ 160020 h 160020"/>
            </a:gdLst>
            <a:ahLst/>
            <a:cxnLst>
              <a:cxn ang="0">
                <a:pos x="connsiteX0" y="connsiteY0"/>
              </a:cxn>
              <a:cxn ang="0">
                <a:pos x="connsiteX1" y="connsiteY1"/>
              </a:cxn>
              <a:cxn ang="0">
                <a:pos x="connsiteX2" y="connsiteY2"/>
              </a:cxn>
            </a:cxnLst>
            <a:rect l="l" t="t" r="r" b="b"/>
            <a:pathLst>
              <a:path w="83820" h="160020">
                <a:moveTo>
                  <a:pt x="0" y="0"/>
                </a:moveTo>
                <a:lnTo>
                  <a:pt x="83820" y="83820"/>
                </a:lnTo>
                <a:lnTo>
                  <a:pt x="7620" y="160020"/>
                </a:lnTo>
              </a:path>
            </a:pathLst>
          </a:custGeom>
          <a:noFill/>
          <a:ln w="19050" cap="rnd">
            <a:solidFill>
              <a:schemeClr val="bg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6"/>
          <p:cNvSpPr txBox="1"/>
          <p:nvPr userDrawn="1"/>
        </p:nvSpPr>
        <p:spPr>
          <a:xfrm>
            <a:off x="11631903" y="6370572"/>
            <a:ext cx="440927"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B5FE7A-DBDB-429E-9692-DFC5CE67DC57}" type="slidenum">
              <a:rPr lang="zh-CN" altLang="en-US" sz="1600" smtClean="0">
                <a:solidFill>
                  <a:schemeClr val="accent1"/>
                </a:solidFill>
              </a:rPr>
              <a:t>‹#›</a:t>
            </a:fld>
            <a:endParaRPr lang="zh-CN" altLang="en-US" sz="1600">
              <a:solidFill>
                <a:schemeClr val="accent1"/>
              </a:solidFill>
            </a:endParaRPr>
          </a:p>
        </p:txBody>
      </p:sp>
      <p:cxnSp>
        <p:nvCxnSpPr>
          <p:cNvPr id="11" name="直接连接符 10"/>
          <p:cNvCxnSpPr/>
          <p:nvPr userDrawn="1"/>
        </p:nvCxnSpPr>
        <p:spPr>
          <a:xfrm>
            <a:off x="165005" y="728770"/>
            <a:ext cx="11861991"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247505" y="188008"/>
            <a:ext cx="250586" cy="407411"/>
            <a:chOff x="82503" y="355734"/>
            <a:chExt cx="250586" cy="407411"/>
          </a:xfrm>
          <a:solidFill>
            <a:schemeClr val="accent2"/>
          </a:solidFill>
        </p:grpSpPr>
        <p:sp>
          <p:nvSpPr>
            <p:cNvPr id="13" name="矩形 12"/>
            <p:cNvSpPr/>
            <p:nvPr/>
          </p:nvSpPr>
          <p:spPr>
            <a:xfrm>
              <a:off x="168085" y="598141"/>
              <a:ext cx="82502" cy="8250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50587" y="515639"/>
              <a:ext cx="82502" cy="8250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65005" y="433137"/>
              <a:ext cx="82502" cy="8250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5583" y="355734"/>
              <a:ext cx="82502" cy="8250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2503" y="680643"/>
              <a:ext cx="82502" cy="8250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B5FE7A-DBDB-429E-9692-DFC5CE67DC57}"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B5FE7A-DBDB-429E-9692-DFC5CE67DC5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AB2CD1-56CF-4955-992B-50B8C31B2FC6}" type="datetimeFigureOut">
              <a:rPr lang="zh-CN" altLang="en-US" smtClean="0"/>
              <a:t>2025/12/22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B5FE7A-DBDB-429E-9692-DFC5CE67DC5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hyperlink" Target="https://dev.mysql.com/doc/refman/en/replication-semisync.html" TargetMode="External"/><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30000"/>
          </a:schemeClr>
        </a:solidFill>
        <a:effectLst/>
      </p:bgPr>
    </p:bg>
    <p:spTree>
      <p:nvGrpSpPr>
        <p:cNvPr id="1" name=""/>
        <p:cNvGrpSpPr/>
        <p:nvPr/>
      </p:nvGrpSpPr>
      <p:grpSpPr>
        <a:xfrm>
          <a:off x="0" y="0"/>
          <a:ext cx="0" cy="0"/>
          <a:chOff x="0" y="0"/>
          <a:chExt cx="0" cy="0"/>
        </a:xfrm>
      </p:grpSpPr>
      <p:sp>
        <p:nvSpPr>
          <p:cNvPr id="2" name="文本框 1"/>
          <p:cNvSpPr txBox="1"/>
          <p:nvPr/>
        </p:nvSpPr>
        <p:spPr>
          <a:xfrm>
            <a:off x="801757" y="2092976"/>
            <a:ext cx="11390243" cy="1200329"/>
          </a:xfrm>
          <a:prstGeom prst="rect">
            <a:avLst/>
          </a:prstGeom>
          <a:noFill/>
        </p:spPr>
        <p:txBody>
          <a:bodyPr wrap="square" rtlCol="0">
            <a:spAutoFit/>
          </a:bodyPr>
          <a:lstStyle/>
          <a:p>
            <a:r>
              <a:rPr lang="en-US" altLang="zh-CN" sz="3600" b="1" spc="200" dirty="0">
                <a:solidFill>
                  <a:schemeClr val="bg1"/>
                </a:solidFill>
              </a:rPr>
              <a:t>TXSQL: Lock Optimizations Towards High Contented Workloads</a:t>
            </a:r>
            <a:r>
              <a:rPr lang="zh-CN" altLang="en-US" sz="3600" b="1" spc="200" dirty="0">
                <a:solidFill>
                  <a:schemeClr val="bg1"/>
                </a:solidFill>
              </a:rPr>
              <a:t>（</a:t>
            </a:r>
            <a:r>
              <a:rPr lang="en-US" altLang="zh-CN" sz="3600" b="1" spc="200" dirty="0">
                <a:solidFill>
                  <a:schemeClr val="bg1"/>
                </a:solidFill>
              </a:rPr>
              <a:t>SIGMOD’25</a:t>
            </a:r>
            <a:r>
              <a:rPr lang="zh-CN" altLang="en-US" sz="3600" b="1" spc="200" dirty="0">
                <a:solidFill>
                  <a:schemeClr val="bg1"/>
                </a:solidFill>
              </a:rPr>
              <a:t>）</a:t>
            </a:r>
          </a:p>
        </p:txBody>
      </p:sp>
      <p:sp>
        <p:nvSpPr>
          <p:cNvPr id="11" name="文本框 10">
            <a:extLst>
              <a:ext uri="{FF2B5EF4-FFF2-40B4-BE49-F238E27FC236}">
                <a16:creationId xmlns:a16="http://schemas.microsoft.com/office/drawing/2014/main" id="{1BEC6B2C-B42D-D49A-78D4-17109B45D3B7}"/>
              </a:ext>
            </a:extLst>
          </p:cNvPr>
          <p:cNvSpPr txBox="1"/>
          <p:nvPr/>
        </p:nvSpPr>
        <p:spPr>
          <a:xfrm>
            <a:off x="8766313" y="5647578"/>
            <a:ext cx="4788947" cy="970266"/>
          </a:xfrm>
          <a:prstGeom prst="rect">
            <a:avLst/>
          </a:prstGeom>
          <a:noFill/>
        </p:spPr>
        <p:txBody>
          <a:bodyPr wrap="square" rtlCol="0">
            <a:spAutoFit/>
          </a:bodyPr>
          <a:lstStyle/>
          <a:p>
            <a:pPr algn="ctr">
              <a:lnSpc>
                <a:spcPct val="125000"/>
              </a:lnSpc>
            </a:pPr>
            <a:r>
              <a:rPr lang="zh-CN" altLang="en-US" sz="2400" b="1" dirty="0">
                <a:solidFill>
                  <a:schemeClr val="accent1"/>
                </a:solidFill>
              </a:rPr>
              <a:t>胡梓锐</a:t>
            </a:r>
            <a:endParaRPr lang="en-US" altLang="zh-CN" sz="2400" b="1" dirty="0">
              <a:solidFill>
                <a:schemeClr val="accent1"/>
              </a:solidFill>
            </a:endParaRPr>
          </a:p>
          <a:p>
            <a:pPr algn="ctr">
              <a:lnSpc>
                <a:spcPct val="125000"/>
              </a:lnSpc>
            </a:pPr>
            <a:r>
              <a:rPr lang="en-US" altLang="zh-CN" sz="2400" b="1" dirty="0">
                <a:solidFill>
                  <a:schemeClr val="accent1"/>
                </a:solidFill>
              </a:rPr>
              <a:t>2025.12.22</a:t>
            </a:r>
            <a:endParaRPr lang="zh-CN" altLang="en-US" sz="2400" b="1" dirty="0">
              <a:solidFill>
                <a:schemeClr val="accent1"/>
              </a:solidFill>
            </a:endParaRPr>
          </a:p>
        </p:txBody>
      </p:sp>
      <p:pic>
        <p:nvPicPr>
          <p:cNvPr id="5" name="图片 4">
            <a:extLst>
              <a:ext uri="{FF2B5EF4-FFF2-40B4-BE49-F238E27FC236}">
                <a16:creationId xmlns:a16="http://schemas.microsoft.com/office/drawing/2014/main" id="{6949EEC4-B628-5733-51E2-D99D444DC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4326374"/>
            <a:ext cx="7772400" cy="1956266"/>
          </a:xfrm>
          <a:prstGeom prst="rect">
            <a:avLst/>
          </a:prstGeom>
        </p:spPr>
      </p:pic>
    </p:spTree>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65812" y="126923"/>
            <a:ext cx="3971812"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Introduction</a:t>
            </a:r>
            <a:endParaRPr lang="zh-CN" altLang="en-US"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矩形 2"/>
          <p:cNvSpPr/>
          <p:nvPr/>
        </p:nvSpPr>
        <p:spPr>
          <a:xfrm>
            <a:off x="302592" y="882428"/>
            <a:ext cx="11889408" cy="4924425"/>
          </a:xfrm>
          <a:prstGeom prst="rect">
            <a:avLst/>
          </a:prstGeom>
        </p:spPr>
        <p:txBody>
          <a:bodyPr wrap="square">
            <a:spAutoFit/>
          </a:bodyPr>
          <a:lstStyle/>
          <a:p>
            <a:pPr marL="342900" indent="-342900">
              <a:spcAft>
                <a:spcPts val="600"/>
              </a:spcAft>
              <a:buFont typeface="Wingdings" panose="05000000000000000000" pitchFamily="2" charset="2"/>
              <a:buChar char="Ø"/>
            </a:pPr>
            <a:r>
              <a:rPr lang="en" altLang="zh-CN" sz="2200" b="1" dirty="0">
                <a:latin typeface="Times New Roman" panose="02020603050405020304" pitchFamily="18" charset="0"/>
                <a:cs typeface="Times New Roman" panose="02020603050405020304" pitchFamily="18" charset="0"/>
              </a:rPr>
              <a:t>Lock Contention in Real-World OLTP System</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In Tencent Cloud’s OLTP scenarios, database workloads are mostly underloaded during normal operation.</a:t>
            </a:r>
            <a:r>
              <a:rPr lang="zh-CN" altLang="en-US" sz="2200" dirty="0">
                <a:latin typeface="Times New Roman" panose="02020603050405020304" pitchFamily="18" charset="0"/>
                <a:cs typeface="Times New Roman" panose="02020603050405020304" pitchFamily="18" charset="0"/>
              </a:rPr>
              <a:t> </a:t>
            </a:r>
            <a:r>
              <a:rPr lang="en" altLang="zh-CN" sz="2200" dirty="0">
                <a:latin typeface="Times New Roman" panose="02020603050405020304" pitchFamily="18" charset="0"/>
                <a:cs typeface="Times New Roman" panose="02020603050405020304" pitchFamily="18" charset="0"/>
              </a:rPr>
              <a:t>However, systems frequently experience short bursts of traffic spikes, e.g.</a:t>
            </a:r>
            <a:r>
              <a:rPr lang="en-US" altLang="zh-CN" sz="2200" dirty="0">
                <a:latin typeface="Times New Roman" panose="02020603050405020304" pitchFamily="18" charset="0"/>
                <a:cs typeface="Times New Roman" panose="02020603050405020304" pitchFamily="18" charset="0"/>
              </a:rPr>
              <a:t>,</a:t>
            </a:r>
            <a:endParaRPr lang="en" altLang="zh-CN" sz="2200"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best-selling products in e-commerce</a:t>
            </a:r>
            <a:r>
              <a:rPr lang="en-US" altLang="zh-CN" sz="2200" dirty="0">
                <a:latin typeface="Times New Roman" panose="02020603050405020304" pitchFamily="18" charset="0"/>
                <a:cs typeface="Times New Roman" panose="02020603050405020304" pitchFamily="18" charset="0"/>
              </a:rPr>
              <a:t>;</a:t>
            </a:r>
            <a:endParaRPr lang="en" altLang="zh-CN" sz="2200"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large-scale promotional events.</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These bursts lead to highly contended workloads, where:</a:t>
            </a: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access concentrates on one or a few data items</a:t>
            </a:r>
            <a:r>
              <a:rPr lang="en-US" altLang="zh-CN" sz="2200" dirty="0">
                <a:latin typeface="Times New Roman" panose="02020603050405020304" pitchFamily="18" charset="0"/>
                <a:cs typeface="Times New Roman" panose="02020603050405020304" pitchFamily="18" charset="0"/>
              </a:rPr>
              <a:t>;</a:t>
            </a:r>
            <a:endParaRPr lang="en" altLang="zh-CN" sz="2200"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hotspot records emerge naturally.</a:t>
            </a:r>
          </a:p>
          <a:p>
            <a:pPr marL="342900" indent="-342900">
              <a:spcAft>
                <a:spcPts val="600"/>
              </a:spcAft>
              <a:buFont typeface="Wingdings" panose="05000000000000000000" pitchFamily="2" charset="2"/>
              <a:buChar char="Ø"/>
            </a:pPr>
            <a:r>
              <a:rPr lang="en" altLang="zh-CN" sz="2200" b="1" dirty="0">
                <a:latin typeface="Times New Roman" panose="02020603050405020304" pitchFamily="18" charset="0"/>
                <a:cs typeface="Times New Roman" panose="02020603050405020304" pitchFamily="18" charset="0"/>
              </a:rPr>
              <a:t>Lock Manager: A Core Component of Concurrency Control</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The lock manager is a central module in pessimistic concurrency control protocols.</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It regulates concurrent access to database resources during transaction execution</a:t>
            </a:r>
            <a:r>
              <a:rPr lang="en-US" altLang="zh-CN" sz="2200" dirty="0">
                <a:latin typeface="Times New Roman" panose="02020603050405020304" pitchFamily="18" charset="0"/>
                <a:cs typeface="Times New Roman" panose="02020603050405020304" pitchFamily="18" charset="0"/>
              </a:rPr>
              <a:t>.</a:t>
            </a:r>
            <a:endParaRPr lang="en" altLang="zh-CN" sz="22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200" b="1" dirty="0">
              <a:latin typeface="Times New Roman" panose="02020603050405020304" pitchFamily="18" charset="0"/>
              <a:cs typeface="Times New Roman" panose="02020603050405020304" pitchFamily="18" charset="0"/>
            </a:endParaRPr>
          </a:p>
        </p:txBody>
      </p:sp>
      <p:grpSp>
        <p:nvGrpSpPr>
          <p:cNvPr id="4" name="Group 103">
            <a:extLst>
              <a:ext uri="{FF2B5EF4-FFF2-40B4-BE49-F238E27FC236}">
                <a16:creationId xmlns:a16="http://schemas.microsoft.com/office/drawing/2014/main" id="{32C19E79-61B0-074E-D3E3-2598557F6380}"/>
              </a:ext>
            </a:extLst>
          </p:cNvPr>
          <p:cNvGrpSpPr>
            <a:grpSpLocks noChangeAspect="1"/>
          </p:cNvGrpSpPr>
          <p:nvPr/>
        </p:nvGrpSpPr>
        <p:grpSpPr bwMode="auto">
          <a:xfrm>
            <a:off x="2551718" y="5305861"/>
            <a:ext cx="6894469" cy="1552139"/>
            <a:chOff x="2234" y="12407"/>
            <a:chExt cx="8278" cy="1864"/>
          </a:xfrm>
        </p:grpSpPr>
        <p:sp>
          <p:nvSpPr>
            <p:cNvPr id="5" name="AutoShape 179">
              <a:extLst>
                <a:ext uri="{FF2B5EF4-FFF2-40B4-BE49-F238E27FC236}">
                  <a16:creationId xmlns:a16="http://schemas.microsoft.com/office/drawing/2014/main" id="{24E3DA1D-F5DF-F321-3225-B7FC1F50FC79}"/>
                </a:ext>
              </a:extLst>
            </p:cNvPr>
            <p:cNvSpPr>
              <a:spLocks noChangeAspect="1" noChangeArrowheads="1" noTextEdit="1"/>
            </p:cNvSpPr>
            <p:nvPr/>
          </p:nvSpPr>
          <p:spPr bwMode="auto">
            <a:xfrm>
              <a:off x="2234" y="12407"/>
              <a:ext cx="8278" cy="18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Rectangle 178">
              <a:extLst>
                <a:ext uri="{FF2B5EF4-FFF2-40B4-BE49-F238E27FC236}">
                  <a16:creationId xmlns:a16="http://schemas.microsoft.com/office/drawing/2014/main" id="{BD5CB590-B8E5-9965-3113-07DF767D327D}"/>
                </a:ext>
              </a:extLst>
            </p:cNvPr>
            <p:cNvSpPr>
              <a:spLocks noChangeArrowheads="1"/>
            </p:cNvSpPr>
            <p:nvPr/>
          </p:nvSpPr>
          <p:spPr bwMode="auto">
            <a:xfrm>
              <a:off x="2429" y="13456"/>
              <a:ext cx="361" cy="330"/>
            </a:xfrm>
            <a:prstGeom prst="rect">
              <a:avLst/>
            </a:prstGeom>
            <a:solidFill>
              <a:srgbClr val="FAE2D5"/>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7" name="Rectangle 177">
              <a:extLst>
                <a:ext uri="{FF2B5EF4-FFF2-40B4-BE49-F238E27FC236}">
                  <a16:creationId xmlns:a16="http://schemas.microsoft.com/office/drawing/2014/main" id="{BF76163A-4308-A304-6FC2-C29630A1B5A8}"/>
                </a:ext>
              </a:extLst>
            </p:cNvPr>
            <p:cNvSpPr>
              <a:spLocks noChangeArrowheads="1"/>
            </p:cNvSpPr>
            <p:nvPr/>
          </p:nvSpPr>
          <p:spPr bwMode="auto">
            <a:xfrm>
              <a:off x="2790" y="13456"/>
              <a:ext cx="361" cy="330"/>
            </a:xfrm>
            <a:prstGeom prst="rect">
              <a:avLst/>
            </a:prstGeom>
            <a:solidFill>
              <a:srgbClr val="FAE2D5"/>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8" name="Rectangle 176">
              <a:extLst>
                <a:ext uri="{FF2B5EF4-FFF2-40B4-BE49-F238E27FC236}">
                  <a16:creationId xmlns:a16="http://schemas.microsoft.com/office/drawing/2014/main" id="{E51578DE-8242-346D-3586-2C04E13B9438}"/>
                </a:ext>
              </a:extLst>
            </p:cNvPr>
            <p:cNvSpPr>
              <a:spLocks noChangeArrowheads="1"/>
            </p:cNvSpPr>
            <p:nvPr/>
          </p:nvSpPr>
          <p:spPr bwMode="auto">
            <a:xfrm>
              <a:off x="3151" y="13456"/>
              <a:ext cx="361" cy="330"/>
            </a:xfrm>
            <a:prstGeom prst="rect">
              <a:avLst/>
            </a:prstGeom>
            <a:solidFill>
              <a:srgbClr val="FAE2D5"/>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9" name="Rectangle 175">
              <a:extLst>
                <a:ext uri="{FF2B5EF4-FFF2-40B4-BE49-F238E27FC236}">
                  <a16:creationId xmlns:a16="http://schemas.microsoft.com/office/drawing/2014/main" id="{B708B041-FDF6-7FD6-42B3-1D3A9A7ECC46}"/>
                </a:ext>
              </a:extLst>
            </p:cNvPr>
            <p:cNvSpPr>
              <a:spLocks noChangeArrowheads="1"/>
            </p:cNvSpPr>
            <p:nvPr/>
          </p:nvSpPr>
          <p:spPr bwMode="auto">
            <a:xfrm>
              <a:off x="3512" y="13456"/>
              <a:ext cx="362" cy="330"/>
            </a:xfrm>
            <a:prstGeom prst="rect">
              <a:avLst/>
            </a:prstGeom>
            <a:solidFill>
              <a:srgbClr val="FAE2D5"/>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Rectangle 174">
              <a:extLst>
                <a:ext uri="{FF2B5EF4-FFF2-40B4-BE49-F238E27FC236}">
                  <a16:creationId xmlns:a16="http://schemas.microsoft.com/office/drawing/2014/main" id="{9727B978-E82B-267F-C7E0-56050441DB67}"/>
                </a:ext>
              </a:extLst>
            </p:cNvPr>
            <p:cNvSpPr>
              <a:spLocks noChangeArrowheads="1"/>
            </p:cNvSpPr>
            <p:nvPr/>
          </p:nvSpPr>
          <p:spPr bwMode="auto">
            <a:xfrm>
              <a:off x="3874" y="13456"/>
              <a:ext cx="361" cy="330"/>
            </a:xfrm>
            <a:prstGeom prst="rect">
              <a:avLst/>
            </a:prstGeom>
            <a:solidFill>
              <a:srgbClr val="FAE2D5"/>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Rectangle 173">
              <a:extLst>
                <a:ext uri="{FF2B5EF4-FFF2-40B4-BE49-F238E27FC236}">
                  <a16:creationId xmlns:a16="http://schemas.microsoft.com/office/drawing/2014/main" id="{A032946C-7FF3-1E57-17C4-B8E735370A45}"/>
                </a:ext>
              </a:extLst>
            </p:cNvPr>
            <p:cNvSpPr>
              <a:spLocks noChangeArrowheads="1"/>
            </p:cNvSpPr>
            <p:nvPr/>
          </p:nvSpPr>
          <p:spPr bwMode="auto">
            <a:xfrm>
              <a:off x="4230" y="13456"/>
              <a:ext cx="361" cy="330"/>
            </a:xfrm>
            <a:prstGeom prst="rect">
              <a:avLst/>
            </a:prstGeom>
            <a:solidFill>
              <a:srgbClr val="FAE2D5"/>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AutoShape 172">
              <a:extLst>
                <a:ext uri="{FF2B5EF4-FFF2-40B4-BE49-F238E27FC236}">
                  <a16:creationId xmlns:a16="http://schemas.microsoft.com/office/drawing/2014/main" id="{DDA262E8-55F7-8E93-438A-33D40EE24BAE}"/>
                </a:ext>
              </a:extLst>
            </p:cNvPr>
            <p:cNvSpPr>
              <a:spLocks noChangeShapeType="1"/>
            </p:cNvSpPr>
            <p:nvPr/>
          </p:nvSpPr>
          <p:spPr bwMode="auto">
            <a:xfrm>
              <a:off x="2606" y="12858"/>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AutoShape 171">
              <a:extLst>
                <a:ext uri="{FF2B5EF4-FFF2-40B4-BE49-F238E27FC236}">
                  <a16:creationId xmlns:a16="http://schemas.microsoft.com/office/drawing/2014/main" id="{193A8228-E22C-E9CC-486D-FF3EF24FB487}"/>
                </a:ext>
              </a:extLst>
            </p:cNvPr>
            <p:cNvSpPr>
              <a:spLocks noChangeShapeType="1"/>
            </p:cNvSpPr>
            <p:nvPr/>
          </p:nvSpPr>
          <p:spPr bwMode="auto">
            <a:xfrm>
              <a:off x="2967" y="12858"/>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AutoShape 170">
              <a:extLst>
                <a:ext uri="{FF2B5EF4-FFF2-40B4-BE49-F238E27FC236}">
                  <a16:creationId xmlns:a16="http://schemas.microsoft.com/office/drawing/2014/main" id="{41C20154-5126-2F54-3D4D-FDB015865752}"/>
                </a:ext>
              </a:extLst>
            </p:cNvPr>
            <p:cNvSpPr>
              <a:spLocks noChangeShapeType="1"/>
            </p:cNvSpPr>
            <p:nvPr/>
          </p:nvSpPr>
          <p:spPr bwMode="auto">
            <a:xfrm>
              <a:off x="3328" y="12858"/>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169">
              <a:extLst>
                <a:ext uri="{FF2B5EF4-FFF2-40B4-BE49-F238E27FC236}">
                  <a16:creationId xmlns:a16="http://schemas.microsoft.com/office/drawing/2014/main" id="{BA3C0B64-DCF1-18E8-B6B0-D3A6E24AAA3D}"/>
                </a:ext>
              </a:extLst>
            </p:cNvPr>
            <p:cNvSpPr>
              <a:spLocks noChangeShapeType="1"/>
            </p:cNvSpPr>
            <p:nvPr/>
          </p:nvSpPr>
          <p:spPr bwMode="auto">
            <a:xfrm>
              <a:off x="3689" y="12858"/>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Rectangle 168">
              <a:extLst>
                <a:ext uri="{FF2B5EF4-FFF2-40B4-BE49-F238E27FC236}">
                  <a16:creationId xmlns:a16="http://schemas.microsoft.com/office/drawing/2014/main" id="{16263A58-6326-B8BB-4362-84B88017D148}"/>
                </a:ext>
              </a:extLst>
            </p:cNvPr>
            <p:cNvSpPr>
              <a:spLocks noChangeArrowheads="1"/>
            </p:cNvSpPr>
            <p:nvPr/>
          </p:nvSpPr>
          <p:spPr bwMode="auto">
            <a:xfrm>
              <a:off x="2425" y="12528"/>
              <a:ext cx="361" cy="330"/>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167">
              <a:extLst>
                <a:ext uri="{FF2B5EF4-FFF2-40B4-BE49-F238E27FC236}">
                  <a16:creationId xmlns:a16="http://schemas.microsoft.com/office/drawing/2014/main" id="{66A1A353-7849-CAF9-1C59-720817A00403}"/>
                </a:ext>
              </a:extLst>
            </p:cNvPr>
            <p:cNvSpPr>
              <a:spLocks noChangeArrowheads="1"/>
            </p:cNvSpPr>
            <p:nvPr/>
          </p:nvSpPr>
          <p:spPr bwMode="auto">
            <a:xfrm>
              <a:off x="2786" y="12528"/>
              <a:ext cx="361" cy="330"/>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Rectangle 166">
              <a:extLst>
                <a:ext uri="{FF2B5EF4-FFF2-40B4-BE49-F238E27FC236}">
                  <a16:creationId xmlns:a16="http://schemas.microsoft.com/office/drawing/2014/main" id="{DB1E8F5B-0311-A04C-91F2-8D4E0ACC5F06}"/>
                </a:ext>
              </a:extLst>
            </p:cNvPr>
            <p:cNvSpPr>
              <a:spLocks noChangeArrowheads="1"/>
            </p:cNvSpPr>
            <p:nvPr/>
          </p:nvSpPr>
          <p:spPr bwMode="auto">
            <a:xfrm>
              <a:off x="3147" y="12528"/>
              <a:ext cx="361" cy="330"/>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Rectangle 165">
              <a:extLst>
                <a:ext uri="{FF2B5EF4-FFF2-40B4-BE49-F238E27FC236}">
                  <a16:creationId xmlns:a16="http://schemas.microsoft.com/office/drawing/2014/main" id="{DB961B3D-8E38-4741-6A7E-8CC3C383DCCC}"/>
                </a:ext>
              </a:extLst>
            </p:cNvPr>
            <p:cNvSpPr>
              <a:spLocks noChangeArrowheads="1"/>
            </p:cNvSpPr>
            <p:nvPr/>
          </p:nvSpPr>
          <p:spPr bwMode="auto">
            <a:xfrm>
              <a:off x="3508" y="12528"/>
              <a:ext cx="362" cy="330"/>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Rectangle 164">
              <a:extLst>
                <a:ext uri="{FF2B5EF4-FFF2-40B4-BE49-F238E27FC236}">
                  <a16:creationId xmlns:a16="http://schemas.microsoft.com/office/drawing/2014/main" id="{2B632E89-3CD6-D4ED-1203-AEB61EA00E69}"/>
                </a:ext>
              </a:extLst>
            </p:cNvPr>
            <p:cNvSpPr>
              <a:spLocks noChangeArrowheads="1"/>
            </p:cNvSpPr>
            <p:nvPr/>
          </p:nvSpPr>
          <p:spPr bwMode="auto">
            <a:xfrm>
              <a:off x="3870" y="12528"/>
              <a:ext cx="361" cy="330"/>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Rectangle 163">
              <a:extLst>
                <a:ext uri="{FF2B5EF4-FFF2-40B4-BE49-F238E27FC236}">
                  <a16:creationId xmlns:a16="http://schemas.microsoft.com/office/drawing/2014/main" id="{172E6D2F-733F-3E8D-3932-17FFCC702BE5}"/>
                </a:ext>
              </a:extLst>
            </p:cNvPr>
            <p:cNvSpPr>
              <a:spLocks noChangeArrowheads="1"/>
            </p:cNvSpPr>
            <p:nvPr/>
          </p:nvSpPr>
          <p:spPr bwMode="auto">
            <a:xfrm>
              <a:off x="4226" y="12528"/>
              <a:ext cx="361" cy="330"/>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AutoShape 162">
              <a:extLst>
                <a:ext uri="{FF2B5EF4-FFF2-40B4-BE49-F238E27FC236}">
                  <a16:creationId xmlns:a16="http://schemas.microsoft.com/office/drawing/2014/main" id="{43893E8B-77A7-D779-D103-EC8F2C5DA517}"/>
                </a:ext>
              </a:extLst>
            </p:cNvPr>
            <p:cNvSpPr>
              <a:spLocks noChangeShapeType="1"/>
            </p:cNvSpPr>
            <p:nvPr/>
          </p:nvSpPr>
          <p:spPr bwMode="auto">
            <a:xfrm>
              <a:off x="4051" y="12858"/>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161">
              <a:extLst>
                <a:ext uri="{FF2B5EF4-FFF2-40B4-BE49-F238E27FC236}">
                  <a16:creationId xmlns:a16="http://schemas.microsoft.com/office/drawing/2014/main" id="{4CBCE6C6-7C41-1842-F094-67A87E7235BF}"/>
                </a:ext>
              </a:extLst>
            </p:cNvPr>
            <p:cNvSpPr>
              <a:spLocks noChangeShapeType="1"/>
            </p:cNvSpPr>
            <p:nvPr/>
          </p:nvSpPr>
          <p:spPr bwMode="auto">
            <a:xfrm>
              <a:off x="4407" y="12858"/>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Rectangle 160">
              <a:extLst>
                <a:ext uri="{FF2B5EF4-FFF2-40B4-BE49-F238E27FC236}">
                  <a16:creationId xmlns:a16="http://schemas.microsoft.com/office/drawing/2014/main" id="{D4697865-25D3-64EF-7473-A89FD028E568}"/>
                </a:ext>
              </a:extLst>
            </p:cNvPr>
            <p:cNvSpPr>
              <a:spLocks noChangeArrowheads="1"/>
            </p:cNvSpPr>
            <p:nvPr/>
          </p:nvSpPr>
          <p:spPr bwMode="auto">
            <a:xfrm>
              <a:off x="5296" y="13440"/>
              <a:ext cx="361"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Rectangle 159">
              <a:extLst>
                <a:ext uri="{FF2B5EF4-FFF2-40B4-BE49-F238E27FC236}">
                  <a16:creationId xmlns:a16="http://schemas.microsoft.com/office/drawing/2014/main" id="{363935FE-4E7D-B4CD-3CF9-4A4E19CAE5BF}"/>
                </a:ext>
              </a:extLst>
            </p:cNvPr>
            <p:cNvSpPr>
              <a:spLocks noChangeArrowheads="1"/>
            </p:cNvSpPr>
            <p:nvPr/>
          </p:nvSpPr>
          <p:spPr bwMode="auto">
            <a:xfrm>
              <a:off x="5657" y="13440"/>
              <a:ext cx="361"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Rectangle 158">
              <a:extLst>
                <a:ext uri="{FF2B5EF4-FFF2-40B4-BE49-F238E27FC236}">
                  <a16:creationId xmlns:a16="http://schemas.microsoft.com/office/drawing/2014/main" id="{A834CA37-01A7-8525-4880-263F8FB925C4}"/>
                </a:ext>
              </a:extLst>
            </p:cNvPr>
            <p:cNvSpPr>
              <a:spLocks noChangeArrowheads="1"/>
            </p:cNvSpPr>
            <p:nvPr/>
          </p:nvSpPr>
          <p:spPr bwMode="auto">
            <a:xfrm>
              <a:off x="6018" y="13440"/>
              <a:ext cx="361" cy="330"/>
            </a:xfrm>
            <a:prstGeom prst="rect">
              <a:avLst/>
            </a:prstGeom>
            <a:solidFill>
              <a:srgbClr val="F1A983"/>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Rectangle 157">
              <a:extLst>
                <a:ext uri="{FF2B5EF4-FFF2-40B4-BE49-F238E27FC236}">
                  <a16:creationId xmlns:a16="http://schemas.microsoft.com/office/drawing/2014/main" id="{8192B0F6-4B75-1742-EE68-60AF7FC13967}"/>
                </a:ext>
              </a:extLst>
            </p:cNvPr>
            <p:cNvSpPr>
              <a:spLocks noChangeArrowheads="1"/>
            </p:cNvSpPr>
            <p:nvPr/>
          </p:nvSpPr>
          <p:spPr bwMode="auto">
            <a:xfrm>
              <a:off x="6379" y="13440"/>
              <a:ext cx="362" cy="330"/>
            </a:xfrm>
            <a:prstGeom prst="rect">
              <a:avLst/>
            </a:prstGeom>
            <a:solidFill>
              <a:srgbClr val="F1A983"/>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Rectangle 156">
              <a:extLst>
                <a:ext uri="{FF2B5EF4-FFF2-40B4-BE49-F238E27FC236}">
                  <a16:creationId xmlns:a16="http://schemas.microsoft.com/office/drawing/2014/main" id="{41A05AFE-7188-643B-8D2A-596AC94DA060}"/>
                </a:ext>
              </a:extLst>
            </p:cNvPr>
            <p:cNvSpPr>
              <a:spLocks noChangeArrowheads="1"/>
            </p:cNvSpPr>
            <p:nvPr/>
          </p:nvSpPr>
          <p:spPr bwMode="auto">
            <a:xfrm>
              <a:off x="6741" y="13440"/>
              <a:ext cx="361"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Rectangle 155">
              <a:extLst>
                <a:ext uri="{FF2B5EF4-FFF2-40B4-BE49-F238E27FC236}">
                  <a16:creationId xmlns:a16="http://schemas.microsoft.com/office/drawing/2014/main" id="{6BE39567-4D9C-0005-24D1-0D805EA76FDE}"/>
                </a:ext>
              </a:extLst>
            </p:cNvPr>
            <p:cNvSpPr>
              <a:spLocks noChangeArrowheads="1"/>
            </p:cNvSpPr>
            <p:nvPr/>
          </p:nvSpPr>
          <p:spPr bwMode="auto">
            <a:xfrm>
              <a:off x="7097" y="13440"/>
              <a:ext cx="361"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AutoShape 154">
              <a:extLst>
                <a:ext uri="{FF2B5EF4-FFF2-40B4-BE49-F238E27FC236}">
                  <a16:creationId xmlns:a16="http://schemas.microsoft.com/office/drawing/2014/main" id="{4110B3EF-DB01-FBA6-C316-5A733E292A29}"/>
                </a:ext>
              </a:extLst>
            </p:cNvPr>
            <p:cNvSpPr>
              <a:spLocks noChangeShapeType="1"/>
            </p:cNvSpPr>
            <p:nvPr/>
          </p:nvSpPr>
          <p:spPr bwMode="auto">
            <a:xfrm>
              <a:off x="5473" y="12842"/>
              <a:ext cx="726"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AutoShape 153">
              <a:extLst>
                <a:ext uri="{FF2B5EF4-FFF2-40B4-BE49-F238E27FC236}">
                  <a16:creationId xmlns:a16="http://schemas.microsoft.com/office/drawing/2014/main" id="{20C3A60B-3EB0-8BD7-5D18-6A27078A5AB1}"/>
                </a:ext>
              </a:extLst>
            </p:cNvPr>
            <p:cNvSpPr>
              <a:spLocks noChangeShapeType="1"/>
            </p:cNvSpPr>
            <p:nvPr/>
          </p:nvSpPr>
          <p:spPr bwMode="auto">
            <a:xfrm>
              <a:off x="5834" y="12842"/>
              <a:ext cx="365"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AutoShape 152">
              <a:extLst>
                <a:ext uri="{FF2B5EF4-FFF2-40B4-BE49-F238E27FC236}">
                  <a16:creationId xmlns:a16="http://schemas.microsoft.com/office/drawing/2014/main" id="{F001B82C-E45A-3120-67C5-9C3870DF55CD}"/>
                </a:ext>
              </a:extLst>
            </p:cNvPr>
            <p:cNvSpPr>
              <a:spLocks noChangeShapeType="1"/>
            </p:cNvSpPr>
            <p:nvPr/>
          </p:nvSpPr>
          <p:spPr bwMode="auto">
            <a:xfrm>
              <a:off x="6195" y="12842"/>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AutoShape 151">
              <a:extLst>
                <a:ext uri="{FF2B5EF4-FFF2-40B4-BE49-F238E27FC236}">
                  <a16:creationId xmlns:a16="http://schemas.microsoft.com/office/drawing/2014/main" id="{20548A57-E01C-D053-46AD-7A9CA887483C}"/>
                </a:ext>
              </a:extLst>
            </p:cNvPr>
            <p:cNvSpPr>
              <a:spLocks noChangeShapeType="1"/>
            </p:cNvSpPr>
            <p:nvPr/>
          </p:nvSpPr>
          <p:spPr bwMode="auto">
            <a:xfrm>
              <a:off x="6556" y="12842"/>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Rectangle 150">
              <a:extLst>
                <a:ext uri="{FF2B5EF4-FFF2-40B4-BE49-F238E27FC236}">
                  <a16:creationId xmlns:a16="http://schemas.microsoft.com/office/drawing/2014/main" id="{DF3B8392-CC34-F1D8-6611-36213CCFA552}"/>
                </a:ext>
              </a:extLst>
            </p:cNvPr>
            <p:cNvSpPr>
              <a:spLocks noChangeArrowheads="1"/>
            </p:cNvSpPr>
            <p:nvPr/>
          </p:nvSpPr>
          <p:spPr bwMode="auto">
            <a:xfrm>
              <a:off x="5292" y="12512"/>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Rectangle 149">
              <a:extLst>
                <a:ext uri="{FF2B5EF4-FFF2-40B4-BE49-F238E27FC236}">
                  <a16:creationId xmlns:a16="http://schemas.microsoft.com/office/drawing/2014/main" id="{315A87F3-C3C1-5BC9-01CE-DA08D255F5BB}"/>
                </a:ext>
              </a:extLst>
            </p:cNvPr>
            <p:cNvSpPr>
              <a:spLocks noChangeArrowheads="1"/>
            </p:cNvSpPr>
            <p:nvPr/>
          </p:nvSpPr>
          <p:spPr bwMode="auto">
            <a:xfrm>
              <a:off x="5653" y="12512"/>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Rectangle 148">
              <a:extLst>
                <a:ext uri="{FF2B5EF4-FFF2-40B4-BE49-F238E27FC236}">
                  <a16:creationId xmlns:a16="http://schemas.microsoft.com/office/drawing/2014/main" id="{D54423C5-39F0-764F-35AF-CA9554BFE9AD}"/>
                </a:ext>
              </a:extLst>
            </p:cNvPr>
            <p:cNvSpPr>
              <a:spLocks noChangeArrowheads="1"/>
            </p:cNvSpPr>
            <p:nvPr/>
          </p:nvSpPr>
          <p:spPr bwMode="auto">
            <a:xfrm>
              <a:off x="6014" y="12512"/>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Rectangle 147">
              <a:extLst>
                <a:ext uri="{FF2B5EF4-FFF2-40B4-BE49-F238E27FC236}">
                  <a16:creationId xmlns:a16="http://schemas.microsoft.com/office/drawing/2014/main" id="{0E8B33C3-882A-D5E5-B14A-F53F77094F5E}"/>
                </a:ext>
              </a:extLst>
            </p:cNvPr>
            <p:cNvSpPr>
              <a:spLocks noChangeArrowheads="1"/>
            </p:cNvSpPr>
            <p:nvPr/>
          </p:nvSpPr>
          <p:spPr bwMode="auto">
            <a:xfrm>
              <a:off x="6375" y="12512"/>
              <a:ext cx="362"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Rectangle 146">
              <a:extLst>
                <a:ext uri="{FF2B5EF4-FFF2-40B4-BE49-F238E27FC236}">
                  <a16:creationId xmlns:a16="http://schemas.microsoft.com/office/drawing/2014/main" id="{DABB94C2-A327-BCA1-F432-5E1EC4D6DEFB}"/>
                </a:ext>
              </a:extLst>
            </p:cNvPr>
            <p:cNvSpPr>
              <a:spLocks noChangeArrowheads="1"/>
            </p:cNvSpPr>
            <p:nvPr/>
          </p:nvSpPr>
          <p:spPr bwMode="auto">
            <a:xfrm>
              <a:off x="6737" y="12512"/>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Rectangle 145">
              <a:extLst>
                <a:ext uri="{FF2B5EF4-FFF2-40B4-BE49-F238E27FC236}">
                  <a16:creationId xmlns:a16="http://schemas.microsoft.com/office/drawing/2014/main" id="{0A70A53F-D1A1-3618-E4E0-1F7BB9F53EAE}"/>
                </a:ext>
              </a:extLst>
            </p:cNvPr>
            <p:cNvSpPr>
              <a:spLocks noChangeArrowheads="1"/>
            </p:cNvSpPr>
            <p:nvPr/>
          </p:nvSpPr>
          <p:spPr bwMode="auto">
            <a:xfrm>
              <a:off x="7093" y="12512"/>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AutoShape 144">
              <a:extLst>
                <a:ext uri="{FF2B5EF4-FFF2-40B4-BE49-F238E27FC236}">
                  <a16:creationId xmlns:a16="http://schemas.microsoft.com/office/drawing/2014/main" id="{FC56FA6D-54C6-D580-D4A1-6A02A97B76B5}"/>
                </a:ext>
              </a:extLst>
            </p:cNvPr>
            <p:cNvSpPr>
              <a:spLocks noChangeShapeType="1"/>
            </p:cNvSpPr>
            <p:nvPr/>
          </p:nvSpPr>
          <p:spPr bwMode="auto">
            <a:xfrm flipH="1">
              <a:off x="6560" y="12842"/>
              <a:ext cx="358"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AutoShape 143">
              <a:extLst>
                <a:ext uri="{FF2B5EF4-FFF2-40B4-BE49-F238E27FC236}">
                  <a16:creationId xmlns:a16="http://schemas.microsoft.com/office/drawing/2014/main" id="{FE18DD2A-7C84-4B92-0D64-20BF27665185}"/>
                </a:ext>
              </a:extLst>
            </p:cNvPr>
            <p:cNvSpPr>
              <a:spLocks noChangeShapeType="1"/>
            </p:cNvSpPr>
            <p:nvPr/>
          </p:nvSpPr>
          <p:spPr bwMode="auto">
            <a:xfrm flipH="1">
              <a:off x="6560" y="12842"/>
              <a:ext cx="71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Rectangle 142">
              <a:extLst>
                <a:ext uri="{FF2B5EF4-FFF2-40B4-BE49-F238E27FC236}">
                  <a16:creationId xmlns:a16="http://schemas.microsoft.com/office/drawing/2014/main" id="{71E24225-6986-948D-1D10-C1431B7A36EB}"/>
                </a:ext>
              </a:extLst>
            </p:cNvPr>
            <p:cNvSpPr>
              <a:spLocks noChangeArrowheads="1"/>
            </p:cNvSpPr>
            <p:nvPr/>
          </p:nvSpPr>
          <p:spPr bwMode="auto">
            <a:xfrm>
              <a:off x="8129" y="13439"/>
              <a:ext cx="361"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Rectangle 141">
              <a:extLst>
                <a:ext uri="{FF2B5EF4-FFF2-40B4-BE49-F238E27FC236}">
                  <a16:creationId xmlns:a16="http://schemas.microsoft.com/office/drawing/2014/main" id="{AB294405-0282-BFE6-44B8-418F3F8DF303}"/>
                </a:ext>
              </a:extLst>
            </p:cNvPr>
            <p:cNvSpPr>
              <a:spLocks noChangeArrowheads="1"/>
            </p:cNvSpPr>
            <p:nvPr/>
          </p:nvSpPr>
          <p:spPr bwMode="auto">
            <a:xfrm>
              <a:off x="8490" y="13439"/>
              <a:ext cx="361"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Rectangle 140">
              <a:extLst>
                <a:ext uri="{FF2B5EF4-FFF2-40B4-BE49-F238E27FC236}">
                  <a16:creationId xmlns:a16="http://schemas.microsoft.com/office/drawing/2014/main" id="{936E6EDA-A384-7526-427A-E6DA929674E2}"/>
                </a:ext>
              </a:extLst>
            </p:cNvPr>
            <p:cNvSpPr>
              <a:spLocks noChangeArrowheads="1"/>
            </p:cNvSpPr>
            <p:nvPr/>
          </p:nvSpPr>
          <p:spPr bwMode="auto">
            <a:xfrm>
              <a:off x="8851" y="13439"/>
              <a:ext cx="361" cy="330"/>
            </a:xfrm>
            <a:prstGeom prst="rect">
              <a:avLst/>
            </a:prstGeom>
            <a:solidFill>
              <a:srgbClr val="FF0000"/>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Rectangle 139">
              <a:extLst>
                <a:ext uri="{FF2B5EF4-FFF2-40B4-BE49-F238E27FC236}">
                  <a16:creationId xmlns:a16="http://schemas.microsoft.com/office/drawing/2014/main" id="{75CCA16D-ABC5-2208-DD36-7DA14DA71B84}"/>
                </a:ext>
              </a:extLst>
            </p:cNvPr>
            <p:cNvSpPr>
              <a:spLocks noChangeArrowheads="1"/>
            </p:cNvSpPr>
            <p:nvPr/>
          </p:nvSpPr>
          <p:spPr bwMode="auto">
            <a:xfrm>
              <a:off x="9212" y="13439"/>
              <a:ext cx="362"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Rectangle 138">
              <a:extLst>
                <a:ext uri="{FF2B5EF4-FFF2-40B4-BE49-F238E27FC236}">
                  <a16:creationId xmlns:a16="http://schemas.microsoft.com/office/drawing/2014/main" id="{910EC4DB-F95D-54CE-B2E6-2AEABF6EB688}"/>
                </a:ext>
              </a:extLst>
            </p:cNvPr>
            <p:cNvSpPr>
              <a:spLocks noChangeArrowheads="1"/>
            </p:cNvSpPr>
            <p:nvPr/>
          </p:nvSpPr>
          <p:spPr bwMode="auto">
            <a:xfrm>
              <a:off x="9574" y="13439"/>
              <a:ext cx="361"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Rectangle 137">
              <a:extLst>
                <a:ext uri="{FF2B5EF4-FFF2-40B4-BE49-F238E27FC236}">
                  <a16:creationId xmlns:a16="http://schemas.microsoft.com/office/drawing/2014/main" id="{39B05D55-E7AB-AAE9-D8FC-6FC0434C26C5}"/>
                </a:ext>
              </a:extLst>
            </p:cNvPr>
            <p:cNvSpPr>
              <a:spLocks noChangeArrowheads="1"/>
            </p:cNvSpPr>
            <p:nvPr/>
          </p:nvSpPr>
          <p:spPr bwMode="auto">
            <a:xfrm>
              <a:off x="9930" y="13439"/>
              <a:ext cx="361" cy="330"/>
            </a:xfrm>
            <a:prstGeom prst="rect">
              <a:avLst/>
            </a:prstGeom>
            <a:solidFill>
              <a:srgbClr val="FFFFFF"/>
            </a:solidFill>
            <a:ln w="12700">
              <a:solidFill>
                <a:srgbClr val="393939"/>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AutoShape 136">
              <a:extLst>
                <a:ext uri="{FF2B5EF4-FFF2-40B4-BE49-F238E27FC236}">
                  <a16:creationId xmlns:a16="http://schemas.microsoft.com/office/drawing/2014/main" id="{9B202BF7-2F86-A3C1-8A1A-64559FC97FBF}"/>
                </a:ext>
              </a:extLst>
            </p:cNvPr>
            <p:cNvSpPr>
              <a:spLocks noChangeShapeType="1"/>
            </p:cNvSpPr>
            <p:nvPr/>
          </p:nvSpPr>
          <p:spPr bwMode="auto">
            <a:xfrm>
              <a:off x="8306" y="12841"/>
              <a:ext cx="726"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AutoShape 135">
              <a:extLst>
                <a:ext uri="{FF2B5EF4-FFF2-40B4-BE49-F238E27FC236}">
                  <a16:creationId xmlns:a16="http://schemas.microsoft.com/office/drawing/2014/main" id="{4356EF3E-A401-CA22-088C-50CE12F5DBA8}"/>
                </a:ext>
              </a:extLst>
            </p:cNvPr>
            <p:cNvSpPr>
              <a:spLocks noChangeShapeType="1"/>
            </p:cNvSpPr>
            <p:nvPr/>
          </p:nvSpPr>
          <p:spPr bwMode="auto">
            <a:xfrm>
              <a:off x="8667" y="12841"/>
              <a:ext cx="365"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AutoShape 134">
              <a:extLst>
                <a:ext uri="{FF2B5EF4-FFF2-40B4-BE49-F238E27FC236}">
                  <a16:creationId xmlns:a16="http://schemas.microsoft.com/office/drawing/2014/main" id="{F88C5119-C31E-3D5D-E6C9-5D2E7EEF5D4E}"/>
                </a:ext>
              </a:extLst>
            </p:cNvPr>
            <p:cNvSpPr>
              <a:spLocks noChangeShapeType="1"/>
            </p:cNvSpPr>
            <p:nvPr/>
          </p:nvSpPr>
          <p:spPr bwMode="auto">
            <a:xfrm>
              <a:off x="9028" y="12841"/>
              <a:ext cx="4"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AutoShape 133">
              <a:extLst>
                <a:ext uri="{FF2B5EF4-FFF2-40B4-BE49-F238E27FC236}">
                  <a16:creationId xmlns:a16="http://schemas.microsoft.com/office/drawing/2014/main" id="{BCE36262-9595-F96F-3454-08BF1434A1E6}"/>
                </a:ext>
              </a:extLst>
            </p:cNvPr>
            <p:cNvSpPr>
              <a:spLocks noChangeShapeType="1"/>
            </p:cNvSpPr>
            <p:nvPr/>
          </p:nvSpPr>
          <p:spPr bwMode="auto">
            <a:xfrm flipH="1">
              <a:off x="9032" y="12841"/>
              <a:ext cx="357"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Rectangle 132">
              <a:extLst>
                <a:ext uri="{FF2B5EF4-FFF2-40B4-BE49-F238E27FC236}">
                  <a16:creationId xmlns:a16="http://schemas.microsoft.com/office/drawing/2014/main" id="{76FDA7FD-27D0-7932-F93F-34427B36F867}"/>
                </a:ext>
              </a:extLst>
            </p:cNvPr>
            <p:cNvSpPr>
              <a:spLocks noChangeArrowheads="1"/>
            </p:cNvSpPr>
            <p:nvPr/>
          </p:nvSpPr>
          <p:spPr bwMode="auto">
            <a:xfrm>
              <a:off x="8125" y="12511"/>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Rectangle 131">
              <a:extLst>
                <a:ext uri="{FF2B5EF4-FFF2-40B4-BE49-F238E27FC236}">
                  <a16:creationId xmlns:a16="http://schemas.microsoft.com/office/drawing/2014/main" id="{FC218978-A4A8-B98A-8FBE-F374F0CD476A}"/>
                </a:ext>
              </a:extLst>
            </p:cNvPr>
            <p:cNvSpPr>
              <a:spLocks noChangeArrowheads="1"/>
            </p:cNvSpPr>
            <p:nvPr/>
          </p:nvSpPr>
          <p:spPr bwMode="auto">
            <a:xfrm>
              <a:off x="8486" y="12511"/>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Rectangle 130">
              <a:extLst>
                <a:ext uri="{FF2B5EF4-FFF2-40B4-BE49-F238E27FC236}">
                  <a16:creationId xmlns:a16="http://schemas.microsoft.com/office/drawing/2014/main" id="{03C5D350-48F5-88ED-EEA9-AC76DE580F15}"/>
                </a:ext>
              </a:extLst>
            </p:cNvPr>
            <p:cNvSpPr>
              <a:spLocks noChangeArrowheads="1"/>
            </p:cNvSpPr>
            <p:nvPr/>
          </p:nvSpPr>
          <p:spPr bwMode="auto">
            <a:xfrm>
              <a:off x="8847" y="12511"/>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Rectangle 129">
              <a:extLst>
                <a:ext uri="{FF2B5EF4-FFF2-40B4-BE49-F238E27FC236}">
                  <a16:creationId xmlns:a16="http://schemas.microsoft.com/office/drawing/2014/main" id="{69EC9EFC-BE3C-D102-F230-C5432BF7BEC4}"/>
                </a:ext>
              </a:extLst>
            </p:cNvPr>
            <p:cNvSpPr>
              <a:spLocks noChangeArrowheads="1"/>
            </p:cNvSpPr>
            <p:nvPr/>
          </p:nvSpPr>
          <p:spPr bwMode="auto">
            <a:xfrm>
              <a:off x="9208" y="12511"/>
              <a:ext cx="362"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Rectangle 128">
              <a:extLst>
                <a:ext uri="{FF2B5EF4-FFF2-40B4-BE49-F238E27FC236}">
                  <a16:creationId xmlns:a16="http://schemas.microsoft.com/office/drawing/2014/main" id="{F49FFE9C-B540-FC41-D20A-0DD25A86DEB0}"/>
                </a:ext>
              </a:extLst>
            </p:cNvPr>
            <p:cNvSpPr>
              <a:spLocks noChangeArrowheads="1"/>
            </p:cNvSpPr>
            <p:nvPr/>
          </p:nvSpPr>
          <p:spPr bwMode="auto">
            <a:xfrm>
              <a:off x="9570" y="12511"/>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Rectangle 127">
              <a:extLst>
                <a:ext uri="{FF2B5EF4-FFF2-40B4-BE49-F238E27FC236}">
                  <a16:creationId xmlns:a16="http://schemas.microsoft.com/office/drawing/2014/main" id="{DF831AC9-3D4D-FA76-DF2B-07A1C5AD5128}"/>
                </a:ext>
              </a:extLst>
            </p:cNvPr>
            <p:cNvSpPr>
              <a:spLocks noChangeArrowheads="1"/>
            </p:cNvSpPr>
            <p:nvPr/>
          </p:nvSpPr>
          <p:spPr bwMode="auto">
            <a:xfrm>
              <a:off x="9926" y="12511"/>
              <a:ext cx="361" cy="330"/>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AutoShape 126">
              <a:extLst>
                <a:ext uri="{FF2B5EF4-FFF2-40B4-BE49-F238E27FC236}">
                  <a16:creationId xmlns:a16="http://schemas.microsoft.com/office/drawing/2014/main" id="{5732192E-90FC-6EAC-C6AA-DA1F242612F2}"/>
                </a:ext>
              </a:extLst>
            </p:cNvPr>
            <p:cNvSpPr>
              <a:spLocks noChangeShapeType="1"/>
            </p:cNvSpPr>
            <p:nvPr/>
          </p:nvSpPr>
          <p:spPr bwMode="auto">
            <a:xfrm flipH="1">
              <a:off x="9032" y="12841"/>
              <a:ext cx="719"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AutoShape 125">
              <a:extLst>
                <a:ext uri="{FF2B5EF4-FFF2-40B4-BE49-F238E27FC236}">
                  <a16:creationId xmlns:a16="http://schemas.microsoft.com/office/drawing/2014/main" id="{AB0C0941-35C6-1891-5D66-471246C73221}"/>
                </a:ext>
              </a:extLst>
            </p:cNvPr>
            <p:cNvSpPr>
              <a:spLocks noChangeShapeType="1"/>
            </p:cNvSpPr>
            <p:nvPr/>
          </p:nvSpPr>
          <p:spPr bwMode="auto">
            <a:xfrm flipH="1">
              <a:off x="9032" y="12841"/>
              <a:ext cx="1075" cy="598"/>
            </a:xfrm>
            <a:prstGeom prst="straightConnector1">
              <a:avLst/>
            </a:prstGeom>
            <a:noFill/>
            <a:ln w="127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Text Box 124">
              <a:extLst>
                <a:ext uri="{FF2B5EF4-FFF2-40B4-BE49-F238E27FC236}">
                  <a16:creationId xmlns:a16="http://schemas.microsoft.com/office/drawing/2014/main" id="{506D26BA-6B1E-62C0-EA65-567ED345FA40}"/>
                </a:ext>
              </a:extLst>
            </p:cNvPr>
            <p:cNvSpPr txBox="1">
              <a:spLocks noChangeArrowheads="1"/>
            </p:cNvSpPr>
            <p:nvPr/>
          </p:nvSpPr>
          <p:spPr bwMode="auto">
            <a:xfrm>
              <a:off x="2330" y="12439"/>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T1</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1" name="Text Box 123">
              <a:extLst>
                <a:ext uri="{FF2B5EF4-FFF2-40B4-BE49-F238E27FC236}">
                  <a16:creationId xmlns:a16="http://schemas.microsoft.com/office/drawing/2014/main" id="{BA56F6CF-E9A9-A946-1303-F1AEC03BBD19}"/>
                </a:ext>
              </a:extLst>
            </p:cNvPr>
            <p:cNvSpPr txBox="1">
              <a:spLocks noChangeArrowheads="1"/>
            </p:cNvSpPr>
            <p:nvPr/>
          </p:nvSpPr>
          <p:spPr bwMode="auto">
            <a:xfrm>
              <a:off x="2706" y="12446"/>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T2</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2" name="Text Box 122">
              <a:extLst>
                <a:ext uri="{FF2B5EF4-FFF2-40B4-BE49-F238E27FC236}">
                  <a16:creationId xmlns:a16="http://schemas.microsoft.com/office/drawing/2014/main" id="{4BC5466B-D0F5-1565-9632-4D8656ED1F07}"/>
                </a:ext>
              </a:extLst>
            </p:cNvPr>
            <p:cNvSpPr txBox="1">
              <a:spLocks noChangeArrowheads="1"/>
            </p:cNvSpPr>
            <p:nvPr/>
          </p:nvSpPr>
          <p:spPr bwMode="auto">
            <a:xfrm>
              <a:off x="3046" y="12446"/>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T3</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3" name="Text Box 121">
              <a:extLst>
                <a:ext uri="{FF2B5EF4-FFF2-40B4-BE49-F238E27FC236}">
                  <a16:creationId xmlns:a16="http://schemas.microsoft.com/office/drawing/2014/main" id="{9D4F26CE-EED0-F185-DA2D-29DDB8B1AD14}"/>
                </a:ext>
              </a:extLst>
            </p:cNvPr>
            <p:cNvSpPr txBox="1">
              <a:spLocks noChangeArrowheads="1"/>
            </p:cNvSpPr>
            <p:nvPr/>
          </p:nvSpPr>
          <p:spPr bwMode="auto">
            <a:xfrm>
              <a:off x="3427" y="12441"/>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T4</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4" name="Text Box 120">
              <a:extLst>
                <a:ext uri="{FF2B5EF4-FFF2-40B4-BE49-F238E27FC236}">
                  <a16:creationId xmlns:a16="http://schemas.microsoft.com/office/drawing/2014/main" id="{97E6064C-B093-157E-57CB-D1FE0FBBB4D2}"/>
                </a:ext>
              </a:extLst>
            </p:cNvPr>
            <p:cNvSpPr txBox="1">
              <a:spLocks noChangeArrowheads="1"/>
            </p:cNvSpPr>
            <p:nvPr/>
          </p:nvSpPr>
          <p:spPr bwMode="auto">
            <a:xfrm>
              <a:off x="3785" y="12441"/>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T5</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5" name="Text Box 119">
              <a:extLst>
                <a:ext uri="{FF2B5EF4-FFF2-40B4-BE49-F238E27FC236}">
                  <a16:creationId xmlns:a16="http://schemas.microsoft.com/office/drawing/2014/main" id="{7BBF8E9C-F0F5-1F41-980B-4390AD12F05D}"/>
                </a:ext>
              </a:extLst>
            </p:cNvPr>
            <p:cNvSpPr txBox="1">
              <a:spLocks noChangeArrowheads="1"/>
            </p:cNvSpPr>
            <p:nvPr/>
          </p:nvSpPr>
          <p:spPr bwMode="auto">
            <a:xfrm>
              <a:off x="4146" y="12446"/>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T6</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6" name="Text Box 118">
              <a:extLst>
                <a:ext uri="{FF2B5EF4-FFF2-40B4-BE49-F238E27FC236}">
                  <a16:creationId xmlns:a16="http://schemas.microsoft.com/office/drawing/2014/main" id="{B5A80890-059E-ABA1-23AD-112D4A03B270}"/>
                </a:ext>
              </a:extLst>
            </p:cNvPr>
            <p:cNvSpPr txBox="1">
              <a:spLocks noChangeArrowheads="1"/>
            </p:cNvSpPr>
            <p:nvPr/>
          </p:nvSpPr>
          <p:spPr bwMode="auto">
            <a:xfrm>
              <a:off x="8003" y="12412"/>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T1</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7" name="Text Box 117">
              <a:extLst>
                <a:ext uri="{FF2B5EF4-FFF2-40B4-BE49-F238E27FC236}">
                  <a16:creationId xmlns:a16="http://schemas.microsoft.com/office/drawing/2014/main" id="{83352C47-4F50-8A1C-25FA-3DAD5F643A0C}"/>
                </a:ext>
              </a:extLst>
            </p:cNvPr>
            <p:cNvSpPr txBox="1">
              <a:spLocks noChangeArrowheads="1"/>
            </p:cNvSpPr>
            <p:nvPr/>
          </p:nvSpPr>
          <p:spPr bwMode="auto">
            <a:xfrm>
              <a:off x="8379" y="12419"/>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T2</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8" name="Text Box 116">
              <a:extLst>
                <a:ext uri="{FF2B5EF4-FFF2-40B4-BE49-F238E27FC236}">
                  <a16:creationId xmlns:a16="http://schemas.microsoft.com/office/drawing/2014/main" id="{3ED6902B-3F9E-BD73-589F-6A577A2CDFC5}"/>
                </a:ext>
              </a:extLst>
            </p:cNvPr>
            <p:cNvSpPr txBox="1">
              <a:spLocks noChangeArrowheads="1"/>
            </p:cNvSpPr>
            <p:nvPr/>
          </p:nvSpPr>
          <p:spPr bwMode="auto">
            <a:xfrm>
              <a:off x="8719" y="12419"/>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T3</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9" name="Text Box 115">
              <a:extLst>
                <a:ext uri="{FF2B5EF4-FFF2-40B4-BE49-F238E27FC236}">
                  <a16:creationId xmlns:a16="http://schemas.microsoft.com/office/drawing/2014/main" id="{463592A7-A30B-E34F-A123-92FB29AB99C5}"/>
                </a:ext>
              </a:extLst>
            </p:cNvPr>
            <p:cNvSpPr txBox="1">
              <a:spLocks noChangeArrowheads="1"/>
            </p:cNvSpPr>
            <p:nvPr/>
          </p:nvSpPr>
          <p:spPr bwMode="auto">
            <a:xfrm>
              <a:off x="9100" y="12414"/>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T4</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0" name="Text Box 114">
              <a:extLst>
                <a:ext uri="{FF2B5EF4-FFF2-40B4-BE49-F238E27FC236}">
                  <a16:creationId xmlns:a16="http://schemas.microsoft.com/office/drawing/2014/main" id="{52583497-769C-66F7-D912-2C69ECF90806}"/>
                </a:ext>
              </a:extLst>
            </p:cNvPr>
            <p:cNvSpPr txBox="1">
              <a:spLocks noChangeArrowheads="1"/>
            </p:cNvSpPr>
            <p:nvPr/>
          </p:nvSpPr>
          <p:spPr bwMode="auto">
            <a:xfrm>
              <a:off x="9458" y="12414"/>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T5</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71" name="Text Box 113">
              <a:extLst>
                <a:ext uri="{FF2B5EF4-FFF2-40B4-BE49-F238E27FC236}">
                  <a16:creationId xmlns:a16="http://schemas.microsoft.com/office/drawing/2014/main" id="{86B88329-5EFB-681D-F214-8F8214A30E24}"/>
                </a:ext>
              </a:extLst>
            </p:cNvPr>
            <p:cNvSpPr txBox="1">
              <a:spLocks noChangeArrowheads="1"/>
            </p:cNvSpPr>
            <p:nvPr/>
          </p:nvSpPr>
          <p:spPr bwMode="auto">
            <a:xfrm>
              <a:off x="9819" y="12419"/>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T6</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2" name="Text Box 112">
              <a:extLst>
                <a:ext uri="{FF2B5EF4-FFF2-40B4-BE49-F238E27FC236}">
                  <a16:creationId xmlns:a16="http://schemas.microsoft.com/office/drawing/2014/main" id="{30C5DBE8-5379-3F4F-1456-4AF6B46FCE78}"/>
                </a:ext>
              </a:extLst>
            </p:cNvPr>
            <p:cNvSpPr txBox="1">
              <a:spLocks noChangeArrowheads="1"/>
            </p:cNvSpPr>
            <p:nvPr/>
          </p:nvSpPr>
          <p:spPr bwMode="auto">
            <a:xfrm>
              <a:off x="5192" y="12407"/>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T1</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3" name="Text Box 111">
              <a:extLst>
                <a:ext uri="{FF2B5EF4-FFF2-40B4-BE49-F238E27FC236}">
                  <a16:creationId xmlns:a16="http://schemas.microsoft.com/office/drawing/2014/main" id="{E8808CF0-9868-7759-72F1-F0A8B813608A}"/>
                </a:ext>
              </a:extLst>
            </p:cNvPr>
            <p:cNvSpPr txBox="1">
              <a:spLocks noChangeArrowheads="1"/>
            </p:cNvSpPr>
            <p:nvPr/>
          </p:nvSpPr>
          <p:spPr bwMode="auto">
            <a:xfrm>
              <a:off x="5568" y="12414"/>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T2</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4" name="Text Box 110">
              <a:extLst>
                <a:ext uri="{FF2B5EF4-FFF2-40B4-BE49-F238E27FC236}">
                  <a16:creationId xmlns:a16="http://schemas.microsoft.com/office/drawing/2014/main" id="{CD3423D9-B470-C3CD-7566-8B3B033C3ED6}"/>
                </a:ext>
              </a:extLst>
            </p:cNvPr>
            <p:cNvSpPr txBox="1">
              <a:spLocks noChangeArrowheads="1"/>
            </p:cNvSpPr>
            <p:nvPr/>
          </p:nvSpPr>
          <p:spPr bwMode="auto">
            <a:xfrm>
              <a:off x="5908" y="12414"/>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T3</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5" name="Text Box 109">
              <a:extLst>
                <a:ext uri="{FF2B5EF4-FFF2-40B4-BE49-F238E27FC236}">
                  <a16:creationId xmlns:a16="http://schemas.microsoft.com/office/drawing/2014/main" id="{9835D83F-EE7A-B91C-E2C8-A5CD46273823}"/>
                </a:ext>
              </a:extLst>
            </p:cNvPr>
            <p:cNvSpPr txBox="1">
              <a:spLocks noChangeArrowheads="1"/>
            </p:cNvSpPr>
            <p:nvPr/>
          </p:nvSpPr>
          <p:spPr bwMode="auto">
            <a:xfrm>
              <a:off x="6289" y="12409"/>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T4</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6" name="Text Box 108">
              <a:extLst>
                <a:ext uri="{FF2B5EF4-FFF2-40B4-BE49-F238E27FC236}">
                  <a16:creationId xmlns:a16="http://schemas.microsoft.com/office/drawing/2014/main" id="{68055461-6861-443B-B932-1BDE0EE316F0}"/>
                </a:ext>
              </a:extLst>
            </p:cNvPr>
            <p:cNvSpPr txBox="1">
              <a:spLocks noChangeArrowheads="1"/>
            </p:cNvSpPr>
            <p:nvPr/>
          </p:nvSpPr>
          <p:spPr bwMode="auto">
            <a:xfrm>
              <a:off x="6647" y="12409"/>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T5</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77" name="Text Box 107">
              <a:extLst>
                <a:ext uri="{FF2B5EF4-FFF2-40B4-BE49-F238E27FC236}">
                  <a16:creationId xmlns:a16="http://schemas.microsoft.com/office/drawing/2014/main" id="{31F61F61-CA82-0219-35FA-98E7897ABE69}"/>
                </a:ext>
              </a:extLst>
            </p:cNvPr>
            <p:cNvSpPr txBox="1">
              <a:spLocks noChangeArrowheads="1"/>
            </p:cNvSpPr>
            <p:nvPr/>
          </p:nvSpPr>
          <p:spPr bwMode="auto">
            <a:xfrm>
              <a:off x="7008" y="12414"/>
              <a:ext cx="5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T6</a:t>
              </a: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8" name="Text Box 106">
              <a:extLst>
                <a:ext uri="{FF2B5EF4-FFF2-40B4-BE49-F238E27FC236}">
                  <a16:creationId xmlns:a16="http://schemas.microsoft.com/office/drawing/2014/main" id="{156B4439-B635-6958-EF1C-DDAB352EC697}"/>
                </a:ext>
              </a:extLst>
            </p:cNvPr>
            <p:cNvSpPr txBox="1">
              <a:spLocks noChangeArrowheads="1"/>
            </p:cNvSpPr>
            <p:nvPr/>
          </p:nvSpPr>
          <p:spPr bwMode="auto">
            <a:xfrm>
              <a:off x="2470" y="13832"/>
              <a:ext cx="1974"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 Low-Contention</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79" name="Text Box 105">
              <a:extLst>
                <a:ext uri="{FF2B5EF4-FFF2-40B4-BE49-F238E27FC236}">
                  <a16:creationId xmlns:a16="http://schemas.microsoft.com/office/drawing/2014/main" id="{D67CA9EE-2FC0-507F-40D7-2EE845FA510E}"/>
                </a:ext>
              </a:extLst>
            </p:cNvPr>
            <p:cNvSpPr txBox="1">
              <a:spLocks noChangeArrowheads="1"/>
            </p:cNvSpPr>
            <p:nvPr/>
          </p:nvSpPr>
          <p:spPr bwMode="auto">
            <a:xfrm>
              <a:off x="5338" y="13821"/>
              <a:ext cx="225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 High Contention</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0" name="Text Box 104">
              <a:extLst>
                <a:ext uri="{FF2B5EF4-FFF2-40B4-BE49-F238E27FC236}">
                  <a16:creationId xmlns:a16="http://schemas.microsoft.com/office/drawing/2014/main" id="{57ED133A-26CC-75A4-4E54-D74E88EDE072}"/>
                </a:ext>
              </a:extLst>
            </p:cNvPr>
            <p:cNvSpPr txBox="1">
              <a:spLocks noChangeArrowheads="1"/>
            </p:cNvSpPr>
            <p:nvPr/>
          </p:nvSpPr>
          <p:spPr bwMode="auto">
            <a:xfrm>
              <a:off x="8554" y="13807"/>
              <a:ext cx="130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 Hotpot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pSp>
    </p:spTree>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592E5-CC17-F513-2534-D7ED73DACC1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7BC9E42-AD7E-6FC6-611D-F9169C43222E}"/>
              </a:ext>
            </a:extLst>
          </p:cNvPr>
          <p:cNvSpPr txBox="1"/>
          <p:nvPr/>
        </p:nvSpPr>
        <p:spPr>
          <a:xfrm>
            <a:off x="565811" y="126923"/>
            <a:ext cx="6975631"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Typical Applications at Tencent</a:t>
            </a:r>
            <a:endParaRPr lang="zh-CN" altLang="en-US"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矩形 2">
            <a:extLst>
              <a:ext uri="{FF2B5EF4-FFF2-40B4-BE49-F238E27FC236}">
                <a16:creationId xmlns:a16="http://schemas.microsoft.com/office/drawing/2014/main" id="{B9D4D236-8940-CE2D-FFD8-5DF6FB0EECD3}"/>
              </a:ext>
            </a:extLst>
          </p:cNvPr>
          <p:cNvSpPr/>
          <p:nvPr/>
        </p:nvSpPr>
        <p:spPr>
          <a:xfrm>
            <a:off x="302593" y="882428"/>
            <a:ext cx="5915328" cy="5555367"/>
          </a:xfrm>
          <a:prstGeom prst="rect">
            <a:avLst/>
          </a:prstGeom>
        </p:spPr>
        <p:txBody>
          <a:bodyPr wrap="square">
            <a:spAutoFit/>
          </a:bodyPr>
          <a:lstStyle/>
          <a:p>
            <a:pPr marL="342900" indent="-342900">
              <a:spcAft>
                <a:spcPts val="600"/>
              </a:spcAft>
              <a:buFont typeface="Wingdings" panose="05000000000000000000" pitchFamily="2" charset="2"/>
              <a:buChar char="Ø"/>
            </a:pPr>
            <a:r>
              <a:rPr lang="en-US" altLang="zh-CN" sz="2200" b="1" dirty="0">
                <a:latin typeface="Times New Roman" panose="02020603050405020304" pitchFamily="18" charset="0"/>
                <a:cs typeface="Times New Roman" panose="02020603050405020304" pitchFamily="18" charset="0"/>
              </a:rPr>
              <a:t>WeChat Red Envelope</a:t>
            </a:r>
          </a:p>
          <a:p>
            <a:pPr marL="800100" lvl="1" indent="-342900">
              <a:spcAft>
                <a:spcPts val="600"/>
              </a:spcAft>
              <a:buFont typeface="Wingdings" panose="05000000000000000000" pitchFamily="2" charset="2"/>
              <a:buChar char="Ø"/>
            </a:pPr>
            <a:r>
              <a:rPr lang="en-US" altLang="zh-CN" sz="2200" dirty="0">
                <a:latin typeface="Times New Roman" panose="02020603050405020304" pitchFamily="18" charset="0"/>
                <a:cs typeface="Times New Roman" panose="02020603050405020304" pitchFamily="18" charset="0"/>
              </a:rPr>
              <a:t>A monthly active user base exceeding 1.3 billion.</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On traditional Chinese New Year’s Eve, we successfully handled a peak of Transaction per Second (TPS) up to 14 million red envelope.</a:t>
            </a:r>
          </a:p>
          <a:p>
            <a:pPr marL="342900" indent="-342900">
              <a:spcAft>
                <a:spcPts val="600"/>
              </a:spcAft>
              <a:buFont typeface="Wingdings" panose="05000000000000000000" pitchFamily="2" charset="2"/>
              <a:buChar char="Ø"/>
            </a:pPr>
            <a:r>
              <a:rPr lang="en" altLang="zh-CN" sz="2200" b="1" dirty="0">
                <a:latin typeface="Times New Roman" panose="02020603050405020304" pitchFamily="18" charset="0"/>
                <a:cs typeface="Times New Roman" panose="02020603050405020304" pitchFamily="18" charset="0"/>
              </a:rPr>
              <a:t>Tencent Financial Technology (</a:t>
            </a:r>
            <a:r>
              <a:rPr lang="en" altLang="zh-CN" sz="2200" b="1" dirty="0" err="1">
                <a:latin typeface="Times New Roman" panose="02020603050405020304" pitchFamily="18" charset="0"/>
                <a:cs typeface="Times New Roman" panose="02020603050405020304" pitchFamily="18" charset="0"/>
              </a:rPr>
              <a:t>FiT</a:t>
            </a:r>
            <a:r>
              <a:rPr lang="en" altLang="zh-CN" sz="2200" b="1" dirty="0">
                <a:latin typeface="Times New Roman" panose="02020603050405020304" pitchFamily="18" charset="0"/>
                <a:cs typeface="Times New Roman" panose="02020603050405020304" pitchFamily="18" charset="0"/>
              </a:rPr>
              <a:t>)</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Its primary application is WeChat Pay, which facilitates an average of over one billion payment transactions daily.</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During holidays or special events, such as Double Eleven Day, transaction volumes on WeChat Pay typically experience a significant surge.</a:t>
            </a:r>
          </a:p>
        </p:txBody>
      </p:sp>
      <p:pic>
        <p:nvPicPr>
          <p:cNvPr id="81" name="图片 80">
            <a:extLst>
              <a:ext uri="{FF2B5EF4-FFF2-40B4-BE49-F238E27FC236}">
                <a16:creationId xmlns:a16="http://schemas.microsoft.com/office/drawing/2014/main" id="{1F7331D4-8FFD-F566-4366-EF0D73087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8737" y="1490305"/>
            <a:ext cx="6053263" cy="4339611"/>
          </a:xfrm>
          <a:prstGeom prst="rect">
            <a:avLst/>
          </a:prstGeom>
        </p:spPr>
      </p:pic>
    </p:spTree>
    <p:extLst>
      <p:ext uri="{BB962C8B-B14F-4D97-AF65-F5344CB8AC3E}">
        <p14:creationId xmlns:p14="http://schemas.microsoft.com/office/powerpoint/2010/main" val="744402865"/>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51E1B-4E0C-96E0-6A18-AB448F03E6F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6DBADDD-49F3-C350-8EBB-8CA4D95D9DF5}"/>
              </a:ext>
            </a:extLst>
          </p:cNvPr>
          <p:cNvSpPr txBox="1"/>
          <p:nvPr/>
        </p:nvSpPr>
        <p:spPr>
          <a:xfrm>
            <a:off x="565812" y="126923"/>
            <a:ext cx="3971812"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Motivation</a:t>
            </a:r>
            <a:endParaRPr lang="zh-CN" altLang="en-US"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矩形 2">
            <a:extLst>
              <a:ext uri="{FF2B5EF4-FFF2-40B4-BE49-F238E27FC236}">
                <a16:creationId xmlns:a16="http://schemas.microsoft.com/office/drawing/2014/main" id="{6BF1A8CB-5283-416B-12B4-808A84E1C822}"/>
              </a:ext>
            </a:extLst>
          </p:cNvPr>
          <p:cNvSpPr/>
          <p:nvPr/>
        </p:nvSpPr>
        <p:spPr>
          <a:xfrm>
            <a:off x="302592" y="882428"/>
            <a:ext cx="10513797" cy="3262432"/>
          </a:xfrm>
          <a:prstGeom prst="rect">
            <a:avLst/>
          </a:prstGeom>
        </p:spPr>
        <p:txBody>
          <a:bodyPr wrap="square">
            <a:spAutoFit/>
          </a:bodyPr>
          <a:lstStyle/>
          <a:p>
            <a:pPr marL="342900" indent="-342900">
              <a:spcAft>
                <a:spcPts val="600"/>
              </a:spcAft>
              <a:buFont typeface="Wingdings" panose="05000000000000000000" pitchFamily="2" charset="2"/>
              <a:buChar char="Ø"/>
            </a:pPr>
            <a:r>
              <a:rPr lang="en" altLang="zh-CN" sz="2200" b="1" dirty="0">
                <a:latin typeface="Times New Roman" panose="02020603050405020304" pitchFamily="18" charset="0"/>
                <a:cs typeface="Times New Roman" panose="02020603050405020304" pitchFamily="18" charset="0"/>
              </a:rPr>
              <a:t>Locking under High Contention</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High-contention workloads are common in OLTP systems. In such workloads:</a:t>
            </a: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updates to the same record are logically serial</a:t>
            </a: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but enforced via heavyweight lock management</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Although these workload transactions are typically short</a:t>
            </a:r>
            <a:r>
              <a:rPr lang="en-US" altLang="zh-CN" sz="2200" dirty="0">
                <a:latin typeface="Times New Roman" panose="02020603050405020304" pitchFamily="18" charset="0"/>
                <a:cs typeface="Times New Roman" panose="02020603050405020304" pitchFamily="18" charset="0"/>
              </a:rPr>
              <a:t>, </a:t>
            </a:r>
            <a:r>
              <a:rPr lang="en" altLang="zh-CN" sz="2200" dirty="0">
                <a:latin typeface="Times New Roman" panose="02020603050405020304" pitchFamily="18" charset="0"/>
                <a:cs typeface="Times New Roman" panose="02020603050405020304" pitchFamily="18" charset="0"/>
              </a:rPr>
              <a:t>the system’s efforts to maintain transaction isolation result in numerous lock requests and contention, which negatively impacts performance</a:t>
            </a:r>
          </a:p>
          <a:p>
            <a:pPr marL="800100" lvl="1" indent="-342900">
              <a:spcAft>
                <a:spcPts val="600"/>
              </a:spcAft>
              <a:buFont typeface="Wingdings" panose="05000000000000000000" pitchFamily="2" charset="2"/>
              <a:buChar char="Ø"/>
            </a:pPr>
            <a:endParaRPr lang="en" altLang="zh-CN" sz="22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9C754B1F-027E-760A-CEFC-86422A1F15EC}"/>
              </a:ext>
            </a:extLst>
          </p:cNvPr>
          <p:cNvPicPr>
            <a:picLocks noChangeAspect="1"/>
          </p:cNvPicPr>
          <p:nvPr/>
        </p:nvPicPr>
        <p:blipFill>
          <a:blip r:embed="rId2"/>
          <a:stretch>
            <a:fillRect/>
          </a:stretch>
        </p:blipFill>
        <p:spPr>
          <a:xfrm>
            <a:off x="2852907" y="3873213"/>
            <a:ext cx="3369433" cy="2183332"/>
          </a:xfrm>
          <a:prstGeom prst="rect">
            <a:avLst/>
          </a:prstGeom>
        </p:spPr>
      </p:pic>
      <p:sp>
        <p:nvSpPr>
          <p:cNvPr id="5" name="线形标注 2 (带边框和强调线) 4">
            <a:extLst>
              <a:ext uri="{FF2B5EF4-FFF2-40B4-BE49-F238E27FC236}">
                <a16:creationId xmlns:a16="http://schemas.microsoft.com/office/drawing/2014/main" id="{E2AD3EB8-AF2D-D51F-0BAA-5EF473FFA19A}"/>
              </a:ext>
            </a:extLst>
          </p:cNvPr>
          <p:cNvSpPr/>
          <p:nvPr/>
        </p:nvSpPr>
        <p:spPr>
          <a:xfrm>
            <a:off x="6286308" y="4146871"/>
            <a:ext cx="1952720" cy="623092"/>
          </a:xfrm>
          <a:prstGeom prst="accentBorderCallout2">
            <a:avLst>
              <a:gd name="adj1" fmla="val 18750"/>
              <a:gd name="adj2" fmla="val -8333"/>
              <a:gd name="adj3" fmla="val 18750"/>
              <a:gd name="adj4" fmla="val -16667"/>
              <a:gd name="adj5" fmla="val 110542"/>
              <a:gd name="adj6" fmla="val -34495"/>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1600" b="1" dirty="0">
                <a:solidFill>
                  <a:schemeClr val="bg1"/>
                </a:solidFill>
              </a:rPr>
              <a:t>More</a:t>
            </a:r>
            <a:r>
              <a:rPr kumimoji="1" lang="zh-CN" altLang="en-US" sz="1600" b="1" dirty="0">
                <a:solidFill>
                  <a:schemeClr val="bg1"/>
                </a:solidFill>
              </a:rPr>
              <a:t> </a:t>
            </a:r>
            <a:r>
              <a:rPr kumimoji="1" lang="en-US" altLang="zh-CN" sz="1600" b="1" dirty="0">
                <a:solidFill>
                  <a:schemeClr val="bg1"/>
                </a:solidFill>
              </a:rPr>
              <a:t>clients,</a:t>
            </a:r>
            <a:r>
              <a:rPr kumimoji="1" lang="zh-CN" altLang="en-US" sz="1600" b="1" dirty="0">
                <a:solidFill>
                  <a:schemeClr val="bg1"/>
                </a:solidFill>
              </a:rPr>
              <a:t> </a:t>
            </a:r>
            <a:r>
              <a:rPr kumimoji="1" lang="en-US" altLang="zh-CN" sz="1600" b="1" dirty="0">
                <a:solidFill>
                  <a:schemeClr val="bg1"/>
                </a:solidFill>
              </a:rPr>
              <a:t>lower</a:t>
            </a:r>
            <a:r>
              <a:rPr kumimoji="1" lang="zh-CN" altLang="en-US" sz="1600" b="1" dirty="0">
                <a:solidFill>
                  <a:schemeClr val="bg1"/>
                </a:solidFill>
              </a:rPr>
              <a:t> </a:t>
            </a:r>
            <a:r>
              <a:rPr kumimoji="1" lang="en-US" altLang="zh-CN" sz="1600" b="1" dirty="0">
                <a:solidFill>
                  <a:schemeClr val="bg1"/>
                </a:solidFill>
              </a:rPr>
              <a:t>TPS</a:t>
            </a:r>
            <a:endParaRPr kumimoji="1" lang="zh-CN" altLang="en-US" sz="1600" b="1" dirty="0">
              <a:solidFill>
                <a:schemeClr val="bg1"/>
              </a:solidFill>
            </a:endParaRPr>
          </a:p>
        </p:txBody>
      </p:sp>
    </p:spTree>
    <p:extLst>
      <p:ext uri="{BB962C8B-B14F-4D97-AF65-F5344CB8AC3E}">
        <p14:creationId xmlns:p14="http://schemas.microsoft.com/office/powerpoint/2010/main" val="3193503743"/>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37CCD-77CB-5D7B-CB1B-D41458F84D7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2125E7D-33E8-64EB-73B5-4373F1E6DD0D}"/>
              </a:ext>
            </a:extLst>
          </p:cNvPr>
          <p:cNvSpPr txBox="1"/>
          <p:nvPr/>
        </p:nvSpPr>
        <p:spPr>
          <a:xfrm>
            <a:off x="565812" y="126923"/>
            <a:ext cx="3971812"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Motivation</a:t>
            </a:r>
            <a:endParaRPr lang="zh-CN" altLang="en-US"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矩形 2">
            <a:extLst>
              <a:ext uri="{FF2B5EF4-FFF2-40B4-BE49-F238E27FC236}">
                <a16:creationId xmlns:a16="http://schemas.microsoft.com/office/drawing/2014/main" id="{531C24F0-8AE5-B28D-1699-13DE6FFC0446}"/>
              </a:ext>
            </a:extLst>
          </p:cNvPr>
          <p:cNvSpPr/>
          <p:nvPr/>
        </p:nvSpPr>
        <p:spPr>
          <a:xfrm>
            <a:off x="302593" y="882428"/>
            <a:ext cx="11324726" cy="4770537"/>
          </a:xfrm>
          <a:prstGeom prst="rect">
            <a:avLst/>
          </a:prstGeom>
        </p:spPr>
        <p:txBody>
          <a:bodyPr wrap="square">
            <a:spAutoFit/>
          </a:bodyPr>
          <a:lstStyle/>
          <a:p>
            <a:pPr marL="342900" indent="-342900">
              <a:spcAft>
                <a:spcPts val="600"/>
              </a:spcAft>
              <a:buFont typeface="Wingdings" panose="05000000000000000000" pitchFamily="2" charset="2"/>
              <a:buChar char="Ø"/>
            </a:pPr>
            <a:r>
              <a:rPr lang="en" altLang="zh-CN" sz="2200" b="1" dirty="0">
                <a:latin typeface="Times New Roman" panose="02020603050405020304" pitchFamily="18" charset="0"/>
                <a:cs typeface="Times New Roman" panose="02020603050405020304" pitchFamily="18" charset="0"/>
              </a:rPr>
              <a:t>Implications under Hotspot Access</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When multiple transactions repeatedly update the same record:</a:t>
            </a: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Each transaction: 1) requests the same lock, 2) enters the lock wait queue, 3) waits for its predecessor to release the lock.</a:t>
            </a: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As concurrency increases: 1) lock wait queues grow, 2) lock allocation and deallocation become frequent, 3) deadlock detection is triggered more often.</a:t>
            </a:r>
          </a:p>
          <a:p>
            <a:pPr marL="1257300" lvl="2"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Performance issue: 1) long lock wait queues, 2) frequent lock allocation/deallocation, 3) expensive deadlock detection</a:t>
            </a:r>
          </a:p>
          <a:p>
            <a:pPr marL="1257300" lvl="2" indent="-342900">
              <a:spcAft>
                <a:spcPts val="600"/>
              </a:spcAft>
              <a:buFont typeface="Wingdings" panose="05000000000000000000" pitchFamily="2" charset="2"/>
              <a:buChar char="Ø"/>
            </a:pPr>
            <a:endParaRPr lang="en" altLang="zh-CN" sz="22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2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2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396703"/>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28ADF-1AB5-B53D-6369-A1A2D6CF781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D89917A-4D0F-6145-FC49-E30CFB5988FD}"/>
              </a:ext>
            </a:extLst>
          </p:cNvPr>
          <p:cNvSpPr txBox="1"/>
          <p:nvPr/>
        </p:nvSpPr>
        <p:spPr>
          <a:xfrm>
            <a:off x="565812" y="126923"/>
            <a:ext cx="3971812"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How InnoDB works</a:t>
            </a:r>
          </a:p>
        </p:txBody>
      </p:sp>
      <p:grpSp>
        <p:nvGrpSpPr>
          <p:cNvPr id="4" name="组合 3">
            <a:extLst>
              <a:ext uri="{FF2B5EF4-FFF2-40B4-BE49-F238E27FC236}">
                <a16:creationId xmlns:a16="http://schemas.microsoft.com/office/drawing/2014/main" id="{50660BF2-7913-395C-E8DF-AB221A7B39EF}"/>
              </a:ext>
            </a:extLst>
          </p:cNvPr>
          <p:cNvGrpSpPr/>
          <p:nvPr/>
        </p:nvGrpSpPr>
        <p:grpSpPr>
          <a:xfrm>
            <a:off x="5921423" y="1172543"/>
            <a:ext cx="4100882" cy="4574780"/>
            <a:chOff x="7779664" y="1930875"/>
            <a:chExt cx="3846846" cy="4569937"/>
          </a:xfrm>
        </p:grpSpPr>
        <p:grpSp>
          <p:nvGrpSpPr>
            <p:cNvPr id="5" name="组合 4">
              <a:extLst>
                <a:ext uri="{FF2B5EF4-FFF2-40B4-BE49-F238E27FC236}">
                  <a16:creationId xmlns:a16="http://schemas.microsoft.com/office/drawing/2014/main" id="{F325CE44-8C54-C02D-E3CA-F37B43AF0C45}"/>
                </a:ext>
              </a:extLst>
            </p:cNvPr>
            <p:cNvGrpSpPr/>
            <p:nvPr/>
          </p:nvGrpSpPr>
          <p:grpSpPr>
            <a:xfrm>
              <a:off x="7779664" y="1930875"/>
              <a:ext cx="1679875" cy="4569937"/>
              <a:chOff x="8207074" y="1930875"/>
              <a:chExt cx="1679875" cy="4569937"/>
            </a:xfrm>
          </p:grpSpPr>
          <p:pic>
            <p:nvPicPr>
              <p:cNvPr id="8" name="Picture 2">
                <a:extLst>
                  <a:ext uri="{FF2B5EF4-FFF2-40B4-BE49-F238E27FC236}">
                    <a16:creationId xmlns:a16="http://schemas.microsoft.com/office/drawing/2014/main" id="{DDEEA2AB-6543-DAE2-129A-17E7E1441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7074" y="1930875"/>
                <a:ext cx="1679875" cy="456993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2B0C40CE-C613-9CE8-BA18-B1A779364D9C}"/>
                  </a:ext>
                </a:extLst>
              </p:cNvPr>
              <p:cNvSpPr/>
              <p:nvPr/>
            </p:nvSpPr>
            <p:spPr>
              <a:xfrm>
                <a:off x="9392602" y="2162575"/>
                <a:ext cx="471486" cy="2811371"/>
              </a:xfrm>
              <a:prstGeom prst="rect">
                <a:avLst/>
              </a:prstGeom>
              <a:solidFill>
                <a:srgbClr val="C00000">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000"/>
              </a:p>
            </p:txBody>
          </p:sp>
        </p:grpSp>
        <p:sp>
          <p:nvSpPr>
            <p:cNvPr id="6" name="线形标注 2 (带边框和强调线) 5">
              <a:extLst>
                <a:ext uri="{FF2B5EF4-FFF2-40B4-BE49-F238E27FC236}">
                  <a16:creationId xmlns:a16="http://schemas.microsoft.com/office/drawing/2014/main" id="{B9C48B76-907B-77AA-DC8B-90BB95E24424}"/>
                </a:ext>
              </a:extLst>
            </p:cNvPr>
            <p:cNvSpPr/>
            <p:nvPr/>
          </p:nvSpPr>
          <p:spPr>
            <a:xfrm>
              <a:off x="10137902" y="2187005"/>
              <a:ext cx="1488608" cy="1412331"/>
            </a:xfrm>
            <a:prstGeom prst="accentBorderCallout2">
              <a:avLst>
                <a:gd name="adj1" fmla="val 18750"/>
                <a:gd name="adj2" fmla="val -8333"/>
                <a:gd name="adj3" fmla="val 18750"/>
                <a:gd name="adj4" fmla="val -16667"/>
                <a:gd name="adj5" fmla="val 94633"/>
                <a:gd name="adj6" fmla="val -62585"/>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b="1" dirty="0">
                  <a:solidFill>
                    <a:schemeClr val="bg1"/>
                  </a:solidFill>
                </a:rPr>
                <a:t>Long</a:t>
              </a:r>
              <a:r>
                <a:rPr kumimoji="1" lang="zh-CN" altLang="en-US" b="1" dirty="0">
                  <a:solidFill>
                    <a:schemeClr val="bg1"/>
                  </a:solidFill>
                </a:rPr>
                <a:t> </a:t>
              </a:r>
              <a:r>
                <a:rPr kumimoji="1" lang="en-US" altLang="zh-CN" b="1" dirty="0">
                  <a:solidFill>
                    <a:schemeClr val="bg1"/>
                  </a:solidFill>
                </a:rPr>
                <a:t>lock</a:t>
              </a:r>
              <a:r>
                <a:rPr kumimoji="1" lang="zh-CN" altLang="en-US" b="1" dirty="0">
                  <a:solidFill>
                    <a:schemeClr val="bg1"/>
                  </a:solidFill>
                </a:rPr>
                <a:t> </a:t>
              </a:r>
              <a:r>
                <a:rPr kumimoji="1" lang="en-US" altLang="zh-CN" b="1" dirty="0">
                  <a:solidFill>
                    <a:schemeClr val="bg1"/>
                  </a:solidFill>
                </a:rPr>
                <a:t>waiting</a:t>
              </a:r>
            </a:p>
            <a:p>
              <a:r>
                <a:rPr kumimoji="1" lang="en-US" altLang="zh-CN" b="1" dirty="0">
                  <a:solidFill>
                    <a:schemeClr val="bg1"/>
                  </a:solidFill>
                </a:rPr>
                <a:t>time</a:t>
              </a:r>
              <a:r>
                <a:rPr kumimoji="1" lang="zh-CN" altLang="en-US" b="1" dirty="0">
                  <a:solidFill>
                    <a:schemeClr val="bg1"/>
                  </a:solidFill>
                </a:rPr>
                <a:t> </a:t>
              </a:r>
              <a:r>
                <a:rPr kumimoji="1" lang="en-US" altLang="zh-CN" b="1" dirty="0">
                  <a:solidFill>
                    <a:schemeClr val="bg1"/>
                  </a:solidFill>
                </a:rPr>
                <a:t>limits</a:t>
              </a:r>
            </a:p>
            <a:p>
              <a:r>
                <a:rPr kumimoji="1" lang="en-US" altLang="zh-CN" b="1" dirty="0">
                  <a:solidFill>
                    <a:schemeClr val="bg1"/>
                  </a:solidFill>
                </a:rPr>
                <a:t>parallelism</a:t>
              </a:r>
              <a:endParaRPr kumimoji="1" lang="zh-CN" altLang="en-US" b="1" dirty="0">
                <a:solidFill>
                  <a:schemeClr val="bg1"/>
                </a:solidFill>
              </a:endParaRPr>
            </a:p>
          </p:txBody>
        </p:sp>
        <p:sp>
          <p:nvSpPr>
            <p:cNvPr id="7" name="矩形 6">
              <a:extLst>
                <a:ext uri="{FF2B5EF4-FFF2-40B4-BE49-F238E27FC236}">
                  <a16:creationId xmlns:a16="http://schemas.microsoft.com/office/drawing/2014/main" id="{D5FD98CF-A491-6F49-A5CD-B2974293CF48}"/>
                </a:ext>
              </a:extLst>
            </p:cNvPr>
            <p:cNvSpPr/>
            <p:nvPr/>
          </p:nvSpPr>
          <p:spPr>
            <a:xfrm>
              <a:off x="8382407" y="2162574"/>
              <a:ext cx="471486" cy="1436761"/>
            </a:xfrm>
            <a:prstGeom prst="rect">
              <a:avLst/>
            </a:prstGeom>
            <a:solidFill>
              <a:srgbClr val="C00000">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000"/>
            </a:p>
          </p:txBody>
        </p:sp>
      </p:grpSp>
      <p:grpSp>
        <p:nvGrpSpPr>
          <p:cNvPr id="10" name="组合 9">
            <a:extLst>
              <a:ext uri="{FF2B5EF4-FFF2-40B4-BE49-F238E27FC236}">
                <a16:creationId xmlns:a16="http://schemas.microsoft.com/office/drawing/2014/main" id="{98872FF1-2D06-9784-08F4-523287AD2FC8}"/>
              </a:ext>
            </a:extLst>
          </p:cNvPr>
          <p:cNvGrpSpPr/>
          <p:nvPr/>
        </p:nvGrpSpPr>
        <p:grpSpPr>
          <a:xfrm>
            <a:off x="1836886" y="1766004"/>
            <a:ext cx="3955003" cy="2335888"/>
            <a:chOff x="4499232" y="1481757"/>
            <a:chExt cx="3380296" cy="1996457"/>
          </a:xfrm>
        </p:grpSpPr>
        <p:sp>
          <p:nvSpPr>
            <p:cNvPr id="11" name="矩形 10">
              <a:extLst>
                <a:ext uri="{FF2B5EF4-FFF2-40B4-BE49-F238E27FC236}">
                  <a16:creationId xmlns:a16="http://schemas.microsoft.com/office/drawing/2014/main" id="{69021FB3-819B-FEC9-13CE-385DCEEDB33B}"/>
                </a:ext>
              </a:extLst>
            </p:cNvPr>
            <p:cNvSpPr/>
            <p:nvPr/>
          </p:nvSpPr>
          <p:spPr>
            <a:xfrm>
              <a:off x="5409884" y="1564297"/>
              <a:ext cx="2469644" cy="191391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solidFill>
                  <a:schemeClr val="tx1"/>
                </a:solidFill>
                <a:latin typeface="Microsoft YaHei" panose="020B0503020204020204" pitchFamily="34" charset="-122"/>
                <a:ea typeface="Microsoft YaHei" panose="020B0503020204020204" pitchFamily="34" charset="-122"/>
              </a:endParaRPr>
            </a:p>
          </p:txBody>
        </p:sp>
        <p:sp>
          <p:nvSpPr>
            <p:cNvPr id="12" name="圆角矩形 5">
              <a:extLst>
                <a:ext uri="{FF2B5EF4-FFF2-40B4-BE49-F238E27FC236}">
                  <a16:creationId xmlns:a16="http://schemas.microsoft.com/office/drawing/2014/main" id="{0A8F774F-2FD8-104B-0455-88EE21D59398}"/>
                </a:ext>
              </a:extLst>
            </p:cNvPr>
            <p:cNvSpPr/>
            <p:nvPr/>
          </p:nvSpPr>
          <p:spPr>
            <a:xfrm>
              <a:off x="6924331" y="1906989"/>
              <a:ext cx="696889" cy="192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zh-CN" sz="1050" dirty="0">
                  <a:solidFill>
                    <a:schemeClr val="tx1"/>
                  </a:solidFill>
                  <a:latin typeface="Microsoft YaHei" panose="020B0503020204020204" pitchFamily="34" charset="-122"/>
                  <a:ea typeface="Microsoft YaHei" panose="020B0503020204020204" pitchFamily="34" charset="-122"/>
                </a:rPr>
                <a:t>record1</a:t>
              </a: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13" name="连接器 6">
              <a:extLst>
                <a:ext uri="{FF2B5EF4-FFF2-40B4-BE49-F238E27FC236}">
                  <a16:creationId xmlns:a16="http://schemas.microsoft.com/office/drawing/2014/main" id="{F7A49F3F-CB07-2E9E-7A11-7B1D791857EA}"/>
                </a:ext>
              </a:extLst>
            </p:cNvPr>
            <p:cNvSpPr/>
            <p:nvPr/>
          </p:nvSpPr>
          <p:spPr>
            <a:xfrm>
              <a:off x="6006995" y="2475300"/>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14" name="圆角矩形 7">
              <a:extLst>
                <a:ext uri="{FF2B5EF4-FFF2-40B4-BE49-F238E27FC236}">
                  <a16:creationId xmlns:a16="http://schemas.microsoft.com/office/drawing/2014/main" id="{46BB3E7E-9A07-5F03-57CD-90F81356C484}"/>
                </a:ext>
              </a:extLst>
            </p:cNvPr>
            <p:cNvSpPr/>
            <p:nvPr/>
          </p:nvSpPr>
          <p:spPr>
            <a:xfrm>
              <a:off x="6924331" y="2465695"/>
              <a:ext cx="696889" cy="1920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solidFill>
                    <a:schemeClr val="tx1"/>
                  </a:solidFill>
                  <a:latin typeface="Microsoft YaHei" panose="020B0503020204020204" pitchFamily="34" charset="-122"/>
                  <a:ea typeface="Microsoft YaHei" panose="020B0503020204020204" pitchFamily="34" charset="-122"/>
                </a:rPr>
                <a:t>record2</a:t>
              </a: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15" name="连接器 8">
              <a:extLst>
                <a:ext uri="{FF2B5EF4-FFF2-40B4-BE49-F238E27FC236}">
                  <a16:creationId xmlns:a16="http://schemas.microsoft.com/office/drawing/2014/main" id="{9995454B-1027-1438-1333-CEEF901D196B}"/>
                </a:ext>
              </a:extLst>
            </p:cNvPr>
            <p:cNvSpPr/>
            <p:nvPr/>
          </p:nvSpPr>
          <p:spPr>
            <a:xfrm>
              <a:off x="6007000" y="2791737"/>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16" name="连接器 9">
              <a:extLst>
                <a:ext uri="{FF2B5EF4-FFF2-40B4-BE49-F238E27FC236}">
                  <a16:creationId xmlns:a16="http://schemas.microsoft.com/office/drawing/2014/main" id="{0B02C6DF-19C8-DF5E-C8F5-BE48821E1A62}"/>
                </a:ext>
              </a:extLst>
            </p:cNvPr>
            <p:cNvSpPr/>
            <p:nvPr/>
          </p:nvSpPr>
          <p:spPr>
            <a:xfrm>
              <a:off x="5878999" y="2929978"/>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17" name="圆角矩形 10">
              <a:extLst>
                <a:ext uri="{FF2B5EF4-FFF2-40B4-BE49-F238E27FC236}">
                  <a16:creationId xmlns:a16="http://schemas.microsoft.com/office/drawing/2014/main" id="{0091CD1F-EF96-84B3-1553-7A6C2C110E2C}"/>
                </a:ext>
              </a:extLst>
            </p:cNvPr>
            <p:cNvSpPr/>
            <p:nvPr/>
          </p:nvSpPr>
          <p:spPr>
            <a:xfrm>
              <a:off x="6924331" y="3024411"/>
              <a:ext cx="696889" cy="192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zh-CN" sz="1050" dirty="0">
                  <a:solidFill>
                    <a:schemeClr val="tx1"/>
                  </a:solidFill>
                  <a:latin typeface="Microsoft YaHei" panose="020B0503020204020204" pitchFamily="34" charset="-122"/>
                  <a:ea typeface="Microsoft YaHei" panose="020B0503020204020204" pitchFamily="34" charset="-122"/>
                </a:rPr>
                <a:t>reorcd3</a:t>
              </a: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18" name="圆角矩形 11">
              <a:extLst>
                <a:ext uri="{FF2B5EF4-FFF2-40B4-BE49-F238E27FC236}">
                  <a16:creationId xmlns:a16="http://schemas.microsoft.com/office/drawing/2014/main" id="{83C7214F-ACBD-D436-A3E6-3C01CA438AD6}"/>
                </a:ext>
              </a:extLst>
            </p:cNvPr>
            <p:cNvSpPr/>
            <p:nvPr/>
          </p:nvSpPr>
          <p:spPr>
            <a:xfrm>
              <a:off x="5576488" y="1619663"/>
              <a:ext cx="1080890" cy="181655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19" name="文本框 18">
              <a:extLst>
                <a:ext uri="{FF2B5EF4-FFF2-40B4-BE49-F238E27FC236}">
                  <a16:creationId xmlns:a16="http://schemas.microsoft.com/office/drawing/2014/main" id="{C0010C8E-E92D-9042-77C2-BE2BFB630829}"/>
                </a:ext>
              </a:extLst>
            </p:cNvPr>
            <p:cNvSpPr txBox="1"/>
            <p:nvPr/>
          </p:nvSpPr>
          <p:spPr>
            <a:xfrm>
              <a:off x="5673091" y="1646504"/>
              <a:ext cx="997684" cy="236748"/>
            </a:xfrm>
            <a:prstGeom prst="rect">
              <a:avLst/>
            </a:prstGeom>
            <a:noFill/>
          </p:spPr>
          <p:txBody>
            <a:bodyPr wrap="none" rtlCol="0">
              <a:spAutoFit/>
            </a:bodyPr>
            <a:lstStyle/>
            <a:p>
              <a:r>
                <a:rPr kumimoji="1" lang="en-US" altLang="zh-CN" sz="1200" b="1" dirty="0" err="1">
                  <a:latin typeface="Microsoft YaHei" panose="020B0503020204020204" pitchFamily="34" charset="-122"/>
                  <a:ea typeface="Microsoft YaHei" panose="020B0503020204020204" pitchFamily="34" charset="-122"/>
                </a:rPr>
                <a:t>Lock_System</a:t>
              </a:r>
              <a:endParaRPr kumimoji="1" lang="zh-CN" altLang="en-US" sz="1200" b="1" dirty="0">
                <a:latin typeface="Microsoft YaHei" panose="020B0503020204020204" pitchFamily="34" charset="-122"/>
                <a:ea typeface="Microsoft YaHei" panose="020B0503020204020204" pitchFamily="34" charset="-122"/>
              </a:endParaRPr>
            </a:p>
          </p:txBody>
        </p:sp>
        <p:sp>
          <p:nvSpPr>
            <p:cNvPr id="20" name="连接器 13">
              <a:extLst>
                <a:ext uri="{FF2B5EF4-FFF2-40B4-BE49-F238E27FC236}">
                  <a16:creationId xmlns:a16="http://schemas.microsoft.com/office/drawing/2014/main" id="{CD51E8E3-C438-CC8C-389B-4DC47AB87845}"/>
                </a:ext>
              </a:extLst>
            </p:cNvPr>
            <p:cNvSpPr/>
            <p:nvPr/>
          </p:nvSpPr>
          <p:spPr>
            <a:xfrm>
              <a:off x="6135000" y="2929978"/>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1" name="连接器 14">
              <a:extLst>
                <a:ext uri="{FF2B5EF4-FFF2-40B4-BE49-F238E27FC236}">
                  <a16:creationId xmlns:a16="http://schemas.microsoft.com/office/drawing/2014/main" id="{E92C798C-4588-5F51-2164-E50942E0851C}"/>
                </a:ext>
              </a:extLst>
            </p:cNvPr>
            <p:cNvSpPr/>
            <p:nvPr/>
          </p:nvSpPr>
          <p:spPr>
            <a:xfrm>
              <a:off x="6263000" y="3079731"/>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2" name="连接器 15">
              <a:extLst>
                <a:ext uri="{FF2B5EF4-FFF2-40B4-BE49-F238E27FC236}">
                  <a16:creationId xmlns:a16="http://schemas.microsoft.com/office/drawing/2014/main" id="{B67572AF-B92B-FF53-493C-3F3BEFAA3A7A}"/>
                </a:ext>
              </a:extLst>
            </p:cNvPr>
            <p:cNvSpPr/>
            <p:nvPr/>
          </p:nvSpPr>
          <p:spPr>
            <a:xfrm>
              <a:off x="6391000" y="3229493"/>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3" name="连接器 16">
              <a:extLst>
                <a:ext uri="{FF2B5EF4-FFF2-40B4-BE49-F238E27FC236}">
                  <a16:creationId xmlns:a16="http://schemas.microsoft.com/office/drawing/2014/main" id="{B1DB9495-B1E5-95E4-1EC9-C804C4CE4B5B}"/>
                </a:ext>
              </a:extLst>
            </p:cNvPr>
            <p:cNvSpPr/>
            <p:nvPr/>
          </p:nvSpPr>
          <p:spPr>
            <a:xfrm>
              <a:off x="6006999" y="3079731"/>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4" name="连接器 17">
              <a:extLst>
                <a:ext uri="{FF2B5EF4-FFF2-40B4-BE49-F238E27FC236}">
                  <a16:creationId xmlns:a16="http://schemas.microsoft.com/office/drawing/2014/main" id="{77A66697-68ED-E34D-3620-D0A5C862A83E}"/>
                </a:ext>
              </a:extLst>
            </p:cNvPr>
            <p:cNvSpPr/>
            <p:nvPr/>
          </p:nvSpPr>
          <p:spPr>
            <a:xfrm>
              <a:off x="6134998" y="3229493"/>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5" name="连接器 18">
              <a:extLst>
                <a:ext uri="{FF2B5EF4-FFF2-40B4-BE49-F238E27FC236}">
                  <a16:creationId xmlns:a16="http://schemas.microsoft.com/office/drawing/2014/main" id="{814EF63F-B267-4788-A5DA-6DC6DA07B707}"/>
                </a:ext>
              </a:extLst>
            </p:cNvPr>
            <p:cNvSpPr/>
            <p:nvPr/>
          </p:nvSpPr>
          <p:spPr>
            <a:xfrm>
              <a:off x="5750997" y="3079731"/>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6" name="连接器 19">
              <a:extLst>
                <a:ext uri="{FF2B5EF4-FFF2-40B4-BE49-F238E27FC236}">
                  <a16:creationId xmlns:a16="http://schemas.microsoft.com/office/drawing/2014/main" id="{C5CCD879-63B7-616A-8AF2-5A027C53507D}"/>
                </a:ext>
              </a:extLst>
            </p:cNvPr>
            <p:cNvSpPr/>
            <p:nvPr/>
          </p:nvSpPr>
          <p:spPr>
            <a:xfrm>
              <a:off x="5878998" y="3229493"/>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7" name="连接器 20">
              <a:extLst>
                <a:ext uri="{FF2B5EF4-FFF2-40B4-BE49-F238E27FC236}">
                  <a16:creationId xmlns:a16="http://schemas.microsoft.com/office/drawing/2014/main" id="{9B5D0C17-0B4B-B5F1-0ECD-20B3358EB432}"/>
                </a:ext>
              </a:extLst>
            </p:cNvPr>
            <p:cNvSpPr/>
            <p:nvPr/>
          </p:nvSpPr>
          <p:spPr>
            <a:xfrm>
              <a:off x="5622997" y="3229493"/>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8" name="连接器 21">
              <a:extLst>
                <a:ext uri="{FF2B5EF4-FFF2-40B4-BE49-F238E27FC236}">
                  <a16:creationId xmlns:a16="http://schemas.microsoft.com/office/drawing/2014/main" id="{9F911E2F-7112-EEF2-B102-465C0A63C2F3}"/>
                </a:ext>
              </a:extLst>
            </p:cNvPr>
            <p:cNvSpPr/>
            <p:nvPr/>
          </p:nvSpPr>
          <p:spPr>
            <a:xfrm>
              <a:off x="5992781" y="1844303"/>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29" name="连接器 22">
              <a:extLst>
                <a:ext uri="{FF2B5EF4-FFF2-40B4-BE49-F238E27FC236}">
                  <a16:creationId xmlns:a16="http://schemas.microsoft.com/office/drawing/2014/main" id="{67D9F096-58FC-906E-7D41-AE57356CC803}"/>
                </a:ext>
              </a:extLst>
            </p:cNvPr>
            <p:cNvSpPr/>
            <p:nvPr/>
          </p:nvSpPr>
          <p:spPr>
            <a:xfrm>
              <a:off x="5864780" y="1982545"/>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30" name="连接器 23">
              <a:extLst>
                <a:ext uri="{FF2B5EF4-FFF2-40B4-BE49-F238E27FC236}">
                  <a16:creationId xmlns:a16="http://schemas.microsoft.com/office/drawing/2014/main" id="{30AB862F-4C28-878E-9847-291B47CDF121}"/>
                </a:ext>
              </a:extLst>
            </p:cNvPr>
            <p:cNvSpPr/>
            <p:nvPr/>
          </p:nvSpPr>
          <p:spPr>
            <a:xfrm>
              <a:off x="6120781" y="1982545"/>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31" name="连接器 24">
              <a:extLst>
                <a:ext uri="{FF2B5EF4-FFF2-40B4-BE49-F238E27FC236}">
                  <a16:creationId xmlns:a16="http://schemas.microsoft.com/office/drawing/2014/main" id="{E345B587-AA29-CBF7-7E56-51905D8F57CF}"/>
                </a:ext>
              </a:extLst>
            </p:cNvPr>
            <p:cNvSpPr/>
            <p:nvPr/>
          </p:nvSpPr>
          <p:spPr>
            <a:xfrm>
              <a:off x="6248782" y="2132297"/>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32" name="连接器 25">
              <a:extLst>
                <a:ext uri="{FF2B5EF4-FFF2-40B4-BE49-F238E27FC236}">
                  <a16:creationId xmlns:a16="http://schemas.microsoft.com/office/drawing/2014/main" id="{6C9E0982-81E3-30F5-E1D2-65CBE99436C2}"/>
                </a:ext>
              </a:extLst>
            </p:cNvPr>
            <p:cNvSpPr/>
            <p:nvPr/>
          </p:nvSpPr>
          <p:spPr>
            <a:xfrm>
              <a:off x="5992779" y="2132297"/>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sp>
          <p:nvSpPr>
            <p:cNvPr id="33" name="连接器 26">
              <a:extLst>
                <a:ext uri="{FF2B5EF4-FFF2-40B4-BE49-F238E27FC236}">
                  <a16:creationId xmlns:a16="http://schemas.microsoft.com/office/drawing/2014/main" id="{CC111F42-3BD7-551F-60EA-0FEC853EF773}"/>
                </a:ext>
              </a:extLst>
            </p:cNvPr>
            <p:cNvSpPr/>
            <p:nvPr/>
          </p:nvSpPr>
          <p:spPr>
            <a:xfrm>
              <a:off x="5736779" y="2132297"/>
              <a:ext cx="213334" cy="138241"/>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Microsoft YaHei" panose="020B0503020204020204" pitchFamily="34" charset="-122"/>
                <a:ea typeface="Microsoft YaHei" panose="020B0503020204020204" pitchFamily="34" charset="-122"/>
              </a:endParaRPr>
            </a:p>
          </p:txBody>
        </p:sp>
        <p:cxnSp>
          <p:nvCxnSpPr>
            <p:cNvPr id="34" name="直线箭头连接符 27">
              <a:extLst>
                <a:ext uri="{FF2B5EF4-FFF2-40B4-BE49-F238E27FC236}">
                  <a16:creationId xmlns:a16="http://schemas.microsoft.com/office/drawing/2014/main" id="{5411F5E2-1C4D-22D2-8CB9-A6E8811849A2}"/>
                </a:ext>
              </a:extLst>
            </p:cNvPr>
            <p:cNvCxnSpPr/>
            <p:nvPr/>
          </p:nvCxnSpPr>
          <p:spPr>
            <a:xfrm>
              <a:off x="4512290" y="1778317"/>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28">
              <a:extLst>
                <a:ext uri="{FF2B5EF4-FFF2-40B4-BE49-F238E27FC236}">
                  <a16:creationId xmlns:a16="http://schemas.microsoft.com/office/drawing/2014/main" id="{20C0EB78-6DE0-05C8-195B-2EAD39E8CF0C}"/>
                </a:ext>
              </a:extLst>
            </p:cNvPr>
            <p:cNvCxnSpPr/>
            <p:nvPr/>
          </p:nvCxnSpPr>
          <p:spPr>
            <a:xfrm>
              <a:off x="4512290" y="1976585"/>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29">
              <a:extLst>
                <a:ext uri="{FF2B5EF4-FFF2-40B4-BE49-F238E27FC236}">
                  <a16:creationId xmlns:a16="http://schemas.microsoft.com/office/drawing/2014/main" id="{0FE11CCA-4566-9634-49D7-0706A3736605}"/>
                </a:ext>
              </a:extLst>
            </p:cNvPr>
            <p:cNvCxnSpPr/>
            <p:nvPr/>
          </p:nvCxnSpPr>
          <p:spPr>
            <a:xfrm>
              <a:off x="4512290" y="2186290"/>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线箭头连接符 30">
              <a:extLst>
                <a:ext uri="{FF2B5EF4-FFF2-40B4-BE49-F238E27FC236}">
                  <a16:creationId xmlns:a16="http://schemas.microsoft.com/office/drawing/2014/main" id="{877BA8C2-4EFD-C5B2-289B-294160423AF1}"/>
                </a:ext>
              </a:extLst>
            </p:cNvPr>
            <p:cNvCxnSpPr/>
            <p:nvPr/>
          </p:nvCxnSpPr>
          <p:spPr>
            <a:xfrm>
              <a:off x="4512290" y="2420316"/>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31">
              <a:extLst>
                <a:ext uri="{FF2B5EF4-FFF2-40B4-BE49-F238E27FC236}">
                  <a16:creationId xmlns:a16="http://schemas.microsoft.com/office/drawing/2014/main" id="{DFA18409-8A89-D16E-CF23-5EA6ADCC89FF}"/>
                </a:ext>
              </a:extLst>
            </p:cNvPr>
            <p:cNvCxnSpPr/>
            <p:nvPr/>
          </p:nvCxnSpPr>
          <p:spPr>
            <a:xfrm>
              <a:off x="4505761" y="2613499"/>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46FA1FC9-FCAE-048D-322A-1D7D400E5AD5}"/>
                </a:ext>
              </a:extLst>
            </p:cNvPr>
            <p:cNvSpPr txBox="1"/>
            <p:nvPr/>
          </p:nvSpPr>
          <p:spPr>
            <a:xfrm>
              <a:off x="4512290" y="1481757"/>
              <a:ext cx="737694" cy="236748"/>
            </a:xfrm>
            <a:prstGeom prst="rect">
              <a:avLst/>
            </a:prstGeom>
            <a:noFill/>
          </p:spPr>
          <p:txBody>
            <a:bodyPr wrap="square" anchor="ctr" anchorCtr="1">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1200" b="1" dirty="0">
                  <a:latin typeface="Microsoft YaHei" panose="020B0503020204020204" pitchFamily="34" charset="-122"/>
                  <a:ea typeface="Microsoft YaHei" panose="020B0503020204020204" pitchFamily="34" charset="-122"/>
                </a:rPr>
                <a:t>Clients</a:t>
              </a:r>
              <a:endParaRPr kumimoji="1" lang="zh-CN" altLang="en-US" sz="1200" b="1" dirty="0">
                <a:latin typeface="Microsoft YaHei" panose="020B0503020204020204" pitchFamily="34" charset="-122"/>
                <a:ea typeface="Microsoft YaHei" panose="020B0503020204020204" pitchFamily="34" charset="-122"/>
              </a:endParaRPr>
            </a:p>
          </p:txBody>
        </p:sp>
        <p:cxnSp>
          <p:nvCxnSpPr>
            <p:cNvPr id="40" name="直线箭头连接符 33">
              <a:extLst>
                <a:ext uri="{FF2B5EF4-FFF2-40B4-BE49-F238E27FC236}">
                  <a16:creationId xmlns:a16="http://schemas.microsoft.com/office/drawing/2014/main" id="{A0E16485-940B-5D8F-F51E-125613862666}"/>
                </a:ext>
              </a:extLst>
            </p:cNvPr>
            <p:cNvCxnSpPr/>
            <p:nvPr/>
          </p:nvCxnSpPr>
          <p:spPr>
            <a:xfrm>
              <a:off x="4505761" y="2806027"/>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34">
              <a:extLst>
                <a:ext uri="{FF2B5EF4-FFF2-40B4-BE49-F238E27FC236}">
                  <a16:creationId xmlns:a16="http://schemas.microsoft.com/office/drawing/2014/main" id="{A335DD80-0F18-FE1A-6CA4-921B736D6972}"/>
                </a:ext>
              </a:extLst>
            </p:cNvPr>
            <p:cNvCxnSpPr/>
            <p:nvPr/>
          </p:nvCxnSpPr>
          <p:spPr>
            <a:xfrm>
              <a:off x="4505761" y="3015732"/>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35">
              <a:extLst>
                <a:ext uri="{FF2B5EF4-FFF2-40B4-BE49-F238E27FC236}">
                  <a16:creationId xmlns:a16="http://schemas.microsoft.com/office/drawing/2014/main" id="{CA4B4D96-126F-50AA-43E7-A3A441BC8890}"/>
                </a:ext>
              </a:extLst>
            </p:cNvPr>
            <p:cNvCxnSpPr/>
            <p:nvPr/>
          </p:nvCxnSpPr>
          <p:spPr>
            <a:xfrm>
              <a:off x="4505761" y="3249757"/>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36">
              <a:extLst>
                <a:ext uri="{FF2B5EF4-FFF2-40B4-BE49-F238E27FC236}">
                  <a16:creationId xmlns:a16="http://schemas.microsoft.com/office/drawing/2014/main" id="{F225915F-13CA-0F0F-0845-B14556A864B0}"/>
                </a:ext>
              </a:extLst>
            </p:cNvPr>
            <p:cNvCxnSpPr/>
            <p:nvPr/>
          </p:nvCxnSpPr>
          <p:spPr>
            <a:xfrm>
              <a:off x="4499232" y="3442941"/>
              <a:ext cx="7181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5681CAC7-15EC-3C66-4897-C4EF61B940B2}"/>
                </a:ext>
              </a:extLst>
            </p:cNvPr>
            <p:cNvSpPr txBox="1"/>
            <p:nvPr/>
          </p:nvSpPr>
          <p:spPr>
            <a:xfrm>
              <a:off x="6899158" y="1565856"/>
              <a:ext cx="737694" cy="236748"/>
            </a:xfrm>
            <a:prstGeom prst="rect">
              <a:avLst/>
            </a:prstGeom>
            <a:noFill/>
          </p:spPr>
          <p:txBody>
            <a:bodyPr wrap="square" anchor="ctr" anchorCtr="1">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1200" b="1" dirty="0" err="1">
                  <a:latin typeface="Microsoft YaHei" panose="020B0503020204020204" pitchFamily="34" charset="-122"/>
                  <a:ea typeface="Microsoft YaHei" panose="020B0503020204020204" pitchFamily="34" charset="-122"/>
                </a:rPr>
                <a:t>InnoDB</a:t>
              </a:r>
              <a:endParaRPr kumimoji="1" lang="zh-CN" altLang="en-US" sz="1200" b="1" dirty="0">
                <a:latin typeface="Microsoft YaHei" panose="020B0503020204020204" pitchFamily="34" charset="-122"/>
                <a:ea typeface="Microsoft YaHei" panose="020B0503020204020204" pitchFamily="34" charset="-122"/>
              </a:endParaRPr>
            </a:p>
          </p:txBody>
        </p:sp>
      </p:grpSp>
      <p:sp>
        <p:nvSpPr>
          <p:cNvPr id="46" name="右箭头 45">
            <a:extLst>
              <a:ext uri="{FF2B5EF4-FFF2-40B4-BE49-F238E27FC236}">
                <a16:creationId xmlns:a16="http://schemas.microsoft.com/office/drawing/2014/main" id="{9EF40411-3D28-AC2D-9DD2-675CEDEEF900}"/>
              </a:ext>
            </a:extLst>
          </p:cNvPr>
          <p:cNvSpPr/>
          <p:nvPr/>
        </p:nvSpPr>
        <p:spPr>
          <a:xfrm>
            <a:off x="942581" y="2763211"/>
            <a:ext cx="760872" cy="1735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右箭头 46">
            <a:extLst>
              <a:ext uri="{FF2B5EF4-FFF2-40B4-BE49-F238E27FC236}">
                <a16:creationId xmlns:a16="http://schemas.microsoft.com/office/drawing/2014/main" id="{C1CC99EB-CB4E-2E55-CA65-2A9B8C8BF1D4}"/>
              </a:ext>
            </a:extLst>
          </p:cNvPr>
          <p:cNvSpPr/>
          <p:nvPr/>
        </p:nvSpPr>
        <p:spPr>
          <a:xfrm>
            <a:off x="5342269" y="2686927"/>
            <a:ext cx="542581" cy="161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324007804"/>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0382F-007A-B06B-ACD9-96340AE02C7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187BAEF-C53B-E663-3F3B-8C82D514A12B}"/>
              </a:ext>
            </a:extLst>
          </p:cNvPr>
          <p:cNvSpPr txBox="1"/>
          <p:nvPr/>
        </p:nvSpPr>
        <p:spPr>
          <a:xfrm>
            <a:off x="565812" y="126923"/>
            <a:ext cx="3971812"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Observations</a:t>
            </a:r>
            <a:endParaRPr lang="zh-CN" altLang="en-US"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矩形 2">
            <a:extLst>
              <a:ext uri="{FF2B5EF4-FFF2-40B4-BE49-F238E27FC236}">
                <a16:creationId xmlns:a16="http://schemas.microsoft.com/office/drawing/2014/main" id="{80F670F3-DE2D-E3E9-88BA-D6618913CA20}"/>
              </a:ext>
            </a:extLst>
          </p:cNvPr>
          <p:cNvSpPr/>
          <p:nvPr/>
        </p:nvSpPr>
        <p:spPr>
          <a:xfrm>
            <a:off x="302592" y="882428"/>
            <a:ext cx="11500525" cy="4355038"/>
          </a:xfrm>
          <a:prstGeom prst="rect">
            <a:avLst/>
          </a:prstGeom>
        </p:spPr>
        <p:txBody>
          <a:bodyPr wrap="square">
            <a:spAutoFit/>
          </a:bodyPr>
          <a:lstStyle/>
          <a:p>
            <a:pPr marL="342900" indent="-342900">
              <a:spcAft>
                <a:spcPts val="600"/>
              </a:spcAft>
              <a:buFont typeface="Wingdings" panose="05000000000000000000" pitchFamily="2" charset="2"/>
              <a:buChar char="Ø"/>
            </a:pPr>
            <a:r>
              <a:rPr lang="en" altLang="zh-CN" sz="2200" b="1" dirty="0">
                <a:latin typeface="Times New Roman" panose="02020603050405020304" pitchFamily="18" charset="0"/>
                <a:cs typeface="Times New Roman" panose="02020603050405020304" pitchFamily="18" charset="0"/>
              </a:rPr>
              <a:t>In highly contended hotspot scenarios:</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Transactions are effectively executed in serial order,  yet the system incurs full locking overhead for each transaction.</a:t>
            </a:r>
          </a:p>
          <a:p>
            <a:pPr marL="342900" indent="-342900">
              <a:spcAft>
                <a:spcPts val="600"/>
              </a:spcAft>
              <a:buFont typeface="Wingdings" panose="05000000000000000000" pitchFamily="2" charset="2"/>
              <a:buChar char="Ø"/>
            </a:pPr>
            <a:r>
              <a:rPr lang="en" altLang="zh-CN" sz="2200" b="1" dirty="0">
                <a:latin typeface="Times New Roman" panose="02020603050405020304" pitchFamily="18" charset="0"/>
                <a:cs typeface="Times New Roman" panose="02020603050405020304" pitchFamily="18" charset="0"/>
              </a:rPr>
              <a:t>We observe that:</a:t>
            </a:r>
          </a:p>
          <a:p>
            <a:pPr marL="800100" lvl="1" indent="-342900">
              <a:spcAft>
                <a:spcPts val="600"/>
              </a:spcAft>
              <a:buFont typeface="Wingdings" panose="05000000000000000000" pitchFamily="2" charset="2"/>
              <a:buChar char="Ø"/>
            </a:pPr>
            <a:r>
              <a:rPr lang="en" altLang="zh-CN" sz="2200" dirty="0">
                <a:latin typeface="Times New Roman" panose="02020603050405020304" pitchFamily="18" charset="0"/>
                <a:cs typeface="Times New Roman" panose="02020603050405020304" pitchFamily="18" charset="0"/>
              </a:rPr>
              <a:t>The cost of enforcing serialization via locks far exceeds the cost of executing serialized updates themselves.</a:t>
            </a:r>
          </a:p>
          <a:p>
            <a:pPr marL="800100" lvl="1" indent="-342900">
              <a:spcAft>
                <a:spcPts val="600"/>
              </a:spcAft>
              <a:buFont typeface="Wingdings" panose="05000000000000000000" pitchFamily="2" charset="2"/>
              <a:buChar char="Ø"/>
            </a:pPr>
            <a:r>
              <a:rPr lang="en" altLang="zh-CN" sz="2200" b="1" i="1" dirty="0">
                <a:latin typeface="Times New Roman" panose="02020603050405020304" pitchFamily="18" charset="0"/>
                <a:cs typeface="Times New Roman" panose="02020603050405020304" pitchFamily="18" charset="0"/>
              </a:rPr>
              <a:t>Therefore: Can we execute inherently serial hotspot updates without repeatedly invoking the lock manager?</a:t>
            </a:r>
          </a:p>
          <a:p>
            <a:pPr marL="800100" lvl="1" indent="-342900">
              <a:spcAft>
                <a:spcPts val="600"/>
              </a:spcAft>
              <a:buFont typeface="Wingdings" panose="05000000000000000000" pitchFamily="2" charset="2"/>
              <a:buChar char="Ø"/>
            </a:pPr>
            <a:endParaRPr lang="en" altLang="zh-CN" sz="22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2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6606781"/>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74828-8DD5-469A-4F38-22D3A56649B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963E5F2-E06E-BAC9-DEFA-BE0A08815BEE}"/>
              </a:ext>
            </a:extLst>
          </p:cNvPr>
          <p:cNvSpPr txBox="1"/>
          <p:nvPr/>
        </p:nvSpPr>
        <p:spPr>
          <a:xfrm>
            <a:off x="565812" y="126923"/>
            <a:ext cx="3971812"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Existing Work</a:t>
            </a:r>
            <a:endParaRPr lang="zh-CN" altLang="en-US"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 name="文本框 3">
            <a:extLst>
              <a:ext uri="{FF2B5EF4-FFF2-40B4-BE49-F238E27FC236}">
                <a16:creationId xmlns:a16="http://schemas.microsoft.com/office/drawing/2014/main" id="{910710DB-8A31-4F64-A37A-EE6C0CC1058D}"/>
              </a:ext>
            </a:extLst>
          </p:cNvPr>
          <p:cNvSpPr txBox="1"/>
          <p:nvPr/>
        </p:nvSpPr>
        <p:spPr>
          <a:xfrm>
            <a:off x="8192322" y="1386896"/>
            <a:ext cx="1787641" cy="369332"/>
          </a:xfrm>
          <a:prstGeom prst="rect">
            <a:avLst/>
          </a:prstGeom>
          <a:noFill/>
        </p:spPr>
        <p:txBody>
          <a:bodyPr wrap="square">
            <a:spAutoFit/>
          </a:bodyPr>
          <a:lstStyle/>
          <a:p>
            <a:r>
              <a:rPr lang="zh-CN" altLang="en-US" b="1" dirty="0"/>
              <a:t>锁竞争减缓</a:t>
            </a:r>
            <a:endParaRPr lang="en-US" altLang="zh-CN" b="1" dirty="0"/>
          </a:p>
        </p:txBody>
      </p:sp>
      <p:sp>
        <p:nvSpPr>
          <p:cNvPr id="5" name="文本框 4">
            <a:extLst>
              <a:ext uri="{FF2B5EF4-FFF2-40B4-BE49-F238E27FC236}">
                <a16:creationId xmlns:a16="http://schemas.microsoft.com/office/drawing/2014/main" id="{C10ED7F3-6069-4789-9F17-152FE1055A76}"/>
              </a:ext>
            </a:extLst>
          </p:cNvPr>
          <p:cNvSpPr txBox="1"/>
          <p:nvPr/>
        </p:nvSpPr>
        <p:spPr>
          <a:xfrm>
            <a:off x="8448012" y="3858175"/>
            <a:ext cx="1966292" cy="369332"/>
          </a:xfrm>
          <a:prstGeom prst="rect">
            <a:avLst/>
          </a:prstGeom>
          <a:noFill/>
        </p:spPr>
        <p:txBody>
          <a:bodyPr wrap="square">
            <a:spAutoFit/>
          </a:bodyPr>
          <a:lstStyle/>
          <a:p>
            <a:r>
              <a:rPr lang="zh-CN" altLang="en-US" b="1" dirty="0"/>
              <a:t>确定性调度</a:t>
            </a:r>
            <a:endParaRPr lang="en-US" altLang="zh-CN" b="1" dirty="0"/>
          </a:p>
        </p:txBody>
      </p:sp>
      <p:sp>
        <p:nvSpPr>
          <p:cNvPr id="6" name="文本框 5">
            <a:extLst>
              <a:ext uri="{FF2B5EF4-FFF2-40B4-BE49-F238E27FC236}">
                <a16:creationId xmlns:a16="http://schemas.microsoft.com/office/drawing/2014/main" id="{154D6741-A202-784C-E5EC-EE09152E5777}"/>
              </a:ext>
            </a:extLst>
          </p:cNvPr>
          <p:cNvSpPr txBox="1"/>
          <p:nvPr/>
        </p:nvSpPr>
        <p:spPr>
          <a:xfrm>
            <a:off x="6220918" y="1869612"/>
            <a:ext cx="5730450" cy="923330"/>
          </a:xfrm>
          <a:prstGeom prst="rect">
            <a:avLst/>
          </a:prstGeom>
          <a:noFill/>
        </p:spPr>
        <p:txBody>
          <a:bodyPr wrap="square">
            <a:spAutoFit/>
          </a:bodyPr>
          <a:lstStyle/>
          <a:p>
            <a:r>
              <a:rPr lang="zh-CN" altLang="en-US" dirty="0"/>
              <a:t>这类方法在高冲突工作负载中表现出一定的有效性，但是现有的锁方案</a:t>
            </a:r>
            <a:r>
              <a:rPr lang="zh-CN" altLang="en-US" dirty="0">
                <a:solidFill>
                  <a:srgbClr val="FF0000"/>
                </a:solidFill>
              </a:rPr>
              <a:t>无法克服在热点访问期间锁的集中获取和争用导致吞吐性能低下的挑战</a:t>
            </a:r>
            <a:r>
              <a:rPr lang="zh-CN" altLang="en-US" dirty="0"/>
              <a:t>。</a:t>
            </a:r>
            <a:endParaRPr lang="en-US" altLang="zh-CN" dirty="0"/>
          </a:p>
        </p:txBody>
      </p:sp>
      <p:sp>
        <p:nvSpPr>
          <p:cNvPr id="7" name="文本框 6">
            <a:extLst>
              <a:ext uri="{FF2B5EF4-FFF2-40B4-BE49-F238E27FC236}">
                <a16:creationId xmlns:a16="http://schemas.microsoft.com/office/drawing/2014/main" id="{983038D9-3433-6C68-A8A6-8E828035A681}"/>
              </a:ext>
            </a:extLst>
          </p:cNvPr>
          <p:cNvSpPr txBox="1"/>
          <p:nvPr/>
        </p:nvSpPr>
        <p:spPr>
          <a:xfrm>
            <a:off x="6096000" y="4188199"/>
            <a:ext cx="5855368" cy="646331"/>
          </a:xfrm>
          <a:prstGeom prst="rect">
            <a:avLst/>
          </a:prstGeom>
          <a:noFill/>
        </p:spPr>
        <p:txBody>
          <a:bodyPr wrap="square">
            <a:spAutoFit/>
          </a:bodyPr>
          <a:lstStyle/>
          <a:p>
            <a:r>
              <a:rPr lang="zh-CN" altLang="en-US" dirty="0"/>
              <a:t>这类算法因为新协议或融合协议的复杂验证设计，在实现和证明可串行化面临事务</a:t>
            </a:r>
            <a:r>
              <a:rPr lang="zh-CN" altLang="en-US" dirty="0">
                <a:solidFill>
                  <a:srgbClr val="FF0000"/>
                </a:solidFill>
              </a:rPr>
              <a:t>正确性验证难</a:t>
            </a:r>
            <a:r>
              <a:rPr lang="zh-CN" altLang="en-US" dirty="0"/>
              <a:t>的问题</a:t>
            </a:r>
          </a:p>
        </p:txBody>
      </p:sp>
      <p:pic>
        <p:nvPicPr>
          <p:cNvPr id="9" name="图片 8" descr="图示&#10;&#10;描述已自动生成">
            <a:extLst>
              <a:ext uri="{FF2B5EF4-FFF2-40B4-BE49-F238E27FC236}">
                <a16:creationId xmlns:a16="http://schemas.microsoft.com/office/drawing/2014/main" id="{1BA376E4-F31F-9A3A-35F7-78E8B2A99EF1}"/>
              </a:ext>
            </a:extLst>
          </p:cNvPr>
          <p:cNvPicPr>
            <a:picLocks noChangeAspect="1"/>
          </p:cNvPicPr>
          <p:nvPr/>
        </p:nvPicPr>
        <p:blipFill>
          <a:blip r:embed="rId2"/>
          <a:stretch>
            <a:fillRect/>
          </a:stretch>
        </p:blipFill>
        <p:spPr>
          <a:xfrm>
            <a:off x="1080861" y="985274"/>
            <a:ext cx="4474607" cy="5745803"/>
          </a:xfrm>
          <a:prstGeom prst="rect">
            <a:avLst/>
          </a:prstGeom>
        </p:spPr>
      </p:pic>
    </p:spTree>
    <p:extLst>
      <p:ext uri="{BB962C8B-B14F-4D97-AF65-F5344CB8AC3E}">
        <p14:creationId xmlns:p14="http://schemas.microsoft.com/office/powerpoint/2010/main" val="3658471951"/>
      </p:ext>
    </p:extLst>
  </p:cSld>
  <p:clrMapOvr>
    <a:masterClrMapping/>
  </p:clrMapOvr>
  <mc:AlternateContent xmlns:mc="http://schemas.openxmlformats.org/markup-compatibility/2006">
    <mc:Choice xmlns:p15="http://schemas.microsoft.com/office/powerpoint/2012/main" Requires="p15">
      <p:transition>
        <p15:prstTrans prst="pageCurlDoubl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F2FD-AE15-C641-81F2-031226E89E0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04B5C2F-4E48-70B8-5AE4-E5823C664C18}"/>
              </a:ext>
            </a:extLst>
          </p:cNvPr>
          <p:cNvSpPr txBox="1"/>
          <p:nvPr/>
        </p:nvSpPr>
        <p:spPr>
          <a:xfrm>
            <a:off x="565811" y="126923"/>
            <a:ext cx="9153223"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General Lock Optimization (O1)</a:t>
            </a:r>
          </a:p>
        </p:txBody>
      </p:sp>
      <p:sp>
        <p:nvSpPr>
          <p:cNvPr id="3" name="矩形 2">
            <a:extLst>
              <a:ext uri="{FF2B5EF4-FFF2-40B4-BE49-F238E27FC236}">
                <a16:creationId xmlns:a16="http://schemas.microsoft.com/office/drawing/2014/main" id="{76035ABE-8B74-DEC2-EB2C-D89C082144D4}"/>
              </a:ext>
            </a:extLst>
          </p:cNvPr>
          <p:cNvSpPr/>
          <p:nvPr/>
        </p:nvSpPr>
        <p:spPr>
          <a:xfrm>
            <a:off x="302592" y="882428"/>
            <a:ext cx="11404133" cy="7048083"/>
          </a:xfrm>
          <a:prstGeom prst="rect">
            <a:avLst/>
          </a:prstGeom>
        </p:spPr>
        <p:txBody>
          <a:bodyPr wrap="square">
            <a:spAutoFit/>
          </a:bodyPr>
          <a:lstStyle/>
          <a:p>
            <a:pPr marL="342900" indent="-342900">
              <a:spcAft>
                <a:spcPts val="600"/>
              </a:spcAft>
              <a:buFont typeface="Wingdings" panose="05000000000000000000" pitchFamily="2" charset="2"/>
              <a:buChar char="Ø"/>
            </a:pPr>
            <a:r>
              <a:rPr lang="en" altLang="zh-CN" sz="2000" b="1" dirty="0">
                <a:latin typeface="Times New Roman" panose="02020603050405020304" pitchFamily="18" charset="0"/>
                <a:cs typeface="Times New Roman" panose="02020603050405020304" pitchFamily="18" charset="0"/>
              </a:rPr>
              <a:t>Lightweight Locking</a:t>
            </a:r>
            <a:r>
              <a:rPr lang="en-US" altLang="zh-CN" sz="2000" b="1" dirty="0">
                <a:latin typeface="Times New Roman" panose="02020603050405020304" pitchFamily="18" charset="0"/>
                <a:cs typeface="Times New Roman" panose="02020603050405020304" pitchFamily="18" charset="0"/>
              </a:rPr>
              <a:t> (Reduce the unnecessary lock objects: lazy materialization)</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Problem</a:t>
            </a:r>
            <a:r>
              <a:rPr lang="zh-CN" altLang="en-US" b="1" dirty="0">
                <a:latin typeface="Times New Roman" panose="02020603050405020304" pitchFamily="18" charset="0"/>
                <a:cs typeface="Times New Roman" panose="02020603050405020304" pitchFamily="18" charset="0"/>
              </a:rPr>
              <a:t>：</a:t>
            </a:r>
            <a:endParaRPr lang="en" altLang="zh-CN" b="1"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Traditional InnoDB eagerly creates row locks</a:t>
            </a:r>
            <a:r>
              <a:rPr lang="zh-CN" altLang="en-US"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 many unnecessary lock objects, even without conflicts</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Idea</a:t>
            </a:r>
            <a:r>
              <a:rPr lang="zh-CN" altLang="en-US" b="1" dirty="0">
                <a:latin typeface="Times New Roman" panose="02020603050405020304" pitchFamily="18" charset="0"/>
                <a:cs typeface="Times New Roman" panose="02020603050405020304" pitchFamily="18" charset="0"/>
              </a:rPr>
              <a:t>：</a:t>
            </a:r>
            <a:r>
              <a:rPr lang="en" altLang="zh-CN" b="1" dirty="0">
                <a:latin typeface="Times New Roman" panose="02020603050405020304" pitchFamily="18" charset="0"/>
                <a:cs typeface="Times New Roman" panose="02020603050405020304" pitchFamily="18" charset="0"/>
              </a:rPr>
              <a:t>Check conflicts first, create locks only if needed</a:t>
            </a:r>
            <a:endParaRPr lang="en" altLang="zh-CN"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How</a:t>
            </a:r>
            <a:r>
              <a:rPr lang="zh-CN" altLang="en-US" b="1" dirty="0">
                <a:latin typeface="Times New Roman" panose="02020603050405020304" pitchFamily="18" charset="0"/>
                <a:cs typeface="Times New Roman" panose="02020603050405020304" pitchFamily="18" charset="0"/>
              </a:rPr>
              <a:t>：</a:t>
            </a:r>
            <a:endParaRPr lang="en" altLang="zh-CN" b="1"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Use a lock-free wait map (</a:t>
            </a:r>
            <a:r>
              <a:rPr lang="en" altLang="zh-CN" dirty="0" err="1">
                <a:latin typeface="Times New Roman" panose="02020603050405020304" pitchFamily="18" charset="0"/>
                <a:cs typeface="Times New Roman" panose="02020603050405020304" pitchFamily="18" charset="0"/>
              </a:rPr>
              <a:t>record_id</a:t>
            </a:r>
            <a:r>
              <a:rPr lang="en" altLang="zh-CN" dirty="0">
                <a:latin typeface="Times New Roman" panose="02020603050405020304" pitchFamily="18" charset="0"/>
                <a:cs typeface="Times New Roman" panose="02020603050405020304" pitchFamily="18" charset="0"/>
              </a:rPr>
              <a:t> → waiting </a:t>
            </a:r>
            <a:r>
              <a:rPr lang="en" altLang="zh-CN" dirty="0" err="1">
                <a:latin typeface="Times New Roman" panose="02020603050405020304" pitchFamily="18" charset="0"/>
                <a:cs typeface="Times New Roman" panose="02020603050405020304" pitchFamily="18" charset="0"/>
              </a:rPr>
              <a:t>trx</a:t>
            </a:r>
            <a:r>
              <a:rPr lang="zh-CN" altLang="en-US"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[trx_id_1, trx_id_2, ...])</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No conflict → no lock object</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Conflict → materialize lock on demand</a:t>
            </a:r>
            <a:endParaRPr lang="en" altLang="zh-CN" sz="2200" b="1" dirty="0">
              <a:latin typeface="Times New Roman" panose="02020603050405020304" pitchFamily="18" charset="0"/>
              <a:cs typeface="Times New Roman" panose="02020603050405020304" pitchFamily="18" charset="0"/>
            </a:endParaRPr>
          </a:p>
          <a:p>
            <a:pPr marL="342900" indent="-342900">
              <a:spcAft>
                <a:spcPts val="600"/>
              </a:spcAft>
              <a:buFont typeface="Wingdings" panose="05000000000000000000" pitchFamily="2" charset="2"/>
              <a:buChar char="Ø"/>
            </a:pPr>
            <a:r>
              <a:rPr lang="en" altLang="zh-CN" sz="2000" b="1" dirty="0">
                <a:latin typeface="Times New Roman" panose="02020603050405020304" pitchFamily="18" charset="0"/>
                <a:cs typeface="Times New Roman" panose="02020603050405020304" pitchFamily="18" charset="0"/>
              </a:rPr>
              <a:t>Copy-Free Active Transaction List</a:t>
            </a:r>
            <a:endParaRPr lang="en" altLang="zh-CN" sz="20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Problem:</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MVCC needs active transaction list→ locking or copying causes overhead</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Idea</a:t>
            </a:r>
            <a:r>
              <a:rPr lang="zh-CN" altLang="en-US" b="1"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Visibility = timestamp comparison</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How</a:t>
            </a:r>
            <a:r>
              <a:rPr lang="zh-CN" altLang="en-US" b="1" dirty="0">
                <a:latin typeface="Times New Roman" panose="02020603050405020304" pitchFamily="18" charset="0"/>
                <a:cs typeface="Times New Roman" panose="02020603050405020304" pitchFamily="18" charset="0"/>
              </a:rPr>
              <a:t>：</a:t>
            </a:r>
            <a:endParaRPr lang="en" altLang="zh-CN" b="1"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Add transaction deletion timestamp (</a:t>
            </a:r>
            <a:r>
              <a:rPr lang="en" altLang="zh-CN" dirty="0" err="1">
                <a:latin typeface="Times New Roman" panose="02020603050405020304" pitchFamily="18" charset="0"/>
                <a:cs typeface="Times New Roman" panose="02020603050405020304" pitchFamily="18" charset="0"/>
              </a:rPr>
              <a:t>del_ts</a:t>
            </a:r>
            <a:r>
              <a:rPr lang="en" altLang="zh-CN" dirty="0">
                <a:latin typeface="Times New Roman" panose="02020603050405020304" pitchFamily="18" charset="0"/>
                <a:cs typeface="Times New Roman" panose="02020603050405020304" pitchFamily="18" charset="0"/>
              </a:rPr>
              <a:t>)</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Check visibility using snapshot + </a:t>
            </a:r>
            <a:r>
              <a:rPr lang="en" altLang="zh-CN" dirty="0" err="1">
                <a:latin typeface="Times New Roman" panose="02020603050405020304" pitchFamily="18" charset="0"/>
                <a:cs typeface="Times New Roman" panose="02020603050405020304" pitchFamily="18" charset="0"/>
              </a:rPr>
              <a:t>del_ts</a:t>
            </a:r>
            <a:endParaRPr lang="en" altLang="zh-CN"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No access to active transaction list</a:t>
            </a:r>
          </a:p>
          <a:p>
            <a:pPr marL="800100" lvl="1" indent="-342900">
              <a:spcAft>
                <a:spcPts val="600"/>
              </a:spcAft>
              <a:buFont typeface="Wingdings" panose="05000000000000000000" pitchFamily="2" charset="2"/>
              <a:buChar char="Ø"/>
            </a:pPr>
            <a:endParaRPr lang="en" altLang="zh-CN" sz="22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2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744376"/>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86C99-F468-6EC4-F32B-832CA3F3072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BC56A3F-8E0D-B7DD-CBA4-58680F5D2124}"/>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Initial Hotspot Lock Mechanism within TXSQL(O2)</a:t>
            </a:r>
          </a:p>
        </p:txBody>
      </p:sp>
      <p:sp>
        <p:nvSpPr>
          <p:cNvPr id="3" name="矩形 2">
            <a:extLst>
              <a:ext uri="{FF2B5EF4-FFF2-40B4-BE49-F238E27FC236}">
                <a16:creationId xmlns:a16="http://schemas.microsoft.com/office/drawing/2014/main" id="{C5D68349-A4A3-56F9-8DAF-FA486A0CE6C0}"/>
              </a:ext>
            </a:extLst>
          </p:cNvPr>
          <p:cNvSpPr/>
          <p:nvPr/>
        </p:nvSpPr>
        <p:spPr>
          <a:xfrm>
            <a:off x="302592" y="882428"/>
            <a:ext cx="11404133" cy="6771084"/>
          </a:xfrm>
          <a:prstGeom prst="rect">
            <a:avLst/>
          </a:prstGeom>
        </p:spPr>
        <p:txBody>
          <a:bodyPr wrap="square">
            <a:spAutoFit/>
          </a:bodyPr>
          <a:lstStyle/>
          <a:p>
            <a:pPr marL="342900" indent="-342900">
              <a:spcAft>
                <a:spcPts val="600"/>
              </a:spcAft>
              <a:buFont typeface="Wingdings" panose="05000000000000000000" pitchFamily="2" charset="2"/>
              <a:buChar char="Ø"/>
            </a:pPr>
            <a:r>
              <a:rPr lang="en" altLang="zh-CN" sz="2000" b="1" dirty="0">
                <a:latin typeface="Times New Roman" panose="02020603050405020304" pitchFamily="18" charset="0"/>
                <a:cs typeface="Times New Roman" panose="02020603050405020304" pitchFamily="18" charset="0"/>
              </a:rPr>
              <a:t>Queue Locking for Hotspot Access:</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Problem</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Hotspot updates cause heavy lock manager contention</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Lock wait queues grow rapidly as concurrency increases</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Deadlock detection is frequently triggered and expensive</a:t>
            </a:r>
            <a:endParaRPr lang="en" altLang="zh-CN" b="1"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Idea</a:t>
            </a:r>
            <a:r>
              <a:rPr lang="zh-CN" altLang="en-US" b="1" dirty="0">
                <a:latin typeface="Times New Roman" panose="02020603050405020304" pitchFamily="18" charset="0"/>
                <a:cs typeface="Times New Roman" panose="02020603050405020304" pitchFamily="18" charset="0"/>
              </a:rPr>
              <a:t>：</a:t>
            </a:r>
            <a:r>
              <a:rPr lang="en" altLang="zh-CN" b="1" dirty="0">
                <a:latin typeface="Times New Roman" panose="02020603050405020304" pitchFamily="18" charset="0"/>
                <a:cs typeface="Times New Roman" panose="02020603050405020304" pitchFamily="18" charset="0"/>
              </a:rPr>
              <a:t>Serialize hotspot updates before entering the lock manager</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Avoid lock manager contention</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Avoid expensive deadlock detection</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How</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Automatically detect hotspot rows at runtime</a:t>
            </a:r>
          </a:p>
          <a:p>
            <a:pPr marL="1257300" lvl="2"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Maintain a hotspot hash table</a:t>
            </a:r>
          </a:p>
          <a:p>
            <a:pPr marL="1714500" lvl="3" indent="-342900">
              <a:spcAft>
                <a:spcPts val="600"/>
              </a:spcAft>
              <a:buFont typeface="Wingdings" panose="05000000000000000000" pitchFamily="2" charset="2"/>
              <a:buChar char="Ø"/>
            </a:pPr>
            <a:r>
              <a:rPr lang="en" altLang="zh-CN" dirty="0" err="1">
                <a:latin typeface="Times New Roman" panose="02020603050405020304" pitchFamily="18" charset="0"/>
                <a:cs typeface="Times New Roman" panose="02020603050405020304" pitchFamily="18" charset="0"/>
              </a:rPr>
              <a:t>row_id</a:t>
            </a:r>
            <a:r>
              <a:rPr lang="en" altLang="zh-CN" dirty="0">
                <a:latin typeface="Times New Roman" panose="02020603050405020304" pitchFamily="18" charset="0"/>
                <a:cs typeface="Times New Roman" panose="02020603050405020304" pitchFamily="18" charset="0"/>
              </a:rPr>
              <a:t> → waiting transaction queue</a:t>
            </a:r>
          </a:p>
          <a:p>
            <a:pPr marL="1257300" lvl="2"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Queue-before-lock execution</a:t>
            </a:r>
          </a:p>
          <a:p>
            <a:pPr marL="1714500" lvl="3"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Transactions accessing hotspot rows are queued</a:t>
            </a:r>
          </a:p>
          <a:p>
            <a:pPr marL="1714500" lvl="3"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Dequeued transactions acquire locks and proceed in order</a:t>
            </a:r>
          </a:p>
          <a:p>
            <a:pPr marL="1257300" lvl="2"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Timeout mechanism instead of direct deadlock detection</a:t>
            </a:r>
          </a:p>
          <a:p>
            <a:pPr marL="800100" lvl="1" indent="-342900">
              <a:spcAft>
                <a:spcPts val="600"/>
              </a:spcAft>
              <a:buFont typeface="Wingdings" panose="05000000000000000000" pitchFamily="2" charset="2"/>
              <a:buChar char="Ø"/>
            </a:pPr>
            <a:endParaRPr lang="en" altLang="zh-CN"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6930865"/>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6B922-63EF-F521-C287-13FD7D4B5FC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6A7E4A9-DFED-EC0B-BE1F-539BF3B0B00A}"/>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Group Locking for Hotspot Access (Key Design)</a:t>
            </a:r>
          </a:p>
        </p:txBody>
      </p:sp>
      <p:sp>
        <p:nvSpPr>
          <p:cNvPr id="3" name="矩形 2">
            <a:extLst>
              <a:ext uri="{FF2B5EF4-FFF2-40B4-BE49-F238E27FC236}">
                <a16:creationId xmlns:a16="http://schemas.microsoft.com/office/drawing/2014/main" id="{6E771C8D-EE43-A286-F49D-9C56DA1EB771}"/>
              </a:ext>
            </a:extLst>
          </p:cNvPr>
          <p:cNvSpPr/>
          <p:nvPr/>
        </p:nvSpPr>
        <p:spPr>
          <a:xfrm>
            <a:off x="302592" y="882428"/>
            <a:ext cx="8011849" cy="7109639"/>
          </a:xfrm>
          <a:prstGeom prst="rect">
            <a:avLst/>
          </a:prstGeom>
        </p:spPr>
        <p:txBody>
          <a:bodyPr wrap="square">
            <a:spAutoFit/>
          </a:bodyPr>
          <a:lstStyle/>
          <a:p>
            <a:pPr marL="342900" indent="-342900">
              <a:spcAft>
                <a:spcPts val="600"/>
              </a:spcAft>
              <a:buFont typeface="Wingdings" panose="05000000000000000000" pitchFamily="2" charset="2"/>
              <a:buChar char="Ø"/>
            </a:pPr>
            <a:r>
              <a:rPr lang="en" altLang="zh-CN" sz="2000" b="1" dirty="0">
                <a:latin typeface="Times New Roman" panose="02020603050405020304" pitchFamily="18" charset="0"/>
                <a:cs typeface="Times New Roman" panose="02020603050405020304" pitchFamily="18" charset="0"/>
              </a:rPr>
              <a:t>Group Locking:</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Problem</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Queue locking effectiveness degrades under long transaction length (e.g., HA synchronization between primary &amp; secondary replicas);</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Hotspot updates remain serialized but pay lock costs repeatedly.</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Idea</a:t>
            </a:r>
            <a:r>
              <a:rPr lang="zh-CN" altLang="en-US" b="1" dirty="0">
                <a:latin typeface="Times New Roman" panose="02020603050405020304" pitchFamily="18" charset="0"/>
                <a:cs typeface="Times New Roman" panose="02020603050405020304" pitchFamily="18" charset="0"/>
              </a:rPr>
              <a:t>：</a:t>
            </a:r>
            <a:r>
              <a:rPr lang="en" altLang="zh-CN" b="1" dirty="0">
                <a:latin typeface="Times New Roman" panose="02020603050405020304" pitchFamily="18" charset="0"/>
                <a:cs typeface="Times New Roman" panose="02020603050405020304" pitchFamily="18" charset="0"/>
              </a:rPr>
              <a:t>Group multiple hotspot updates and lock only once per group</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Execute conflicting hotspot updates sequentially without locks</a:t>
            </a:r>
          </a:p>
          <a:p>
            <a:pPr marL="1257300" lvl="2"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Pay lock/unlock cost once per group, not per transaction</a:t>
            </a:r>
          </a:p>
          <a:p>
            <a:pPr marL="800100" lvl="1"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How</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1257300" lvl="2"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Form a hotspot update group</a:t>
            </a:r>
          </a:p>
          <a:p>
            <a:pPr marL="1714500" lvl="3"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Transactions updating the same hotspot row are grouped</a:t>
            </a:r>
          </a:p>
          <a:p>
            <a:pPr marL="1257300" lvl="2"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Group-level locking</a:t>
            </a:r>
          </a:p>
          <a:p>
            <a:pPr marL="1714500" lvl="3"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Acquire lock once before group execution</a:t>
            </a:r>
          </a:p>
          <a:p>
            <a:pPr marL="1714500" lvl="3"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Release lock once after group completes</a:t>
            </a:r>
          </a:p>
          <a:p>
            <a:pPr marL="1257300" lvl="2" indent="-342900">
              <a:spcAft>
                <a:spcPts val="600"/>
              </a:spcAft>
              <a:buFont typeface="Wingdings" panose="05000000000000000000" pitchFamily="2" charset="2"/>
              <a:buChar char="Ø"/>
            </a:pPr>
            <a:r>
              <a:rPr lang="en" altLang="zh-CN" b="1" dirty="0">
                <a:latin typeface="Times New Roman" panose="02020603050405020304" pitchFamily="18" charset="0"/>
                <a:cs typeface="Times New Roman" panose="02020603050405020304" pitchFamily="18" charset="0"/>
              </a:rPr>
              <a:t>In-group execution without locks</a:t>
            </a:r>
          </a:p>
          <a:p>
            <a:pPr marL="1714500" lvl="3"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Transactions execute sequentially inside the group</a:t>
            </a:r>
          </a:p>
          <a:p>
            <a:pPr marL="1714500" lvl="3" indent="-342900">
              <a:spcAft>
                <a:spcPts val="600"/>
              </a:spcAft>
              <a:buFont typeface="Wingdings" panose="05000000000000000000" pitchFamily="2" charset="2"/>
              <a:buChar char="Ø"/>
            </a:pPr>
            <a:r>
              <a:rPr lang="en" altLang="zh-CN" dirty="0">
                <a:latin typeface="Times New Roman" panose="02020603050405020304" pitchFamily="18" charset="0"/>
                <a:cs typeface="Times New Roman" panose="02020603050405020304" pitchFamily="18" charset="0"/>
              </a:rPr>
              <a:t>No lock release or wake-up between transactions</a:t>
            </a:r>
          </a:p>
          <a:p>
            <a:pPr marL="800100" lvl="1" indent="-342900">
              <a:spcAft>
                <a:spcPts val="600"/>
              </a:spcAft>
              <a:buFont typeface="Wingdings" panose="05000000000000000000" pitchFamily="2" charset="2"/>
              <a:buChar char="Ø"/>
            </a:pPr>
            <a:endParaRPr lang="en" altLang="zh-CN"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b="1"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B4AAEC42-7459-CC9D-685E-F56A3EDC6B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4441" y="992403"/>
            <a:ext cx="2943323" cy="2436597"/>
          </a:xfrm>
          <a:prstGeom prst="rect">
            <a:avLst/>
          </a:prstGeom>
        </p:spPr>
      </p:pic>
      <p:pic>
        <p:nvPicPr>
          <p:cNvPr id="10" name="图片 9">
            <a:extLst>
              <a:ext uri="{FF2B5EF4-FFF2-40B4-BE49-F238E27FC236}">
                <a16:creationId xmlns:a16="http://schemas.microsoft.com/office/drawing/2014/main" id="{72A0CB0D-3308-4DB4-6E71-B000AC97A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9685" y="3538975"/>
            <a:ext cx="3445886" cy="2569936"/>
          </a:xfrm>
          <a:prstGeom prst="rect">
            <a:avLst/>
          </a:prstGeom>
        </p:spPr>
      </p:pic>
    </p:spTree>
    <p:extLst>
      <p:ext uri="{BB962C8B-B14F-4D97-AF65-F5344CB8AC3E}">
        <p14:creationId xmlns:p14="http://schemas.microsoft.com/office/powerpoint/2010/main" val="86255024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311BD-D657-B6F2-AFE0-E8311CFC19B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DED321A-76B4-C7D6-9716-840B4B80868E}"/>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Implementation</a:t>
            </a:r>
          </a:p>
        </p:txBody>
      </p:sp>
      <p:sp>
        <p:nvSpPr>
          <p:cNvPr id="3" name="矩形 2">
            <a:extLst>
              <a:ext uri="{FF2B5EF4-FFF2-40B4-BE49-F238E27FC236}">
                <a16:creationId xmlns:a16="http://schemas.microsoft.com/office/drawing/2014/main" id="{F1903DA5-F504-A253-D50C-DDF11792F455}"/>
              </a:ext>
            </a:extLst>
          </p:cNvPr>
          <p:cNvSpPr/>
          <p:nvPr/>
        </p:nvSpPr>
        <p:spPr>
          <a:xfrm>
            <a:off x="302592" y="882428"/>
            <a:ext cx="8011849" cy="5416868"/>
          </a:xfrm>
          <a:prstGeom prst="rect">
            <a:avLst/>
          </a:prstGeom>
        </p:spPr>
        <p:txBody>
          <a:bodyPr wrap="square">
            <a:spAutoFit/>
          </a:bodyPr>
          <a:lstStyle/>
          <a:p>
            <a:pPr marL="342900" indent="-342900">
              <a:spcAft>
                <a:spcPts val="600"/>
              </a:spcAft>
              <a:buFont typeface="Wingdings" panose="05000000000000000000" pitchFamily="2" charset="2"/>
              <a:buChar char="Ø"/>
            </a:pPr>
            <a:r>
              <a:rPr lang="en-US" altLang="zh-CN" sz="2000" b="1" dirty="0">
                <a:latin typeface="Times New Roman" panose="02020603050405020304" pitchFamily="18" charset="0"/>
                <a:cs typeface="Times New Roman" panose="02020603050405020304" pitchFamily="18" charset="0"/>
                <a:sym typeface="+mn-ea"/>
              </a:rPr>
              <a:t>Hot</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item</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detection:</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(inspired</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by</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using</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FIFO)</a:t>
            </a:r>
            <a:endParaRPr lang="en" altLang="zh-CN" sz="2000" b="1" dirty="0">
              <a:latin typeface="Times New Roman" panose="02020603050405020304" pitchFamily="18" charset="0"/>
              <a:cs typeface="Times New Roman" panose="02020603050405020304" pitchFamily="18" charset="0"/>
            </a:endParaRPr>
          </a:p>
          <a:p>
            <a:pPr lvl="2" indent="-285750">
              <a:spcBef>
                <a:spcPts val="600"/>
              </a:spcBef>
              <a:spcAft>
                <a:spcPts val="600"/>
              </a:spcAft>
              <a:buFont typeface="Wingdings" pitchFamily="2" charset="2"/>
              <a:buChar char="Ø"/>
            </a:pPr>
            <a:r>
              <a:rPr lang="en" altLang="zh-CN" dirty="0">
                <a:latin typeface="Times New Roman" panose="02020603050405020304" pitchFamily="18" charset="0"/>
                <a:cs typeface="Times New Roman" panose="02020603050405020304" pitchFamily="18" charset="0"/>
                <a:sym typeface="+mn-ea"/>
              </a:rPr>
              <a:t>The number of waiting</a:t>
            </a:r>
            <a:r>
              <a:rPr lang="zh-CN" altLang="en-US" dirty="0">
                <a:latin typeface="Times New Roman" panose="02020603050405020304" pitchFamily="18" charset="0"/>
                <a:cs typeface="Times New Roman" panose="02020603050405020304" pitchFamily="18" charset="0"/>
                <a:sym typeface="+mn-ea"/>
              </a:rPr>
              <a:t> </a:t>
            </a:r>
            <a:r>
              <a:rPr lang="en" altLang="zh-CN" dirty="0">
                <a:latin typeface="Times New Roman" panose="02020603050405020304" pitchFamily="18" charset="0"/>
                <a:cs typeface="Times New Roman" panose="02020603050405020304" pitchFamily="18" charset="0"/>
                <a:sym typeface="+mn-ea"/>
              </a:rPr>
              <a:t>transactions </a:t>
            </a:r>
            <a:r>
              <a:rPr lang="en-US" altLang="zh-CN" dirty="0">
                <a:latin typeface="Times New Roman" panose="02020603050405020304" pitchFamily="18" charset="0"/>
                <a:cs typeface="Times New Roman" panose="02020603050405020304" pitchFamily="18" charset="0"/>
                <a:sym typeface="+mn-ea"/>
              </a:rPr>
              <a:t>on</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a</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row</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lock</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record</a:t>
            </a:r>
          </a:p>
          <a:p>
            <a:pPr lvl="3" indent="-285750">
              <a:spcBef>
                <a:spcPts val="600"/>
              </a:spcBef>
              <a:spcAft>
                <a:spcPts val="600"/>
              </a:spcAft>
              <a:buFont typeface="Wingdings" pitchFamily="2" charset="2"/>
              <a:buChar char="Ø"/>
            </a:pPr>
            <a:r>
              <a:rPr lang="en-US" altLang="zh-CN" dirty="0">
                <a:latin typeface="Times New Roman" panose="02020603050405020304" pitchFamily="18" charset="0"/>
                <a:cs typeface="Times New Roman" panose="02020603050405020304" pitchFamily="18" charset="0"/>
                <a:sym typeface="+mn-ea"/>
              </a:rPr>
              <a:t>#Waiting transactions &gt; threshold (e.g., 32 (</a:t>
            </a:r>
            <a:r>
              <a:rPr lang="en-US" altLang="zh-CN" b="1" dirty="0">
                <a:latin typeface="Times New Roman" panose="02020603050405020304" pitchFamily="18" charset="0"/>
                <a:cs typeface="Times New Roman" panose="02020603050405020304" pitchFamily="18" charset="0"/>
                <a:sym typeface="+mn-ea"/>
              </a:rPr>
              <a:t>rule of thumb</a:t>
            </a:r>
            <a:r>
              <a:rPr lang="en-US" altLang="zh-CN" dirty="0">
                <a:latin typeface="Times New Roman" panose="02020603050405020304" pitchFamily="18" charset="0"/>
                <a:cs typeface="Times New Roman" panose="02020603050405020304" pitchFamily="18" charset="0"/>
                <a:sym typeface="+mn-ea"/>
              </a:rPr>
              <a:t>))</a:t>
            </a:r>
          </a:p>
          <a:p>
            <a:pPr lvl="2" indent="-285750">
              <a:spcBef>
                <a:spcPts val="600"/>
              </a:spcBef>
              <a:spcAft>
                <a:spcPts val="600"/>
              </a:spcAft>
              <a:buFont typeface="Wingdings" pitchFamily="2" charset="2"/>
              <a:buChar char="Ø"/>
            </a:pPr>
            <a:r>
              <a:rPr lang="en" altLang="zh-CN" dirty="0">
                <a:latin typeface="Times New Roman" panose="02020603050405020304" pitchFamily="18" charset="0"/>
                <a:cs typeface="Times New Roman" panose="02020603050405020304" pitchFamily="18" charset="0"/>
              </a:rPr>
              <a:t>Once identified, the hotspot is added to a hotspot hash table</a:t>
            </a:r>
          </a:p>
          <a:p>
            <a:pPr lvl="3" indent="-285750">
              <a:spcBef>
                <a:spcPts val="600"/>
              </a:spcBef>
              <a:spcAft>
                <a:spcPts val="600"/>
              </a:spcAft>
              <a:buFont typeface="Wingdings" pitchFamily="2" charset="2"/>
              <a:buChar char="Ø"/>
            </a:pPr>
            <a:r>
              <a:rPr lang="en" altLang="zh-CN" dirty="0" err="1">
                <a:latin typeface="Times New Roman" panose="02020603050405020304" pitchFamily="18" charset="0"/>
                <a:cs typeface="Times New Roman" panose="02020603050405020304" pitchFamily="18" charset="0"/>
              </a:rPr>
              <a:t>hot_row_hash</a:t>
            </a:r>
            <a:r>
              <a:rPr lang="en" altLang="zh-CN" dirty="0">
                <a:latin typeface="Times New Roman" panose="02020603050405020304" pitchFamily="18" charset="0"/>
                <a:cs typeface="Times New Roman" panose="02020603050405020304" pitchFamily="18" charset="0"/>
              </a:rPr>
              <a:t>: </a:t>
            </a:r>
            <a:r>
              <a:rPr lang="en" altLang="zh-CN" dirty="0" err="1">
                <a:latin typeface="Times New Roman" panose="02020603050405020304" pitchFamily="18" charset="0"/>
                <a:cs typeface="Times New Roman" panose="02020603050405020304" pitchFamily="18" charset="0"/>
              </a:rPr>
              <a:t>row_id</a:t>
            </a:r>
            <a:r>
              <a:rPr lang="en" altLang="zh-CN" dirty="0">
                <a:latin typeface="Times New Roman" panose="02020603050405020304" pitchFamily="18" charset="0"/>
                <a:cs typeface="Times New Roman" panose="02020603050405020304" pitchFamily="18" charset="0"/>
              </a:rPr>
              <a:t> → hotspot metadata</a:t>
            </a:r>
          </a:p>
          <a:p>
            <a:pPr lvl="3" indent="-285750">
              <a:spcBef>
                <a:spcPts val="600"/>
              </a:spcBef>
              <a:spcAft>
                <a:spcPts val="600"/>
              </a:spcAft>
              <a:buFont typeface="Wingdings" pitchFamily="2" charset="2"/>
              <a:buChar char="Ø"/>
            </a:pPr>
            <a:r>
              <a:rPr lang="en" altLang="zh-CN" dirty="0">
                <a:latin typeface="Times New Roman" panose="02020603050405020304" pitchFamily="18" charset="0"/>
                <a:cs typeface="Times New Roman" panose="02020603050405020304" pitchFamily="18" charset="0"/>
              </a:rPr>
              <a:t>Not 2PL </a:t>
            </a:r>
            <a:r>
              <a:rPr lang="en" altLang="zh-CN" dirty="0" err="1">
                <a:latin typeface="Times New Roman" panose="02020603050405020304" pitchFamily="18" charset="0"/>
                <a:cs typeface="Times New Roman" panose="02020603050405020304" pitchFamily="18" charset="0"/>
              </a:rPr>
              <a:t>protocal</a:t>
            </a:r>
            <a:r>
              <a:rPr lang="en" altLang="zh-CN" dirty="0">
                <a:latin typeface="Times New Roman" panose="02020603050405020304" pitchFamily="18" charset="0"/>
                <a:cs typeface="Times New Roman" panose="02020603050405020304" pitchFamily="18" charset="0"/>
              </a:rPr>
              <a:t>, go to hotspot queue</a:t>
            </a:r>
          </a:p>
          <a:p>
            <a:pPr lvl="1" indent="-285750">
              <a:spcBef>
                <a:spcPts val="600"/>
              </a:spcBef>
              <a:spcAft>
                <a:spcPts val="600"/>
              </a:spcAft>
              <a:buFont typeface="Wingdings" pitchFamily="2" charset="2"/>
              <a:buChar char="Ø"/>
            </a:pPr>
            <a:r>
              <a:rPr lang="en-US" altLang="zh-CN" b="1" dirty="0">
                <a:latin typeface="Times New Roman" panose="02020603050405020304" pitchFamily="18" charset="0"/>
                <a:cs typeface="Times New Roman" panose="02020603050405020304" pitchFamily="18" charset="0"/>
                <a:sym typeface="+mn-ea"/>
              </a:rPr>
              <a:t>Group</a:t>
            </a:r>
            <a:r>
              <a:rPr lang="zh-CN" altLang="en-US" b="1" dirty="0">
                <a:latin typeface="Times New Roman" panose="02020603050405020304" pitchFamily="18" charset="0"/>
                <a:cs typeface="Times New Roman" panose="02020603050405020304" pitchFamily="18" charset="0"/>
                <a:sym typeface="+mn-ea"/>
              </a:rPr>
              <a:t> </a:t>
            </a:r>
            <a:r>
              <a:rPr lang="en-US" altLang="zh-CN" b="1" dirty="0">
                <a:latin typeface="Times New Roman" panose="02020603050405020304" pitchFamily="18" charset="0"/>
                <a:cs typeface="Times New Roman" panose="02020603050405020304" pitchFamily="18" charset="0"/>
                <a:sym typeface="+mn-ea"/>
              </a:rPr>
              <a:t>Locking</a:t>
            </a:r>
          </a:p>
          <a:p>
            <a:pPr lvl="2" indent="-285750">
              <a:spcBef>
                <a:spcPts val="600"/>
              </a:spcBef>
              <a:spcAft>
                <a:spcPts val="600"/>
              </a:spcAft>
              <a:buFont typeface="Wingdings" pitchFamily="2" charset="2"/>
              <a:buChar char="Ø"/>
            </a:pPr>
            <a:r>
              <a:rPr lang="en-US" altLang="zh-CN" dirty="0">
                <a:latin typeface="Times New Roman" panose="02020603050405020304" pitchFamily="18" charset="0"/>
                <a:cs typeface="Times New Roman" panose="02020603050405020304" pitchFamily="18" charset="0"/>
                <a:sym typeface="+mn-ea"/>
              </a:rPr>
              <a:t>The</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leader</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is</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responsible</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for</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acquiring</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and</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releasing</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locks</a:t>
            </a:r>
          </a:p>
          <a:p>
            <a:pPr lvl="2" indent="-285750">
              <a:spcBef>
                <a:spcPts val="600"/>
              </a:spcBef>
              <a:spcAft>
                <a:spcPts val="600"/>
              </a:spcAft>
              <a:buFont typeface="Wingdings" pitchFamily="2" charset="2"/>
              <a:buChar char="Ø"/>
            </a:pPr>
            <a:r>
              <a:rPr lang="en-US" altLang="zh-CN" dirty="0">
                <a:latin typeface="Times New Roman" panose="02020603050405020304" pitchFamily="18" charset="0"/>
                <a:cs typeface="Times New Roman" panose="02020603050405020304" pitchFamily="18" charset="0"/>
                <a:sym typeface="+mn-ea"/>
              </a:rPr>
              <a:t>The</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follower</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can</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operate</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a</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tuple</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without</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holding</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the</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lock</a:t>
            </a:r>
          </a:p>
          <a:p>
            <a:pPr lvl="2" indent="-285750">
              <a:spcBef>
                <a:spcPts val="600"/>
              </a:spcBef>
              <a:spcAft>
                <a:spcPts val="600"/>
              </a:spcAft>
              <a:buFont typeface="Wingdings" pitchFamily="2" charset="2"/>
              <a:buChar char="Ø"/>
            </a:pPr>
            <a:r>
              <a:rPr lang="en-US" altLang="zh-CN" dirty="0">
                <a:latin typeface="Times New Roman" panose="02020603050405020304" pitchFamily="18" charset="0"/>
                <a:cs typeface="Times New Roman" panose="02020603050405020304" pitchFamily="18" charset="0"/>
                <a:sym typeface="+mn-ea"/>
              </a:rPr>
              <a:t>New</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group</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is</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generated</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after</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the</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previous</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leader</a:t>
            </a:r>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committed</a:t>
            </a:r>
          </a:p>
          <a:p>
            <a:pPr lvl="1" indent="-285750">
              <a:spcBef>
                <a:spcPts val="600"/>
              </a:spcBef>
              <a:spcAft>
                <a:spcPts val="600"/>
              </a:spcAft>
              <a:buFont typeface="Wingdings" pitchFamily="2" charset="2"/>
              <a:buChar char="Ø"/>
            </a:pPr>
            <a:endParaRPr lang="en" altLang="zh-CN"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b="1" dirty="0">
              <a:latin typeface="Times New Roman" panose="02020603050405020304" pitchFamily="18" charset="0"/>
              <a:cs typeface="Times New Roman" panose="02020603050405020304" pitchFamily="18" charset="0"/>
            </a:endParaRPr>
          </a:p>
        </p:txBody>
      </p:sp>
      <p:grpSp>
        <p:nvGrpSpPr>
          <p:cNvPr id="4" name="组合 3">
            <a:extLst>
              <a:ext uri="{FF2B5EF4-FFF2-40B4-BE49-F238E27FC236}">
                <a16:creationId xmlns:a16="http://schemas.microsoft.com/office/drawing/2014/main" id="{089035E4-C7D3-CF6C-8334-CB16A4E9B615}"/>
              </a:ext>
            </a:extLst>
          </p:cNvPr>
          <p:cNvGrpSpPr/>
          <p:nvPr/>
        </p:nvGrpSpPr>
        <p:grpSpPr>
          <a:xfrm>
            <a:off x="7367070" y="2099549"/>
            <a:ext cx="4520813" cy="1252113"/>
            <a:chOff x="6665321" y="2112690"/>
            <a:chExt cx="4520813" cy="1252113"/>
          </a:xfrm>
        </p:grpSpPr>
        <p:sp>
          <p:nvSpPr>
            <p:cNvPr id="5" name="矩形 4">
              <a:extLst>
                <a:ext uri="{FF2B5EF4-FFF2-40B4-BE49-F238E27FC236}">
                  <a16:creationId xmlns:a16="http://schemas.microsoft.com/office/drawing/2014/main" id="{44CE7915-3514-A230-E2C4-EB02D6F46D1F}"/>
                </a:ext>
              </a:extLst>
            </p:cNvPr>
            <p:cNvSpPr/>
            <p:nvPr/>
          </p:nvSpPr>
          <p:spPr>
            <a:xfrm>
              <a:off x="7493017" y="2218954"/>
              <a:ext cx="3693117" cy="1145849"/>
            </a:xfrm>
            <a:prstGeom prst="rect">
              <a:avLst/>
            </a:prstGeom>
            <a:solidFill>
              <a:schemeClr val="bg1"/>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Microsoft YaHei" panose="020B0503020204020204" pitchFamily="34" charset="-122"/>
                <a:ea typeface="Microsoft YaHei" panose="020B0503020204020204" pitchFamily="34" charset="-122"/>
              </a:endParaRPr>
            </a:p>
          </p:txBody>
        </p:sp>
        <p:sp>
          <p:nvSpPr>
            <p:cNvPr id="6" name="矩形 5">
              <a:extLst>
                <a:ext uri="{FF2B5EF4-FFF2-40B4-BE49-F238E27FC236}">
                  <a16:creationId xmlns:a16="http://schemas.microsoft.com/office/drawing/2014/main" id="{A3F38926-276E-E715-8E5D-EE0B434348C9}"/>
                </a:ext>
              </a:extLst>
            </p:cNvPr>
            <p:cNvSpPr/>
            <p:nvPr/>
          </p:nvSpPr>
          <p:spPr>
            <a:xfrm>
              <a:off x="8442146" y="2384425"/>
              <a:ext cx="1196533" cy="881697"/>
            </a:xfrm>
            <a:prstGeom prst="rect">
              <a:avLst/>
            </a:prstGeom>
            <a:no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4B301DDD-F19C-B882-30AE-C923ABD15645}"/>
                </a:ext>
              </a:extLst>
            </p:cNvPr>
            <p:cNvSpPr txBox="1"/>
            <p:nvPr/>
          </p:nvSpPr>
          <p:spPr>
            <a:xfrm>
              <a:off x="10448440" y="2193308"/>
              <a:ext cx="737694" cy="215444"/>
            </a:xfrm>
            <a:prstGeom prst="rect">
              <a:avLst/>
            </a:prstGeom>
            <a:noFill/>
            <a:ln>
              <a:noFill/>
            </a:ln>
          </p:spPr>
          <p:txBody>
            <a:bodyPr wrap="square" anchor="ctr" anchorCtr="1">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800" dirty="0" err="1">
                  <a:latin typeface="Microsoft YaHei" panose="020B0503020204020204" pitchFamily="34" charset="-122"/>
                  <a:ea typeface="Microsoft YaHei" panose="020B0503020204020204" pitchFamily="34" charset="-122"/>
                </a:rPr>
                <a:t>InnoDB</a:t>
              </a:r>
              <a:endParaRPr kumimoji="1" lang="zh-CN" altLang="en-US" sz="800" dirty="0">
                <a:latin typeface="Microsoft YaHei" panose="020B0503020204020204" pitchFamily="34" charset="-122"/>
                <a:ea typeface="Microsoft YaHei" panose="020B0503020204020204" pitchFamily="34" charset="-122"/>
              </a:endParaRPr>
            </a:p>
          </p:txBody>
        </p:sp>
        <p:cxnSp>
          <p:nvCxnSpPr>
            <p:cNvPr id="9" name="直线箭头连接符 40">
              <a:extLst>
                <a:ext uri="{FF2B5EF4-FFF2-40B4-BE49-F238E27FC236}">
                  <a16:creationId xmlns:a16="http://schemas.microsoft.com/office/drawing/2014/main" id="{346980E7-2EFE-F82B-1969-5292FF1381F0}"/>
                </a:ext>
              </a:extLst>
            </p:cNvPr>
            <p:cNvCxnSpPr>
              <a:cxnSpLocks/>
            </p:cNvCxnSpPr>
            <p:nvPr/>
          </p:nvCxnSpPr>
          <p:spPr>
            <a:xfrm>
              <a:off x="8478606" y="2695756"/>
              <a:ext cx="1160073" cy="0"/>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线箭头连接符 41">
              <a:extLst>
                <a:ext uri="{FF2B5EF4-FFF2-40B4-BE49-F238E27FC236}">
                  <a16:creationId xmlns:a16="http://schemas.microsoft.com/office/drawing/2014/main" id="{438DBAA8-3043-784E-74D8-80085220628F}"/>
                </a:ext>
              </a:extLst>
            </p:cNvPr>
            <p:cNvCxnSpPr>
              <a:cxnSpLocks/>
            </p:cNvCxnSpPr>
            <p:nvPr/>
          </p:nvCxnSpPr>
          <p:spPr>
            <a:xfrm>
              <a:off x="6671850" y="2314102"/>
              <a:ext cx="718197" cy="0"/>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42">
              <a:extLst>
                <a:ext uri="{FF2B5EF4-FFF2-40B4-BE49-F238E27FC236}">
                  <a16:creationId xmlns:a16="http://schemas.microsoft.com/office/drawing/2014/main" id="{1D70E7BB-4335-608D-D184-EFD7C6359490}"/>
                </a:ext>
              </a:extLst>
            </p:cNvPr>
            <p:cNvCxnSpPr>
              <a:cxnSpLocks/>
            </p:cNvCxnSpPr>
            <p:nvPr/>
          </p:nvCxnSpPr>
          <p:spPr>
            <a:xfrm>
              <a:off x="6671850" y="2512370"/>
              <a:ext cx="718197" cy="0"/>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43">
              <a:extLst>
                <a:ext uri="{FF2B5EF4-FFF2-40B4-BE49-F238E27FC236}">
                  <a16:creationId xmlns:a16="http://schemas.microsoft.com/office/drawing/2014/main" id="{B71CCE8C-2613-C623-4E55-1D60CED441E3}"/>
                </a:ext>
              </a:extLst>
            </p:cNvPr>
            <p:cNvCxnSpPr>
              <a:cxnSpLocks/>
            </p:cNvCxnSpPr>
            <p:nvPr/>
          </p:nvCxnSpPr>
          <p:spPr>
            <a:xfrm>
              <a:off x="6671850" y="2722074"/>
              <a:ext cx="718197" cy="0"/>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44">
              <a:extLst>
                <a:ext uri="{FF2B5EF4-FFF2-40B4-BE49-F238E27FC236}">
                  <a16:creationId xmlns:a16="http://schemas.microsoft.com/office/drawing/2014/main" id="{556FC964-9DF0-AFD3-FD2A-379C3195ADB9}"/>
                </a:ext>
              </a:extLst>
            </p:cNvPr>
            <p:cNvCxnSpPr>
              <a:cxnSpLocks/>
            </p:cNvCxnSpPr>
            <p:nvPr/>
          </p:nvCxnSpPr>
          <p:spPr>
            <a:xfrm>
              <a:off x="6671850" y="2956100"/>
              <a:ext cx="718197" cy="0"/>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45">
              <a:extLst>
                <a:ext uri="{FF2B5EF4-FFF2-40B4-BE49-F238E27FC236}">
                  <a16:creationId xmlns:a16="http://schemas.microsoft.com/office/drawing/2014/main" id="{DBD302F9-C757-A09B-CA4A-8CD9ADB07C4D}"/>
                </a:ext>
              </a:extLst>
            </p:cNvPr>
            <p:cNvCxnSpPr>
              <a:cxnSpLocks/>
            </p:cNvCxnSpPr>
            <p:nvPr/>
          </p:nvCxnSpPr>
          <p:spPr>
            <a:xfrm>
              <a:off x="6665321" y="3149283"/>
              <a:ext cx="718197" cy="0"/>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9E3B715-449B-8FC2-7B8F-A97DD4C6A9A3}"/>
                </a:ext>
              </a:extLst>
            </p:cNvPr>
            <p:cNvSpPr txBox="1"/>
            <p:nvPr/>
          </p:nvSpPr>
          <p:spPr>
            <a:xfrm>
              <a:off x="6671850" y="2112690"/>
              <a:ext cx="737694" cy="215444"/>
            </a:xfrm>
            <a:prstGeom prst="rect">
              <a:avLst/>
            </a:prstGeom>
            <a:noFill/>
            <a:ln>
              <a:noFill/>
            </a:ln>
          </p:spPr>
          <p:txBody>
            <a:bodyPr wrap="square" anchor="ctr" anchorCtr="1">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800" dirty="0">
                  <a:latin typeface="Microsoft YaHei" panose="020B0503020204020204" pitchFamily="34" charset="-122"/>
                  <a:ea typeface="Microsoft YaHei" panose="020B0503020204020204" pitchFamily="34" charset="-122"/>
                </a:rPr>
                <a:t>Clients</a:t>
              </a:r>
              <a:endParaRPr kumimoji="1" lang="zh-CN" altLang="en-US" sz="800" dirty="0">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5D691594-9E66-8465-D5C1-5873BB55A9F7}"/>
                </a:ext>
              </a:extLst>
            </p:cNvPr>
            <p:cNvSpPr txBox="1"/>
            <p:nvPr/>
          </p:nvSpPr>
          <p:spPr>
            <a:xfrm>
              <a:off x="8465716" y="2392281"/>
              <a:ext cx="1152212" cy="215444"/>
            </a:xfrm>
            <a:prstGeom prst="rect">
              <a:avLst/>
            </a:prstGeom>
            <a:noFill/>
            <a:ln>
              <a:noFill/>
            </a:ln>
          </p:spPr>
          <p:txBody>
            <a:bodyPr wrap="square" anchor="ctr" anchorCtr="1">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800" dirty="0">
                  <a:latin typeface="Microsoft YaHei" panose="020B0503020204020204" pitchFamily="34" charset="-122"/>
                  <a:ea typeface="Microsoft YaHei" panose="020B0503020204020204" pitchFamily="34" charset="-122"/>
                </a:rPr>
                <a:t>Hot item queues</a:t>
              </a:r>
              <a:endParaRPr kumimoji="1" lang="zh-CN" altLang="en-US" sz="800" dirty="0">
                <a:latin typeface="Microsoft YaHei" panose="020B0503020204020204" pitchFamily="34" charset="-122"/>
                <a:ea typeface="Microsoft YaHei" panose="020B0503020204020204" pitchFamily="34" charset="-122"/>
              </a:endParaRPr>
            </a:p>
          </p:txBody>
        </p:sp>
        <p:sp>
          <p:nvSpPr>
            <p:cNvPr id="18" name="右箭头 48">
              <a:extLst>
                <a:ext uri="{FF2B5EF4-FFF2-40B4-BE49-F238E27FC236}">
                  <a16:creationId xmlns:a16="http://schemas.microsoft.com/office/drawing/2014/main" id="{1F0EAC1B-FC5C-CD38-F278-CB55F26A325D}"/>
                </a:ext>
              </a:extLst>
            </p:cNvPr>
            <p:cNvSpPr/>
            <p:nvPr/>
          </p:nvSpPr>
          <p:spPr>
            <a:xfrm>
              <a:off x="8233686" y="2802250"/>
              <a:ext cx="181417" cy="79258"/>
            </a:xfrm>
            <a:prstGeom prst="rightArrow">
              <a:avLst/>
            </a:prstGeom>
            <a:solidFill>
              <a:schemeClr val="accent2"/>
            </a:solidFill>
            <a:ln w="3810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Microsoft YaHei" panose="020B0503020204020204" pitchFamily="34" charset="-122"/>
                <a:ea typeface="Microsoft YaHei" panose="020B0503020204020204" pitchFamily="34" charset="-122"/>
              </a:endParaRPr>
            </a:p>
          </p:txBody>
        </p:sp>
        <p:sp>
          <p:nvSpPr>
            <p:cNvPr id="19" name="连接器 49">
              <a:extLst>
                <a:ext uri="{FF2B5EF4-FFF2-40B4-BE49-F238E27FC236}">
                  <a16:creationId xmlns:a16="http://schemas.microsoft.com/office/drawing/2014/main" id="{780834D7-54A5-0049-DDA1-BD25AEDD91EC}"/>
                </a:ext>
              </a:extLst>
            </p:cNvPr>
            <p:cNvSpPr/>
            <p:nvPr/>
          </p:nvSpPr>
          <p:spPr>
            <a:xfrm>
              <a:off x="8653497" y="2625194"/>
              <a:ext cx="213334" cy="138241"/>
            </a:xfrm>
            <a:prstGeom prst="flowChartConnector">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sp>
          <p:nvSpPr>
            <p:cNvPr id="20" name="连接器 50">
              <a:extLst>
                <a:ext uri="{FF2B5EF4-FFF2-40B4-BE49-F238E27FC236}">
                  <a16:creationId xmlns:a16="http://schemas.microsoft.com/office/drawing/2014/main" id="{C923A959-E72D-3FD0-864D-83BB9A1F20CB}"/>
                </a:ext>
              </a:extLst>
            </p:cNvPr>
            <p:cNvSpPr/>
            <p:nvPr/>
          </p:nvSpPr>
          <p:spPr>
            <a:xfrm>
              <a:off x="9175106" y="2625194"/>
              <a:ext cx="213334" cy="138241"/>
            </a:xfrm>
            <a:prstGeom prst="flowChartConnector">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sp>
          <p:nvSpPr>
            <p:cNvPr id="21" name="连接器 51">
              <a:extLst>
                <a:ext uri="{FF2B5EF4-FFF2-40B4-BE49-F238E27FC236}">
                  <a16:creationId xmlns:a16="http://schemas.microsoft.com/office/drawing/2014/main" id="{F0DD5E9B-082A-C12B-22AB-934D0313A03F}"/>
                </a:ext>
              </a:extLst>
            </p:cNvPr>
            <p:cNvSpPr/>
            <p:nvPr/>
          </p:nvSpPr>
          <p:spPr>
            <a:xfrm>
              <a:off x="8914301" y="2625194"/>
              <a:ext cx="213334" cy="138241"/>
            </a:xfrm>
            <a:prstGeom prst="flowChartConnector">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cxnSp>
          <p:nvCxnSpPr>
            <p:cNvPr id="22" name="直线箭头连接符 52">
              <a:extLst>
                <a:ext uri="{FF2B5EF4-FFF2-40B4-BE49-F238E27FC236}">
                  <a16:creationId xmlns:a16="http://schemas.microsoft.com/office/drawing/2014/main" id="{37201874-BEB1-2FFA-6798-DCCC623D72CD}"/>
                </a:ext>
              </a:extLst>
            </p:cNvPr>
            <p:cNvCxnSpPr>
              <a:cxnSpLocks/>
            </p:cNvCxnSpPr>
            <p:nvPr/>
          </p:nvCxnSpPr>
          <p:spPr>
            <a:xfrm>
              <a:off x="8478606" y="3046038"/>
              <a:ext cx="1160073" cy="0"/>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连接器 53">
              <a:extLst>
                <a:ext uri="{FF2B5EF4-FFF2-40B4-BE49-F238E27FC236}">
                  <a16:creationId xmlns:a16="http://schemas.microsoft.com/office/drawing/2014/main" id="{D6457727-AAAB-AE48-F73E-5900B73228E5}"/>
                </a:ext>
              </a:extLst>
            </p:cNvPr>
            <p:cNvSpPr/>
            <p:nvPr/>
          </p:nvSpPr>
          <p:spPr>
            <a:xfrm>
              <a:off x="8509349" y="2979210"/>
              <a:ext cx="213334" cy="138241"/>
            </a:xfrm>
            <a:prstGeom prst="flowChartConnector">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sp>
          <p:nvSpPr>
            <p:cNvPr id="24" name="连接器 54">
              <a:extLst>
                <a:ext uri="{FF2B5EF4-FFF2-40B4-BE49-F238E27FC236}">
                  <a16:creationId xmlns:a16="http://schemas.microsoft.com/office/drawing/2014/main" id="{8782A441-8C5D-E892-40B3-F6CEC35F268B}"/>
                </a:ext>
              </a:extLst>
            </p:cNvPr>
            <p:cNvSpPr/>
            <p:nvPr/>
          </p:nvSpPr>
          <p:spPr>
            <a:xfrm>
              <a:off x="9043006" y="2979210"/>
              <a:ext cx="213334" cy="138241"/>
            </a:xfrm>
            <a:prstGeom prst="flowChartConnector">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sp>
          <p:nvSpPr>
            <p:cNvPr id="25" name="连接器 55">
              <a:extLst>
                <a:ext uri="{FF2B5EF4-FFF2-40B4-BE49-F238E27FC236}">
                  <a16:creationId xmlns:a16="http://schemas.microsoft.com/office/drawing/2014/main" id="{50693FC3-4927-361E-6A04-15A709BC4CB5}"/>
                </a:ext>
              </a:extLst>
            </p:cNvPr>
            <p:cNvSpPr/>
            <p:nvPr/>
          </p:nvSpPr>
          <p:spPr>
            <a:xfrm>
              <a:off x="8771606" y="2979210"/>
              <a:ext cx="213334" cy="138241"/>
            </a:xfrm>
            <a:prstGeom prst="flowChartConnector">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sp>
          <p:nvSpPr>
            <p:cNvPr id="26" name="圆角矩形 56">
              <a:extLst>
                <a:ext uri="{FF2B5EF4-FFF2-40B4-BE49-F238E27FC236}">
                  <a16:creationId xmlns:a16="http://schemas.microsoft.com/office/drawing/2014/main" id="{BE2537B2-5121-4DC3-1239-E62ACD701EB3}"/>
                </a:ext>
              </a:extLst>
            </p:cNvPr>
            <p:cNvSpPr/>
            <p:nvPr/>
          </p:nvSpPr>
          <p:spPr>
            <a:xfrm>
              <a:off x="7568233" y="2384425"/>
              <a:ext cx="589554" cy="881697"/>
            </a:xfrm>
            <a:prstGeom prst="roundRect">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b="1" dirty="0" err="1">
                  <a:solidFill>
                    <a:schemeClr val="tx1"/>
                  </a:solidFill>
                  <a:latin typeface="Microsoft YaHei" panose="020B0503020204020204" pitchFamily="34" charset="-122"/>
                  <a:ea typeface="Microsoft YaHei" panose="020B0503020204020204" pitchFamily="34" charset="-122"/>
                </a:rPr>
                <a:t>Detecthot</a:t>
              </a:r>
              <a:r>
                <a:rPr kumimoji="1" lang="zh-CN" altLang="en-US" sz="800" b="1" dirty="0">
                  <a:solidFill>
                    <a:schemeClr val="tx1"/>
                  </a:solidFill>
                  <a:latin typeface="Microsoft YaHei" panose="020B0503020204020204" pitchFamily="34" charset="-122"/>
                  <a:ea typeface="Microsoft YaHei" panose="020B0503020204020204" pitchFamily="34" charset="-122"/>
                </a:rPr>
                <a:t> </a:t>
              </a:r>
              <a:r>
                <a:rPr kumimoji="1" lang="en-US" altLang="zh-CN" sz="800" b="1" dirty="0">
                  <a:solidFill>
                    <a:schemeClr val="tx1"/>
                  </a:solidFill>
                  <a:latin typeface="Microsoft YaHei" panose="020B0503020204020204" pitchFamily="34" charset="-122"/>
                  <a:ea typeface="Microsoft YaHei" panose="020B0503020204020204" pitchFamily="34" charset="-122"/>
                </a:rPr>
                <a:t>spots</a:t>
              </a:r>
              <a:r>
                <a:rPr kumimoji="1" lang="zh-CN" altLang="en-US" sz="800" b="1" dirty="0">
                  <a:solidFill>
                    <a:schemeClr val="tx1"/>
                  </a:solidFill>
                  <a:latin typeface="Microsoft YaHei" panose="020B0503020204020204" pitchFamily="34" charset="-122"/>
                  <a:ea typeface="Microsoft YaHei" panose="020B0503020204020204" pitchFamily="34" charset="-122"/>
                </a:rPr>
                <a:t> </a:t>
              </a:r>
            </a:p>
            <a:p>
              <a:pPr algn="ctr"/>
              <a:endParaRPr kumimoji="1" lang="en-US" altLang="zh-CN" sz="600" b="1" dirty="0">
                <a:solidFill>
                  <a:schemeClr val="tx1"/>
                </a:solidFill>
                <a:latin typeface="Microsoft YaHei" panose="020B0503020204020204" pitchFamily="34" charset="-122"/>
                <a:ea typeface="Microsoft YaHei" panose="020B0503020204020204" pitchFamily="34" charset="-122"/>
              </a:endParaRPr>
            </a:p>
          </p:txBody>
        </p:sp>
        <p:sp>
          <p:nvSpPr>
            <p:cNvPr id="27" name="右箭头 58">
              <a:extLst>
                <a:ext uri="{FF2B5EF4-FFF2-40B4-BE49-F238E27FC236}">
                  <a16:creationId xmlns:a16="http://schemas.microsoft.com/office/drawing/2014/main" id="{FD7C2411-7905-422D-ADFF-3D463BF3DBBA}"/>
                </a:ext>
              </a:extLst>
            </p:cNvPr>
            <p:cNvSpPr/>
            <p:nvPr/>
          </p:nvSpPr>
          <p:spPr>
            <a:xfrm>
              <a:off x="9642555" y="2805189"/>
              <a:ext cx="181417" cy="79258"/>
            </a:xfrm>
            <a:prstGeom prst="rightArrow">
              <a:avLst/>
            </a:prstGeom>
            <a:solidFill>
              <a:schemeClr val="accent2"/>
            </a:solidFill>
            <a:ln w="3810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Microsoft YaHei" panose="020B0503020204020204" pitchFamily="34" charset="-122"/>
                <a:ea typeface="Microsoft YaHei" panose="020B0503020204020204" pitchFamily="34" charset="-122"/>
              </a:endParaRPr>
            </a:p>
          </p:txBody>
        </p:sp>
        <p:sp>
          <p:nvSpPr>
            <p:cNvPr id="28" name="圆角矩形 59">
              <a:extLst>
                <a:ext uri="{FF2B5EF4-FFF2-40B4-BE49-F238E27FC236}">
                  <a16:creationId xmlns:a16="http://schemas.microsoft.com/office/drawing/2014/main" id="{520B3D27-860B-8BA3-B536-E0134A5E8F52}"/>
                </a:ext>
              </a:extLst>
            </p:cNvPr>
            <p:cNvSpPr/>
            <p:nvPr/>
          </p:nvSpPr>
          <p:spPr>
            <a:xfrm>
              <a:off x="10613579" y="2609684"/>
              <a:ext cx="483780" cy="163277"/>
            </a:xfrm>
            <a:prstGeom prst="roundRect">
              <a:avLst/>
            </a:prstGeom>
            <a:ln>
              <a:solidFill>
                <a:schemeClr val="tx2">
                  <a:lumMod val="75000"/>
                  <a:lumOff val="2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zh-CN" sz="600" dirty="0">
                  <a:solidFill>
                    <a:schemeClr val="tx1"/>
                  </a:solidFill>
                  <a:latin typeface="Microsoft YaHei" panose="020B0503020204020204" pitchFamily="34" charset="-122"/>
                  <a:ea typeface="Microsoft YaHei" panose="020B0503020204020204" pitchFamily="34" charset="-122"/>
                </a:rPr>
                <a:t>record1</a:t>
              </a: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sp>
          <p:nvSpPr>
            <p:cNvPr id="29" name="圆角矩形 60">
              <a:extLst>
                <a:ext uri="{FF2B5EF4-FFF2-40B4-BE49-F238E27FC236}">
                  <a16:creationId xmlns:a16="http://schemas.microsoft.com/office/drawing/2014/main" id="{0EEF3C05-550B-149D-26CE-A272F6D50751}"/>
                </a:ext>
              </a:extLst>
            </p:cNvPr>
            <p:cNvSpPr/>
            <p:nvPr/>
          </p:nvSpPr>
          <p:spPr>
            <a:xfrm>
              <a:off x="10605209" y="2968473"/>
              <a:ext cx="483780" cy="163277"/>
            </a:xfrm>
            <a:prstGeom prst="roundRect">
              <a:avLst/>
            </a:prstGeom>
            <a:ln>
              <a:solidFill>
                <a:schemeClr val="tx2">
                  <a:lumMod val="75000"/>
                  <a:lumOff val="2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zh-CN" sz="600" dirty="0">
                  <a:solidFill>
                    <a:schemeClr val="tx1"/>
                  </a:solidFill>
                  <a:latin typeface="Microsoft YaHei" panose="020B0503020204020204" pitchFamily="34" charset="-122"/>
                  <a:ea typeface="Microsoft YaHei" panose="020B0503020204020204" pitchFamily="34" charset="-122"/>
                </a:rPr>
                <a:t>record3</a:t>
              </a: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cxnSp>
          <p:nvCxnSpPr>
            <p:cNvPr id="30" name="直线连接符 61">
              <a:extLst>
                <a:ext uri="{FF2B5EF4-FFF2-40B4-BE49-F238E27FC236}">
                  <a16:creationId xmlns:a16="http://schemas.microsoft.com/office/drawing/2014/main" id="{7BF86394-24B3-E0A6-9D29-A1CF4ACDD788}"/>
                </a:ext>
              </a:extLst>
            </p:cNvPr>
            <p:cNvCxnSpPr>
              <a:cxnSpLocks/>
            </p:cNvCxnSpPr>
            <p:nvPr/>
          </p:nvCxnSpPr>
          <p:spPr>
            <a:xfrm>
              <a:off x="9611247" y="2691322"/>
              <a:ext cx="974900" cy="1"/>
            </a:xfrm>
            <a:prstGeom prst="line">
              <a:avLst/>
            </a:prstGeom>
            <a:ln>
              <a:solidFill>
                <a:schemeClr val="tx2">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线连接符 62">
              <a:extLst>
                <a:ext uri="{FF2B5EF4-FFF2-40B4-BE49-F238E27FC236}">
                  <a16:creationId xmlns:a16="http://schemas.microsoft.com/office/drawing/2014/main" id="{5C017239-6A68-B0C2-A4CE-6B22D25FF9A8}"/>
                </a:ext>
              </a:extLst>
            </p:cNvPr>
            <p:cNvCxnSpPr>
              <a:cxnSpLocks/>
            </p:cNvCxnSpPr>
            <p:nvPr/>
          </p:nvCxnSpPr>
          <p:spPr>
            <a:xfrm>
              <a:off x="9611247" y="3050112"/>
              <a:ext cx="966530" cy="0"/>
            </a:xfrm>
            <a:prstGeom prst="line">
              <a:avLst/>
            </a:prstGeom>
            <a:ln>
              <a:solidFill>
                <a:schemeClr val="tx2">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圆角矩形 63">
              <a:extLst>
                <a:ext uri="{FF2B5EF4-FFF2-40B4-BE49-F238E27FC236}">
                  <a16:creationId xmlns:a16="http://schemas.microsoft.com/office/drawing/2014/main" id="{398BC996-78CD-9E0C-56DB-14531B6446BE}"/>
                </a:ext>
              </a:extLst>
            </p:cNvPr>
            <p:cNvSpPr/>
            <p:nvPr/>
          </p:nvSpPr>
          <p:spPr>
            <a:xfrm>
              <a:off x="9806208" y="2384425"/>
              <a:ext cx="659324" cy="881697"/>
            </a:xfrm>
            <a:prstGeom prst="roundRect">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b="1" dirty="0">
                  <a:solidFill>
                    <a:schemeClr val="tx1"/>
                  </a:solidFill>
                  <a:latin typeface="Microsoft YaHei" panose="020B0503020204020204" pitchFamily="34" charset="-122"/>
                  <a:ea typeface="Microsoft YaHei" panose="020B0503020204020204" pitchFamily="34" charset="-122"/>
                </a:rPr>
                <a:t>Group</a:t>
              </a:r>
              <a:r>
                <a:rPr kumimoji="1" lang="zh-CN" altLang="en-US" sz="800" b="1" dirty="0">
                  <a:solidFill>
                    <a:schemeClr val="tx1"/>
                  </a:solidFill>
                  <a:latin typeface="Microsoft YaHei" panose="020B0503020204020204" pitchFamily="34" charset="-122"/>
                  <a:ea typeface="Microsoft YaHei" panose="020B0503020204020204" pitchFamily="34" charset="-122"/>
                </a:rPr>
                <a:t> </a:t>
              </a:r>
              <a:r>
                <a:rPr kumimoji="1" lang="en-US" altLang="zh-CN" sz="800" b="1" dirty="0">
                  <a:solidFill>
                    <a:schemeClr val="tx1"/>
                  </a:solidFill>
                  <a:latin typeface="Microsoft YaHei" panose="020B0503020204020204" pitchFamily="34" charset="-122"/>
                  <a:ea typeface="Microsoft YaHei" panose="020B0503020204020204" pitchFamily="34" charset="-122"/>
                </a:rPr>
                <a:t>Locking</a:t>
              </a:r>
            </a:p>
          </p:txBody>
        </p:sp>
        <p:sp>
          <p:nvSpPr>
            <p:cNvPr id="33" name="连接器 65">
              <a:extLst>
                <a:ext uri="{FF2B5EF4-FFF2-40B4-BE49-F238E27FC236}">
                  <a16:creationId xmlns:a16="http://schemas.microsoft.com/office/drawing/2014/main" id="{3298573C-F849-B6C0-477D-97889DCB17C4}"/>
                </a:ext>
              </a:extLst>
            </p:cNvPr>
            <p:cNvSpPr/>
            <p:nvPr/>
          </p:nvSpPr>
          <p:spPr>
            <a:xfrm>
              <a:off x="9296119" y="2979210"/>
              <a:ext cx="213334" cy="138241"/>
            </a:xfrm>
            <a:prstGeom prst="flowChartConnector">
              <a:avLst/>
            </a:prstGeom>
            <a:solidFill>
              <a:schemeClr val="accent2"/>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600" dirty="0">
                <a:solidFill>
                  <a:schemeClr val="tx1"/>
                </a:solidFill>
                <a:latin typeface="Microsoft YaHei" panose="020B0503020204020204" pitchFamily="34" charset="-122"/>
                <a:ea typeface="Microsoft YaHei" panose="020B0503020204020204" pitchFamily="34" charset="-122"/>
              </a:endParaRPr>
            </a:p>
          </p:txBody>
        </p:sp>
      </p:grpSp>
      <p:pic>
        <p:nvPicPr>
          <p:cNvPr id="34" name="图片 33">
            <a:extLst>
              <a:ext uri="{FF2B5EF4-FFF2-40B4-BE49-F238E27FC236}">
                <a16:creationId xmlns:a16="http://schemas.microsoft.com/office/drawing/2014/main" id="{B842906D-91CA-4469-F447-B9E887013990}"/>
              </a:ext>
            </a:extLst>
          </p:cNvPr>
          <p:cNvPicPr>
            <a:picLocks noChangeAspect="1"/>
          </p:cNvPicPr>
          <p:nvPr/>
        </p:nvPicPr>
        <p:blipFill>
          <a:blip r:embed="rId2"/>
          <a:stretch>
            <a:fillRect/>
          </a:stretch>
        </p:blipFill>
        <p:spPr>
          <a:xfrm>
            <a:off x="3363685" y="5230033"/>
            <a:ext cx="6323003" cy="1611150"/>
          </a:xfrm>
          <a:prstGeom prst="rect">
            <a:avLst/>
          </a:prstGeom>
          <a:ln>
            <a:solidFill>
              <a:schemeClr val="tx2">
                <a:lumMod val="75000"/>
                <a:lumOff val="25000"/>
              </a:schemeClr>
            </a:solidFill>
            <a:prstDash val="dash"/>
          </a:ln>
        </p:spPr>
      </p:pic>
    </p:spTree>
    <p:extLst>
      <p:ext uri="{BB962C8B-B14F-4D97-AF65-F5344CB8AC3E}">
        <p14:creationId xmlns:p14="http://schemas.microsoft.com/office/powerpoint/2010/main" val="3245297412"/>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D16A2-39FF-D558-52E4-1EAB666C2BE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EAC1C02-CE11-B6E7-6535-313F0A4ED15C}"/>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Group</a:t>
            </a:r>
            <a:r>
              <a:rPr lang="zh-CN" altLang="en-US"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Commit</a:t>
            </a:r>
          </a:p>
        </p:txBody>
      </p:sp>
      <p:sp>
        <p:nvSpPr>
          <p:cNvPr id="3" name="矩形 2">
            <a:extLst>
              <a:ext uri="{FF2B5EF4-FFF2-40B4-BE49-F238E27FC236}">
                <a16:creationId xmlns:a16="http://schemas.microsoft.com/office/drawing/2014/main" id="{7426AA6D-6D73-6F99-F39C-C2F97AEAFC8A}"/>
              </a:ext>
            </a:extLst>
          </p:cNvPr>
          <p:cNvSpPr/>
          <p:nvPr/>
        </p:nvSpPr>
        <p:spPr>
          <a:xfrm>
            <a:off x="302591" y="882428"/>
            <a:ext cx="6881979" cy="6555641"/>
          </a:xfrm>
          <a:prstGeom prst="rect">
            <a:avLst/>
          </a:prstGeom>
        </p:spPr>
        <p:txBody>
          <a:bodyPr wrap="square">
            <a:spAutoFit/>
          </a:bodyPr>
          <a:lstStyle/>
          <a:p>
            <a:pPr marL="342900" indent="-342900">
              <a:buFont typeface="Wingdings" pitchFamily="2" charset="2"/>
              <a:buChar char="Ø"/>
            </a:pPr>
            <a:r>
              <a:rPr lang="en" altLang="zh-CN" sz="2000" b="1" dirty="0">
                <a:latin typeface="Times New Roman" panose="02020603050405020304" pitchFamily="18" charset="0"/>
                <a:cs typeface="Times New Roman" panose="02020603050405020304" pitchFamily="18" charset="0"/>
              </a:rPr>
              <a:t>Problem</a:t>
            </a:r>
          </a:p>
          <a:p>
            <a:pPr marL="800100" lvl="1"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Group locking decouples </a:t>
            </a:r>
            <a:r>
              <a:rPr lang="en" altLang="zh-CN" sz="2000" b="1" dirty="0">
                <a:latin typeface="Times New Roman" panose="02020603050405020304" pitchFamily="18" charset="0"/>
                <a:cs typeface="Times New Roman" panose="02020603050405020304" pitchFamily="18" charset="0"/>
              </a:rPr>
              <a:t>update</a:t>
            </a:r>
            <a:r>
              <a:rPr lang="en" altLang="zh-CN" sz="2000" dirty="0">
                <a:latin typeface="Times New Roman" panose="02020603050405020304" pitchFamily="18" charset="0"/>
                <a:cs typeface="Times New Roman" panose="02020603050405020304" pitchFamily="18" charset="0"/>
              </a:rPr>
              <a:t> and </a:t>
            </a:r>
            <a:r>
              <a:rPr lang="en" altLang="zh-CN" sz="2000" b="1" dirty="0">
                <a:latin typeface="Times New Roman" panose="02020603050405020304" pitchFamily="18" charset="0"/>
                <a:cs typeface="Times New Roman" panose="02020603050405020304" pitchFamily="18" charset="0"/>
              </a:rPr>
              <a:t>commit</a:t>
            </a:r>
          </a:p>
          <a:p>
            <a:pPr marL="800100" lvl="1"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Multiple transactions reach the commit phase concurrently</a:t>
            </a:r>
          </a:p>
          <a:p>
            <a:pPr marL="800100" lvl="1"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Without coordination:</a:t>
            </a:r>
          </a:p>
          <a:p>
            <a:pPr marL="1257300" lvl="2"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Commit order may differ from update order</a:t>
            </a:r>
          </a:p>
          <a:p>
            <a:pPr marL="1257300" lvl="2"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Commit phase (Flush / Sync / Commit) becomes a bottleneck</a:t>
            </a:r>
          </a:p>
          <a:p>
            <a:pPr marL="342900" indent="-342900">
              <a:buFont typeface="Wingdings" pitchFamily="2" charset="2"/>
              <a:buChar char="Ø"/>
            </a:pPr>
            <a:r>
              <a:rPr lang="en" altLang="zh-CN" sz="2000" b="1" dirty="0">
                <a:latin typeface="Times New Roman" panose="02020603050405020304" pitchFamily="18" charset="0"/>
                <a:cs typeface="Times New Roman" panose="02020603050405020304" pitchFamily="18" charset="0"/>
              </a:rPr>
              <a:t>Idea</a:t>
            </a:r>
          </a:p>
          <a:p>
            <a:pPr marL="800100" lvl="1"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Enforce commit order while batching commit operations</a:t>
            </a:r>
          </a:p>
          <a:p>
            <a:pPr marL="342900" indent="-342900">
              <a:buFont typeface="Wingdings" pitchFamily="2" charset="2"/>
              <a:buChar char="Ø"/>
            </a:pPr>
            <a:r>
              <a:rPr lang="en" altLang="zh-CN" sz="2000" b="1" dirty="0">
                <a:latin typeface="Times New Roman" panose="02020603050405020304" pitchFamily="18" charset="0"/>
                <a:cs typeface="Times New Roman" panose="02020603050405020304" pitchFamily="18" charset="0"/>
              </a:rPr>
              <a:t>How</a:t>
            </a:r>
          </a:p>
          <a:p>
            <a:pPr marL="800100" lvl="1" indent="-342900">
              <a:buFont typeface="Wingdings" pitchFamily="2" charset="2"/>
              <a:buChar char="Ø"/>
            </a:pPr>
            <a:r>
              <a:rPr lang="en" altLang="zh-CN" sz="2000" b="1" dirty="0">
                <a:latin typeface="Times New Roman" panose="02020603050405020304" pitchFamily="18" charset="0"/>
                <a:cs typeface="Times New Roman" panose="02020603050405020304" pitchFamily="18" charset="0"/>
              </a:rPr>
              <a:t>Commit-phase group commit</a:t>
            </a:r>
          </a:p>
          <a:p>
            <a:pPr marL="1257300" lvl="2"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Followers join the same Flush / Sync</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steps in the leader’s IO process</a:t>
            </a:r>
            <a:endParaRPr lang="en" altLang="zh-CN" sz="2000" dirty="0">
              <a:latin typeface="Times New Roman" panose="02020603050405020304" pitchFamily="18" charset="0"/>
              <a:cs typeface="Times New Roman" panose="02020603050405020304" pitchFamily="18" charset="0"/>
            </a:endParaRPr>
          </a:p>
          <a:p>
            <a:pPr marL="1257300" lvl="2"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Commit completes in update order</a:t>
            </a:r>
          </a:p>
          <a:p>
            <a:pPr marL="1257300" lvl="2" indent="-342900">
              <a:buFont typeface="Wingdings" pitchFamily="2" charset="2"/>
              <a:buChar char="Ø"/>
            </a:pPr>
            <a:r>
              <a:rPr lang="en" altLang="zh-CN" sz="2000" dirty="0">
                <a:latin typeface="Times New Roman" panose="02020603050405020304" pitchFamily="18" charset="0"/>
                <a:cs typeface="Times New Roman" panose="02020603050405020304" pitchFamily="18" charset="0"/>
              </a:rPr>
              <a:t>When the leader of a commit phase group releases the lock, a group commit can occur</a:t>
            </a:r>
          </a:p>
          <a:p>
            <a:pPr marL="1257300" lvl="2" indent="-342900">
              <a:buFont typeface="Wingdings" pitchFamily="2" charset="2"/>
              <a:buChar char="Ø"/>
            </a:pPr>
            <a:endParaRPr lang="en" altLang="zh-CN" sz="2000" dirty="0">
              <a:latin typeface="Times New Roman" panose="02020603050405020304" pitchFamily="18" charset="0"/>
              <a:cs typeface="Times New Roman" panose="02020603050405020304" pitchFamily="18" charset="0"/>
            </a:endParaRPr>
          </a:p>
          <a:p>
            <a:pPr marL="1257300" lvl="2" indent="-342900">
              <a:buFont typeface="Wingdings" pitchFamily="2" charset="2"/>
              <a:buChar char="Ø"/>
            </a:pPr>
            <a:endParaRPr lang="en" altLang="zh-CN" sz="2000" dirty="0">
              <a:latin typeface="Times New Roman" panose="02020603050405020304" pitchFamily="18" charset="0"/>
              <a:cs typeface="Times New Roman" panose="02020603050405020304" pitchFamily="18" charset="0"/>
            </a:endParaRPr>
          </a:p>
          <a:p>
            <a:pPr marL="1257300" lvl="2" indent="-342900">
              <a:buFont typeface="Wingdings" pitchFamily="2" charset="2"/>
              <a:buChar char="Ø"/>
            </a:pPr>
            <a:endParaRPr lang="en" altLang="zh-CN" sz="200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endParaRPr lang="en" altLang="zh-CN" sz="20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6A3524BD-2C38-0453-1325-69FCDA432248}"/>
              </a:ext>
            </a:extLst>
          </p:cNvPr>
          <p:cNvPicPr>
            <a:picLocks noChangeAspect="1"/>
          </p:cNvPicPr>
          <p:nvPr/>
        </p:nvPicPr>
        <p:blipFill>
          <a:blip r:embed="rId2"/>
          <a:stretch>
            <a:fillRect/>
          </a:stretch>
        </p:blipFill>
        <p:spPr>
          <a:xfrm>
            <a:off x="7083864" y="1120049"/>
            <a:ext cx="4805544" cy="4464322"/>
          </a:xfrm>
          <a:prstGeom prst="rect">
            <a:avLst/>
          </a:prstGeom>
        </p:spPr>
      </p:pic>
    </p:spTree>
    <p:extLst>
      <p:ext uri="{BB962C8B-B14F-4D97-AF65-F5344CB8AC3E}">
        <p14:creationId xmlns:p14="http://schemas.microsoft.com/office/powerpoint/2010/main" val="106089343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6F147-82A4-8A36-8B2D-94D41B85D5D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AC6F841-6298-7D63-44FD-4CF626500425}"/>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Performance Evaluation</a:t>
            </a:r>
          </a:p>
        </p:txBody>
      </p:sp>
      <p:sp>
        <p:nvSpPr>
          <p:cNvPr id="3" name="矩形 2">
            <a:extLst>
              <a:ext uri="{FF2B5EF4-FFF2-40B4-BE49-F238E27FC236}">
                <a16:creationId xmlns:a16="http://schemas.microsoft.com/office/drawing/2014/main" id="{6571654A-7FA1-5565-63A4-A6022C3D47AB}"/>
              </a:ext>
            </a:extLst>
          </p:cNvPr>
          <p:cNvSpPr/>
          <p:nvPr/>
        </p:nvSpPr>
        <p:spPr>
          <a:xfrm>
            <a:off x="302592" y="882428"/>
            <a:ext cx="10155202" cy="3477875"/>
          </a:xfrm>
          <a:prstGeom prst="rect">
            <a:avLst/>
          </a:prstGeom>
        </p:spPr>
        <p:txBody>
          <a:bodyPr wrap="square">
            <a:spAutoFit/>
          </a:bodyPr>
          <a:lstStyle/>
          <a:p>
            <a:pPr marL="342900" indent="-342900">
              <a:buClr>
                <a:schemeClr val="tx1"/>
              </a:buClr>
              <a:buFont typeface="Wingdings" pitchFamily="2" charset="2"/>
              <a:buChar char="Ø"/>
              <a:defRPr/>
            </a:pPr>
            <a:r>
              <a:rPr lang="en-US" altLang="zh-CN" sz="2000" b="1" dirty="0">
                <a:latin typeface="Times New Roman" panose="02020603050405020304" pitchFamily="18" charset="0"/>
                <a:cs typeface="Times New Roman" panose="02020603050405020304" pitchFamily="18" charset="0"/>
              </a:rPr>
              <a:t>The workloads</a:t>
            </a:r>
            <a:endParaRPr lang="en-US" altLang="en-US" sz="2000" b="1" dirty="0">
              <a:latin typeface="Times New Roman" panose="02020603050405020304" pitchFamily="18" charset="0"/>
              <a:cs typeface="Times New Roman" panose="02020603050405020304" pitchFamily="18" charset="0"/>
            </a:endParaRPr>
          </a:p>
          <a:p>
            <a:pPr marL="742950" lvl="1" indent="-285750">
              <a:buClr>
                <a:schemeClr val="tx1"/>
              </a:buClr>
              <a:buFont typeface="Wingdings" pitchFamily="2" charset="2"/>
              <a:buChar char="Ø"/>
              <a:defRPr/>
            </a:pPr>
            <a:r>
              <a:rPr lang="en-US" altLang="zh-CN" sz="2000" b="1" dirty="0" err="1">
                <a:solidFill>
                  <a:srgbClr val="FF0000"/>
                </a:solidFill>
                <a:latin typeface="Times New Roman" panose="02020603050405020304" pitchFamily="18" charset="0"/>
                <a:cs typeface="Times New Roman" panose="02020603050405020304" pitchFamily="18" charset="0"/>
              </a:rPr>
              <a:t>Sysbench</a:t>
            </a:r>
            <a:r>
              <a:rPr lang="en-US" altLang="zh-CN" sz="2000" b="1" dirty="0">
                <a:latin typeface="Times New Roman" panose="02020603050405020304" pitchFamily="18" charset="0"/>
                <a:cs typeface="Times New Roman" panose="02020603050405020304" pitchFamily="18" charset="0"/>
              </a:rPr>
              <a:t> </a:t>
            </a:r>
          </a:p>
          <a:p>
            <a:pPr marL="742950" lvl="1" indent="-285750">
              <a:buClr>
                <a:schemeClr val="tx1"/>
              </a:buClr>
              <a:buFont typeface="Wingdings" pitchFamily="2" charset="2"/>
              <a:buChar char="Ø"/>
              <a:defRPr/>
            </a:pPr>
            <a:r>
              <a:rPr lang="en-US" altLang="zh-CN" sz="2000" b="1" dirty="0">
                <a:solidFill>
                  <a:srgbClr val="FF0000"/>
                </a:solidFill>
                <a:latin typeface="Times New Roman" panose="02020603050405020304" pitchFamily="18" charset="0"/>
                <a:cs typeface="Times New Roman" panose="02020603050405020304" pitchFamily="18" charset="0"/>
              </a:rPr>
              <a:t>TPC-C</a:t>
            </a:r>
          </a:p>
          <a:p>
            <a:pPr marL="742950" lvl="1" indent="-285750">
              <a:buClr>
                <a:schemeClr val="tx1"/>
              </a:buClr>
              <a:buFont typeface="Wingdings" pitchFamily="2" charset="2"/>
              <a:buChar char="Ø"/>
              <a:defRPr/>
            </a:pPr>
            <a:r>
              <a:rPr lang="en-US" altLang="zh-CN" sz="2000" b="1" dirty="0" err="1">
                <a:solidFill>
                  <a:srgbClr val="FF0000"/>
                </a:solidFill>
                <a:latin typeface="Times New Roman" panose="02020603050405020304" pitchFamily="18" charset="0"/>
                <a:cs typeface="Times New Roman" panose="02020603050405020304" pitchFamily="18" charset="0"/>
              </a:rPr>
              <a:t>FiT</a:t>
            </a:r>
            <a:r>
              <a:rPr lang="zh-CN" altLang="en-US" sz="2000" dirty="0">
                <a:solidFill>
                  <a:srgbClr val="FF0000"/>
                </a:solidFill>
                <a:latin typeface="Times New Roman" panose="02020603050405020304" pitchFamily="18" charset="0"/>
                <a:cs typeface="Times New Roman" panose="02020603050405020304" pitchFamily="18" charset="0"/>
              </a:rPr>
              <a:t> </a:t>
            </a:r>
            <a:r>
              <a:rPr lang="en" altLang="zh-CN" sz="2000" dirty="0">
                <a:solidFill>
                  <a:schemeClr val="tx1">
                    <a:lumMod val="75000"/>
                    <a:lumOff val="25000"/>
                  </a:schemeClr>
                </a:solidFill>
                <a:latin typeface="Times New Roman" panose="02020603050405020304" pitchFamily="18" charset="0"/>
                <a:cs typeface="Times New Roman" panose="02020603050405020304" pitchFamily="18" charset="0"/>
              </a:rPr>
              <a:t>simulates</a:t>
            </a:r>
            <a:r>
              <a:rPr lang="zh-CN" altLang="en-US" sz="20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 altLang="zh-CN" sz="2000" dirty="0">
                <a:solidFill>
                  <a:schemeClr val="tx1">
                    <a:lumMod val="75000"/>
                    <a:lumOff val="25000"/>
                  </a:schemeClr>
                </a:solidFill>
                <a:latin typeface="Times New Roman" panose="02020603050405020304" pitchFamily="18" charset="0"/>
                <a:cs typeface="Times New Roman" panose="02020603050405020304" pitchFamily="18" charset="0"/>
              </a:rPr>
              <a:t>the transaction operations of the Financial Transaction system in</a:t>
            </a:r>
            <a:r>
              <a:rPr lang="zh-CN" altLang="en-US" sz="20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 altLang="zh-CN" sz="2000" dirty="0">
                <a:solidFill>
                  <a:schemeClr val="tx1">
                    <a:lumMod val="75000"/>
                    <a:lumOff val="25000"/>
                  </a:schemeClr>
                </a:solidFill>
                <a:latin typeface="Times New Roman" panose="02020603050405020304" pitchFamily="18" charset="0"/>
                <a:cs typeface="Times New Roman" panose="02020603050405020304" pitchFamily="18" charset="0"/>
              </a:rPr>
              <a:t>Tencent.</a:t>
            </a:r>
            <a:endParaRPr lang="en-US" altLang="zh-CN" sz="20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342900" indent="-342900">
              <a:buClr>
                <a:schemeClr val="tx1"/>
              </a:buClr>
              <a:buFont typeface="Wingdings" pitchFamily="2" charset="2"/>
              <a:buChar char="Ø"/>
              <a:defRPr/>
            </a:pPr>
            <a:r>
              <a:rPr lang="en-US" altLang="en-US" sz="2000" b="1" dirty="0">
                <a:latin typeface="Times New Roman" panose="02020603050405020304" pitchFamily="18" charset="0"/>
                <a:cs typeface="Times New Roman" panose="02020603050405020304" pitchFamily="18" charset="0"/>
              </a:rPr>
              <a:t>Experiment setup</a:t>
            </a:r>
          </a:p>
          <a:p>
            <a:pPr marL="742950" lvl="1" indent="-285750">
              <a:buClr>
                <a:schemeClr val="tx1"/>
              </a:buClr>
              <a:buFont typeface="Wingdings" pitchFamily="2" charset="2"/>
              <a:buChar char="Ø"/>
              <a:defRPr/>
            </a:pPr>
            <a:r>
              <a:rPr lang="en" altLang="zh-CN" sz="2000" dirty="0">
                <a:latin typeface="Times New Roman" panose="02020603050405020304" pitchFamily="18" charset="0"/>
                <a:cs typeface="Times New Roman" panose="02020603050405020304" pitchFamily="18" charset="0"/>
              </a:rPr>
              <a:t>Intel(R) Xeon(R) Gold 6133 CPU @2.50GHz, featuring 80</a:t>
            </a:r>
            <a:r>
              <a:rPr lang="zh-CN" altLang="en-US" sz="2000" dirty="0">
                <a:latin typeface="Times New Roman" panose="02020603050405020304" pitchFamily="18" charset="0"/>
                <a:cs typeface="Times New Roman" panose="02020603050405020304" pitchFamily="18" charset="0"/>
              </a:rPr>
              <a:t> </a:t>
            </a:r>
            <a:r>
              <a:rPr lang="en" altLang="zh-CN" sz="2000" dirty="0">
                <a:latin typeface="Times New Roman" panose="02020603050405020304" pitchFamily="18" charset="0"/>
                <a:cs typeface="Times New Roman" panose="02020603050405020304" pitchFamily="18" charset="0"/>
              </a:rPr>
              <a:t>cores</a:t>
            </a:r>
            <a:endParaRPr lang="en-US" altLang="zh-CN" sz="2000" dirty="0">
              <a:latin typeface="Times New Roman" panose="02020603050405020304" pitchFamily="18" charset="0"/>
              <a:cs typeface="Times New Roman" panose="02020603050405020304" pitchFamily="18" charset="0"/>
            </a:endParaRPr>
          </a:p>
          <a:p>
            <a:pPr marL="742950" lvl="1" indent="-285750">
              <a:buClr>
                <a:schemeClr val="tx1"/>
              </a:buClr>
              <a:buFont typeface="Wingdings" pitchFamily="2" charset="2"/>
              <a:buChar char="Ø"/>
              <a:defRPr/>
            </a:pPr>
            <a:r>
              <a:rPr lang="en" altLang="zh-CN" sz="2000" dirty="0">
                <a:latin typeface="Times New Roman" panose="02020603050405020304" pitchFamily="18" charset="0"/>
                <a:cs typeface="Times New Roman" panose="02020603050405020304" pitchFamily="18" charset="0"/>
              </a:rPr>
              <a:t>753 GB of DRAM, and a 15 TB SSD</a:t>
            </a:r>
            <a:endParaRPr lang="en-US" altLang="en-US" sz="2000" dirty="0">
              <a:latin typeface="Times New Roman" panose="02020603050405020304" pitchFamily="18" charset="0"/>
              <a:cs typeface="Times New Roman" panose="02020603050405020304" pitchFamily="18" charset="0"/>
            </a:endParaRPr>
          </a:p>
          <a:p>
            <a:pPr marL="342900" indent="-342900">
              <a:buClr>
                <a:schemeClr val="tx1"/>
              </a:buClr>
              <a:buFont typeface="Wingdings" pitchFamily="2" charset="2"/>
              <a:buChar char="Ø"/>
              <a:defRPr/>
            </a:pPr>
            <a:r>
              <a:rPr lang="en-US" altLang="zh-CN" sz="2000" b="1" dirty="0">
                <a:latin typeface="Times New Roman" panose="02020603050405020304" pitchFamily="18" charset="0"/>
                <a:cs typeface="Times New Roman" panose="02020603050405020304" pitchFamily="18" charset="0"/>
              </a:rPr>
              <a:t>Compare</a:t>
            </a: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methods</a:t>
            </a:r>
            <a:endParaRPr lang="en-US" altLang="en-US" sz="2000" b="1" dirty="0">
              <a:latin typeface="Times New Roman" panose="02020603050405020304" pitchFamily="18" charset="0"/>
              <a:cs typeface="Times New Roman" panose="02020603050405020304" pitchFamily="18" charset="0"/>
            </a:endParaRPr>
          </a:p>
          <a:p>
            <a:pPr marL="800100" lvl="1" indent="-342900">
              <a:buClr>
                <a:schemeClr val="tx1"/>
              </a:buClr>
              <a:buFont typeface="Wingdings" pitchFamily="2" charset="2"/>
              <a:buChar char="Ø"/>
              <a:defRPr/>
            </a:pPr>
            <a:endParaRPr lang="en-US" altLang="zh-CN" sz="2000" dirty="0">
              <a:latin typeface="Times New Roman" panose="02020603050405020304" pitchFamily="18" charset="0"/>
              <a:cs typeface="Times New Roman" panose="02020603050405020304" pitchFamily="18" charset="0"/>
            </a:endParaRPr>
          </a:p>
          <a:p>
            <a:pPr marL="742950" lvl="1" indent="-285750">
              <a:buClr>
                <a:schemeClr val="tx1"/>
              </a:buClr>
              <a:buFont typeface="Wingdings" pitchFamily="2" charset="2"/>
              <a:buChar char="Ø"/>
              <a:defRPr/>
            </a:pPr>
            <a:endParaRPr lang="en-US" altLang="zh-CN" sz="2000" dirty="0">
              <a:latin typeface="Times New Roman" panose="02020603050405020304" pitchFamily="18" charset="0"/>
              <a:cs typeface="Times New Roman" panose="02020603050405020304" pitchFamily="18" charset="0"/>
            </a:endParaRPr>
          </a:p>
          <a:p>
            <a:pPr marL="742950" lvl="1" indent="-285750">
              <a:buClr>
                <a:schemeClr val="tx1"/>
              </a:buClr>
              <a:buFont typeface="Wingdings" pitchFamily="2" charset="2"/>
              <a:buChar char="Ø"/>
              <a:defRPr/>
            </a:pPr>
            <a:endParaRPr lang="en-US" altLang="en-US" sz="2000" kern="0" dirty="0">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F4F815B0-B580-E855-BEB4-CF11B38E799E}"/>
              </a:ext>
            </a:extLst>
          </p:cNvPr>
          <p:cNvGraphicFramePr>
            <a:graphicFrameLocks noGrp="1"/>
          </p:cNvGraphicFramePr>
          <p:nvPr>
            <p:extLst>
              <p:ext uri="{D42A27DB-BD31-4B8C-83A1-F6EECF244321}">
                <p14:modId xmlns:p14="http://schemas.microsoft.com/office/powerpoint/2010/main" val="194113093"/>
              </p:ext>
            </p:extLst>
          </p:nvPr>
        </p:nvGraphicFramePr>
        <p:xfrm>
          <a:off x="2828881" y="3557572"/>
          <a:ext cx="7628913" cy="2418000"/>
        </p:xfrm>
        <a:graphic>
          <a:graphicData uri="http://schemas.openxmlformats.org/drawingml/2006/table">
            <a:tbl>
              <a:tblPr firstRow="1" bandRow="1">
                <a:tableStyleId>{69012ECD-51FC-41F1-AA8D-1B2483CD663E}</a:tableStyleId>
              </a:tblPr>
              <a:tblGrid>
                <a:gridCol w="1644162">
                  <a:extLst>
                    <a:ext uri="{9D8B030D-6E8A-4147-A177-3AD203B41FA5}">
                      <a16:colId xmlns:a16="http://schemas.microsoft.com/office/drawing/2014/main" val="3762283984"/>
                    </a:ext>
                  </a:extLst>
                </a:gridCol>
                <a:gridCol w="5984751">
                  <a:extLst>
                    <a:ext uri="{9D8B030D-6E8A-4147-A177-3AD203B41FA5}">
                      <a16:colId xmlns:a16="http://schemas.microsoft.com/office/drawing/2014/main" val="4025350404"/>
                    </a:ext>
                  </a:extLst>
                </a:gridCol>
              </a:tblGrid>
              <a:tr h="331839">
                <a:tc>
                  <a:txBody>
                    <a:bodyPr/>
                    <a:lstStyle/>
                    <a:p>
                      <a:pPr algn="ctr"/>
                      <a:r>
                        <a:rPr lang="en-US" altLang="zh-CN" sz="1800" dirty="0">
                          <a:solidFill>
                            <a:schemeClr val="bg1"/>
                          </a:solidFill>
                          <a:latin typeface="Times New Roman" panose="02020603050405020304" pitchFamily="18" charset="0"/>
                          <a:cs typeface="Times New Roman" panose="02020603050405020304" pitchFamily="18" charset="0"/>
                        </a:rPr>
                        <a:t>Methods</a:t>
                      </a:r>
                      <a:endParaRPr lang="en-US" sz="1800" dirty="0">
                        <a:solidFill>
                          <a:schemeClr val="bg1"/>
                        </a:solidFill>
                        <a:latin typeface="Times New Roman" panose="02020603050405020304" pitchFamily="18" charset="0"/>
                        <a:cs typeface="Times New Roman" panose="02020603050405020304" pitchFamily="18" charset="0"/>
                      </a:endParaRPr>
                    </a:p>
                  </a:txBody>
                  <a:tcPr marL="99552" marR="99552" marT="49776" marB="49776"/>
                </a:tc>
                <a:tc>
                  <a:txBody>
                    <a:bodyPr/>
                    <a:lstStyle/>
                    <a:p>
                      <a:pPr algn="ctr"/>
                      <a:r>
                        <a:rPr lang="en-US" altLang="zh-CN" sz="1800" dirty="0">
                          <a:solidFill>
                            <a:schemeClr val="bg1"/>
                          </a:solidFill>
                          <a:latin typeface="Times New Roman" panose="02020603050405020304" pitchFamily="18" charset="0"/>
                          <a:cs typeface="Times New Roman" panose="02020603050405020304" pitchFamily="18" charset="0"/>
                        </a:rPr>
                        <a:t>Description</a:t>
                      </a:r>
                      <a:endParaRPr lang="en-US" sz="1800" dirty="0">
                        <a:solidFill>
                          <a:schemeClr val="bg1"/>
                        </a:solidFill>
                        <a:latin typeface="Times New Roman" panose="02020603050405020304" pitchFamily="18" charset="0"/>
                        <a:cs typeface="Times New Roman" panose="02020603050405020304" pitchFamily="18" charset="0"/>
                      </a:endParaRPr>
                    </a:p>
                  </a:txBody>
                  <a:tcPr marL="99552" marR="99552" marT="49776" marB="49776"/>
                </a:tc>
                <a:extLst>
                  <a:ext uri="{0D108BD9-81ED-4DB2-BD59-A6C34878D82A}">
                    <a16:rowId xmlns:a16="http://schemas.microsoft.com/office/drawing/2014/main" val="2029601541"/>
                  </a:ext>
                </a:extLst>
              </a:tr>
              <a:tr h="331839">
                <a:tc>
                  <a:txBody>
                    <a:bodyPr/>
                    <a:lstStyle/>
                    <a:p>
                      <a:pPr algn="ctr"/>
                      <a:r>
                        <a:rPr lang="en-US" altLang="zh-CN" sz="1800" b="1" dirty="0">
                          <a:solidFill>
                            <a:srgbClr val="FF0000"/>
                          </a:solidFill>
                          <a:latin typeface="Times New Roman" panose="02020603050405020304" pitchFamily="18" charset="0"/>
                          <a:cs typeface="Times New Roman" panose="02020603050405020304" pitchFamily="18" charset="0"/>
                        </a:rPr>
                        <a:t>MySQL</a:t>
                      </a:r>
                      <a:endParaRPr lang="en-US" sz="1800" b="1" dirty="0">
                        <a:solidFill>
                          <a:srgbClr val="FF0000"/>
                        </a:solidFill>
                        <a:latin typeface="Times New Roman" panose="02020603050405020304" pitchFamily="18" charset="0"/>
                        <a:cs typeface="Times New Roman" panose="02020603050405020304" pitchFamily="18" charset="0"/>
                      </a:endParaRPr>
                    </a:p>
                  </a:txBody>
                  <a:tcPr marL="99552" marR="99552" marT="49776" marB="49776"/>
                </a:tc>
                <a:tc>
                  <a:txBody>
                    <a:bodyPr/>
                    <a:lstStyle/>
                    <a:p>
                      <a:pPr algn="ctr"/>
                      <a:r>
                        <a:rPr lang="en" altLang="zh-CN" sz="1800" kern="1200">
                          <a:solidFill>
                            <a:schemeClr val="tx1"/>
                          </a:solidFill>
                          <a:latin typeface="Times New Roman" panose="02020603050405020304" pitchFamily="18" charset="0"/>
                          <a:ea typeface="+mn-ea"/>
                          <a:cs typeface="Times New Roman" panose="02020603050405020304" pitchFamily="18" charset="0"/>
                        </a:rPr>
                        <a:t>The base</a:t>
                      </a:r>
                      <a:r>
                        <a:rPr lang="zh-CN" altLang="en-US" sz="1800" kern="1200">
                          <a:solidFill>
                            <a:schemeClr val="tx1"/>
                          </a:solidFill>
                          <a:latin typeface="Times New Roman" panose="02020603050405020304" pitchFamily="18" charset="0"/>
                          <a:ea typeface="+mn-ea"/>
                          <a:cs typeface="Times New Roman" panose="02020603050405020304" pitchFamily="18" charset="0"/>
                        </a:rPr>
                        <a:t> </a:t>
                      </a:r>
                      <a:r>
                        <a:rPr lang="en" altLang="zh-CN" sz="1800" kern="1200">
                          <a:solidFill>
                            <a:schemeClr val="tx1"/>
                          </a:solidFill>
                          <a:latin typeface="Times New Roman" panose="02020603050405020304" pitchFamily="18" charset="0"/>
                          <a:ea typeface="+mn-ea"/>
                          <a:cs typeface="Times New Roman" panose="02020603050405020304" pitchFamily="18" charset="0"/>
                        </a:rPr>
                        <a:t>database MySQL v8.0.30</a:t>
                      </a:r>
                    </a:p>
                  </a:txBody>
                  <a:tcPr marL="99552" marR="99552" marT="49776" marB="49776"/>
                </a:tc>
                <a:extLst>
                  <a:ext uri="{0D108BD9-81ED-4DB2-BD59-A6C34878D82A}">
                    <a16:rowId xmlns:a16="http://schemas.microsoft.com/office/drawing/2014/main" val="4076972127"/>
                  </a:ext>
                </a:extLst>
              </a:tr>
              <a:tr h="564126">
                <a:tc>
                  <a:txBody>
                    <a:bodyPr/>
                    <a:lstStyle/>
                    <a:p>
                      <a:pPr marL="0" algn="ctr" defTabSz="914400" rtl="0" eaLnBrk="1" latinLnBrk="0" hangingPunct="1"/>
                      <a:r>
                        <a:rPr lang="en-US" altLang="zh-CN" sz="1800" b="1" u="sng" kern="1200" dirty="0" err="1">
                          <a:solidFill>
                            <a:srgbClr val="FF0000"/>
                          </a:solidFill>
                          <a:latin typeface="Times New Roman" panose="02020603050405020304" pitchFamily="18" charset="0"/>
                          <a:cs typeface="Times New Roman" panose="02020603050405020304" pitchFamily="18" charset="0"/>
                        </a:rPr>
                        <a:t>TXSQL</a:t>
                      </a:r>
                      <a:endParaRPr lang="en-US" sz="1800" b="1" u="sng" kern="1200" dirty="0">
                        <a:solidFill>
                          <a:srgbClr val="FF0000"/>
                        </a:solidFill>
                        <a:latin typeface="Times New Roman" panose="02020603050405020304" pitchFamily="18" charset="0"/>
                        <a:ea typeface="+mn-ea"/>
                        <a:cs typeface="Times New Roman" panose="02020603050405020304" pitchFamily="18" charset="0"/>
                      </a:endParaRPr>
                    </a:p>
                  </a:txBody>
                  <a:tcPr marL="99552" marR="99552" marT="49776" marB="49776"/>
                </a:tc>
                <a:tc>
                  <a:txBody>
                    <a:bodyPr/>
                    <a:lstStyle/>
                    <a:p>
                      <a:pPr algn="ctr"/>
                      <a:r>
                        <a:rPr lang="en-US" altLang="zh-CN" sz="1800" b="1" u="sng" kern="1200" dirty="0">
                          <a:solidFill>
                            <a:schemeClr val="tx1"/>
                          </a:solidFill>
                          <a:latin typeface="Times New Roman" panose="02020603050405020304" pitchFamily="18" charset="0"/>
                          <a:ea typeface="+mn-ea"/>
                          <a:cs typeface="Times New Roman" panose="02020603050405020304" pitchFamily="18" charset="0"/>
                        </a:rPr>
                        <a:t>T</a:t>
                      </a:r>
                      <a:r>
                        <a:rPr lang="en" altLang="zh-CN" sz="1800" b="1" u="sng" kern="1200" dirty="0">
                          <a:solidFill>
                            <a:schemeClr val="tx1"/>
                          </a:solidFill>
                          <a:latin typeface="Times New Roman" panose="02020603050405020304" pitchFamily="18" charset="0"/>
                          <a:ea typeface="+mn-ea"/>
                          <a:cs typeface="Times New Roman" panose="02020603050405020304" pitchFamily="18" charset="0"/>
                        </a:rPr>
                        <a:t>he group locking</a:t>
                      </a:r>
                      <a:r>
                        <a:rPr lang="zh-CN" altLang="en-US" sz="1800" b="1" u="sng" kern="1200" dirty="0">
                          <a:solidFill>
                            <a:schemeClr val="tx1"/>
                          </a:solidFill>
                          <a:latin typeface="Times New Roman" panose="02020603050405020304" pitchFamily="18" charset="0"/>
                          <a:ea typeface="+mn-ea"/>
                          <a:cs typeface="Times New Roman" panose="02020603050405020304" pitchFamily="18" charset="0"/>
                        </a:rPr>
                        <a:t> </a:t>
                      </a:r>
                      <a:r>
                        <a:rPr lang="en-US" altLang="zh-CN" sz="1800" b="1" u="sng" kern="1200" dirty="0">
                          <a:solidFill>
                            <a:schemeClr val="tx1"/>
                          </a:solidFill>
                          <a:latin typeface="Times New Roman" panose="02020603050405020304" pitchFamily="18" charset="0"/>
                          <a:ea typeface="+mn-ea"/>
                          <a:cs typeface="Times New Roman" panose="02020603050405020304" pitchFamily="18" charset="0"/>
                        </a:rPr>
                        <a:t>together</a:t>
                      </a:r>
                      <a:r>
                        <a:rPr lang="zh-CN" altLang="en-US" sz="1800" b="1" u="sng" kern="1200" dirty="0">
                          <a:solidFill>
                            <a:schemeClr val="tx1"/>
                          </a:solidFill>
                          <a:latin typeface="Times New Roman" panose="02020603050405020304" pitchFamily="18" charset="0"/>
                          <a:ea typeface="+mn-ea"/>
                          <a:cs typeface="Times New Roman" panose="02020603050405020304" pitchFamily="18" charset="0"/>
                        </a:rPr>
                        <a:t> </a:t>
                      </a:r>
                      <a:r>
                        <a:rPr lang="en-US" altLang="zh-CN" sz="1800" b="1" u="sng" kern="1200" dirty="0">
                          <a:solidFill>
                            <a:schemeClr val="tx1"/>
                          </a:solidFill>
                          <a:latin typeface="Times New Roman" panose="02020603050405020304" pitchFamily="18" charset="0"/>
                          <a:ea typeface="+mn-ea"/>
                          <a:cs typeface="Times New Roman" panose="02020603050405020304" pitchFamily="18" charset="0"/>
                        </a:rPr>
                        <a:t>with</a:t>
                      </a:r>
                      <a:r>
                        <a:rPr lang="zh-CN" altLang="en-US" sz="1800" b="1" u="sng" kern="1200" dirty="0">
                          <a:solidFill>
                            <a:schemeClr val="tx1"/>
                          </a:solidFill>
                          <a:latin typeface="Times New Roman" panose="02020603050405020304" pitchFamily="18" charset="0"/>
                          <a:ea typeface="+mn-ea"/>
                          <a:cs typeface="Times New Roman" panose="02020603050405020304" pitchFamily="18" charset="0"/>
                        </a:rPr>
                        <a:t> </a:t>
                      </a:r>
                      <a:r>
                        <a:rPr lang="en-US" altLang="zh-CN" sz="1800" b="1" u="sng" kern="1200" dirty="0">
                          <a:solidFill>
                            <a:schemeClr val="tx1"/>
                          </a:solidFill>
                          <a:latin typeface="Times New Roman" panose="02020603050405020304" pitchFamily="18" charset="0"/>
                          <a:ea typeface="+mn-ea"/>
                          <a:cs typeface="Times New Roman" panose="02020603050405020304" pitchFamily="18" charset="0"/>
                        </a:rPr>
                        <a:t>general</a:t>
                      </a:r>
                      <a:r>
                        <a:rPr lang="zh-CN" altLang="en-US" sz="1800" b="1" u="sng" kern="1200" dirty="0">
                          <a:solidFill>
                            <a:schemeClr val="tx1"/>
                          </a:solidFill>
                          <a:latin typeface="Times New Roman" panose="02020603050405020304" pitchFamily="18" charset="0"/>
                          <a:ea typeface="+mn-ea"/>
                          <a:cs typeface="Times New Roman" panose="02020603050405020304" pitchFamily="18" charset="0"/>
                        </a:rPr>
                        <a:t> </a:t>
                      </a:r>
                      <a:r>
                        <a:rPr lang="en-US" altLang="zh-CN" sz="1800" b="1" u="sng" kern="1200" dirty="0">
                          <a:solidFill>
                            <a:schemeClr val="tx1"/>
                          </a:solidFill>
                          <a:latin typeface="Times New Roman" panose="02020603050405020304" pitchFamily="18" charset="0"/>
                          <a:ea typeface="+mn-ea"/>
                          <a:cs typeface="Times New Roman" panose="02020603050405020304" pitchFamily="18" charset="0"/>
                        </a:rPr>
                        <a:t>lock</a:t>
                      </a:r>
                      <a:r>
                        <a:rPr lang="en" altLang="zh-CN" sz="1800" b="1" u="sng" kern="1200" dirty="0">
                          <a:solidFill>
                            <a:schemeClr val="tx1"/>
                          </a:solidFill>
                          <a:latin typeface="Times New Roman" panose="02020603050405020304" pitchFamily="18" charset="0"/>
                          <a:ea typeface="+mn-ea"/>
                          <a:cs typeface="Times New Roman" panose="02020603050405020304" pitchFamily="18" charset="0"/>
                        </a:rPr>
                        <a:t> optimization</a:t>
                      </a:r>
                      <a:r>
                        <a:rPr lang="en-US" altLang="zh-CN" sz="1800" b="1" u="sng" kern="1200" dirty="0">
                          <a:solidFill>
                            <a:schemeClr val="tx1"/>
                          </a:solidFill>
                          <a:latin typeface="Times New Roman" panose="02020603050405020304" pitchFamily="18" charset="0"/>
                          <a:ea typeface="+mn-ea"/>
                          <a:cs typeface="Times New Roman" panose="02020603050405020304" pitchFamily="18" charset="0"/>
                        </a:rPr>
                        <a:t>s</a:t>
                      </a:r>
                      <a:r>
                        <a:rPr lang="zh-CN" altLang="en-US" sz="1800" b="1" u="sng" kern="1200" dirty="0">
                          <a:solidFill>
                            <a:schemeClr val="tx1"/>
                          </a:solidFill>
                          <a:latin typeface="Times New Roman" panose="02020603050405020304" pitchFamily="18" charset="0"/>
                          <a:ea typeface="+mn-ea"/>
                          <a:cs typeface="Times New Roman" panose="02020603050405020304" pitchFamily="18" charset="0"/>
                        </a:rPr>
                        <a:t> </a:t>
                      </a:r>
                      <a:r>
                        <a:rPr lang="en-US" altLang="zh-CN" sz="1800" b="1" u="sng" kern="1200" dirty="0">
                          <a:solidFill>
                            <a:schemeClr val="tx1"/>
                          </a:solidFill>
                          <a:latin typeface="Times New Roman" panose="02020603050405020304" pitchFamily="18" charset="0"/>
                          <a:ea typeface="+mn-ea"/>
                          <a:cs typeface="Times New Roman" panose="02020603050405020304" pitchFamily="18" charset="0"/>
                        </a:rPr>
                        <a:t>in</a:t>
                      </a:r>
                      <a:r>
                        <a:rPr lang="zh-CN" altLang="en-US" sz="1800" b="1" u="sng" kern="1200" dirty="0">
                          <a:solidFill>
                            <a:schemeClr val="tx1"/>
                          </a:solidFill>
                          <a:latin typeface="Times New Roman" panose="02020603050405020304" pitchFamily="18" charset="0"/>
                          <a:ea typeface="+mn-ea"/>
                          <a:cs typeface="Times New Roman" panose="02020603050405020304" pitchFamily="18" charset="0"/>
                        </a:rPr>
                        <a:t> </a:t>
                      </a:r>
                      <a:r>
                        <a:rPr lang="en-US" altLang="zh-CN" sz="1800" b="1" u="sng" kern="1200" dirty="0">
                          <a:solidFill>
                            <a:schemeClr val="tx1"/>
                          </a:solidFill>
                          <a:latin typeface="Times New Roman" panose="02020603050405020304" pitchFamily="18" charset="0"/>
                          <a:ea typeface="+mn-ea"/>
                          <a:cs typeface="Times New Roman" panose="02020603050405020304" pitchFamily="18" charset="0"/>
                        </a:rPr>
                        <a:t>TXSQL</a:t>
                      </a:r>
                      <a:endParaRPr lang="en" altLang="zh-CN" sz="1800" b="1" u="sng" kern="1200" dirty="0">
                        <a:solidFill>
                          <a:schemeClr val="tx1"/>
                        </a:solidFill>
                        <a:latin typeface="Times New Roman" panose="02020603050405020304" pitchFamily="18" charset="0"/>
                        <a:ea typeface="+mn-ea"/>
                        <a:cs typeface="Times New Roman" panose="02020603050405020304" pitchFamily="18" charset="0"/>
                      </a:endParaRPr>
                    </a:p>
                  </a:txBody>
                  <a:tcPr marL="99552" marR="99552" marT="49776" marB="49776"/>
                </a:tc>
                <a:extLst>
                  <a:ext uri="{0D108BD9-81ED-4DB2-BD59-A6C34878D82A}">
                    <a16:rowId xmlns:a16="http://schemas.microsoft.com/office/drawing/2014/main" val="413313472"/>
                  </a:ext>
                </a:extLst>
              </a:tr>
              <a:tr h="564126">
                <a:tc>
                  <a:txBody>
                    <a:bodyPr/>
                    <a:lstStyle/>
                    <a:p>
                      <a:pPr marL="0" algn="ctr" defTabSz="914400" rtl="0" eaLnBrk="1" latinLnBrk="0" hangingPunct="1"/>
                      <a:r>
                        <a:rPr lang="en-US" altLang="zh-CN" sz="1800" b="1" kern="1200" dirty="0">
                          <a:solidFill>
                            <a:srgbClr val="FF0000"/>
                          </a:solidFill>
                          <a:latin typeface="Times New Roman" panose="02020603050405020304" pitchFamily="18" charset="0"/>
                          <a:ea typeface="+mn-ea"/>
                          <a:cs typeface="Times New Roman" panose="02020603050405020304" pitchFamily="18" charset="0"/>
                        </a:rPr>
                        <a:t>Aria</a:t>
                      </a:r>
                      <a:endParaRPr lang="en-US" sz="1800" b="1" kern="1200" dirty="0">
                        <a:solidFill>
                          <a:srgbClr val="FF0000"/>
                        </a:solidFill>
                        <a:latin typeface="Times New Roman" panose="02020603050405020304" pitchFamily="18" charset="0"/>
                        <a:ea typeface="+mn-ea"/>
                        <a:cs typeface="Times New Roman" panose="02020603050405020304" pitchFamily="18" charset="0"/>
                      </a:endParaRPr>
                    </a:p>
                  </a:txBody>
                  <a:tcPr marL="99552" marR="99552" marT="49776" marB="49776"/>
                </a:tc>
                <a:tc>
                  <a:txBody>
                    <a:bodyPr/>
                    <a:lstStyle/>
                    <a:p>
                      <a:pPr algn="ctr"/>
                      <a:r>
                        <a:rPr lang="en-US" altLang="zh-CN" sz="1800" kern="1200" dirty="0">
                          <a:solidFill>
                            <a:schemeClr val="tx1"/>
                          </a:solidFill>
                          <a:latin typeface="Times New Roman" panose="02020603050405020304" pitchFamily="18" charset="0"/>
                          <a:ea typeface="+mn-ea"/>
                          <a:cs typeface="Times New Roman" panose="02020603050405020304" pitchFamily="18" charset="0"/>
                        </a:rPr>
                        <a:t>D</a:t>
                      </a:r>
                      <a:r>
                        <a:rPr lang="en" altLang="zh-CN" sz="1800" kern="1200" dirty="0" err="1">
                          <a:solidFill>
                            <a:schemeClr val="tx1"/>
                          </a:solidFill>
                          <a:latin typeface="Times New Roman" panose="02020603050405020304" pitchFamily="18" charset="0"/>
                          <a:ea typeface="+mn-ea"/>
                          <a:cs typeface="Times New Roman" panose="02020603050405020304" pitchFamily="18" charset="0"/>
                        </a:rPr>
                        <a:t>eterministic</a:t>
                      </a:r>
                      <a:r>
                        <a:rPr lang="zh-CN" altLang="en-US" sz="1800" kern="1200" dirty="0">
                          <a:solidFill>
                            <a:schemeClr val="tx1"/>
                          </a:solidFill>
                          <a:latin typeface="Times New Roman" panose="02020603050405020304" pitchFamily="18" charset="0"/>
                          <a:ea typeface="+mn-ea"/>
                          <a:cs typeface="Times New Roman" panose="02020603050405020304" pitchFamily="18" charset="0"/>
                        </a:rPr>
                        <a:t> </a:t>
                      </a:r>
                      <a:r>
                        <a:rPr lang="en" altLang="zh-CN" sz="1800" kern="1200" dirty="0">
                          <a:solidFill>
                            <a:schemeClr val="tx1"/>
                          </a:solidFill>
                          <a:latin typeface="Times New Roman" panose="02020603050405020304" pitchFamily="18" charset="0"/>
                          <a:ea typeface="+mn-ea"/>
                          <a:cs typeface="Times New Roman" panose="02020603050405020304" pitchFamily="18" charset="0"/>
                        </a:rPr>
                        <a:t>protocol representative which combines OCC and deterministic</a:t>
                      </a:r>
                      <a:r>
                        <a:rPr lang="zh-CN" altLang="en-US" sz="1800" kern="1200" dirty="0">
                          <a:solidFill>
                            <a:schemeClr val="tx1"/>
                          </a:solidFill>
                          <a:latin typeface="Times New Roman" panose="02020603050405020304" pitchFamily="18" charset="0"/>
                          <a:ea typeface="+mn-ea"/>
                          <a:cs typeface="Times New Roman" panose="02020603050405020304" pitchFamily="18" charset="0"/>
                        </a:rPr>
                        <a:t> </a:t>
                      </a:r>
                      <a:r>
                        <a:rPr lang="en" altLang="zh-CN" sz="1800" kern="1200" dirty="0">
                          <a:solidFill>
                            <a:schemeClr val="tx1"/>
                          </a:solidFill>
                          <a:latin typeface="Times New Roman" panose="02020603050405020304" pitchFamily="18" charset="0"/>
                          <a:ea typeface="+mn-ea"/>
                          <a:cs typeface="Times New Roman" panose="02020603050405020304" pitchFamily="18" charset="0"/>
                        </a:rPr>
                        <a:t>protocol without pre-knowing read-write sets</a:t>
                      </a:r>
                    </a:p>
                  </a:txBody>
                  <a:tcPr marL="99552" marR="99552" marT="49776" marB="49776"/>
                </a:tc>
                <a:extLst>
                  <a:ext uri="{0D108BD9-81ED-4DB2-BD59-A6C34878D82A}">
                    <a16:rowId xmlns:a16="http://schemas.microsoft.com/office/drawing/2014/main" val="2612087989"/>
                  </a:ext>
                </a:extLst>
              </a:tr>
              <a:tr h="331839">
                <a:tc>
                  <a:txBody>
                    <a:bodyPr/>
                    <a:lstStyle/>
                    <a:p>
                      <a:pPr marL="0" algn="ctr" defTabSz="914400" rtl="0" eaLnBrk="1" latinLnBrk="0" hangingPunct="1"/>
                      <a:r>
                        <a:rPr lang="en-US" altLang="zh-CN" sz="1800" b="1" kern="1200" dirty="0">
                          <a:solidFill>
                            <a:srgbClr val="FF0000"/>
                          </a:solidFill>
                          <a:latin typeface="Times New Roman" panose="02020603050405020304" pitchFamily="18" charset="0"/>
                          <a:ea typeface="+mn-ea"/>
                          <a:cs typeface="Times New Roman" panose="02020603050405020304" pitchFamily="18" charset="0"/>
                        </a:rPr>
                        <a:t>Bamboo</a:t>
                      </a:r>
                      <a:endParaRPr lang="en-US" sz="1800" b="1" kern="1200" dirty="0">
                        <a:solidFill>
                          <a:srgbClr val="FF0000"/>
                        </a:solidFill>
                        <a:latin typeface="Times New Roman" panose="02020603050405020304" pitchFamily="18" charset="0"/>
                        <a:ea typeface="+mn-ea"/>
                        <a:cs typeface="Times New Roman" panose="02020603050405020304" pitchFamily="18" charset="0"/>
                      </a:endParaRPr>
                    </a:p>
                  </a:txBody>
                  <a:tcPr marL="99552" marR="99552" marT="49776" marB="49776"/>
                </a:tc>
                <a:tc>
                  <a:txBody>
                    <a:bodyPr/>
                    <a:lstStyle/>
                    <a:p>
                      <a:pPr algn="ctr"/>
                      <a:r>
                        <a:rPr lang="en" altLang="zh-CN" sz="1800" kern="1200" dirty="0">
                          <a:solidFill>
                            <a:schemeClr val="tx1"/>
                          </a:solidFill>
                          <a:latin typeface="Times New Roman" panose="02020603050405020304" pitchFamily="18" charset="0"/>
                          <a:ea typeface="+mn-ea"/>
                          <a:cs typeface="Times New Roman" panose="02020603050405020304" pitchFamily="18" charset="0"/>
                        </a:rPr>
                        <a:t>SOTA solution that violates 2PL</a:t>
                      </a:r>
                      <a:r>
                        <a:rPr lang="zh-CN" altLang="en-US" sz="1800" kern="1200" dirty="0">
                          <a:solidFill>
                            <a:schemeClr val="tx1"/>
                          </a:solidFill>
                          <a:latin typeface="Times New Roman" panose="02020603050405020304" pitchFamily="18" charset="0"/>
                          <a:ea typeface="+mn-ea"/>
                          <a:cs typeface="Times New Roman" panose="02020603050405020304" pitchFamily="18" charset="0"/>
                        </a:rPr>
                        <a:t> </a:t>
                      </a:r>
                      <a:r>
                        <a:rPr lang="en" altLang="zh-CN" sz="1800" kern="1200" dirty="0">
                          <a:solidFill>
                            <a:schemeClr val="tx1"/>
                          </a:solidFill>
                          <a:latin typeface="Times New Roman" panose="02020603050405020304" pitchFamily="18" charset="0"/>
                          <a:ea typeface="+mn-ea"/>
                          <a:cs typeface="Times New Roman" panose="02020603050405020304" pitchFamily="18" charset="0"/>
                        </a:rPr>
                        <a:t>to boost performance</a:t>
                      </a:r>
                    </a:p>
                  </a:txBody>
                  <a:tcPr marL="99552" marR="99552" marT="49776" marB="49776"/>
                </a:tc>
                <a:extLst>
                  <a:ext uri="{0D108BD9-81ED-4DB2-BD59-A6C34878D82A}">
                    <a16:rowId xmlns:a16="http://schemas.microsoft.com/office/drawing/2014/main" val="859831126"/>
                  </a:ext>
                </a:extLst>
              </a:tr>
            </a:tbl>
          </a:graphicData>
        </a:graphic>
      </p:graphicFrame>
    </p:spTree>
    <p:extLst>
      <p:ext uri="{BB962C8B-B14F-4D97-AF65-F5344CB8AC3E}">
        <p14:creationId xmlns:p14="http://schemas.microsoft.com/office/powerpoint/2010/main" val="1442867709"/>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A5180-C0E4-8D2F-C896-254EBF04ED6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F4FD04A-1BCC-E151-48AB-38B512F259F7}"/>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Ablation Study</a:t>
            </a:r>
          </a:p>
        </p:txBody>
      </p:sp>
      <p:pic>
        <p:nvPicPr>
          <p:cNvPr id="5" name="图片 4">
            <a:extLst>
              <a:ext uri="{FF2B5EF4-FFF2-40B4-BE49-F238E27FC236}">
                <a16:creationId xmlns:a16="http://schemas.microsoft.com/office/drawing/2014/main" id="{72525C47-CBC2-4D4F-0FB0-9A7C7FF7A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7857"/>
            <a:ext cx="11746174" cy="4684486"/>
          </a:xfrm>
          <a:prstGeom prst="rect">
            <a:avLst/>
          </a:prstGeom>
        </p:spPr>
      </p:pic>
    </p:spTree>
    <p:extLst>
      <p:ext uri="{BB962C8B-B14F-4D97-AF65-F5344CB8AC3E}">
        <p14:creationId xmlns:p14="http://schemas.microsoft.com/office/powerpoint/2010/main" val="248612970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23187-DF08-C908-3C5F-1E099F225D8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8B281C3-7EE4-3309-EF4A-0F54BE714E8F}"/>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Scalability (Comparison to SOTA)</a:t>
            </a:r>
          </a:p>
        </p:txBody>
      </p:sp>
      <p:grpSp>
        <p:nvGrpSpPr>
          <p:cNvPr id="4" name="组合 3">
            <a:extLst>
              <a:ext uri="{FF2B5EF4-FFF2-40B4-BE49-F238E27FC236}">
                <a16:creationId xmlns:a16="http://schemas.microsoft.com/office/drawing/2014/main" id="{137289DE-0CA2-5193-C484-3E41991487AC}"/>
              </a:ext>
            </a:extLst>
          </p:cNvPr>
          <p:cNvGrpSpPr/>
          <p:nvPr/>
        </p:nvGrpSpPr>
        <p:grpSpPr>
          <a:xfrm>
            <a:off x="407368" y="1124744"/>
            <a:ext cx="5420572" cy="2177110"/>
            <a:chOff x="1559496" y="1451845"/>
            <a:chExt cx="5420572" cy="2177110"/>
          </a:xfrm>
        </p:grpSpPr>
        <p:pic>
          <p:nvPicPr>
            <p:cNvPr id="6" name="图片 5">
              <a:extLst>
                <a:ext uri="{FF2B5EF4-FFF2-40B4-BE49-F238E27FC236}">
                  <a16:creationId xmlns:a16="http://schemas.microsoft.com/office/drawing/2014/main" id="{65CA196E-3366-7021-C1B8-80B50C74AC45}"/>
                </a:ext>
              </a:extLst>
            </p:cNvPr>
            <p:cNvPicPr>
              <a:picLocks noChangeAspect="1"/>
            </p:cNvPicPr>
            <p:nvPr/>
          </p:nvPicPr>
          <p:blipFill>
            <a:blip r:embed="rId2"/>
            <a:stretch>
              <a:fillRect/>
            </a:stretch>
          </p:blipFill>
          <p:spPr>
            <a:xfrm>
              <a:off x="1559496" y="1451845"/>
              <a:ext cx="5420572" cy="1946478"/>
            </a:xfrm>
            <a:prstGeom prst="rect">
              <a:avLst/>
            </a:prstGeom>
          </p:spPr>
        </p:pic>
        <p:sp>
          <p:nvSpPr>
            <p:cNvPr id="7" name="文本框 6">
              <a:extLst>
                <a:ext uri="{FF2B5EF4-FFF2-40B4-BE49-F238E27FC236}">
                  <a16:creationId xmlns:a16="http://schemas.microsoft.com/office/drawing/2014/main" id="{D776B231-9C83-D286-7E32-6EB79FB10FB0}"/>
                </a:ext>
              </a:extLst>
            </p:cNvPr>
            <p:cNvSpPr txBox="1"/>
            <p:nvPr/>
          </p:nvSpPr>
          <p:spPr>
            <a:xfrm>
              <a:off x="2207568" y="3290401"/>
              <a:ext cx="4374916" cy="338554"/>
            </a:xfrm>
            <a:prstGeom prst="rect">
              <a:avLst/>
            </a:prstGeom>
            <a:noFill/>
          </p:spPr>
          <p:txBody>
            <a:bodyPr wrap="none" rtlCol="0">
              <a:spAutoFit/>
            </a:bodyPr>
            <a:lstStyle/>
            <a:p>
              <a:r>
                <a:rPr lang="en" altLang="zh-CN" sz="1600" b="1">
                  <a:latin typeface="Times New Roman" panose="02020603050405020304" pitchFamily="18" charset="0"/>
                  <a:cs typeface="Times New Roman" panose="02020603050405020304" pitchFamily="18" charset="0"/>
                </a:rPr>
                <a:t>Effect of scalability by Sysbench hotspot update</a:t>
              </a:r>
            </a:p>
          </p:txBody>
        </p:sp>
      </p:grpSp>
      <p:grpSp>
        <p:nvGrpSpPr>
          <p:cNvPr id="8" name="组合 7">
            <a:extLst>
              <a:ext uri="{FF2B5EF4-FFF2-40B4-BE49-F238E27FC236}">
                <a16:creationId xmlns:a16="http://schemas.microsoft.com/office/drawing/2014/main" id="{CA920EE6-F231-307F-8DFD-AD444611AAAD}"/>
              </a:ext>
            </a:extLst>
          </p:cNvPr>
          <p:cNvGrpSpPr/>
          <p:nvPr/>
        </p:nvGrpSpPr>
        <p:grpSpPr>
          <a:xfrm>
            <a:off x="631851" y="3753991"/>
            <a:ext cx="5112568" cy="2428209"/>
            <a:chOff x="6351740" y="4147657"/>
            <a:chExt cx="5112568" cy="2428209"/>
          </a:xfrm>
        </p:grpSpPr>
        <p:pic>
          <p:nvPicPr>
            <p:cNvPr id="9" name="图片 8">
              <a:extLst>
                <a:ext uri="{FF2B5EF4-FFF2-40B4-BE49-F238E27FC236}">
                  <a16:creationId xmlns:a16="http://schemas.microsoft.com/office/drawing/2014/main" id="{F8C33EF6-B779-7B5B-F8C2-939D9D0C4E3D}"/>
                </a:ext>
              </a:extLst>
            </p:cNvPr>
            <p:cNvPicPr>
              <a:picLocks noChangeAspect="1"/>
            </p:cNvPicPr>
            <p:nvPr/>
          </p:nvPicPr>
          <p:blipFill>
            <a:blip r:embed="rId3"/>
            <a:stretch>
              <a:fillRect/>
            </a:stretch>
          </p:blipFill>
          <p:spPr>
            <a:xfrm>
              <a:off x="6351740" y="4147657"/>
              <a:ext cx="5112568" cy="2163924"/>
            </a:xfrm>
            <a:prstGeom prst="rect">
              <a:avLst/>
            </a:prstGeom>
          </p:spPr>
        </p:pic>
        <p:sp>
          <p:nvSpPr>
            <p:cNvPr id="10" name="文本框 9">
              <a:extLst>
                <a:ext uri="{FF2B5EF4-FFF2-40B4-BE49-F238E27FC236}">
                  <a16:creationId xmlns:a16="http://schemas.microsoft.com/office/drawing/2014/main" id="{BE5DB5E0-C272-2CFF-0166-FE2F3AF11086}"/>
                </a:ext>
              </a:extLst>
            </p:cNvPr>
            <p:cNvSpPr txBox="1"/>
            <p:nvPr/>
          </p:nvSpPr>
          <p:spPr>
            <a:xfrm>
              <a:off x="7464152" y="6237312"/>
              <a:ext cx="3023072" cy="338554"/>
            </a:xfrm>
            <a:prstGeom prst="rect">
              <a:avLst/>
            </a:prstGeom>
            <a:noFill/>
          </p:spPr>
          <p:txBody>
            <a:bodyPr wrap="none" rtlCol="0">
              <a:spAutoFit/>
            </a:bodyPr>
            <a:lstStyle/>
            <a:p>
              <a:r>
                <a:rPr lang="en" altLang="zh-CN" sz="1600" b="1">
                  <a:latin typeface="Times New Roman" panose="02020603050405020304" pitchFamily="18" charset="0"/>
                  <a:cs typeface="Times New Roman" panose="02020603050405020304" pitchFamily="18" charset="0"/>
                </a:rPr>
                <a:t>Effect of synchronization by FiT</a:t>
              </a:r>
            </a:p>
          </p:txBody>
        </p:sp>
      </p:grpSp>
      <p:sp>
        <p:nvSpPr>
          <p:cNvPr id="11" name="文本框 10">
            <a:extLst>
              <a:ext uri="{FF2B5EF4-FFF2-40B4-BE49-F238E27FC236}">
                <a16:creationId xmlns:a16="http://schemas.microsoft.com/office/drawing/2014/main" id="{633E6C6E-9861-9338-C524-32A58E7CC039}"/>
              </a:ext>
            </a:extLst>
          </p:cNvPr>
          <p:cNvSpPr txBox="1"/>
          <p:nvPr/>
        </p:nvSpPr>
        <p:spPr>
          <a:xfrm>
            <a:off x="6078428" y="2486400"/>
            <a:ext cx="5879976" cy="2535181"/>
          </a:xfrm>
          <a:prstGeom prst="rect">
            <a:avLst/>
          </a:prstGeom>
          <a:solidFill>
            <a:schemeClr val="accent1">
              <a:lumMod val="40000"/>
              <a:lumOff val="60000"/>
            </a:schemeClr>
          </a:solidFill>
        </p:spPr>
        <p:txBody>
          <a:bodyPr wrap="square" rtlCol="0">
            <a:spAutoFit/>
          </a:bodyPr>
          <a:lstStyle/>
          <a:p>
            <a:pPr marL="285750" indent="-285750">
              <a:lnSpc>
                <a:spcPct val="150000"/>
              </a:lnSpc>
              <a:buFont typeface="Wingdings" pitchFamily="2" charset="2"/>
              <a:buChar char="ü"/>
            </a:pPr>
            <a:r>
              <a:rPr lang="en" altLang="zh-CN" b="1" dirty="0">
                <a:latin typeface="Times New Roman" panose="02020603050405020304" pitchFamily="18" charset="0"/>
                <a:cs typeface="Times New Roman" panose="02020603050405020304" pitchFamily="18" charset="0"/>
              </a:rPr>
              <a:t>TXSQL</a:t>
            </a:r>
            <a:r>
              <a:rPr lang="en" altLang="zh-CN" dirty="0">
                <a:latin typeface="Times New Roman" panose="02020603050405020304" pitchFamily="18" charset="0"/>
                <a:cs typeface="Times New Roman" panose="02020603050405020304" pitchFamily="18" charset="0"/>
              </a:rPr>
              <a:t> achieved a performance improvement of</a:t>
            </a:r>
            <a:r>
              <a:rPr lang="zh-CN" altLang="en-US"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up to 7x</a:t>
            </a:r>
          </a:p>
          <a:p>
            <a:pPr marL="285750" indent="-285750">
              <a:lnSpc>
                <a:spcPct val="150000"/>
              </a:lnSpc>
              <a:buFont typeface="Wingdings" pitchFamily="2" charset="2"/>
              <a:buChar char="ü"/>
            </a:pPr>
            <a:r>
              <a:rPr lang="en" altLang="zh-CN" b="1" dirty="0">
                <a:latin typeface="Times New Roman" panose="02020603050405020304" pitchFamily="18" charset="0"/>
                <a:cs typeface="Times New Roman" panose="02020603050405020304" pitchFamily="18" charset="0"/>
              </a:rPr>
              <a:t>Bamboo</a:t>
            </a:r>
            <a:r>
              <a:rPr lang="en" altLang="zh-CN" dirty="0">
                <a:latin typeface="Times New Roman" panose="02020603050405020304" pitchFamily="18" charset="0"/>
                <a:cs typeface="Times New Roman" panose="02020603050405020304" pitchFamily="18" charset="0"/>
              </a:rPr>
              <a:t> demonstrated superior</a:t>
            </a:r>
            <a:r>
              <a:rPr lang="zh-CN" altLang="en-US"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performance under low concurrency</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its performance improvement under high concurrency</a:t>
            </a:r>
            <a:r>
              <a:rPr lang="zh-CN" altLang="en-US"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was less effective</a:t>
            </a:r>
          </a:p>
          <a:p>
            <a:pPr marL="285750" indent="-285750">
              <a:lnSpc>
                <a:spcPct val="150000"/>
              </a:lnSpc>
              <a:buFont typeface="Wingdings" pitchFamily="2" charset="2"/>
              <a:buChar char="ü"/>
            </a:pPr>
            <a:r>
              <a:rPr lang="en" altLang="zh-CN" b="1" dirty="0">
                <a:latin typeface="Times New Roman" panose="02020603050405020304" pitchFamily="18" charset="0"/>
                <a:cs typeface="Times New Roman" panose="02020603050405020304" pitchFamily="18" charset="0"/>
              </a:rPr>
              <a:t>Aria</a:t>
            </a:r>
            <a:r>
              <a:rPr lang="en" altLang="zh-CN" dirty="0">
                <a:latin typeface="Times New Roman" panose="02020603050405020304" pitchFamily="18" charset="0"/>
                <a:cs typeface="Times New Roman" panose="02020603050405020304" pitchFamily="18" charset="0"/>
              </a:rPr>
              <a:t>, utilizing a deterministic algorithm, maintained stable TPS as the number of threads increased</a:t>
            </a:r>
          </a:p>
        </p:txBody>
      </p:sp>
    </p:spTree>
    <p:extLst>
      <p:ext uri="{BB962C8B-B14F-4D97-AF65-F5344CB8AC3E}">
        <p14:creationId xmlns:p14="http://schemas.microsoft.com/office/powerpoint/2010/main" val="13339135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E63D-E99C-6439-3D8F-B5623227F6B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4D116F3-EE20-E4E0-D729-A964FEB55BC1}"/>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Real-world applications</a:t>
            </a:r>
          </a:p>
        </p:txBody>
      </p:sp>
      <p:pic>
        <p:nvPicPr>
          <p:cNvPr id="5" name="图片 4">
            <a:extLst>
              <a:ext uri="{FF2B5EF4-FFF2-40B4-BE49-F238E27FC236}">
                <a16:creationId xmlns:a16="http://schemas.microsoft.com/office/drawing/2014/main" id="{7F7FC1B2-44C0-54CC-233D-B2DC2C787C51}"/>
              </a:ext>
            </a:extLst>
          </p:cNvPr>
          <p:cNvPicPr>
            <a:picLocks noChangeAspect="1"/>
          </p:cNvPicPr>
          <p:nvPr/>
        </p:nvPicPr>
        <p:blipFill>
          <a:blip r:embed="rId2"/>
          <a:stretch>
            <a:fillRect/>
          </a:stretch>
        </p:blipFill>
        <p:spPr>
          <a:xfrm>
            <a:off x="1905356" y="2132856"/>
            <a:ext cx="5269548" cy="4328988"/>
          </a:xfrm>
          <a:prstGeom prst="rect">
            <a:avLst/>
          </a:prstGeom>
        </p:spPr>
      </p:pic>
      <p:sp>
        <p:nvSpPr>
          <p:cNvPr id="12" name="TextBox 4">
            <a:extLst>
              <a:ext uri="{FF2B5EF4-FFF2-40B4-BE49-F238E27FC236}">
                <a16:creationId xmlns:a16="http://schemas.microsoft.com/office/drawing/2014/main" id="{62556156-4EC5-1C64-28B5-8FD8DD0874B7}"/>
              </a:ext>
            </a:extLst>
          </p:cNvPr>
          <p:cNvSpPr txBox="1"/>
          <p:nvPr/>
        </p:nvSpPr>
        <p:spPr>
          <a:xfrm>
            <a:off x="7392144" y="1700808"/>
            <a:ext cx="4886942" cy="1077218"/>
          </a:xfrm>
          <a:prstGeom prst="rect">
            <a:avLst/>
          </a:prstGeom>
          <a:solidFill>
            <a:schemeClr val="bg1"/>
          </a:solidFill>
          <a:ln w="31750">
            <a:solidFill>
              <a:srgbClr val="92D050"/>
            </a:solidFill>
          </a:ln>
        </p:spPr>
        <p:txBody>
          <a:bodyPr wrap="square" rtlCol="0">
            <a:spAutoFit/>
          </a:bodyPr>
          <a:lstStyle/>
          <a:p>
            <a:pPr marL="342900" indent="-342900">
              <a:buAutoNum type="arabicParenBoth"/>
            </a:pPr>
            <a:r>
              <a:rPr lang="en-US" altLang="zh-CN" sz="1600" b="1" dirty="0">
                <a:solidFill>
                  <a:srgbClr val="92D050"/>
                </a:solidFill>
                <a:latin typeface="+mn-lt"/>
              </a:rPr>
              <a:t>Group</a:t>
            </a:r>
            <a:r>
              <a:rPr lang="zh-CN" altLang="en-US" sz="1600" b="1" dirty="0">
                <a:solidFill>
                  <a:srgbClr val="92D050"/>
                </a:solidFill>
                <a:latin typeface="+mn-lt"/>
              </a:rPr>
              <a:t> </a:t>
            </a:r>
            <a:r>
              <a:rPr lang="en" altLang="zh-CN" sz="1600" b="1" dirty="0">
                <a:solidFill>
                  <a:srgbClr val="92D050"/>
                </a:solidFill>
                <a:latin typeface="+mn-lt"/>
              </a:rPr>
              <a:t>locking activation stabilizes TPS</a:t>
            </a:r>
            <a:br>
              <a:rPr lang="en" altLang="zh-CN" sz="1600" b="1" dirty="0">
                <a:solidFill>
                  <a:srgbClr val="92D050"/>
                </a:solidFill>
                <a:latin typeface="+mn-lt"/>
              </a:rPr>
            </a:br>
            <a:r>
              <a:rPr lang="en" altLang="zh-CN" sz="1600" b="1" dirty="0">
                <a:solidFill>
                  <a:srgbClr val="92D050"/>
                </a:solidFill>
                <a:latin typeface="+mn-lt"/>
              </a:rPr>
              <a:t>even under increasing target rates</a:t>
            </a:r>
          </a:p>
          <a:p>
            <a:pPr marL="342900" indent="-342900">
              <a:buAutoNum type="arabicParenBoth"/>
            </a:pPr>
            <a:r>
              <a:rPr lang="en" altLang="zh-CN" sz="1600" b="1" dirty="0">
                <a:solidFill>
                  <a:srgbClr val="92D050"/>
                </a:solidFill>
                <a:latin typeface="+mn-lt"/>
              </a:rPr>
              <a:t>Beyond threshold TPS:</a:t>
            </a:r>
            <a:r>
              <a:rPr lang="zh-CN" altLang="en-US" sz="1600" b="1" dirty="0">
                <a:solidFill>
                  <a:srgbClr val="92D050"/>
                </a:solidFill>
                <a:latin typeface="+mn-lt"/>
              </a:rPr>
              <a:t> </a:t>
            </a:r>
            <a:r>
              <a:rPr lang="en" altLang="zh-CN" sz="1600" b="1" dirty="0">
                <a:solidFill>
                  <a:srgbClr val="92D050"/>
                </a:solidFill>
                <a:latin typeface="+mn-lt"/>
              </a:rPr>
              <a:t>Jitter and spikes persist</a:t>
            </a:r>
          </a:p>
        </p:txBody>
      </p:sp>
      <p:cxnSp>
        <p:nvCxnSpPr>
          <p:cNvPr id="13" name="Straight Arrow Connector 5">
            <a:extLst>
              <a:ext uri="{FF2B5EF4-FFF2-40B4-BE49-F238E27FC236}">
                <a16:creationId xmlns:a16="http://schemas.microsoft.com/office/drawing/2014/main" id="{F1B0502F-9BA7-0820-8484-F9F3719C8926}"/>
              </a:ext>
            </a:extLst>
          </p:cNvPr>
          <p:cNvCxnSpPr>
            <a:cxnSpLocks/>
          </p:cNvCxnSpPr>
          <p:nvPr/>
        </p:nvCxnSpPr>
        <p:spPr bwMode="auto">
          <a:xfrm flipV="1">
            <a:off x="5521152" y="1884779"/>
            <a:ext cx="1870992" cy="647026"/>
          </a:xfrm>
          <a:prstGeom prst="straightConnector1">
            <a:avLst/>
          </a:prstGeom>
          <a:noFill/>
          <a:ln w="66675" cap="flat" cmpd="sng" algn="ctr">
            <a:solidFill>
              <a:srgbClr val="92D050">
                <a:alpha val="69000"/>
              </a:srgbClr>
            </a:solidFill>
            <a:prstDash val="solid"/>
            <a:round/>
            <a:headEnd type="none" w="med" len="med"/>
            <a:tailEnd type="triangle"/>
          </a:ln>
          <a:effectLst/>
        </p:spPr>
      </p:cxnSp>
      <p:sp>
        <p:nvSpPr>
          <p:cNvPr id="14" name="TextBox 4">
            <a:extLst>
              <a:ext uri="{FF2B5EF4-FFF2-40B4-BE49-F238E27FC236}">
                <a16:creationId xmlns:a16="http://schemas.microsoft.com/office/drawing/2014/main" id="{8D3C14D9-F847-74D9-BFA0-73CFE9350E22}"/>
              </a:ext>
            </a:extLst>
          </p:cNvPr>
          <p:cNvSpPr txBox="1"/>
          <p:nvPr/>
        </p:nvSpPr>
        <p:spPr>
          <a:xfrm>
            <a:off x="7664725" y="4143661"/>
            <a:ext cx="4417394" cy="584775"/>
          </a:xfrm>
          <a:prstGeom prst="rect">
            <a:avLst/>
          </a:prstGeom>
          <a:solidFill>
            <a:schemeClr val="bg1"/>
          </a:solidFill>
          <a:ln w="31750">
            <a:solidFill>
              <a:srgbClr val="008000"/>
            </a:solidFill>
          </a:ln>
        </p:spPr>
        <p:txBody>
          <a:bodyPr wrap="square" rtlCol="0">
            <a:spAutoFit/>
          </a:bodyPr>
          <a:lstStyle/>
          <a:p>
            <a:r>
              <a:rPr lang="en-US" altLang="zh-CN" sz="1600" b="1" dirty="0">
                <a:solidFill>
                  <a:srgbClr val="008000"/>
                </a:solidFill>
                <a:latin typeface="+mn-lt"/>
              </a:rPr>
              <a:t>TXSQL</a:t>
            </a:r>
            <a:r>
              <a:rPr lang="zh-CN" altLang="en-US" sz="1600" b="1" dirty="0">
                <a:solidFill>
                  <a:srgbClr val="008000"/>
                </a:solidFill>
                <a:latin typeface="+mn-lt"/>
              </a:rPr>
              <a:t> </a:t>
            </a:r>
            <a:r>
              <a:rPr lang="en-US" altLang="zh-CN" sz="1600" b="1" dirty="0">
                <a:solidFill>
                  <a:srgbClr val="008000"/>
                </a:solidFill>
                <a:latin typeface="+mn-lt"/>
              </a:rPr>
              <a:t>can</a:t>
            </a:r>
            <a:r>
              <a:rPr lang="zh-CN" altLang="en-US" sz="1600" b="1" dirty="0">
                <a:solidFill>
                  <a:srgbClr val="008000"/>
                </a:solidFill>
                <a:latin typeface="+mn-lt"/>
              </a:rPr>
              <a:t> </a:t>
            </a:r>
            <a:r>
              <a:rPr lang="en-US" altLang="zh-CN" sz="1600" b="1" dirty="0">
                <a:solidFill>
                  <a:srgbClr val="008000"/>
                </a:solidFill>
                <a:latin typeface="+mn-lt"/>
              </a:rPr>
              <a:t>process</a:t>
            </a:r>
            <a:r>
              <a:rPr lang="zh-CN" altLang="en-US" sz="1600" b="1" dirty="0">
                <a:solidFill>
                  <a:srgbClr val="008000"/>
                </a:solidFill>
                <a:latin typeface="+mn-lt"/>
              </a:rPr>
              <a:t> </a:t>
            </a:r>
            <a:r>
              <a:rPr lang="en-US" altLang="zh-CN" sz="1600" b="1" dirty="0">
                <a:solidFill>
                  <a:srgbClr val="008000"/>
                </a:solidFill>
                <a:latin typeface="+mn-lt"/>
              </a:rPr>
              <a:t>higher</a:t>
            </a:r>
            <a:r>
              <a:rPr lang="zh-CN" altLang="en-US" sz="1600" b="1" dirty="0">
                <a:solidFill>
                  <a:srgbClr val="008000"/>
                </a:solidFill>
                <a:latin typeface="+mn-lt"/>
              </a:rPr>
              <a:t> </a:t>
            </a:r>
            <a:r>
              <a:rPr lang="en-US" altLang="zh-CN" sz="1600" b="1" dirty="0">
                <a:solidFill>
                  <a:srgbClr val="008000"/>
                </a:solidFill>
                <a:latin typeface="+mn-lt"/>
              </a:rPr>
              <a:t>throughput</a:t>
            </a:r>
            <a:r>
              <a:rPr lang="zh-CN" altLang="en-US" sz="1600" b="1" dirty="0">
                <a:solidFill>
                  <a:srgbClr val="008000"/>
                </a:solidFill>
                <a:latin typeface="+mn-lt"/>
              </a:rPr>
              <a:t> </a:t>
            </a:r>
            <a:r>
              <a:rPr lang="en-US" altLang="zh-CN" sz="1600" b="1" dirty="0">
                <a:solidFill>
                  <a:srgbClr val="008000"/>
                </a:solidFill>
                <a:latin typeface="+mn-lt"/>
              </a:rPr>
              <a:t>by</a:t>
            </a:r>
            <a:r>
              <a:rPr lang="zh-CN" altLang="en-US" sz="1600" b="1" dirty="0">
                <a:solidFill>
                  <a:srgbClr val="008000"/>
                </a:solidFill>
                <a:latin typeface="+mn-lt"/>
              </a:rPr>
              <a:t> </a:t>
            </a:r>
            <a:r>
              <a:rPr lang="en-US" altLang="zh-CN" sz="1600" b="1" dirty="0">
                <a:solidFill>
                  <a:srgbClr val="008000"/>
                </a:solidFill>
                <a:latin typeface="+mn-lt"/>
              </a:rPr>
              <a:t>tuning</a:t>
            </a:r>
            <a:r>
              <a:rPr lang="zh-CN" altLang="en-US" sz="1600" b="1" dirty="0">
                <a:solidFill>
                  <a:srgbClr val="008000"/>
                </a:solidFill>
                <a:latin typeface="+mn-lt"/>
              </a:rPr>
              <a:t> </a:t>
            </a:r>
            <a:r>
              <a:rPr lang="en-US" altLang="zh-CN" sz="1600" b="1" dirty="0">
                <a:solidFill>
                  <a:srgbClr val="008000"/>
                </a:solidFill>
                <a:latin typeface="+mn-lt"/>
              </a:rPr>
              <a:t>the</a:t>
            </a:r>
            <a:r>
              <a:rPr lang="zh-CN" altLang="en-US" sz="1600" b="1" dirty="0">
                <a:solidFill>
                  <a:srgbClr val="008000"/>
                </a:solidFill>
                <a:latin typeface="+mn-lt"/>
              </a:rPr>
              <a:t> </a:t>
            </a:r>
            <a:r>
              <a:rPr lang="en-US" altLang="zh-CN" sz="1600" b="1" dirty="0">
                <a:solidFill>
                  <a:srgbClr val="008000"/>
                </a:solidFill>
                <a:latin typeface="+mn-lt"/>
              </a:rPr>
              <a:t>group</a:t>
            </a:r>
            <a:r>
              <a:rPr lang="zh-CN" altLang="en-US" sz="1600" b="1" dirty="0">
                <a:solidFill>
                  <a:srgbClr val="008000"/>
                </a:solidFill>
                <a:latin typeface="+mn-lt"/>
              </a:rPr>
              <a:t> </a:t>
            </a:r>
            <a:r>
              <a:rPr lang="en-US" altLang="zh-CN" sz="1600" b="1" dirty="0">
                <a:solidFill>
                  <a:srgbClr val="008000"/>
                </a:solidFill>
                <a:latin typeface="+mn-lt"/>
              </a:rPr>
              <a:t>batch</a:t>
            </a:r>
            <a:r>
              <a:rPr lang="zh-CN" altLang="en-US" sz="1600" b="1" dirty="0">
                <a:solidFill>
                  <a:srgbClr val="008000"/>
                </a:solidFill>
                <a:latin typeface="+mn-lt"/>
              </a:rPr>
              <a:t> </a:t>
            </a:r>
            <a:r>
              <a:rPr lang="en-US" altLang="zh-CN" sz="1600" b="1" dirty="0">
                <a:solidFill>
                  <a:srgbClr val="008000"/>
                </a:solidFill>
                <a:latin typeface="+mn-lt"/>
              </a:rPr>
              <a:t>size</a:t>
            </a:r>
            <a:r>
              <a:rPr lang="zh-CN" altLang="en-US" sz="1600" b="1" dirty="0">
                <a:solidFill>
                  <a:srgbClr val="008000"/>
                </a:solidFill>
                <a:latin typeface="+mn-lt"/>
              </a:rPr>
              <a:t> </a:t>
            </a:r>
            <a:endParaRPr lang="en-US" sz="1600" b="1" dirty="0">
              <a:solidFill>
                <a:srgbClr val="008000"/>
              </a:solidFill>
              <a:latin typeface="+mn-lt"/>
            </a:endParaRPr>
          </a:p>
        </p:txBody>
      </p:sp>
      <p:cxnSp>
        <p:nvCxnSpPr>
          <p:cNvPr id="15" name="Straight Arrow Connector 5">
            <a:extLst>
              <a:ext uri="{FF2B5EF4-FFF2-40B4-BE49-F238E27FC236}">
                <a16:creationId xmlns:a16="http://schemas.microsoft.com/office/drawing/2014/main" id="{015EB483-9DDA-DCDE-101C-5B4C819D1FB9}"/>
              </a:ext>
            </a:extLst>
          </p:cNvPr>
          <p:cNvCxnSpPr>
            <a:cxnSpLocks/>
          </p:cNvCxnSpPr>
          <p:nvPr/>
        </p:nvCxnSpPr>
        <p:spPr bwMode="auto">
          <a:xfrm>
            <a:off x="6841368" y="3140968"/>
            <a:ext cx="1198848" cy="1002693"/>
          </a:xfrm>
          <a:prstGeom prst="straightConnector1">
            <a:avLst/>
          </a:prstGeom>
          <a:noFill/>
          <a:ln w="66675" cap="flat" cmpd="sng" algn="ctr">
            <a:solidFill>
              <a:srgbClr val="008000">
                <a:alpha val="69000"/>
              </a:srgbClr>
            </a:solidFill>
            <a:prstDash val="solid"/>
            <a:round/>
            <a:headEnd type="none" w="med" len="med"/>
            <a:tailEnd type="triangle"/>
          </a:ln>
          <a:effectLst/>
        </p:spPr>
      </p:cxnSp>
      <p:sp>
        <p:nvSpPr>
          <p:cNvPr id="16" name="TextBox 4">
            <a:extLst>
              <a:ext uri="{FF2B5EF4-FFF2-40B4-BE49-F238E27FC236}">
                <a16:creationId xmlns:a16="http://schemas.microsoft.com/office/drawing/2014/main" id="{75F569A8-82D8-EA46-AFCA-0CF2D21EB43A}"/>
              </a:ext>
            </a:extLst>
          </p:cNvPr>
          <p:cNvSpPr txBox="1"/>
          <p:nvPr/>
        </p:nvSpPr>
        <p:spPr>
          <a:xfrm>
            <a:off x="1343472" y="1116033"/>
            <a:ext cx="5743128" cy="830997"/>
          </a:xfrm>
          <a:prstGeom prst="rect">
            <a:avLst/>
          </a:prstGeom>
          <a:solidFill>
            <a:schemeClr val="bg1"/>
          </a:solidFill>
          <a:ln w="31750">
            <a:solidFill>
              <a:srgbClr val="C00000"/>
            </a:solidFill>
          </a:ln>
        </p:spPr>
        <p:txBody>
          <a:bodyPr wrap="square" rtlCol="0">
            <a:spAutoFit/>
          </a:bodyPr>
          <a:lstStyle/>
          <a:p>
            <a:r>
              <a:rPr lang="en" altLang="zh-CN" sz="1600" b="1" dirty="0">
                <a:solidFill>
                  <a:srgbClr val="C00000"/>
                </a:solidFill>
                <a:latin typeface="+mn-lt"/>
              </a:rPr>
              <a:t>Without group locking enabled, system latency skyrockets with violent jitter once</a:t>
            </a:r>
            <a:r>
              <a:rPr lang="zh-CN" altLang="en-US" sz="1600" b="1" dirty="0">
                <a:solidFill>
                  <a:srgbClr val="C00000"/>
                </a:solidFill>
                <a:latin typeface="+mn-lt"/>
              </a:rPr>
              <a:t> </a:t>
            </a:r>
            <a:r>
              <a:rPr lang="en" altLang="zh-CN" sz="1600" b="1" dirty="0">
                <a:solidFill>
                  <a:srgbClr val="C00000"/>
                </a:solidFill>
                <a:latin typeface="+mn-lt"/>
              </a:rPr>
              <a:t>hotspot update workloads</a:t>
            </a:r>
            <a:r>
              <a:rPr lang="zh-CN" altLang="en-US" sz="1600" b="1" dirty="0">
                <a:solidFill>
                  <a:srgbClr val="C00000"/>
                </a:solidFill>
                <a:latin typeface="+mn-lt"/>
              </a:rPr>
              <a:t> </a:t>
            </a:r>
            <a:r>
              <a:rPr lang="en-US" altLang="zh-CN" sz="1600" b="1" dirty="0">
                <a:solidFill>
                  <a:srgbClr val="C00000"/>
                </a:solidFill>
                <a:latin typeface="+mn-lt"/>
              </a:rPr>
              <a:t>coming</a:t>
            </a:r>
            <a:endParaRPr lang="en-US" sz="1600" b="1" dirty="0">
              <a:solidFill>
                <a:srgbClr val="C00000"/>
              </a:solidFill>
              <a:latin typeface="+mn-lt"/>
            </a:endParaRPr>
          </a:p>
        </p:txBody>
      </p:sp>
      <p:cxnSp>
        <p:nvCxnSpPr>
          <p:cNvPr id="17" name="Straight Arrow Connector 5">
            <a:extLst>
              <a:ext uri="{FF2B5EF4-FFF2-40B4-BE49-F238E27FC236}">
                <a16:creationId xmlns:a16="http://schemas.microsoft.com/office/drawing/2014/main" id="{CD192260-0B75-3DF2-585A-C03A90D5892B}"/>
              </a:ext>
            </a:extLst>
          </p:cNvPr>
          <p:cNvCxnSpPr>
            <a:cxnSpLocks/>
          </p:cNvCxnSpPr>
          <p:nvPr/>
        </p:nvCxnSpPr>
        <p:spPr bwMode="auto">
          <a:xfrm flipH="1" flipV="1">
            <a:off x="2090057" y="1947030"/>
            <a:ext cx="837591" cy="584775"/>
          </a:xfrm>
          <a:prstGeom prst="straightConnector1">
            <a:avLst/>
          </a:prstGeom>
          <a:noFill/>
          <a:ln w="66675" cap="flat" cmpd="sng" algn="ctr">
            <a:solidFill>
              <a:srgbClr val="C00000">
                <a:alpha val="69000"/>
              </a:srgbClr>
            </a:solidFill>
            <a:prstDash val="solid"/>
            <a:round/>
            <a:headEnd type="none" w="med" len="med"/>
            <a:tailEnd type="triangle"/>
          </a:ln>
          <a:effectLst/>
        </p:spPr>
      </p:cxnSp>
      <p:sp>
        <p:nvSpPr>
          <p:cNvPr id="18" name="矩形 17">
            <a:extLst>
              <a:ext uri="{FF2B5EF4-FFF2-40B4-BE49-F238E27FC236}">
                <a16:creationId xmlns:a16="http://schemas.microsoft.com/office/drawing/2014/main" id="{7C291D0E-6232-3CC8-7A5E-A4A33927E088}"/>
              </a:ext>
            </a:extLst>
          </p:cNvPr>
          <p:cNvSpPr/>
          <p:nvPr/>
        </p:nvSpPr>
        <p:spPr>
          <a:xfrm>
            <a:off x="5879976" y="2531805"/>
            <a:ext cx="360040" cy="479031"/>
          </a:xfrm>
          <a:prstGeom prst="rect">
            <a:avLst/>
          </a:prstGeom>
          <a:solidFill>
            <a:srgbClr val="C00000">
              <a:alpha val="2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95420719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FA83C-7271-DA15-7E6B-3376791D0BE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5E8A1FF-6B9B-1006-7494-44AC4E86A2B4}"/>
              </a:ext>
            </a:extLst>
          </p:cNvPr>
          <p:cNvSpPr txBox="1"/>
          <p:nvPr/>
        </p:nvSpPr>
        <p:spPr>
          <a:xfrm>
            <a:off x="565812" y="126923"/>
            <a:ext cx="10312720" cy="523220"/>
          </a:xfrm>
          <a:prstGeom prst="rect">
            <a:avLst/>
          </a:prstGeom>
          <a:noFill/>
        </p:spPr>
        <p:txBody>
          <a:bodyPr wrap="square">
            <a:spAutoFit/>
          </a:bodyPr>
          <a:lstStyle/>
          <a:p>
            <a:r>
              <a:rPr kumimoji="1" lang="en-US" altLang="zh-CN" sz="2800" b="1" dirty="0">
                <a:latin typeface="Times New Roman" panose="02020603050405020304" pitchFamily="18" charset="0"/>
                <a:cs typeface="Times New Roman" panose="02020603050405020304" pitchFamily="18" charset="0"/>
              </a:rPr>
              <a:t>Effect of Group Commit</a:t>
            </a:r>
            <a:endPar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pic>
        <p:nvPicPr>
          <p:cNvPr id="3" name="图片 2">
            <a:extLst>
              <a:ext uri="{FF2B5EF4-FFF2-40B4-BE49-F238E27FC236}">
                <a16:creationId xmlns:a16="http://schemas.microsoft.com/office/drawing/2014/main" id="{0E1EDD40-442F-3B3B-1B66-6AA16CDC425D}"/>
              </a:ext>
            </a:extLst>
          </p:cNvPr>
          <p:cNvPicPr>
            <a:picLocks noChangeAspect="1"/>
          </p:cNvPicPr>
          <p:nvPr/>
        </p:nvPicPr>
        <p:blipFill>
          <a:blip r:embed="rId2"/>
          <a:stretch>
            <a:fillRect/>
          </a:stretch>
        </p:blipFill>
        <p:spPr>
          <a:xfrm>
            <a:off x="633414" y="1338928"/>
            <a:ext cx="4804491" cy="3144758"/>
          </a:xfrm>
          <a:prstGeom prst="rect">
            <a:avLst/>
          </a:prstGeom>
        </p:spPr>
      </p:pic>
      <p:graphicFrame>
        <p:nvGraphicFramePr>
          <p:cNvPr id="4" name="表格 3">
            <a:extLst>
              <a:ext uri="{FF2B5EF4-FFF2-40B4-BE49-F238E27FC236}">
                <a16:creationId xmlns:a16="http://schemas.microsoft.com/office/drawing/2014/main" id="{71048CA0-EF81-F767-D297-86184E8993CB}"/>
              </a:ext>
            </a:extLst>
          </p:cNvPr>
          <p:cNvGraphicFramePr>
            <a:graphicFrameLocks noGrp="1"/>
          </p:cNvGraphicFramePr>
          <p:nvPr>
            <p:extLst>
              <p:ext uri="{D42A27DB-BD31-4B8C-83A1-F6EECF244321}">
                <p14:modId xmlns:p14="http://schemas.microsoft.com/office/powerpoint/2010/main" val="808039389"/>
              </p:ext>
            </p:extLst>
          </p:nvPr>
        </p:nvGraphicFramePr>
        <p:xfrm>
          <a:off x="6096000" y="1447810"/>
          <a:ext cx="5616624" cy="2744113"/>
        </p:xfrm>
        <a:graphic>
          <a:graphicData uri="http://schemas.openxmlformats.org/drawingml/2006/table">
            <a:tbl>
              <a:tblPr firstRow="1" bandRow="1">
                <a:tableStyleId>{5C22544A-7EE6-4342-B048-85BDC9FD1C3A}</a:tableStyleId>
              </a:tblPr>
              <a:tblGrid>
                <a:gridCol w="3547341">
                  <a:extLst>
                    <a:ext uri="{9D8B030D-6E8A-4147-A177-3AD203B41FA5}">
                      <a16:colId xmlns:a16="http://schemas.microsoft.com/office/drawing/2014/main" val="2443284446"/>
                    </a:ext>
                  </a:extLst>
                </a:gridCol>
                <a:gridCol w="2069283">
                  <a:extLst>
                    <a:ext uri="{9D8B030D-6E8A-4147-A177-3AD203B41FA5}">
                      <a16:colId xmlns:a16="http://schemas.microsoft.com/office/drawing/2014/main" val="681596191"/>
                    </a:ext>
                  </a:extLst>
                </a:gridCol>
              </a:tblGrid>
              <a:tr h="297042">
                <a:tc>
                  <a:txBody>
                    <a:bodyPr/>
                    <a:lstStyle/>
                    <a:p>
                      <a:pPr algn="ctr"/>
                      <a:r>
                        <a:rPr lang="en-US" altLang="zh-CN" dirty="0">
                          <a:latin typeface="Times New Roman" panose="02020603050405020304" pitchFamily="18" charset="0"/>
                          <a:cs typeface="Times New Roman" panose="02020603050405020304" pitchFamily="18" charset="0"/>
                        </a:rPr>
                        <a:t>Workload</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a:latin typeface="Times New Roman" panose="02020603050405020304" pitchFamily="18" charset="0"/>
                          <a:cs typeface="Times New Roman" panose="02020603050405020304" pitchFamily="18" charset="0"/>
                        </a:rPr>
                        <a:t>Replication</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6171711"/>
                  </a:ext>
                </a:extLst>
              </a:tr>
              <a:tr h="5127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kern="1200">
                          <a:solidFill>
                            <a:schemeClr val="dk1"/>
                          </a:solidFill>
                          <a:latin typeface="Times New Roman" panose="02020603050405020304" pitchFamily="18" charset="0"/>
                          <a:ea typeface="+mn-ea"/>
                          <a:cs typeface="Times New Roman" panose="02020603050405020304" pitchFamily="18" charset="0"/>
                        </a:rPr>
                        <a:t>Simulated</a:t>
                      </a:r>
                      <a:r>
                        <a:rPr lang="en" altLang="zh-CN" sz="1600" kern="1200">
                          <a:solidFill>
                            <a:schemeClr val="dk1"/>
                          </a:solidFill>
                          <a:latin typeface="Times New Roman" panose="02020603050405020304" pitchFamily="18" charset="0"/>
                          <a:ea typeface="+mn-ea"/>
                          <a:cs typeface="Times New Roman" panose="02020603050405020304" pitchFamily="18" charset="0"/>
                        </a:rPr>
                        <a:t> </a:t>
                      </a:r>
                      <a:r>
                        <a:rPr lang="en-US" altLang="zh-CN" sz="1600" kern="1200">
                          <a:solidFill>
                            <a:schemeClr val="dk1"/>
                          </a:solidFill>
                          <a:latin typeface="Times New Roman" panose="02020603050405020304" pitchFamily="18" charset="0"/>
                          <a:ea typeface="+mn-ea"/>
                          <a:cs typeface="Times New Roman" panose="02020603050405020304" pitchFamily="18" charset="0"/>
                        </a:rPr>
                        <a:t>workload</a:t>
                      </a:r>
                      <a:r>
                        <a:rPr lang="en" altLang="zh-CN" sz="1600" kern="1200">
                          <a:solidFill>
                            <a:schemeClr val="dk1"/>
                          </a:solidFill>
                          <a:latin typeface="Times New Roman" panose="02020603050405020304" pitchFamily="18" charset="0"/>
                          <a:ea typeface="+mn-ea"/>
                          <a:cs typeface="Times New Roman" panose="02020603050405020304" pitchFamily="18" charset="0"/>
                        </a:rPr>
                        <a:t> of the Financial</a:t>
                      </a:r>
                      <a:r>
                        <a:rPr lang="zh-CN" altLang="en-US" sz="1600" kern="1200">
                          <a:solidFill>
                            <a:schemeClr val="dk1"/>
                          </a:solidFill>
                          <a:latin typeface="Times New Roman" panose="02020603050405020304" pitchFamily="18" charset="0"/>
                          <a:ea typeface="+mn-ea"/>
                          <a:cs typeface="Times New Roman" panose="02020603050405020304" pitchFamily="18" charset="0"/>
                        </a:rPr>
                        <a:t> </a:t>
                      </a:r>
                      <a:r>
                        <a:rPr lang="en" altLang="zh-CN" sz="1600" kern="1200">
                          <a:solidFill>
                            <a:schemeClr val="dk1"/>
                          </a:solidFill>
                          <a:latin typeface="Times New Roman" panose="02020603050405020304" pitchFamily="18" charset="0"/>
                          <a:ea typeface="+mn-ea"/>
                          <a:cs typeface="Times New Roman" panose="02020603050405020304" pitchFamily="18" charset="0"/>
                        </a:rPr>
                        <a:t>Transaction system in</a:t>
                      </a:r>
                      <a:r>
                        <a:rPr lang="zh-CN" altLang="en-US" sz="1600" kern="1200">
                          <a:solidFill>
                            <a:schemeClr val="dk1"/>
                          </a:solidFill>
                          <a:latin typeface="Times New Roman" panose="02020603050405020304" pitchFamily="18" charset="0"/>
                          <a:ea typeface="+mn-ea"/>
                          <a:cs typeface="Times New Roman" panose="02020603050405020304" pitchFamily="18" charset="0"/>
                        </a:rPr>
                        <a:t> </a:t>
                      </a:r>
                      <a:r>
                        <a:rPr lang="en" altLang="zh-CN" sz="1600" kern="1200">
                          <a:solidFill>
                            <a:schemeClr val="dk1"/>
                          </a:solidFill>
                          <a:latin typeface="Times New Roman" panose="02020603050405020304" pitchFamily="18" charset="0"/>
                          <a:ea typeface="+mn-ea"/>
                          <a:cs typeface="Times New Roman" panose="02020603050405020304" pitchFamily="18" charset="0"/>
                        </a:rPr>
                        <a:t>Tencent</a:t>
                      </a:r>
                      <a:r>
                        <a:rPr lang="en-US" altLang="zh-CN" sz="1600" kern="1200">
                          <a:solidFill>
                            <a:schemeClr val="dk1"/>
                          </a:solidFill>
                          <a:latin typeface="Times New Roman" panose="02020603050405020304" pitchFamily="18" charset="0"/>
                          <a:ea typeface="+mn-ea"/>
                          <a:cs typeface="Times New Roman" panose="02020603050405020304" pitchFamily="18" charset="0"/>
                        </a:rPr>
                        <a:t>(</a:t>
                      </a:r>
                      <a:r>
                        <a:rPr lang="en-US" altLang="zh-CN" sz="1600" b="1">
                          <a:solidFill>
                            <a:srgbClr val="C00000"/>
                          </a:solidFill>
                          <a:latin typeface="Times New Roman" panose="02020603050405020304" pitchFamily="18" charset="0"/>
                          <a:cs typeface="Times New Roman" panose="02020603050405020304" pitchFamily="18" charset="0"/>
                        </a:rPr>
                        <a:t>FIT</a:t>
                      </a:r>
                      <a:r>
                        <a:rPr lang="en-US" altLang="zh-CN" sz="1600" kern="1200">
                          <a:solidFill>
                            <a:schemeClr val="dk1"/>
                          </a:solidFill>
                          <a:latin typeface="Times New Roman" panose="02020603050405020304" pitchFamily="18" charset="0"/>
                          <a:ea typeface="+mn-ea"/>
                          <a:cs typeface="Times New Roman" panose="02020603050405020304" pitchFamily="18" charset="0"/>
                        </a:rPr>
                        <a:t>)</a:t>
                      </a:r>
                      <a:endParaRPr lang="zh-CN" altLang="en-US" sz="1600" kern="120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Semisynchronous Replication</a:t>
                      </a:r>
                      <a:r>
                        <a:rPr lang="en-US"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a:t>
                      </a:r>
                      <a:r>
                        <a:rPr lang="en-US" altLang="zh-CN" sz="1600" b="1" kern="1200">
                          <a:solidFill>
                            <a:srgbClr val="C00000"/>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-S</a:t>
                      </a:r>
                      <a:r>
                        <a:rPr lang="en-US"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a:t>
                      </a:r>
                      <a:endParaRPr lang="en"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endParaRPr>
                    </a:p>
                    <a:p>
                      <a:endParaRPr lang="zh-CN" altLang="en-US" sz="16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80614509"/>
                  </a:ext>
                </a:extLst>
              </a:tr>
              <a:tr h="7324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600">
                          <a:latin typeface="Times New Roman" panose="02020603050405020304" pitchFamily="18" charset="0"/>
                          <a:cs typeface="Times New Roman" panose="02020603050405020304" pitchFamily="18" charset="0"/>
                        </a:rPr>
                        <a:t>SysBench hotspot read/write</a:t>
                      </a:r>
                      <a:r>
                        <a:rPr lang="en-US" altLang="zh-CN" sz="1600">
                          <a:latin typeface="Times New Roman" panose="02020603050405020304" pitchFamily="18" charset="0"/>
                          <a:cs typeface="Times New Roman" panose="02020603050405020304" pitchFamily="18" charset="0"/>
                        </a:rPr>
                        <a:t>(</a:t>
                      </a:r>
                      <a:r>
                        <a:rPr lang="en-US" altLang="zh-CN" sz="1600" b="1">
                          <a:solidFill>
                            <a:srgbClr val="C00000"/>
                          </a:solidFill>
                          <a:latin typeface="Times New Roman" panose="02020603050405020304" pitchFamily="18" charset="0"/>
                          <a:cs typeface="Times New Roman" panose="02020603050405020304" pitchFamily="18" charset="0"/>
                        </a:rPr>
                        <a:t>HRW</a:t>
                      </a:r>
                      <a:r>
                        <a:rPr lang="en-US" altLang="zh-CN" sz="1600">
                          <a:latin typeface="Times New Roman" panose="02020603050405020304" pitchFamily="18" charset="0"/>
                          <a:cs typeface="Times New Roman" panose="02020603050405020304" pitchFamily="18" charset="0"/>
                        </a:rPr>
                        <a:t>)</a:t>
                      </a:r>
                      <a:r>
                        <a:rPr lang="en" altLang="zh-CN" sz="1600">
                          <a:latin typeface="Times New Roman" panose="02020603050405020304" pitchFamily="18" charset="0"/>
                          <a:cs typeface="Times New Roman" panose="02020603050405020304" pitchFamily="18" charset="0"/>
                        </a:rPr>
                        <a:t> workload</a:t>
                      </a:r>
                      <a:r>
                        <a:rPr lang="zh-CN" altLang="en-US" sz="1600">
                          <a:latin typeface="Times New Roman" panose="02020603050405020304" pitchFamily="18" charset="0"/>
                          <a:cs typeface="Times New Roman" panose="02020603050405020304" pitchFamily="18" charset="0"/>
                        </a:rPr>
                        <a:t> </a:t>
                      </a:r>
                      <a:r>
                        <a:rPr lang="en" altLang="zh-CN" sz="1600">
                          <a:latin typeface="Times New Roman" panose="02020603050405020304" pitchFamily="18" charset="0"/>
                          <a:cs typeface="Times New Roman" panose="02020603050405020304" pitchFamily="18" charset="0"/>
                        </a:rPr>
                        <a:t>(RW=0.5,TL=16)</a:t>
                      </a:r>
                      <a:endParaRPr lang="zh-CN" altLang="en-US" sz="160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As</a:t>
                      </a:r>
                      <a:r>
                        <a:rPr lang="en"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ynchronous Replication</a:t>
                      </a:r>
                      <a:r>
                        <a:rPr lang="en-US"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a:t>
                      </a:r>
                      <a:r>
                        <a:rPr lang="en-US" altLang="zh-CN" sz="1600" b="1" kern="1200">
                          <a:solidFill>
                            <a:srgbClr val="C00000"/>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-AS</a:t>
                      </a:r>
                      <a:r>
                        <a:rPr lang="en-US"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a:t>
                      </a:r>
                      <a:endParaRPr lang="en" altLang="zh-CN" sz="1600" kern="1200">
                        <a:solidFill>
                          <a:schemeClr val="dk1"/>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endParaRPr>
                    </a:p>
                    <a:p>
                      <a:endParaRPr lang="zh-CN" altLang="en-US" sz="16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6983796"/>
                  </a:ext>
                </a:extLst>
              </a:tr>
              <a:tr h="7324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600">
                          <a:latin typeface="Times New Roman" panose="02020603050405020304" pitchFamily="18" charset="0"/>
                          <a:cs typeface="Times New Roman" panose="02020603050405020304" pitchFamily="18" charset="0"/>
                        </a:rPr>
                        <a:t>SysBench hotspot</a:t>
                      </a:r>
                      <a:r>
                        <a:rPr lang="zh-CN" altLang="en-US" sz="1600">
                          <a:latin typeface="Times New Roman" panose="02020603050405020304" pitchFamily="18" charset="0"/>
                          <a:cs typeface="Times New Roman" panose="02020603050405020304" pitchFamily="18" charset="0"/>
                        </a:rPr>
                        <a:t> </a:t>
                      </a:r>
                      <a:r>
                        <a:rPr lang="en" altLang="zh-CN" sz="1600">
                          <a:latin typeface="Times New Roman" panose="02020603050405020304" pitchFamily="18" charset="0"/>
                          <a:cs typeface="Times New Roman" panose="02020603050405020304" pitchFamily="18" charset="0"/>
                        </a:rPr>
                        <a:t>update</a:t>
                      </a:r>
                      <a:r>
                        <a:rPr lang="en-US" altLang="zh-CN" sz="1600">
                          <a:latin typeface="Times New Roman" panose="02020603050405020304" pitchFamily="18" charset="0"/>
                          <a:cs typeface="Times New Roman" panose="02020603050405020304" pitchFamily="18" charset="0"/>
                        </a:rPr>
                        <a:t>(</a:t>
                      </a:r>
                      <a:r>
                        <a:rPr lang="en-US" altLang="zh-CN" sz="1600" b="1">
                          <a:solidFill>
                            <a:srgbClr val="C00000"/>
                          </a:solidFill>
                          <a:latin typeface="Times New Roman" panose="02020603050405020304" pitchFamily="18" charset="0"/>
                          <a:cs typeface="Times New Roman" panose="02020603050405020304" pitchFamily="18" charset="0"/>
                        </a:rPr>
                        <a:t>HU</a:t>
                      </a:r>
                      <a:r>
                        <a:rPr lang="en-US" altLang="zh-CN" sz="1600">
                          <a:latin typeface="Times New Roman" panose="02020603050405020304" pitchFamily="18" charset="0"/>
                          <a:cs typeface="Times New Roman" panose="02020603050405020304" pitchFamily="18" charset="0"/>
                        </a:rPr>
                        <a:t>)</a:t>
                      </a:r>
                      <a:r>
                        <a:rPr lang="en" altLang="zh-CN" sz="1600">
                          <a:latin typeface="Times New Roman" panose="02020603050405020304" pitchFamily="18" charset="0"/>
                          <a:cs typeface="Times New Roman" panose="02020603050405020304" pitchFamily="18" charset="0"/>
                        </a:rPr>
                        <a:t> workload (RW=0,TL=16)</a:t>
                      </a:r>
                      <a:endParaRPr lang="zh-CN" altLang="en-US" sz="1600">
                        <a:latin typeface="Times New Roman" panose="02020603050405020304" pitchFamily="18" charset="0"/>
                        <a:cs typeface="Times New Roman" panose="02020603050405020304" pitchFamily="18" charset="0"/>
                      </a:endParaRPr>
                    </a:p>
                  </a:txBody>
                  <a:tcPr/>
                </a:tc>
                <a:tc>
                  <a:txBody>
                    <a:bodyPr/>
                    <a:lstStyle/>
                    <a:p>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3499105"/>
                  </a:ext>
                </a:extLst>
              </a:tr>
            </a:tbl>
          </a:graphicData>
        </a:graphic>
      </p:graphicFrame>
      <p:sp>
        <p:nvSpPr>
          <p:cNvPr id="6" name="TextBox 4">
            <a:extLst>
              <a:ext uri="{FF2B5EF4-FFF2-40B4-BE49-F238E27FC236}">
                <a16:creationId xmlns:a16="http://schemas.microsoft.com/office/drawing/2014/main" id="{39AA2435-75F3-11DE-C420-A5AB12907967}"/>
              </a:ext>
            </a:extLst>
          </p:cNvPr>
          <p:cNvSpPr txBox="1"/>
          <p:nvPr/>
        </p:nvSpPr>
        <p:spPr>
          <a:xfrm>
            <a:off x="4367808" y="5127292"/>
            <a:ext cx="5298706" cy="830997"/>
          </a:xfrm>
          <a:prstGeom prst="rect">
            <a:avLst/>
          </a:prstGeom>
          <a:solidFill>
            <a:schemeClr val="bg1"/>
          </a:solidFill>
          <a:ln w="31750">
            <a:solidFill>
              <a:srgbClr val="C00000"/>
            </a:solidFill>
          </a:ln>
        </p:spPr>
        <p:txBody>
          <a:bodyPr wrap="square" rtlCol="0">
            <a:spAutoFit/>
          </a:bodyPr>
          <a:lstStyle/>
          <a:p>
            <a:r>
              <a:rPr lang="en" altLang="zh-CN" sz="1600" b="1" dirty="0">
                <a:solidFill>
                  <a:srgbClr val="C00000"/>
                </a:solidFill>
                <a:latin typeface="+mn-lt"/>
              </a:rPr>
              <a:t>Without group commit, performance lags significantly</a:t>
            </a:r>
          </a:p>
          <a:p>
            <a:r>
              <a:rPr lang="en" altLang="zh-CN" sz="1600" b="1" dirty="0">
                <a:solidFill>
                  <a:srgbClr val="C00000"/>
                </a:solidFill>
                <a:latin typeface="+mn-lt"/>
              </a:rPr>
              <a:t>—particularly under </a:t>
            </a:r>
            <a:r>
              <a:rPr lang="en" altLang="zh-CN" sz="1600" b="1" dirty="0" err="1">
                <a:solidFill>
                  <a:srgbClr val="C00000"/>
                </a:solidFill>
                <a:latin typeface="+mn-lt"/>
              </a:rPr>
              <a:t>semisynchronous</a:t>
            </a:r>
            <a:r>
              <a:rPr lang="en" altLang="zh-CN" sz="1600" b="1" dirty="0">
                <a:solidFill>
                  <a:srgbClr val="C00000"/>
                </a:solidFill>
                <a:latin typeface="+mn-lt"/>
              </a:rPr>
              <a:t> replication.</a:t>
            </a:r>
            <a:endParaRPr lang="en-US" sz="1600" b="1" dirty="0">
              <a:solidFill>
                <a:srgbClr val="C00000"/>
              </a:solidFill>
              <a:latin typeface="+mn-lt"/>
            </a:endParaRPr>
          </a:p>
        </p:txBody>
      </p:sp>
      <p:cxnSp>
        <p:nvCxnSpPr>
          <p:cNvPr id="7" name="Straight Arrow Connector 5">
            <a:extLst>
              <a:ext uri="{FF2B5EF4-FFF2-40B4-BE49-F238E27FC236}">
                <a16:creationId xmlns:a16="http://schemas.microsoft.com/office/drawing/2014/main" id="{D7B70805-2923-FA39-BC65-0061692656BC}"/>
              </a:ext>
            </a:extLst>
          </p:cNvPr>
          <p:cNvCxnSpPr>
            <a:cxnSpLocks/>
          </p:cNvCxnSpPr>
          <p:nvPr/>
        </p:nvCxnSpPr>
        <p:spPr bwMode="auto">
          <a:xfrm flipH="1" flipV="1">
            <a:off x="4142790" y="4327513"/>
            <a:ext cx="1022292" cy="758989"/>
          </a:xfrm>
          <a:prstGeom prst="straightConnector1">
            <a:avLst/>
          </a:prstGeom>
          <a:noFill/>
          <a:ln w="66675" cap="flat" cmpd="sng" algn="ctr">
            <a:solidFill>
              <a:srgbClr val="C00000">
                <a:alpha val="69000"/>
              </a:srgbClr>
            </a:solidFill>
            <a:prstDash val="solid"/>
            <a:round/>
            <a:headEnd type="none" w="med" len="med"/>
            <a:tailEnd type="triangle"/>
          </a:ln>
          <a:effectLst/>
        </p:spPr>
      </p:cxnSp>
      <p:sp>
        <p:nvSpPr>
          <p:cNvPr id="8" name="矩形 7">
            <a:extLst>
              <a:ext uri="{FF2B5EF4-FFF2-40B4-BE49-F238E27FC236}">
                <a16:creationId xmlns:a16="http://schemas.microsoft.com/office/drawing/2014/main" id="{9C4ECCDD-FC06-2FBD-D193-3CAA1D83820B}"/>
              </a:ext>
            </a:extLst>
          </p:cNvPr>
          <p:cNvSpPr/>
          <p:nvPr/>
        </p:nvSpPr>
        <p:spPr>
          <a:xfrm>
            <a:off x="3153694" y="1842984"/>
            <a:ext cx="1656184" cy="2448271"/>
          </a:xfrm>
          <a:prstGeom prst="rect">
            <a:avLst/>
          </a:prstGeom>
          <a:solidFill>
            <a:schemeClr val="accent2">
              <a:lumMod val="40000"/>
              <a:lumOff val="60000"/>
              <a:alpha val="34728"/>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285784586"/>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A2F1A6-8671-FA82-2AD6-3F3F4AA5D3C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C4C3162-F87A-0A57-53FD-3DBE9509D082}"/>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How to ensure correctness?</a:t>
            </a:r>
          </a:p>
        </p:txBody>
      </p:sp>
      <p:sp>
        <p:nvSpPr>
          <p:cNvPr id="3" name="矩形 2">
            <a:extLst>
              <a:ext uri="{FF2B5EF4-FFF2-40B4-BE49-F238E27FC236}">
                <a16:creationId xmlns:a16="http://schemas.microsoft.com/office/drawing/2014/main" id="{4251F2C2-BF0C-1B60-6595-52884A69CFCD}"/>
              </a:ext>
            </a:extLst>
          </p:cNvPr>
          <p:cNvSpPr/>
          <p:nvPr/>
        </p:nvSpPr>
        <p:spPr>
          <a:xfrm>
            <a:off x="302592" y="882428"/>
            <a:ext cx="11682579" cy="3447098"/>
          </a:xfrm>
          <a:prstGeom prst="rect">
            <a:avLst/>
          </a:prstGeom>
        </p:spPr>
        <p:txBody>
          <a:bodyPr wrap="square">
            <a:spAutoFit/>
          </a:bodyPr>
          <a:lstStyle/>
          <a:p>
            <a:pPr marL="342900" indent="-342900">
              <a:spcAft>
                <a:spcPts val="600"/>
              </a:spcAft>
              <a:buFont typeface="Wingdings" panose="05000000000000000000" pitchFamily="2" charset="2"/>
              <a:buChar char="Ø"/>
            </a:pPr>
            <a:r>
              <a:rPr lang="en-US" altLang="zh-CN" sz="2400" b="1" dirty="0">
                <a:latin typeface="Times New Roman" panose="02020603050405020304" pitchFamily="18" charset="0"/>
                <a:cs typeface="Times New Roman" panose="02020603050405020304" pitchFamily="18" charset="0"/>
                <a:sym typeface="+mn-ea"/>
              </a:rPr>
              <a:t>Commit</a:t>
            </a:r>
            <a:r>
              <a:rPr lang="zh-CN" altLang="en-US" sz="2400" b="1" dirty="0">
                <a:latin typeface="Times New Roman" panose="02020603050405020304" pitchFamily="18" charset="0"/>
                <a:cs typeface="Times New Roman" panose="02020603050405020304" pitchFamily="18" charset="0"/>
                <a:sym typeface="+mn-ea"/>
              </a:rPr>
              <a:t> </a:t>
            </a:r>
            <a:r>
              <a:rPr lang="en-US" altLang="zh-CN" sz="2400" b="1" dirty="0">
                <a:latin typeface="Times New Roman" panose="02020603050405020304" pitchFamily="18" charset="0"/>
                <a:cs typeface="Times New Roman" panose="02020603050405020304" pitchFamily="18" charset="0"/>
                <a:sym typeface="+mn-ea"/>
              </a:rPr>
              <a:t>order</a:t>
            </a:r>
          </a:p>
          <a:p>
            <a:pPr lvl="2" indent="-285750">
              <a:spcBef>
                <a:spcPts val="600"/>
              </a:spcBef>
              <a:spcAft>
                <a:spcPts val="600"/>
              </a:spcAft>
              <a:buFont typeface="Wingdings" pitchFamily="2" charset="2"/>
              <a:buChar char="Ø"/>
            </a:pPr>
            <a:r>
              <a:rPr lang="en-US" altLang="zh-CN" sz="2400" b="1" dirty="0">
                <a:solidFill>
                  <a:srgbClr val="C00000"/>
                </a:solidFill>
                <a:latin typeface="Times New Roman" panose="02020603050405020304" pitchFamily="18" charset="0"/>
                <a:cs typeface="Times New Roman" panose="02020603050405020304" pitchFamily="18" charset="0"/>
                <a:sym typeface="+mn-ea"/>
              </a:rPr>
              <a:t>Commit</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order</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must</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be</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the</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same</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with</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the</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update</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order</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on</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hot</a:t>
            </a:r>
            <a:r>
              <a:rPr lang="zh-CN" altLang="en-US" sz="2400" b="1" dirty="0">
                <a:solidFill>
                  <a:srgbClr val="C00000"/>
                </a:solidFill>
                <a:latin typeface="Times New Roman" panose="02020603050405020304" pitchFamily="18" charset="0"/>
                <a:cs typeface="Times New Roman" panose="02020603050405020304" pitchFamily="18" charset="0"/>
                <a:sym typeface="+mn-ea"/>
              </a:rPr>
              <a:t> </a:t>
            </a:r>
            <a:r>
              <a:rPr lang="en-US" altLang="zh-CN" sz="2400" b="1" dirty="0">
                <a:solidFill>
                  <a:srgbClr val="C00000"/>
                </a:solidFill>
                <a:latin typeface="Times New Roman" panose="02020603050405020304" pitchFamily="18" charset="0"/>
                <a:cs typeface="Times New Roman" panose="02020603050405020304" pitchFamily="18" charset="0"/>
                <a:sym typeface="+mn-ea"/>
              </a:rPr>
              <a:t>spots</a:t>
            </a:r>
          </a:p>
          <a:p>
            <a:pPr lvl="1" indent="-285750">
              <a:spcBef>
                <a:spcPts val="600"/>
              </a:spcBef>
              <a:spcAft>
                <a:spcPts val="600"/>
              </a:spcAft>
              <a:buFont typeface="Wingdings" pitchFamily="2" charset="2"/>
              <a:buChar char="Ø"/>
            </a:pPr>
            <a:r>
              <a:rPr lang="en-US" altLang="zh-CN" sz="2400" b="1" dirty="0">
                <a:latin typeface="Times New Roman" panose="02020603050405020304" pitchFamily="18" charset="0"/>
                <a:cs typeface="Times New Roman" panose="02020603050405020304" pitchFamily="18" charset="0"/>
                <a:sym typeface="+mn-ea"/>
              </a:rPr>
              <a:t>Rollback</a:t>
            </a:r>
            <a:r>
              <a:rPr lang="zh-CN" altLang="en-US" sz="2400" b="1" dirty="0">
                <a:latin typeface="Times New Roman" panose="02020603050405020304" pitchFamily="18" charset="0"/>
                <a:cs typeface="Times New Roman" panose="02020603050405020304" pitchFamily="18" charset="0"/>
                <a:sym typeface="+mn-ea"/>
              </a:rPr>
              <a:t> </a:t>
            </a:r>
            <a:r>
              <a:rPr lang="en-US" altLang="zh-CN" sz="2400" b="1" dirty="0">
                <a:latin typeface="Times New Roman" panose="02020603050405020304" pitchFamily="18" charset="0"/>
                <a:cs typeface="Times New Roman" panose="02020603050405020304" pitchFamily="18" charset="0"/>
                <a:sym typeface="+mn-ea"/>
              </a:rPr>
              <a:t>order</a:t>
            </a:r>
          </a:p>
          <a:p>
            <a:pPr lvl="2" indent="-285750">
              <a:spcBef>
                <a:spcPts val="600"/>
              </a:spcBef>
              <a:spcAft>
                <a:spcPts val="600"/>
              </a:spcAft>
              <a:buFont typeface="Wingdings" pitchFamily="2" charset="2"/>
              <a:buChar char="Ø"/>
            </a:pPr>
            <a:r>
              <a:rPr lang="en" altLang="zh-CN" sz="2400" b="1" dirty="0">
                <a:solidFill>
                  <a:srgbClr val="C00000"/>
                </a:solidFill>
                <a:highlight>
                  <a:srgbClr val="FFFFFF"/>
                </a:highlight>
                <a:latin typeface="Times New Roman" panose="02020603050405020304" pitchFamily="18" charset="0"/>
                <a:cs typeface="Times New Roman" panose="02020603050405020304" pitchFamily="18" charset="0"/>
              </a:rPr>
              <a:t>Rollbacks must execute in the reverse order of updates</a:t>
            </a:r>
            <a:endParaRPr lang="en-US" altLang="zh-CN" sz="2400" dirty="0">
              <a:solidFill>
                <a:srgbClr val="C00000"/>
              </a:solidFill>
              <a:latin typeface="Times New Roman" panose="02020603050405020304" pitchFamily="18" charset="0"/>
              <a:cs typeface="Times New Roman" panose="02020603050405020304" pitchFamily="18" charset="0"/>
              <a:sym typeface="+mn-ea"/>
            </a:endParaRPr>
          </a:p>
          <a:p>
            <a:pPr lvl="1" indent="-285750">
              <a:spcBef>
                <a:spcPts val="600"/>
              </a:spcBef>
              <a:spcAft>
                <a:spcPts val="600"/>
              </a:spcAft>
              <a:buFont typeface="Wingdings" pitchFamily="2" charset="2"/>
              <a:buChar char="Ø"/>
            </a:pPr>
            <a:endParaRPr lang="en" altLang="zh-CN" sz="24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4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400" b="1" dirty="0">
              <a:latin typeface="Times New Roman" panose="02020603050405020304" pitchFamily="18" charset="0"/>
              <a:cs typeface="Times New Roman" panose="02020603050405020304" pitchFamily="18" charset="0"/>
            </a:endParaRPr>
          </a:p>
        </p:txBody>
      </p:sp>
      <p:pic>
        <p:nvPicPr>
          <p:cNvPr id="35" name="图片 34">
            <a:extLst>
              <a:ext uri="{FF2B5EF4-FFF2-40B4-BE49-F238E27FC236}">
                <a16:creationId xmlns:a16="http://schemas.microsoft.com/office/drawing/2014/main" id="{0F79B3AC-4DFA-1D59-90FC-0A509A1C7496}"/>
              </a:ext>
            </a:extLst>
          </p:cNvPr>
          <p:cNvPicPr>
            <a:picLocks noChangeAspect="1"/>
          </p:cNvPicPr>
          <p:nvPr/>
        </p:nvPicPr>
        <p:blipFill>
          <a:blip r:embed="rId2"/>
          <a:stretch>
            <a:fillRect/>
          </a:stretch>
        </p:blipFill>
        <p:spPr>
          <a:xfrm>
            <a:off x="2494831" y="3188406"/>
            <a:ext cx="7024274" cy="3447097"/>
          </a:xfrm>
          <a:prstGeom prst="rect">
            <a:avLst/>
          </a:prstGeom>
        </p:spPr>
      </p:pic>
    </p:spTree>
    <p:extLst>
      <p:ext uri="{BB962C8B-B14F-4D97-AF65-F5344CB8AC3E}">
        <p14:creationId xmlns:p14="http://schemas.microsoft.com/office/powerpoint/2010/main" val="325102834"/>
      </p:ext>
    </p:extLst>
  </p:cSld>
  <p:clrMapOvr>
    <a:masterClrMapping/>
  </p:clrMapOvr>
  <mc:AlternateContent xmlns:mc="http://schemas.openxmlformats.org/markup-compatibility/2006">
    <mc:Choice xmlns:p15="http://schemas.microsoft.com/office/powerpoint/2012/main" Requires="p15">
      <p:transition>
        <p15:prstTrans prst="pageCurlDoubl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4F852C-D658-C899-AF9F-A49B3586CCD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0A48051-18B4-6B52-AFE9-8D436AB440AA}"/>
              </a:ext>
            </a:extLst>
          </p:cNvPr>
          <p:cNvSpPr txBox="1"/>
          <p:nvPr/>
        </p:nvSpPr>
        <p:spPr>
          <a:xfrm>
            <a:off x="565812" y="126923"/>
            <a:ext cx="10312720" cy="523220"/>
          </a:xfrm>
          <a:prstGeom prst="rect">
            <a:avLst/>
          </a:prstGeom>
          <a:noFill/>
        </p:spPr>
        <p:txBody>
          <a:bodyPr wrap="square">
            <a:spAutoFit/>
          </a:bodyPr>
          <a:lstStyle/>
          <a:p>
            <a:r>
              <a:rPr lang="en-US" altLang="zh-CN" sz="2800" b="1" spc="3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How to ensure correctness?</a:t>
            </a:r>
          </a:p>
        </p:txBody>
      </p:sp>
      <p:sp>
        <p:nvSpPr>
          <p:cNvPr id="3" name="矩形 2">
            <a:extLst>
              <a:ext uri="{FF2B5EF4-FFF2-40B4-BE49-F238E27FC236}">
                <a16:creationId xmlns:a16="http://schemas.microsoft.com/office/drawing/2014/main" id="{79F24584-94DC-7E18-BAE1-2C958A0AB7AB}"/>
              </a:ext>
            </a:extLst>
          </p:cNvPr>
          <p:cNvSpPr/>
          <p:nvPr/>
        </p:nvSpPr>
        <p:spPr>
          <a:xfrm>
            <a:off x="302592" y="882428"/>
            <a:ext cx="11682579" cy="4324261"/>
          </a:xfrm>
          <a:prstGeom prst="rect">
            <a:avLst/>
          </a:prstGeom>
        </p:spPr>
        <p:txBody>
          <a:bodyPr wrap="square">
            <a:spAutoFit/>
          </a:bodyPr>
          <a:lstStyle/>
          <a:p>
            <a:pPr marL="342900" indent="-342900">
              <a:spcAft>
                <a:spcPts val="600"/>
              </a:spcAft>
              <a:buFont typeface="Wingdings" panose="05000000000000000000" pitchFamily="2" charset="2"/>
              <a:buChar char="Ø"/>
            </a:pPr>
            <a:r>
              <a:rPr lang="en-US" altLang="zh-CN" sz="2000" b="1" dirty="0">
                <a:latin typeface="Times New Roman" panose="02020603050405020304" pitchFamily="18" charset="0"/>
                <a:cs typeface="Times New Roman" panose="02020603050405020304" pitchFamily="18" charset="0"/>
                <a:sym typeface="+mn-ea"/>
              </a:rPr>
              <a:t>Granting</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a</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follower</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and</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releasing</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a</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leader</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may</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be</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performed</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in</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the</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same</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time</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(determine</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a</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sequence)</a:t>
            </a:r>
          </a:p>
          <a:p>
            <a:pPr marL="342900" indent="-342900">
              <a:spcAft>
                <a:spcPts val="600"/>
              </a:spcAft>
              <a:buFont typeface="Wingdings" panose="05000000000000000000" pitchFamily="2" charset="2"/>
              <a:buChar char="Ø"/>
            </a:pPr>
            <a:r>
              <a:rPr lang="en-US" altLang="zh-CN" sz="2000" b="1" dirty="0">
                <a:latin typeface="Times New Roman" panose="02020603050405020304" pitchFamily="18" charset="0"/>
                <a:cs typeface="Times New Roman" panose="02020603050405020304" pitchFamily="18" charset="0"/>
                <a:sym typeface="+mn-ea"/>
              </a:rPr>
              <a:t>Commit</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order</a:t>
            </a:r>
          </a:p>
          <a:p>
            <a:pPr lvl="2" indent="-285750">
              <a:spcBef>
                <a:spcPts val="600"/>
              </a:spcBef>
              <a:spcAft>
                <a:spcPts val="600"/>
              </a:spcAft>
              <a:buFont typeface="Wingdings" pitchFamily="2" charset="2"/>
              <a:buChar char="Ø"/>
            </a:pPr>
            <a:r>
              <a:rPr lang="en-US" altLang="zh-CN" sz="2000" dirty="0">
                <a:latin typeface="Times New Roman" panose="02020603050405020304" pitchFamily="18" charset="0"/>
                <a:cs typeface="Times New Roman" panose="02020603050405020304" pitchFamily="18" charset="0"/>
                <a:sym typeface="+mn-ea"/>
              </a:rPr>
              <a:t>Follower</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operates</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on</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a</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tuple</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without</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holding</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the</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corresponding</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lock</a:t>
            </a:r>
          </a:p>
          <a:p>
            <a:pPr lvl="2" indent="-285750">
              <a:spcBef>
                <a:spcPts val="600"/>
              </a:spcBef>
              <a:spcAft>
                <a:spcPts val="600"/>
              </a:spcAft>
              <a:buFont typeface="Wingdings" pitchFamily="2" charset="2"/>
              <a:buChar char="Ø"/>
            </a:pPr>
            <a:r>
              <a:rPr lang="en-US" altLang="zh-CN" sz="2000" dirty="0">
                <a:latin typeface="Times New Roman" panose="02020603050405020304" pitchFamily="18" charset="0"/>
                <a:cs typeface="Times New Roman" panose="02020603050405020304" pitchFamily="18" charset="0"/>
                <a:sym typeface="+mn-ea"/>
              </a:rPr>
              <a:t>Follower</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sees</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“uncommitted”</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data</a:t>
            </a:r>
          </a:p>
          <a:p>
            <a:pPr lvl="2" indent="-285750">
              <a:spcBef>
                <a:spcPts val="600"/>
              </a:spcBef>
              <a:spcAft>
                <a:spcPts val="600"/>
              </a:spcAft>
              <a:buFont typeface="Wingdings" pitchFamily="2" charset="2"/>
              <a:buChar char="Ø"/>
            </a:pPr>
            <a:r>
              <a:rPr lang="en-US" altLang="zh-CN" sz="2000" b="1" dirty="0">
                <a:solidFill>
                  <a:srgbClr val="C00000"/>
                </a:solidFill>
                <a:latin typeface="Times New Roman" panose="02020603050405020304" pitchFamily="18" charset="0"/>
                <a:cs typeface="Times New Roman" panose="02020603050405020304" pitchFamily="18" charset="0"/>
                <a:sym typeface="+mn-ea"/>
              </a:rPr>
              <a:t>Commit</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order</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must</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be</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the</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same</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with</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the</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update</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order</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on</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hot</a:t>
            </a:r>
            <a:r>
              <a:rPr lang="zh-CN" altLang="en-US" sz="2000" b="1" dirty="0">
                <a:solidFill>
                  <a:srgbClr val="C00000"/>
                </a:solidFill>
                <a:latin typeface="Times New Roman" panose="02020603050405020304" pitchFamily="18" charset="0"/>
                <a:cs typeface="Times New Roman" panose="02020603050405020304" pitchFamily="18" charset="0"/>
                <a:sym typeface="+mn-ea"/>
              </a:rPr>
              <a:t> </a:t>
            </a:r>
            <a:r>
              <a:rPr lang="en-US" altLang="zh-CN" sz="2000" b="1" dirty="0">
                <a:solidFill>
                  <a:srgbClr val="C00000"/>
                </a:solidFill>
                <a:latin typeface="Times New Roman" panose="02020603050405020304" pitchFamily="18" charset="0"/>
                <a:cs typeface="Times New Roman" panose="02020603050405020304" pitchFamily="18" charset="0"/>
                <a:sym typeface="+mn-ea"/>
              </a:rPr>
              <a:t>spots</a:t>
            </a:r>
          </a:p>
          <a:p>
            <a:pPr lvl="1" indent="-285750">
              <a:spcBef>
                <a:spcPts val="600"/>
              </a:spcBef>
              <a:spcAft>
                <a:spcPts val="600"/>
              </a:spcAft>
              <a:buFont typeface="Wingdings" pitchFamily="2" charset="2"/>
              <a:buChar char="Ø"/>
            </a:pPr>
            <a:r>
              <a:rPr lang="en-US" altLang="zh-CN" sz="2000" b="1" dirty="0">
                <a:latin typeface="Times New Roman" panose="02020603050405020304" pitchFamily="18" charset="0"/>
                <a:cs typeface="Times New Roman" panose="02020603050405020304" pitchFamily="18" charset="0"/>
                <a:sym typeface="+mn-ea"/>
              </a:rPr>
              <a:t>Rollback</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order</a:t>
            </a:r>
          </a:p>
          <a:p>
            <a:pPr lvl="2" indent="-285750">
              <a:spcBef>
                <a:spcPts val="600"/>
              </a:spcBef>
              <a:spcAft>
                <a:spcPts val="600"/>
              </a:spcAft>
              <a:buFont typeface="Wingdings" pitchFamily="2" charset="2"/>
              <a:buChar char="Ø"/>
            </a:pPr>
            <a:r>
              <a:rPr lang="en" altLang="zh-CN" sz="2000" b="1" dirty="0">
                <a:solidFill>
                  <a:srgbClr val="C00000"/>
                </a:solidFill>
                <a:highlight>
                  <a:srgbClr val="FFFFFF"/>
                </a:highlight>
                <a:latin typeface="Times New Roman" panose="02020603050405020304" pitchFamily="18" charset="0"/>
                <a:cs typeface="Times New Roman" panose="02020603050405020304" pitchFamily="18" charset="0"/>
              </a:rPr>
              <a:t>Rollbacks must execute in the reverse order of updates</a:t>
            </a:r>
            <a:endParaRPr lang="en-US" altLang="zh-CN" sz="2000" dirty="0">
              <a:solidFill>
                <a:srgbClr val="C00000"/>
              </a:solidFill>
              <a:latin typeface="Times New Roman" panose="02020603050405020304" pitchFamily="18" charset="0"/>
              <a:cs typeface="Times New Roman" panose="02020603050405020304" pitchFamily="18" charset="0"/>
              <a:sym typeface="+mn-ea"/>
            </a:endParaRPr>
          </a:p>
          <a:p>
            <a:pPr lvl="1" indent="-285750">
              <a:spcBef>
                <a:spcPts val="600"/>
              </a:spcBef>
              <a:spcAft>
                <a:spcPts val="600"/>
              </a:spcAft>
              <a:buFont typeface="Wingdings" pitchFamily="2" charset="2"/>
              <a:buChar char="Ø"/>
            </a:pPr>
            <a:endParaRPr lang="en" altLang="zh-CN" sz="20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000" dirty="0">
              <a:latin typeface="Times New Roman" panose="02020603050405020304" pitchFamily="18" charset="0"/>
              <a:cs typeface="Times New Roman" panose="02020603050405020304" pitchFamily="18" charset="0"/>
            </a:endParaRPr>
          </a:p>
          <a:p>
            <a:pPr marL="800100" lvl="1" indent="-342900">
              <a:spcAft>
                <a:spcPts val="600"/>
              </a:spcAft>
              <a:buFont typeface="Wingdings" panose="05000000000000000000" pitchFamily="2" charset="2"/>
              <a:buChar char="Ø"/>
            </a:pPr>
            <a:endParaRPr lang="en" altLang="zh-CN" sz="2000" b="1" dirty="0">
              <a:latin typeface="Times New Roman" panose="02020603050405020304" pitchFamily="18" charset="0"/>
              <a:cs typeface="Times New Roman" panose="02020603050405020304" pitchFamily="18" charset="0"/>
            </a:endParaRPr>
          </a:p>
        </p:txBody>
      </p:sp>
      <p:pic>
        <p:nvPicPr>
          <p:cNvPr id="35" name="图片 34">
            <a:extLst>
              <a:ext uri="{FF2B5EF4-FFF2-40B4-BE49-F238E27FC236}">
                <a16:creationId xmlns:a16="http://schemas.microsoft.com/office/drawing/2014/main" id="{D817466F-3314-1203-DBE4-34E5056FF1A3}"/>
              </a:ext>
            </a:extLst>
          </p:cNvPr>
          <p:cNvPicPr>
            <a:picLocks noChangeAspect="1"/>
          </p:cNvPicPr>
          <p:nvPr/>
        </p:nvPicPr>
        <p:blipFill>
          <a:blip r:embed="rId2"/>
          <a:stretch>
            <a:fillRect/>
          </a:stretch>
        </p:blipFill>
        <p:spPr>
          <a:xfrm>
            <a:off x="3304128" y="4045392"/>
            <a:ext cx="5679505" cy="2787164"/>
          </a:xfrm>
          <a:prstGeom prst="rect">
            <a:avLst/>
          </a:prstGeom>
        </p:spPr>
      </p:pic>
    </p:spTree>
    <p:extLst>
      <p:ext uri="{BB962C8B-B14F-4D97-AF65-F5344CB8AC3E}">
        <p14:creationId xmlns:p14="http://schemas.microsoft.com/office/powerpoint/2010/main" val="1370041647"/>
      </p:ext>
    </p:extLst>
  </p:cSld>
  <p:clrMapOvr>
    <a:masterClrMapping/>
  </p:clrMapOvr>
  <mc:AlternateContent xmlns:mc="http://schemas.openxmlformats.org/markup-compatibility/2006">
    <mc:Choice xmlns:p15="http://schemas.microsoft.com/office/powerpoint/2012/main" Requires="p15">
      <p:transition>
        <p15:prstTrans prst="pageCurlDouble"/>
      </p:transition>
    </mc:Choice>
    <mc:Fallback>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AyY2E1ODc2NDJkMmFhMzM3ZDk1MmViYWY0NDU4MzAifQ=="/>
  <p:tag name="RESOURCE_RECORD_KEY" val="{&quot;71&quot;:[76235680019]}"/>
</p:tagLst>
</file>

<file path=ppt/theme/theme1.xml><?xml version="1.0" encoding="utf-8"?>
<a:theme xmlns:a="http://schemas.openxmlformats.org/drawingml/2006/main" name="Office 主题​​">
  <a:themeElements>
    <a:clrScheme name="">
      <a:dk1>
        <a:srgbClr val="000000"/>
      </a:dk1>
      <a:lt1>
        <a:srgbClr val="FFFFFF"/>
      </a:lt1>
      <a:dk2>
        <a:srgbClr val="111E35"/>
      </a:dk2>
      <a:lt2>
        <a:srgbClr val="F5F8FC"/>
      </a:lt2>
      <a:accent1>
        <a:srgbClr val="203864"/>
      </a:accent1>
      <a:accent2>
        <a:srgbClr val="3D547E"/>
      </a:accent2>
      <a:accent3>
        <a:srgbClr val="5A7098"/>
      </a:accent3>
      <a:accent4>
        <a:srgbClr val="778CB2"/>
      </a:accent4>
      <a:accent5>
        <a:srgbClr val="94A8CC"/>
      </a:accent5>
      <a:accent6>
        <a:srgbClr val="B2C4E6"/>
      </a:accent6>
      <a:hlink>
        <a:srgbClr val="0026E5"/>
      </a:hlink>
      <a:folHlink>
        <a:srgbClr val="7E1FAD"/>
      </a:folHlink>
    </a:clrScheme>
    <a:fontScheme name="veumlnq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04622"/>
      </a:dk2>
      <a:lt2>
        <a:srgbClr val="F2FFF8"/>
      </a:lt2>
      <a:accent1>
        <a:srgbClr val="007639"/>
      </a:accent1>
      <a:accent2>
        <a:srgbClr val="1E9156"/>
      </a:accent2>
      <a:accent3>
        <a:srgbClr val="3DAC73"/>
      </a:accent3>
      <a:accent4>
        <a:srgbClr val="5BC890"/>
      </a:accent4>
      <a:accent5>
        <a:srgbClr val="7AE3AD"/>
      </a:accent5>
      <a:accent6>
        <a:srgbClr val="99FFCA"/>
      </a:accent6>
      <a:hlink>
        <a:srgbClr val="0026E5"/>
      </a:hlink>
      <a:folHlink>
        <a:srgbClr val="7E1FAD"/>
      </a:folHlink>
    </a:clrScheme>
    <a:fontScheme name="veumlnq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1723</TotalTime>
  <Words>1483</Words>
  <Application>Microsoft Macintosh PowerPoint</Application>
  <PresentationFormat>宽屏</PresentationFormat>
  <Paragraphs>225</Paragraphs>
  <Slides>20</Slides>
  <Notes>0</Notes>
  <HiddenSlides>2</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20</vt:i4>
      </vt:variant>
    </vt:vector>
  </HeadingPairs>
  <TitlesOfParts>
    <vt:vector size="27" baseType="lpstr">
      <vt:lpstr>Microsoft YaHei</vt:lpstr>
      <vt:lpstr>Arial</vt:lpstr>
      <vt:lpstr>Calibri</vt:lpstr>
      <vt:lpstr>Times New Roman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A2888</dc:creator>
  <cp:lastModifiedBy>梓锐 胡</cp:lastModifiedBy>
  <cp:revision>642</cp:revision>
  <dcterms:created xsi:type="dcterms:W3CDTF">2023-07-07T00:50:00Z</dcterms:created>
  <dcterms:modified xsi:type="dcterms:W3CDTF">2025-12-23T04:54:30Z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DA448BB697CA455FA445BE9BE97CE785_13</vt:lpwstr>
  </property>
  <property fmtid="{D5CDD505-2E9C-101B-9397-08002B2CF9AE}" pid="3" name="KSOProductBuildVer">
    <vt:lpwstr>2052-12.1.0.18912</vt:lpwstr>
  </property>
</Properties>
</file>