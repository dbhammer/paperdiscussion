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7" r:id="rId3"/>
    <p:sldId id="258" r:id="rId4"/>
    <p:sldId id="259" r:id="rId6"/>
    <p:sldId id="263" r:id="rId7"/>
    <p:sldId id="264" r:id="rId8"/>
    <p:sldId id="260" r:id="rId9"/>
    <p:sldId id="265" r:id="rId10"/>
    <p:sldId id="287" r:id="rId11"/>
    <p:sldId id="267" r:id="rId12"/>
    <p:sldId id="269" r:id="rId13"/>
    <p:sldId id="285" r:id="rId14"/>
    <p:sldId id="270" r:id="rId15"/>
    <p:sldId id="271" r:id="rId16"/>
    <p:sldId id="272" r:id="rId17"/>
    <p:sldId id="274" r:id="rId18"/>
    <p:sldId id="273" r:id="rId19"/>
    <p:sldId id="275" r:id="rId20"/>
    <p:sldId id="278" r:id="rId21"/>
    <p:sldId id="276" r:id="rId22"/>
    <p:sldId id="280" r:id="rId23"/>
    <p:sldId id="281" r:id="rId24"/>
    <p:sldId id="282" r:id="rId25"/>
    <p:sldId id="277" r:id="rId26"/>
    <p:sldId id="283" r:id="rId2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39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0"/>
        <p:guide pos="394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个人助手</a:t>
            </a:r>
            <a:r>
              <a:rPr lang="en-US" altLang="zh-CN"/>
              <a:t> </a:t>
            </a:r>
            <a:r>
              <a:rPr lang="zh-CN" altLang="en-US"/>
              <a:t>长期交互</a:t>
            </a:r>
            <a:r>
              <a:rPr lang="en-US" altLang="zh-CN"/>
              <a:t> </a:t>
            </a:r>
            <a:r>
              <a:rPr lang="zh-CN" altLang="en-US"/>
              <a:t>记忆</a:t>
            </a:r>
            <a:r>
              <a:rPr lang="zh-CN" altLang="en-US"/>
              <a:t>能力</a:t>
            </a:r>
            <a:endParaRPr lang="zh-CN" altLang="en-US"/>
          </a:p>
          <a:p>
            <a:endParaRPr lang="zh-CN" altLang="en-US"/>
          </a:p>
          <a:p>
            <a:r>
              <a:rPr lang="zh-CN" altLang="en-US"/>
              <a:t>目前仍缺乏客观、自动化的方法来评估个人助手对先前消息中事实信息的记忆与运用能力</a:t>
            </a:r>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传统的解决思路是收集真实用户的消息，并基于这些消息人工标注人为设计问题的答案。然而，这种方法需要大量人力投入，可扩展性较差。另一种思路是利用</a:t>
            </a:r>
            <a:r>
              <a:rPr lang="en-US" altLang="zh-CN"/>
              <a:t> LLM </a:t>
            </a:r>
            <a:r>
              <a:rPr lang="zh-CN" altLang="en-US"/>
              <a:t>生成用户消息与问答对，但</a:t>
            </a:r>
            <a:r>
              <a:rPr lang="en-US" altLang="zh-CN"/>
              <a:t> LLM </a:t>
            </a:r>
            <a:r>
              <a:rPr lang="zh-CN" altLang="en-US"/>
              <a:t>的幻觉问题会严重影响生成数据集的可靠性，在复杂场景中尤为明显。我们的研究表明，受</a:t>
            </a:r>
            <a:r>
              <a:rPr lang="en-US" altLang="zh-CN"/>
              <a:t> LLM </a:t>
            </a:r>
            <a:r>
              <a:rPr lang="zh-CN" altLang="en-US"/>
              <a:t>幻觉影响，在多数场景下，单纯使用</a:t>
            </a:r>
            <a:r>
              <a:rPr lang="en-US" altLang="zh-CN"/>
              <a:t> LLM </a:t>
            </a:r>
            <a:r>
              <a:rPr lang="zh-CN" altLang="en-US"/>
              <a:t>生成的标准答案正确率不足</a:t>
            </a:r>
            <a:r>
              <a:rPr lang="en-US" altLang="zh-CN"/>
              <a:t> 90%</a:t>
            </a:r>
            <a:r>
              <a:rPr lang="zh-CN" altLang="en-US"/>
              <a:t>，在部分复杂场景中甚至低于</a:t>
            </a:r>
            <a:r>
              <a:rPr lang="en-US" altLang="zh-CN"/>
              <a:t> 40%</a:t>
            </a:r>
            <a:r>
              <a:rPr lang="zh-CN" altLang="en-US"/>
              <a:t>（详见</a:t>
            </a:r>
            <a:r>
              <a:rPr lang="en-US" altLang="zh-CN"/>
              <a:t> 5.2 </a:t>
            </a:r>
            <a:r>
              <a:rPr lang="zh-CN" altLang="en-US"/>
              <a:t>节）。</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贝叶斯关系网络</a:t>
            </a:r>
            <a:r>
              <a:rPr lang="en-US" altLang="zh-CN"/>
              <a:t> (BRNet)</a:t>
            </a:r>
            <a:r>
              <a:rPr lang="zh-CN" altLang="en-US"/>
              <a:t>：该网络能够生成大量既真实又具备多样性的分层用户画像。</a:t>
            </a:r>
            <a:endParaRPr lang="zh-CN" altLang="en-US"/>
          </a:p>
          <a:p>
            <a:r>
              <a:rPr lang="zh-CN" altLang="en-US"/>
              <a:t>因果生成机制</a:t>
            </a:r>
            <a:r>
              <a:rPr lang="en-US" altLang="zh-CN"/>
              <a:t> (Causal Generation Mechanism)</a:t>
            </a:r>
            <a:r>
              <a:rPr lang="zh-CN" altLang="en-US"/>
              <a:t>：此机制利用</a:t>
            </a:r>
            <a:r>
              <a:rPr lang="en-US" altLang="zh-CN"/>
              <a:t>BRNet</a:t>
            </a:r>
            <a:r>
              <a:rPr lang="zh-CN" altLang="en-US"/>
              <a:t>生成的用户画像作为</a:t>
            </a:r>
            <a:r>
              <a:rPr lang="en-US" altLang="zh-CN"/>
              <a:t>“</a:t>
            </a:r>
            <a:r>
              <a:rPr lang="zh-CN" altLang="en-US"/>
              <a:t>事实根据</a:t>
            </a:r>
            <a:r>
              <a:rPr lang="en-US" altLang="zh-CN"/>
              <a:t>”</a:t>
            </a:r>
            <a:r>
              <a:rPr lang="zh-CN" altLang="en-US"/>
              <a:t>，在此基础上生成用户消息和相应的问答对。</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实体层：代表与用户相关的实体，本人、同事、物品、</a:t>
            </a:r>
            <a:r>
              <a:rPr lang="zh-CN" altLang="en-US"/>
              <a:t>场所</a:t>
            </a:r>
            <a:endParaRPr lang="zh-CN" altLang="en-US"/>
          </a:p>
          <a:p>
            <a:r>
              <a:rPr lang="zh-CN" altLang="en-US"/>
              <a:t>属性层：每个实体包含多个属性，例如年龄、性别、职业等。</a:t>
            </a:r>
            <a:endParaRPr lang="zh-CN" altLang="en-US"/>
          </a:p>
          <a:p>
            <a:r>
              <a:rPr lang="zh-CN" altLang="en-US"/>
              <a:t>每个属性对应一个随机变量</a:t>
            </a:r>
            <a:r>
              <a:rPr lang="en-US" altLang="zh-CN"/>
              <a:t>X</a:t>
            </a:r>
            <a:r>
              <a:rPr lang="zh-CN" altLang="en-US"/>
              <a:t>，该变量可在特定取值空间内采样。</a:t>
            </a:r>
            <a:endParaRPr lang="zh-CN" altLang="en-US"/>
          </a:p>
          <a:p>
            <a:r>
              <a:rPr lang="zh-CN" altLang="en-US"/>
              <a:t>属性的有向图：边不仅在实体内，还在</a:t>
            </a:r>
            <a:r>
              <a:rPr lang="zh-CN" altLang="en-US"/>
              <a:t>实体间</a:t>
            </a:r>
            <a:endParaRPr lang="zh-CN" altLang="en-US"/>
          </a:p>
          <a:p>
            <a:r>
              <a:rPr lang="zh-CN" altLang="en-US"/>
              <a:t>无环图是普遍的：</a:t>
            </a:r>
            <a:endParaRPr lang="zh-CN" altLang="en-US"/>
          </a:p>
          <a:p>
            <a:r>
              <a:rPr lang="en-US" altLang="zh-CN"/>
              <a:t>1.</a:t>
            </a:r>
            <a:r>
              <a:rPr lang="zh-CN" altLang="en-US"/>
              <a:t>文献综述和理论梳理，因果科学领域的基础理论中，有向无环图（</a:t>
            </a:r>
            <a:r>
              <a:rPr lang="en-US" altLang="zh-CN"/>
              <a:t>DAG</a:t>
            </a:r>
            <a:r>
              <a:rPr lang="zh-CN" altLang="en-US"/>
              <a:t>）从一开始就被确立为表示因果关系的标准和基础框架</a:t>
            </a:r>
            <a:endParaRPr lang="zh-CN" altLang="en-US"/>
          </a:p>
          <a:p>
            <a:r>
              <a:rPr lang="en-US" altLang="zh-CN"/>
              <a:t>2.</a:t>
            </a:r>
            <a:r>
              <a:rPr lang="zh-CN" altLang="en-US"/>
              <a:t>对现有工具和算法的系统性归纳：绝大多数工具都是为处理</a:t>
            </a:r>
            <a:r>
              <a:rPr lang="en-US" altLang="zh-CN"/>
              <a:t>DAG</a:t>
            </a:r>
            <a:r>
              <a:rPr lang="zh-CN" altLang="en-US"/>
              <a:t>设计的</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局部马尔科夫性：在一个贝叶斯网络中，给定一个节点的直接</a:t>
            </a:r>
            <a:r>
              <a:rPr lang="en-US" altLang="zh-CN"/>
              <a:t>“</a:t>
            </a:r>
            <a:r>
              <a:rPr lang="zh-CN" altLang="en-US"/>
              <a:t>父节点</a:t>
            </a:r>
            <a:r>
              <a:rPr lang="en-US" altLang="zh-CN"/>
              <a:t>”</a:t>
            </a:r>
            <a:r>
              <a:rPr lang="zh-CN" altLang="en-US"/>
              <a:t>，那么这个节点就和它的所有</a:t>
            </a:r>
            <a:r>
              <a:rPr lang="en-US" altLang="zh-CN"/>
              <a:t>“</a:t>
            </a:r>
            <a:r>
              <a:rPr lang="zh-CN" altLang="en-US"/>
              <a:t>非后代</a:t>
            </a:r>
            <a:r>
              <a:rPr lang="en-US" altLang="zh-CN"/>
              <a:t>”</a:t>
            </a:r>
            <a:r>
              <a:rPr lang="zh-CN" altLang="en-US"/>
              <a:t>节点（即除了它自己能影响的节点之外的所有其他节点）在概率上是相互独立的。</a:t>
            </a:r>
            <a:endParaRPr lang="zh-CN" altLang="en-US"/>
          </a:p>
          <a:p>
            <a:r>
              <a:rPr lang="zh-CN" altLang="en-US"/>
              <a:t>其中，</a:t>
            </a:r>
            <a:r>
              <a:rPr lang="en-US" altLang="zh-CN"/>
              <a:t>des(X_t)</a:t>
            </a:r>
            <a:r>
              <a:rPr lang="zh-CN" altLang="en-US"/>
              <a:t>表示</a:t>
            </a:r>
            <a:r>
              <a:rPr lang="en-US" altLang="zh-CN"/>
              <a:t>X_t</a:t>
            </a:r>
            <a:r>
              <a:rPr lang="zh-CN" altLang="en-US"/>
              <a:t>的非后代变量集，</a:t>
            </a:r>
            <a:r>
              <a:rPr lang="en-US" altLang="zh-CN"/>
              <a:t>par(X_t)</a:t>
            </a:r>
            <a:r>
              <a:rPr lang="zh-CN" altLang="en-US"/>
              <a:t>表示</a:t>
            </a:r>
            <a:r>
              <a:rPr lang="en-US" altLang="zh-CN"/>
              <a:t>X_t</a:t>
            </a:r>
            <a:r>
              <a:rPr lang="zh-CN" altLang="en-US"/>
              <a:t>的父变量集，符号表示变量间的条件独立性。</a:t>
            </a:r>
            <a:endParaRPr lang="zh-CN" altLang="en-US"/>
          </a:p>
          <a:p>
            <a:r>
              <a:rPr lang="zh-CN" altLang="en-US"/>
              <a:t>局部马尔科夫性解决的问题：</a:t>
            </a:r>
            <a:r>
              <a:rPr lang="en-US" altLang="zh-CN">
                <a:sym typeface="+mn-ea"/>
              </a:rPr>
              <a:t>“</a:t>
            </a:r>
            <a:r>
              <a:rPr lang="zh-CN" altLang="en-US" b="1">
                <a:sym typeface="+mn-ea"/>
              </a:rPr>
              <a:t>维度灾难</a:t>
            </a:r>
            <a:r>
              <a:rPr lang="en-US" altLang="zh-CN">
                <a:sym typeface="+mn-ea"/>
              </a:rPr>
              <a:t>”,</a:t>
            </a:r>
            <a:r>
              <a:rPr lang="zh-CN" altLang="en-US">
                <a:sym typeface="+mn-ea"/>
              </a:rPr>
              <a:t>设定了影响范围。</a:t>
            </a:r>
            <a:endParaRPr lang="zh-CN" altLang="en-US"/>
          </a:p>
          <a:p>
            <a:r>
              <a:rPr lang="zh-CN" altLang="en-US"/>
              <a:t>定理</a:t>
            </a:r>
            <a:r>
              <a:rPr lang="en-US" altLang="zh-CN"/>
              <a:t> 1</a:t>
            </a:r>
            <a:r>
              <a:rPr lang="zh-CN" altLang="en-US"/>
              <a:t>（分解定理）</a:t>
            </a:r>
            <a:endParaRPr lang="zh-CN" altLang="en-US"/>
          </a:p>
          <a:p>
            <a:r>
              <a:rPr lang="zh-CN" altLang="en-US"/>
              <a:t>整个网络中所有变量的联合概率，可以通过将每一个变量在其直接</a:t>
            </a:r>
            <a:r>
              <a:rPr lang="en-US" altLang="zh-CN"/>
              <a:t>“</a:t>
            </a:r>
            <a:r>
              <a:rPr lang="zh-CN" altLang="en-US"/>
              <a:t>父节点</a:t>
            </a:r>
            <a:r>
              <a:rPr lang="en-US" altLang="zh-CN"/>
              <a:t>”</a:t>
            </a:r>
            <a:r>
              <a:rPr lang="zh-CN" altLang="en-US"/>
              <a:t>条件下的概率相乘来计算得出。</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假设</a:t>
            </a:r>
            <a:r>
              <a:rPr lang="en-US" altLang="zh-CN"/>
              <a:t>2</a:t>
            </a:r>
            <a:r>
              <a:rPr lang="zh-CN" altLang="en-US"/>
              <a:t>：条件</a:t>
            </a:r>
            <a:r>
              <a:rPr lang="zh-CN" altLang="en-US"/>
              <a:t>采样，某一属性的取值可从其给定父属性的条件概率分布中采样</a:t>
            </a:r>
            <a:endParaRPr lang="zh-CN" altLang="en-US"/>
          </a:p>
          <a:p>
            <a:r>
              <a:rPr lang="zh-CN" altLang="en-US"/>
              <a:t>祖先采样：提供了一个</a:t>
            </a:r>
            <a:r>
              <a:rPr lang="zh-CN" altLang="en-US" b="1"/>
              <a:t>生成算法</a:t>
            </a:r>
            <a:endParaRPr lang="zh-CN" altLang="en-US" b="1"/>
          </a:p>
          <a:p>
            <a:r>
              <a:rPr lang="zh-CN" altLang="en-US"/>
              <a:t>祖先采样等价性：通过祖先采样得到的结果与从</a:t>
            </a:r>
            <a:r>
              <a:rPr lang="zh-CN" altLang="en-US" b="1"/>
              <a:t>联合概率分布</a:t>
            </a:r>
            <a:r>
              <a:rPr lang="zh-CN" altLang="en-US"/>
              <a:t>中采样的结果</a:t>
            </a:r>
            <a:r>
              <a:rPr lang="zh-CN" altLang="en-US" b="1"/>
              <a:t>等价</a:t>
            </a:r>
            <a:endParaRPr lang="zh-CN" altLang="en-US" b="1"/>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b="1"/>
              <a:t>信息提示的构建</a:t>
            </a:r>
            <a:endParaRPr lang="zh-CN" altLang="en-US" b="1"/>
          </a:p>
          <a:p>
            <a:r>
              <a:rPr lang="en-US" altLang="zh-CN"/>
              <a:t>1.</a:t>
            </a:r>
            <a:r>
              <a:rPr lang="zh-CN" altLang="en-US"/>
              <a:t>选择目标实体（可多个）</a:t>
            </a:r>
            <a:r>
              <a:rPr lang="en-US" altLang="zh-CN"/>
              <a:t>2.</a:t>
            </a:r>
            <a:r>
              <a:rPr lang="zh-CN" altLang="en-US"/>
              <a:t>选取该实体的</a:t>
            </a:r>
            <a:r>
              <a:rPr lang="en-US" altLang="zh-CN"/>
              <a:t>t</a:t>
            </a:r>
            <a:r>
              <a:rPr lang="zh-CN" altLang="en-US"/>
              <a:t>个属性</a:t>
            </a:r>
            <a:r>
              <a:rPr lang="en-US" altLang="zh-CN"/>
              <a:t> 3.</a:t>
            </a:r>
            <a:r>
              <a:rPr lang="zh-CN" altLang="en-US"/>
              <a:t>将实体、属性、取值组合为三元组</a:t>
            </a:r>
            <a:r>
              <a:rPr lang="en-US" altLang="zh-CN"/>
              <a:t>hints</a:t>
            </a:r>
            <a:endParaRPr lang="en-US" altLang="zh-CN"/>
          </a:p>
          <a:p>
            <a:r>
              <a:rPr lang="zh-CN" altLang="en-US" b="1"/>
              <a:t>用户消息的构建</a:t>
            </a:r>
            <a:endParaRPr lang="zh-CN" altLang="en-US" b="1"/>
          </a:p>
          <a:p>
            <a:r>
              <a:rPr lang="zh-CN" altLang="en-US"/>
              <a:t>用</a:t>
            </a:r>
            <a:r>
              <a:rPr lang="en-US" altLang="zh-CN"/>
              <a:t>LLM</a:t>
            </a:r>
            <a:r>
              <a:rPr lang="zh-CN" altLang="en-US"/>
              <a:t>将提示列表重写为自然语言，得到消息列表</a:t>
            </a:r>
            <a:r>
              <a:rPr lang="en-US" altLang="zh-CN"/>
              <a:t>message</a:t>
            </a:r>
            <a:endParaRPr lang="zh-CN" altLang="en-US"/>
          </a:p>
          <a:p>
            <a:r>
              <a:rPr lang="zh-CN" altLang="en-US" b="1"/>
              <a:t>问答对的构建</a:t>
            </a:r>
            <a:endParaRPr lang="zh-CN" altLang="en-US" b="1"/>
          </a:p>
          <a:p>
            <a:r>
              <a:rPr lang="en-US" altLang="zh-CN" b="1"/>
              <a:t>6</a:t>
            </a:r>
            <a:r>
              <a:rPr lang="zh-CN" altLang="en-US" b="1"/>
              <a:t>类问题类型，</a:t>
            </a:r>
            <a:r>
              <a:rPr lang="en-US" altLang="zh-CN" b="1"/>
              <a:t>3</a:t>
            </a:r>
            <a:r>
              <a:rPr lang="zh-CN" altLang="en-US" b="1"/>
              <a:t>种答案形式</a:t>
            </a:r>
            <a:endParaRPr lang="zh-CN" altLang="en-US" b="1"/>
          </a:p>
          <a:p>
            <a:r>
              <a:rPr lang="en-US" altLang="zh-CN">
                <a:sym typeface="+mn-ea"/>
              </a:rPr>
              <a:t>trajectory ξ = (M, q, a, a′, h)</a:t>
            </a:r>
            <a:endParaRPr lang="zh-CN" altLang="en-US" b="1"/>
          </a:p>
          <a:p>
            <a:r>
              <a:rPr lang="zh-CN" altLang="en-US"/>
              <a:t>多跳（同一桥接实体）只有高中学历的人现在在哪里工作？</a:t>
            </a:r>
            <a:r>
              <a:rPr lang="en-US" altLang="zh-CN"/>
              <a:t>  </a:t>
            </a:r>
            <a:r>
              <a:rPr lang="zh-CN" altLang="en-US"/>
              <a:t>后处理型（同一桥接实体）生日是</a:t>
            </a:r>
            <a:r>
              <a:rPr lang="en-US" altLang="zh-CN"/>
              <a:t>7</a:t>
            </a:r>
            <a:r>
              <a:rPr lang="zh-CN" altLang="en-US"/>
              <a:t>月</a:t>
            </a:r>
            <a:r>
              <a:rPr lang="en-US" altLang="zh-CN"/>
              <a:t>15</a:t>
            </a:r>
            <a:r>
              <a:rPr lang="zh-CN" altLang="en-US"/>
              <a:t>日的人，其工作地点符合以下哪项描述？</a:t>
            </a:r>
            <a:endParaRPr lang="zh-CN" altLang="en-US"/>
          </a:p>
          <a:p>
            <a:r>
              <a:rPr lang="zh-CN" altLang="en-US"/>
              <a:t>我们根据日常生活场景的常识，在</a:t>
            </a:r>
            <a:r>
              <a:rPr lang="en-US" altLang="zh-CN"/>
              <a:t> BRNet </a:t>
            </a:r>
            <a:r>
              <a:rPr lang="zh-CN" altLang="en-US"/>
              <a:t>中嵌入了若干约束规则以确保属性间的合理性。例如，</a:t>
            </a:r>
            <a:r>
              <a:rPr lang="en-US" altLang="zh-CN"/>
              <a:t>“</a:t>
            </a:r>
            <a:r>
              <a:rPr lang="zh-CN" altLang="en-US"/>
              <a:t>亲属角色</a:t>
            </a:r>
            <a:r>
              <a:rPr lang="en-US" altLang="zh-CN"/>
              <a:t>” </a:t>
            </a:r>
            <a:r>
              <a:rPr lang="zh-CN" altLang="en-US"/>
              <a:t>与</a:t>
            </a:r>
            <a:r>
              <a:rPr lang="en-US" altLang="zh-CN"/>
              <a:t> “</a:t>
            </a:r>
            <a:r>
              <a:rPr lang="zh-CN" altLang="en-US"/>
              <a:t>用户本人</a:t>
            </a:r>
            <a:r>
              <a:rPr lang="en-US" altLang="zh-CN"/>
              <a:t>” </a:t>
            </a:r>
            <a:r>
              <a:rPr lang="zh-CN" altLang="en-US"/>
              <a:t>更可能拥有相同的</a:t>
            </a:r>
            <a:r>
              <a:rPr lang="en-US" altLang="zh-CN"/>
              <a:t> “</a:t>
            </a:r>
            <a:r>
              <a:rPr lang="zh-CN" altLang="en-US"/>
              <a:t>籍贯</a:t>
            </a:r>
            <a:r>
              <a:rPr lang="en-US" altLang="zh-CN"/>
              <a:t>”</a:t>
            </a:r>
            <a:r>
              <a:rPr lang="zh-CN" altLang="en-US"/>
              <a:t>（因亲属通常来自同一地区），这类约束通过</a:t>
            </a:r>
            <a:r>
              <a:rPr lang="en-US" altLang="zh-CN"/>
              <a:t> BRNet </a:t>
            </a:r>
            <a:r>
              <a:rPr lang="zh-CN" altLang="en-US"/>
              <a:t>中的因果关系边实现。</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为全面评估基于</a:t>
            </a:r>
            <a:r>
              <a:rPr lang="en-US" altLang="zh-CN"/>
              <a:t> LLM </a:t>
            </a:r>
            <a:r>
              <a:rPr lang="zh-CN" altLang="en-US"/>
              <a:t>的个人助手的记忆能力，我们设计了</a:t>
            </a:r>
            <a:r>
              <a:rPr lang="en-US" altLang="zh-CN"/>
              <a:t> 5 </a:t>
            </a:r>
            <a:r>
              <a:rPr lang="zh-CN" altLang="en-US"/>
              <a:t>类具有代表性的问答对，以覆盖真实场景中的不同复杂度。对于每个问题</a:t>
            </a:r>
            <a:r>
              <a:rPr lang="en-US" altLang="zh-CN"/>
              <a:t>q</a:t>
            </a:r>
            <a:r>
              <a:rPr lang="zh-CN" altLang="en-US"/>
              <a:t>，我们提供三种形式的标准答案：文本答案</a:t>
            </a:r>
            <a:r>
              <a:rPr lang="en-US" altLang="zh-CN"/>
              <a:t>a</a:t>
            </a:r>
            <a:r>
              <a:rPr lang="zh-CN" altLang="en-US"/>
              <a:t>：可直接回应问题的自然语言答案；选择题答案</a:t>
            </a:r>
            <a:r>
              <a:rPr lang="en-US" altLang="zh-CN"/>
              <a:t>\(a'\)</a:t>
            </a:r>
            <a:r>
              <a:rPr lang="zh-CN" altLang="en-US"/>
              <a:t>：在</a:t>
            </a:r>
            <a:r>
              <a:rPr lang="en-US" altLang="zh-CN"/>
              <a:t> LLM </a:t>
            </a:r>
            <a:r>
              <a:rPr lang="zh-CN" altLang="en-US"/>
              <a:t>生成的干扰选项中，唯一正确的选项；检索目标</a:t>
            </a:r>
            <a:r>
              <a:rPr lang="en-US" altLang="zh-CN">
                <a:sym typeface="+mn-ea"/>
              </a:rPr>
              <a:t>h ⊆ M</a:t>
            </a:r>
            <a:r>
              <a:rPr lang="zh-CN" altLang="en-US"/>
              <a:t>：包含回答该问题所需事实信息的用户消息集合。</a:t>
            </a:r>
            <a:endParaRPr lang="zh-CN" altLang="en-US"/>
          </a:p>
          <a:p>
            <a:r>
              <a:rPr lang="zh-CN" altLang="en-US"/>
              <a:t>后处理问题：多跳</a:t>
            </a:r>
            <a:r>
              <a:rPr lang="en-US" altLang="zh-CN"/>
              <a:t>+</a:t>
            </a:r>
            <a:r>
              <a:rPr lang="zh-CN" altLang="en-US"/>
              <a:t>推理</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性别：男；姓名：王强；年龄：</a:t>
            </a:r>
            <a:r>
              <a:rPr lang="en-US" altLang="zh-CN"/>
              <a:t>38 </a:t>
            </a:r>
            <a:r>
              <a:rPr lang="zh-CN" altLang="en-US"/>
              <a:t>岁；身高：</a:t>
            </a:r>
            <a:r>
              <a:rPr lang="en-US" altLang="zh-CN"/>
              <a:t>166cm</a:t>
            </a:r>
            <a:r>
              <a:rPr lang="zh-CN" altLang="en-US"/>
              <a:t>；生日：</a:t>
            </a:r>
            <a:r>
              <a:rPr lang="en-US" altLang="zh-CN"/>
              <a:t>12 </a:t>
            </a:r>
            <a:r>
              <a:rPr lang="zh-CN" altLang="en-US"/>
              <a:t>月</a:t>
            </a:r>
            <a:r>
              <a:rPr lang="en-US" altLang="zh-CN"/>
              <a:t> 1 </a:t>
            </a:r>
            <a:r>
              <a:rPr lang="zh-CN" altLang="en-US"/>
              <a:t>日；</a:t>
            </a:r>
            <a:endParaRPr lang="zh-CN" altLang="en-US"/>
          </a:p>
          <a:p>
            <a:r>
              <a:rPr lang="zh-CN" altLang="en-US"/>
              <a:t>籍贯：北京；工作地：广东深圳；学历：高中；职业：银行柜员；职位：柜员主管；</a:t>
            </a:r>
            <a:endParaRPr lang="zh-CN" altLang="en-US"/>
          </a:p>
          <a:p>
            <a:r>
              <a:rPr lang="zh-CN" altLang="en-US"/>
              <a:t>公司：华银金融服务中心；爱好：模型制作；性格：外向；</a:t>
            </a:r>
            <a:endParaRPr lang="zh-CN" altLang="en-US"/>
          </a:p>
          <a:p>
            <a:r>
              <a:rPr lang="zh-CN" altLang="en-US"/>
              <a:t>电话：</a:t>
            </a:r>
            <a:r>
              <a:rPr lang="en-US" altLang="zh-CN"/>
              <a:t>13420824898</a:t>
            </a:r>
            <a:r>
              <a:rPr lang="zh-CN" altLang="en-US"/>
              <a:t>；邮箱：</a:t>
            </a:r>
            <a:r>
              <a:rPr lang="en-US" altLang="zh-CN"/>
              <a:t>wangqiang1201@huayinfinance.com</a:t>
            </a:r>
            <a:r>
              <a:rPr lang="zh-CN" altLang="en-US"/>
              <a:t>；</a:t>
            </a:r>
            <a:endParaRPr lang="zh-CN" altLang="en-US"/>
          </a:p>
          <a:p>
            <a:r>
              <a:rPr lang="zh-CN" altLang="en-US"/>
              <a:t>身份证号：</a:t>
            </a:r>
            <a:r>
              <a:rPr lang="en-US" altLang="zh-CN"/>
              <a:t>640168198612016598</a:t>
            </a:r>
            <a:r>
              <a:rPr lang="zh-CN" altLang="en-US"/>
              <a:t>；护照号：</a:t>
            </a:r>
            <a:r>
              <a:rPr lang="en-US" altLang="zh-CN"/>
              <a:t>NZ0448096</a:t>
            </a:r>
            <a:r>
              <a:rPr lang="zh-CN" altLang="en-US"/>
              <a:t>；</a:t>
            </a:r>
            <a:endParaRPr lang="zh-CN" altLang="en-US"/>
          </a:p>
          <a:p>
            <a:r>
              <a:rPr lang="zh-CN" altLang="en-US"/>
              <a:t>银行卡号：</a:t>
            </a:r>
            <a:r>
              <a:rPr lang="en-US" altLang="zh-CN"/>
              <a:t>6222022612177604</a:t>
            </a:r>
            <a:r>
              <a:rPr lang="zh-CN" altLang="en-US"/>
              <a:t>；驾照号：</a:t>
            </a:r>
            <a:r>
              <a:rPr lang="en-US" altLang="zh-CN"/>
              <a:t>640168198612012730</a:t>
            </a:r>
            <a:r>
              <a:rPr lang="zh-CN" altLang="en-US"/>
              <a:t>。</a:t>
            </a:r>
            <a:endParaRPr lang="zh-CN" altLang="en-US"/>
          </a:p>
          <a:p>
            <a:endParaRPr lang="zh-CN" altLang="en-US"/>
          </a:p>
          <a:p>
            <a:r>
              <a:rPr lang="zh-CN" altLang="en-US"/>
              <a:t>类型：运动鞋；名称：亚瑟士</a:t>
            </a:r>
            <a:r>
              <a:rPr lang="en-US" altLang="zh-CN"/>
              <a:t> Gel-Kayano 26</a:t>
            </a:r>
            <a:r>
              <a:rPr lang="zh-CN" altLang="en-US"/>
              <a:t>；</a:t>
            </a:r>
            <a:endParaRPr lang="zh-CN" altLang="en-US"/>
          </a:p>
          <a:p>
            <a:r>
              <a:rPr lang="zh-CN" altLang="en-US"/>
              <a:t>评价：这双亚瑟士</a:t>
            </a:r>
            <a:r>
              <a:rPr lang="en-US" altLang="zh-CN"/>
              <a:t> Gel-Kayano 26 </a:t>
            </a:r>
            <a:r>
              <a:rPr lang="zh-CN" altLang="en-US"/>
              <a:t>特别好，尤其是稳定性和支撑性，特别适合长时间站立工作；穿上它脚舒服多了，但透气性要是再好点就完美了；</a:t>
            </a:r>
            <a:endParaRPr lang="zh-CN" altLang="en-US"/>
          </a:p>
          <a:p>
            <a:r>
              <a:rPr lang="zh-CN" altLang="en-US"/>
              <a:t>关联关系：日常使用。</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数据集质量可直接反映</a:t>
            </a:r>
            <a:r>
              <a:rPr lang="en-US" altLang="zh-CN"/>
              <a:t> MemSim </a:t>
            </a:r>
            <a:r>
              <a:rPr lang="zh-CN" altLang="en-US"/>
              <a:t>模拟器的有效性。具体评估从三个维度展开：用户画像质量、用户消息质量与问答对（</a:t>
            </a:r>
            <a:r>
              <a:rPr lang="en-US" altLang="zh-CN"/>
              <a:t>QA</a:t>
            </a:r>
            <a:r>
              <a:rPr lang="zh-CN" altLang="en-US"/>
              <a:t>）质量</a:t>
            </a:r>
            <a:endParaRPr lang="zh-CN" altLang="en-US"/>
          </a:p>
          <a:p>
            <a:r>
              <a:rPr lang="zh-CN" altLang="en-US"/>
              <a:t>合理性指用户画像需符合现实逻辑，描述无内部矛盾；多样性指不同用户的画像差异显著，可覆盖广泛的用户类型。</a:t>
            </a:r>
            <a:endParaRPr lang="zh-CN" altLang="en-US"/>
          </a:p>
          <a:p>
            <a:r>
              <a:rPr lang="zh-CN" altLang="en-US"/>
              <a:t>多样性（</a:t>
            </a:r>
            <a:r>
              <a:rPr lang="en-US" altLang="zh-CN"/>
              <a:t>Diversity</a:t>
            </a:r>
            <a:r>
              <a:rPr lang="zh-CN" altLang="en-US"/>
              <a:t>）：计算关键属性的平均香农</a:t>
            </a:r>
            <a:r>
              <a:rPr lang="en-US" altLang="zh-CN"/>
              <a:t> - </a:t>
            </a:r>
            <a:r>
              <a:rPr lang="zh-CN" altLang="en-US"/>
              <a:t>维纳指数</a:t>
            </a:r>
            <a:endParaRPr lang="zh-CN" altLang="en-US"/>
          </a:p>
          <a:p>
            <a:r>
              <a:rPr lang="en-US" altLang="zh-CN"/>
              <a:t>Xk: </a:t>
            </a:r>
            <a:r>
              <a:rPr lang="zh-CN" altLang="en-US"/>
              <a:t>代表一个属性类别；</a:t>
            </a:r>
            <a:r>
              <a:rPr lang="en-US" altLang="zh-CN"/>
              <a:t>xi: </a:t>
            </a:r>
            <a:r>
              <a:rPr lang="zh-CN" altLang="en-US"/>
              <a:t>代表该属性类别下的一个具体取值；</a:t>
            </a:r>
            <a:r>
              <a:rPr lang="en-US" altLang="zh-CN"/>
              <a:t>W: </a:t>
            </a:r>
            <a:r>
              <a:rPr lang="zh-CN" altLang="en-US"/>
              <a:t>是我们关心的属性类别的集合</a:t>
            </a:r>
            <a:endParaRPr lang="zh-CN" altLang="en-US"/>
          </a:p>
          <a:p>
            <a:r>
              <a:rPr lang="en-US" altLang="zh-CN"/>
              <a:t>H(Xk) = - Σ p(xi) * ln(p(xi))</a:t>
            </a:r>
            <a:r>
              <a:rPr lang="zh-CN" altLang="en-US"/>
              <a:t>香农熵，衡量一个概率分布的混乱程度或不确定性。</a:t>
            </a:r>
            <a:r>
              <a:rPr lang="en-US" altLang="zh-CN"/>
              <a:t>SWI</a:t>
            </a:r>
            <a:r>
              <a:rPr lang="zh-CN" altLang="en-US"/>
              <a:t>计算指定属性集</a:t>
            </a:r>
            <a:r>
              <a:rPr lang="en-US" altLang="zh-CN"/>
              <a:t>W</a:t>
            </a:r>
            <a:r>
              <a:rPr lang="zh-CN" altLang="en-US"/>
              <a:t>内所有属性的平均香农熵。</a:t>
            </a:r>
            <a:endParaRPr lang="zh-CN" altLang="en-US"/>
          </a:p>
          <a:p>
            <a:r>
              <a:rPr lang="zh-CN" altLang="en-US"/>
              <a:t>据此计算三个细分指标：</a:t>
            </a:r>
            <a:r>
              <a:rPr lang="en-US" altLang="zh-CN"/>
              <a:t>SWI-R</a:t>
            </a:r>
            <a:r>
              <a:rPr lang="zh-CN" altLang="en-US"/>
              <a:t>（角色相关属性的多样性，社交圈结构）、</a:t>
            </a:r>
            <a:r>
              <a:rPr lang="en-US" altLang="zh-CN"/>
              <a:t>SWI-O</a:t>
            </a:r>
            <a:r>
              <a:rPr lang="zh-CN" altLang="en-US"/>
              <a:t>（角色无关属性的多样性，</a:t>
            </a:r>
            <a:r>
              <a:rPr lang="zh-CN" altLang="en-US"/>
              <a:t>其他用户个人</a:t>
            </a:r>
            <a:r>
              <a:rPr lang="zh-CN" altLang="en-US"/>
              <a:t>特征）、</a:t>
            </a:r>
            <a:r>
              <a:rPr lang="en-US" altLang="zh-CN"/>
              <a:t>SWI-A</a:t>
            </a:r>
            <a:r>
              <a:rPr lang="zh-CN" altLang="en-US"/>
              <a:t>（所有属性的多样性），只是</a:t>
            </a:r>
            <a:r>
              <a:rPr lang="en-US" altLang="zh-CN"/>
              <a:t>W</a:t>
            </a:r>
            <a:r>
              <a:rPr lang="zh-CN" altLang="en-US"/>
              <a:t>包含的属性</a:t>
            </a:r>
            <a:r>
              <a:rPr lang="zh-CN" altLang="en-US"/>
              <a:t>不一样。</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MemSim </a:t>
            </a:r>
            <a:r>
              <a:rPr lang="zh-CN" altLang="en-US"/>
              <a:t>在</a:t>
            </a:r>
            <a:r>
              <a:rPr lang="en-US" altLang="zh-CN"/>
              <a:t> R-Human </a:t>
            </a:r>
            <a:r>
              <a:rPr lang="zh-CN" altLang="en-US"/>
              <a:t>指标上显著优于所有基线方法，证明贝叶斯关系网络（</a:t>
            </a:r>
            <a:r>
              <a:rPr lang="en-US" altLang="zh-CN"/>
              <a:t>BRNet</a:t>
            </a:r>
            <a:r>
              <a:rPr lang="zh-CN" altLang="en-US"/>
              <a:t>）对提升画像合理性的有效性。但需注意，</a:t>
            </a:r>
            <a:r>
              <a:rPr lang="en-US" altLang="zh-CN"/>
              <a:t>R-Human </a:t>
            </a:r>
            <a:r>
              <a:rPr lang="zh-CN" altLang="en-US"/>
              <a:t>与</a:t>
            </a:r>
            <a:r>
              <a:rPr lang="en-US" altLang="zh-CN"/>
              <a:t> R-GPT </a:t>
            </a:r>
            <a:r>
              <a:rPr lang="zh-CN" altLang="en-US"/>
              <a:t>存在一定差异，这可能源于</a:t>
            </a:r>
            <a:r>
              <a:rPr lang="en-US" altLang="zh-CN"/>
              <a:t> LLM </a:t>
            </a:r>
            <a:r>
              <a:rPr lang="zh-CN" altLang="en-US"/>
              <a:t>打分的不准确性</a:t>
            </a:r>
            <a:r>
              <a:rPr lang="en-US" altLang="zh-CN"/>
              <a:t> [33]</a:t>
            </a:r>
            <a:r>
              <a:rPr lang="zh-CN" altLang="en-US"/>
              <a:t>。此外，</a:t>
            </a:r>
            <a:r>
              <a:rPr lang="en-US" altLang="zh-CN"/>
              <a:t>MemSim </a:t>
            </a:r>
            <a:r>
              <a:rPr lang="zh-CN" altLang="en-US"/>
              <a:t>在</a:t>
            </a:r>
            <a:r>
              <a:rPr lang="en-US" altLang="zh-CN"/>
              <a:t> SWI-R</a:t>
            </a:r>
            <a:r>
              <a:rPr lang="zh-CN" altLang="en-US"/>
              <a:t>、</a:t>
            </a:r>
            <a:r>
              <a:rPr lang="en-US" altLang="zh-CN"/>
              <a:t>SWI-O</a:t>
            </a:r>
            <a:r>
              <a:rPr lang="zh-CN" altLang="en-US"/>
              <a:t>、</a:t>
            </a:r>
            <a:r>
              <a:rPr lang="en-US" altLang="zh-CN"/>
              <a:t>SWI-A </a:t>
            </a:r>
            <a:r>
              <a:rPr lang="zh-CN" altLang="en-US"/>
              <a:t>三个多样性指标上均达到最高值，进一步验证了其生成多样化用户画像的能力。</a:t>
            </a:r>
            <a:endParaRPr lang="zh-CN" altLang="en-US"/>
          </a:p>
          <a:p>
            <a:r>
              <a:rPr lang="en-US" altLang="zh-CN"/>
              <a:t>IndePL</a:t>
            </a:r>
            <a:r>
              <a:rPr lang="zh-CN" altLang="en-US"/>
              <a:t>：为每一个属性（姓名、年龄、职业</a:t>
            </a:r>
            <a:r>
              <a:rPr lang="en-US" altLang="zh-CN"/>
              <a:t>…</a:t>
            </a:r>
            <a:r>
              <a:rPr lang="zh-CN" altLang="en-US"/>
              <a:t>）都独立地向</a:t>
            </a:r>
            <a:r>
              <a:rPr lang="en-US" altLang="zh-CN"/>
              <a:t>LLM</a:t>
            </a:r>
            <a:r>
              <a:rPr lang="zh-CN" altLang="en-US"/>
              <a:t>发送一个提示来生成。</a:t>
            </a:r>
            <a:endParaRPr lang="zh-CN" altLang="en-US"/>
          </a:p>
          <a:p>
            <a:r>
              <a:rPr lang="en-US" altLang="zh-CN"/>
              <a:t>SeqPL</a:t>
            </a:r>
            <a:r>
              <a:rPr lang="zh-CN" altLang="en-US"/>
              <a:t>：先确定一个属性的生成顺序，在生成后面的属性时，会将前面已经生成好的属性作为上下文一起发给</a:t>
            </a:r>
            <a:r>
              <a:rPr lang="en-US" altLang="zh-CN"/>
              <a:t>LLM</a:t>
            </a:r>
            <a:endParaRPr lang="en-US" altLang="zh-CN"/>
          </a:p>
          <a:p>
            <a:r>
              <a:rPr lang="en-US" altLang="zh-CN"/>
              <a:t>JointPL</a:t>
            </a:r>
            <a:r>
              <a:rPr lang="zh-CN" altLang="en-US"/>
              <a:t>：要求</a:t>
            </a:r>
            <a:r>
              <a:rPr lang="en-US" altLang="zh-CN"/>
              <a:t>LLM</a:t>
            </a:r>
            <a:r>
              <a:rPr lang="zh-CN" altLang="en-US"/>
              <a:t>一次性生成包含所有属性的、一个完整的、逻辑自洽的用户画像</a:t>
            </a:r>
            <a:endParaRPr lang="zh-CN" altLang="en-US"/>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轨迹内质量：由人工评估者采用</a:t>
            </a:r>
            <a:r>
              <a:rPr lang="en-US" altLang="zh-CN"/>
              <a:t> 1-5 </a:t>
            </a:r>
            <a:r>
              <a:rPr lang="zh-CN" altLang="en-US"/>
              <a:t>分制对以下指标打分：</a:t>
            </a:r>
            <a:endParaRPr lang="zh-CN" altLang="en-US"/>
          </a:p>
          <a:p>
            <a:r>
              <a:rPr lang="en-US" altLang="zh-CN"/>
              <a:t>F-Human</a:t>
            </a:r>
            <a:r>
              <a:rPr lang="zh-CN" altLang="en-US"/>
              <a:t>（流畅性）：消息是否符合自然语言表达习惯；</a:t>
            </a:r>
            <a:endParaRPr lang="zh-CN" altLang="en-US"/>
          </a:p>
          <a:p>
            <a:r>
              <a:rPr lang="en-US" altLang="zh-CN"/>
              <a:t>R-Human</a:t>
            </a:r>
            <a:r>
              <a:rPr lang="zh-CN" altLang="en-US"/>
              <a:t>（合理性）：消息内容是否符合现实逻辑；</a:t>
            </a:r>
            <a:endParaRPr lang="zh-CN" altLang="en-US"/>
          </a:p>
          <a:p>
            <a:r>
              <a:rPr lang="en-US" altLang="zh-CN"/>
              <a:t>N-Human</a:t>
            </a:r>
            <a:r>
              <a:rPr lang="zh-CN" altLang="en-US"/>
              <a:t>（自然性）：消息是否贴近真实用户的日常表达；</a:t>
            </a:r>
            <a:endParaRPr lang="zh-CN" altLang="en-US"/>
          </a:p>
          <a:p>
            <a:r>
              <a:rPr lang="en-US" altLang="zh-CN"/>
              <a:t>I-Human</a:t>
            </a:r>
            <a:r>
              <a:rPr lang="zh-CN" altLang="en-US"/>
              <a:t>（信息完整性）：消息是否完整传递提示中的事实信息。</a:t>
            </a:r>
            <a:endParaRPr lang="zh-CN" altLang="en-US"/>
          </a:p>
          <a:p>
            <a:r>
              <a:rPr lang="zh-CN" altLang="en-US"/>
              <a:t>同时，</a:t>
            </a:r>
            <a:r>
              <a:rPr lang="en-US" altLang="zh-CN"/>
              <a:t>GPT-4o </a:t>
            </a:r>
            <a:r>
              <a:rPr lang="zh-CN" altLang="en-US"/>
              <a:t>对上述指标的打分结果详见附录</a:t>
            </a:r>
            <a:r>
              <a:rPr lang="en-US" altLang="zh-CN"/>
              <a:t> B</a:t>
            </a:r>
            <a:r>
              <a:rPr lang="zh-CN" altLang="en-US"/>
              <a:t>。</a:t>
            </a:r>
            <a:endParaRPr lang="zh-CN" altLang="en-US"/>
          </a:p>
          <a:p>
            <a:r>
              <a:rPr lang="zh-CN" altLang="en-US"/>
              <a:t>跨轨迹多样性：提取所有消息中的实体，计算每</a:t>
            </a:r>
            <a:r>
              <a:rPr lang="en-US" altLang="zh-CN"/>
              <a:t> 10000 </a:t>
            </a:r>
            <a:r>
              <a:rPr lang="zh-CN" altLang="en-US"/>
              <a:t>个</a:t>
            </a:r>
            <a:r>
              <a:rPr lang="en-US" altLang="zh-CN"/>
              <a:t> token </a:t>
            </a:r>
            <a:r>
              <a:rPr lang="zh-CN" altLang="en-US"/>
              <a:t>内实体的平均香农</a:t>
            </a:r>
            <a:r>
              <a:rPr lang="en-US" altLang="zh-CN"/>
              <a:t> - </a:t>
            </a:r>
            <a:r>
              <a:rPr lang="zh-CN" altLang="en-US"/>
              <a:t>维纳指数，记为</a:t>
            </a:r>
            <a:r>
              <a:rPr lang="en-US" altLang="zh-CN"/>
              <a:t> SWIP</a:t>
            </a:r>
            <a:r>
              <a:rPr lang="zh-CN" altLang="en-US"/>
              <a:t>。</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ZeroCons</a:t>
            </a:r>
            <a:r>
              <a:rPr lang="zh-CN" altLang="en-US"/>
              <a:t>：提示</a:t>
            </a:r>
            <a:r>
              <a:rPr lang="en-US" altLang="zh-CN"/>
              <a:t> LLM </a:t>
            </a:r>
            <a:r>
              <a:rPr lang="zh-CN" altLang="en-US"/>
              <a:t>生成消息时，不对用户属性施加任何约束；</a:t>
            </a:r>
            <a:endParaRPr lang="zh-CN" altLang="en-US"/>
          </a:p>
          <a:p>
            <a:r>
              <a:rPr lang="en-US" altLang="zh-CN"/>
              <a:t>PartCons</a:t>
            </a:r>
            <a:r>
              <a:rPr lang="zh-CN" altLang="en-US"/>
              <a:t>：提示</a:t>
            </a:r>
            <a:r>
              <a:rPr lang="en-US" altLang="zh-CN"/>
              <a:t> LLM </a:t>
            </a:r>
            <a:r>
              <a:rPr lang="zh-CN" altLang="en-US"/>
              <a:t>生成消息时，仅约束用户画像的部分属性；</a:t>
            </a:r>
            <a:endParaRPr lang="zh-CN" altLang="en-US"/>
          </a:p>
          <a:p>
            <a:r>
              <a:rPr lang="en-US" altLang="zh-CN"/>
              <a:t>SoftCons</a:t>
            </a:r>
            <a:r>
              <a:rPr lang="zh-CN" altLang="en-US"/>
              <a:t>：提示</a:t>
            </a:r>
            <a:r>
              <a:rPr lang="en-US" altLang="zh-CN"/>
              <a:t> LLM </a:t>
            </a:r>
            <a:r>
              <a:rPr lang="zh-CN" altLang="en-US"/>
              <a:t>生成消息时，虽约束用户画像的全部属性，但不强制要求消息包含这些属性信息。</a:t>
            </a:r>
            <a:endParaRPr lang="zh-CN" altLang="en-US"/>
          </a:p>
          <a:p>
            <a:r>
              <a:rPr lang="zh-CN" altLang="en-US"/>
              <a:t>我觉得这是对用户配置文件的依赖性的</a:t>
            </a:r>
            <a:r>
              <a:rPr lang="zh-CN" altLang="en-US"/>
              <a:t>划分</a:t>
            </a:r>
            <a:endParaRPr lang="zh-CN" altLang="en-US"/>
          </a:p>
          <a:p>
            <a:r>
              <a:rPr lang="zh-CN" altLang="en-US"/>
              <a:t>尽管</a:t>
            </a:r>
            <a:r>
              <a:rPr lang="en-US" altLang="zh-CN"/>
              <a:t> MemSim </a:t>
            </a:r>
            <a:r>
              <a:rPr lang="zh-CN" altLang="en-US"/>
              <a:t>对消息生成施加了严格约束，但其在</a:t>
            </a:r>
            <a:r>
              <a:rPr lang="en-US" altLang="zh-CN"/>
              <a:t> F-Human</a:t>
            </a:r>
            <a:r>
              <a:rPr lang="zh-CN" altLang="en-US"/>
              <a:t>、</a:t>
            </a:r>
            <a:r>
              <a:rPr lang="en-US" altLang="zh-CN"/>
              <a:t>R-Human</a:t>
            </a:r>
            <a:r>
              <a:rPr lang="zh-CN" altLang="en-US"/>
              <a:t>、</a:t>
            </a:r>
            <a:r>
              <a:rPr lang="en-US" altLang="zh-CN"/>
              <a:t>N-Human </a:t>
            </a:r>
            <a:r>
              <a:rPr lang="zh-CN" altLang="en-US"/>
              <a:t>等指标上仍保持较高分数，与无约束</a:t>
            </a:r>
            <a:r>
              <a:rPr lang="en-US" altLang="zh-CN"/>
              <a:t> / </a:t>
            </a:r>
            <a:r>
              <a:rPr lang="zh-CN" altLang="en-US"/>
              <a:t>弱约束的基线方法性能接近。此外，</a:t>
            </a:r>
            <a:r>
              <a:rPr lang="en-US" altLang="zh-CN"/>
              <a:t>MemSim </a:t>
            </a:r>
            <a:r>
              <a:rPr lang="zh-CN" altLang="en-US"/>
              <a:t>的</a:t>
            </a:r>
            <a:r>
              <a:rPr lang="en-US" altLang="zh-CN"/>
              <a:t> SWIP </a:t>
            </a:r>
            <a:r>
              <a:rPr lang="zh-CN" altLang="en-US"/>
              <a:t>指标（</a:t>
            </a:r>
            <a:r>
              <a:rPr lang="en-US" altLang="zh-CN"/>
              <a:t>6.125</a:t>
            </a:r>
            <a:r>
              <a:rPr lang="zh-CN" altLang="en-US"/>
              <a:t>）高于所有基线，证明其依托</a:t>
            </a:r>
            <a:r>
              <a:rPr lang="en-US" altLang="zh-CN"/>
              <a:t> BRNet </a:t>
            </a:r>
            <a:r>
              <a:rPr lang="zh-CN" altLang="en-US"/>
              <a:t>与因果生成机制，能够生成更多样化的用户消息。</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构建可靠数据集的核心挑战是确保问答对标准答案的准确性。为评估</a:t>
            </a:r>
            <a:r>
              <a:rPr lang="en-US" altLang="zh-CN"/>
              <a:t> MemDaily </a:t>
            </a:r>
            <a:r>
              <a:rPr lang="zh-CN" altLang="en-US"/>
              <a:t>的可靠性，我们从所有轨迹中随机抽取约</a:t>
            </a:r>
            <a:r>
              <a:rPr lang="en-US" altLang="zh-CN"/>
              <a:t> 20% </a:t>
            </a:r>
            <a:r>
              <a:rPr lang="zh-CN" altLang="en-US"/>
              <a:t>的样本，由人工评估者验证其标准答案的正确性。具体需验证三个部分的准确性：文本答案、选择题答案与检索目标。</a:t>
            </a:r>
            <a:endParaRPr lang="zh-CN" altLang="en-US"/>
          </a:p>
          <a:p>
            <a:r>
              <a:rPr lang="zh-CN" altLang="en-US" b="1"/>
              <a:t>评价指标</a:t>
            </a:r>
            <a:endParaRPr lang="zh-CN" altLang="en-US" b="1"/>
          </a:p>
          <a:p>
            <a:r>
              <a:rPr lang="zh-CN" altLang="en-US"/>
              <a:t>文本答案准确性：判断文本答案是否能基于同一轨迹内的用户消息正确回应问题；</a:t>
            </a:r>
            <a:endParaRPr lang="zh-CN" altLang="en-US"/>
          </a:p>
          <a:p>
            <a:r>
              <a:rPr lang="zh-CN" altLang="en-US"/>
              <a:t>选择题答案准确性：判断标准答案选项是否为唯一正确选项（其他干扰选项需均为错误）；</a:t>
            </a:r>
            <a:endParaRPr lang="zh-CN" altLang="en-US"/>
          </a:p>
          <a:p>
            <a:r>
              <a:rPr lang="zh-CN" altLang="en-US"/>
              <a:t>检索目标准确性：判断检索目标中的消息是否为回答问题的</a:t>
            </a:r>
            <a:r>
              <a:rPr lang="en-US" altLang="zh-CN"/>
              <a:t> “</a:t>
            </a:r>
            <a:r>
              <a:rPr lang="zh-CN" altLang="en-US"/>
              <a:t>充分必要条件</a:t>
            </a:r>
            <a:r>
              <a:rPr lang="en-US" altLang="zh-CN"/>
              <a:t>”</a:t>
            </a:r>
            <a:r>
              <a:rPr lang="zh-CN" altLang="en-US"/>
              <a:t>（即包含所有所需信息且无冗余信息）。</a:t>
            </a:r>
            <a:endParaRPr lang="zh-CN" altLang="en-US"/>
          </a:p>
          <a:p>
            <a:r>
              <a:rPr lang="zh-CN" altLang="en-US"/>
              <a:t>极少数准确率未达</a:t>
            </a:r>
            <a:r>
              <a:rPr lang="en-US" altLang="zh-CN"/>
              <a:t> 100% </a:t>
            </a:r>
            <a:r>
              <a:rPr lang="zh-CN" altLang="en-US"/>
              <a:t>的情况，源于</a:t>
            </a:r>
            <a:r>
              <a:rPr lang="en-US" altLang="zh-CN"/>
              <a:t> LLM </a:t>
            </a:r>
            <a:r>
              <a:rPr lang="zh-CN" altLang="en-US"/>
              <a:t>在重写结构化提示时偶尔出现的信息偏差。这一结果证明，</a:t>
            </a:r>
            <a:r>
              <a:rPr lang="en-US" altLang="zh-CN"/>
              <a:t>MemSim </a:t>
            </a:r>
            <a:r>
              <a:rPr lang="zh-CN" altLang="en-US"/>
              <a:t>能有效减轻</a:t>
            </a:r>
            <a:r>
              <a:rPr lang="en-US" altLang="zh-CN"/>
              <a:t> LLM </a:t>
            </a:r>
            <a:r>
              <a:rPr lang="zh-CN" altLang="en-US"/>
              <a:t>幻觉对事实信息的影响，解决了记忆评估数据生成中的核心可靠性问题。</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该基准通过引入不同比例的</a:t>
            </a:r>
            <a:r>
              <a:rPr lang="en-US" altLang="zh-CN">
                <a:sym typeface="+mn-ea"/>
              </a:rPr>
              <a:t> “</a:t>
            </a:r>
            <a:r>
              <a:rPr lang="zh-CN" altLang="en-US">
                <a:sym typeface="+mn-ea"/>
              </a:rPr>
              <a:t>与问题无关的日常生活帖子</a:t>
            </a:r>
            <a:r>
              <a:rPr lang="en-US" altLang="zh-CN">
                <a:sym typeface="+mn-ea"/>
              </a:rPr>
              <a:t>”</a:t>
            </a:r>
            <a:r>
              <a:rPr lang="zh-CN" altLang="en-US">
                <a:sym typeface="+mn-ea"/>
              </a:rPr>
              <a:t>，设置了多档难度级别，以更全面地衡量记忆机制的性能。</a:t>
            </a:r>
            <a:endParaRPr lang="zh-CN" altLang="en-US"/>
          </a:p>
          <a:p>
            <a:r>
              <a:rPr lang="en-US" altLang="zh-CN"/>
              <a:t>MemDaily-vanilla</a:t>
            </a:r>
            <a:r>
              <a:rPr lang="zh-CN" altLang="en-US"/>
              <a:t>：基础难度，不添加任何无关帖子；</a:t>
            </a:r>
            <a:endParaRPr lang="zh-CN" altLang="en-US"/>
          </a:p>
          <a:p>
            <a:r>
              <a:rPr lang="en-US" altLang="zh-CN"/>
              <a:t>MemDaily-η</a:t>
            </a:r>
            <a:r>
              <a:rPr lang="zh-CN" altLang="en-US"/>
              <a:t>：</a:t>
            </a:r>
            <a:r>
              <a:rPr lang="en-US" altLang="zh-CN"/>
              <a:t>η </a:t>
            </a:r>
            <a:r>
              <a:rPr lang="zh-CN" altLang="en-US"/>
              <a:t>表示原始用户消息所占的反向百分比（例如</a:t>
            </a:r>
            <a:r>
              <a:rPr lang="en-US" altLang="zh-CN"/>
              <a:t> η=100 </a:t>
            </a:r>
            <a:r>
              <a:rPr lang="zh-CN" altLang="en-US"/>
              <a:t>意味着无关帖子数量远多于原始消息），</a:t>
            </a:r>
            <a:r>
              <a:rPr lang="en-US" altLang="zh-CN"/>
              <a:t>η </a:t>
            </a:r>
            <a:r>
              <a:rPr lang="zh-CN" altLang="en-US"/>
              <a:t>值越大，基准难度越高。</a:t>
            </a:r>
            <a:endParaRPr lang="zh-CN" altLang="en-US"/>
          </a:p>
          <a:p>
            <a:endParaRPr lang="zh-CN" altLang="en-US"/>
          </a:p>
          <a:p>
            <a:r>
              <a:rPr lang="zh-CN" altLang="en-US">
                <a:sym typeface="+mn-ea"/>
              </a:rPr>
              <a:t>（</a:t>
            </a:r>
            <a:r>
              <a:rPr lang="en-US" altLang="zh-CN">
                <a:sym typeface="+mn-ea"/>
              </a:rPr>
              <a:t>1</a:t>
            </a:r>
            <a:r>
              <a:rPr lang="zh-CN" altLang="en-US">
                <a:sym typeface="+mn-ea"/>
              </a:rPr>
              <a:t>）有效性（存储与利用事实信息的能力）</a:t>
            </a:r>
            <a:endParaRPr lang="zh-CN" altLang="en-US"/>
          </a:p>
          <a:p>
            <a:r>
              <a:rPr lang="zh-CN" altLang="en-US">
                <a:sym typeface="+mn-ea"/>
              </a:rPr>
              <a:t>准确率（</a:t>
            </a:r>
            <a:r>
              <a:rPr lang="en-US" altLang="zh-CN">
                <a:sym typeface="+mn-ea"/>
              </a:rPr>
              <a:t>Accuracy</a:t>
            </a:r>
            <a:r>
              <a:rPr lang="zh-CN" altLang="en-US">
                <a:sym typeface="+mn-ea"/>
              </a:rPr>
              <a:t>）：智能体基于历史消息中的事实信息回答个性化问题的正确率；</a:t>
            </a:r>
            <a:endParaRPr lang="zh-CN" altLang="en-US"/>
          </a:p>
          <a:p>
            <a:r>
              <a:rPr lang="zh-CN" altLang="en-US">
                <a:sym typeface="+mn-ea"/>
              </a:rPr>
              <a:t>召回率</a:t>
            </a:r>
            <a:r>
              <a:rPr lang="en-US" altLang="zh-CN">
                <a:sym typeface="+mn-ea"/>
              </a:rPr>
              <a:t> @5</a:t>
            </a:r>
            <a:r>
              <a:rPr lang="zh-CN" altLang="en-US">
                <a:sym typeface="+mn-ea"/>
              </a:rPr>
              <a:t>（</a:t>
            </a:r>
            <a:r>
              <a:rPr lang="en-US" altLang="zh-CN">
                <a:sym typeface="+mn-ea"/>
              </a:rPr>
              <a:t>Recall@5</a:t>
            </a:r>
            <a:r>
              <a:rPr lang="zh-CN" altLang="en-US">
                <a:sym typeface="+mn-ea"/>
              </a:rPr>
              <a:t>）：标准答案检索目标中的消息，在</a:t>
            </a:r>
            <a:r>
              <a:rPr lang="en-US" altLang="zh-CN">
                <a:sym typeface="+mn-ea"/>
              </a:rPr>
              <a:t> “Top-5 </a:t>
            </a:r>
            <a:r>
              <a:rPr lang="zh-CN" altLang="en-US">
                <a:sym typeface="+mn-ea"/>
              </a:rPr>
              <a:t>相关消息</a:t>
            </a:r>
            <a:r>
              <a:rPr lang="en-US" altLang="zh-CN">
                <a:sym typeface="+mn-ea"/>
              </a:rPr>
              <a:t>” </a:t>
            </a:r>
            <a:r>
              <a:rPr lang="zh-CN" altLang="en-US">
                <a:sym typeface="+mn-ea"/>
              </a:rPr>
              <a:t>中被成功检索到的比例。</a:t>
            </a:r>
            <a:endParaRPr lang="zh-CN" altLang="en-US"/>
          </a:p>
          <a:p>
            <a:r>
              <a:rPr lang="zh-CN" altLang="en-US">
                <a:sym typeface="+mn-ea"/>
              </a:rPr>
              <a:t>（</a:t>
            </a:r>
            <a:r>
              <a:rPr lang="en-US" altLang="zh-CN">
                <a:sym typeface="+mn-ea"/>
              </a:rPr>
              <a:t>2</a:t>
            </a:r>
            <a:r>
              <a:rPr lang="zh-CN" altLang="en-US">
                <a:sym typeface="+mn-ea"/>
              </a:rPr>
              <a:t>）效率（存储与利用信息的时间成本）</a:t>
            </a:r>
            <a:endParaRPr lang="zh-CN" altLang="en-US"/>
          </a:p>
          <a:p>
            <a:r>
              <a:rPr lang="zh-CN" altLang="en-US">
                <a:sym typeface="+mn-ea"/>
              </a:rPr>
              <a:t>响应时间（</a:t>
            </a:r>
            <a:r>
              <a:rPr lang="en-US" altLang="zh-CN">
                <a:sym typeface="+mn-ea"/>
              </a:rPr>
              <a:t>Response Time</a:t>
            </a:r>
            <a:r>
              <a:rPr lang="zh-CN" altLang="en-US">
                <a:sym typeface="+mn-ea"/>
              </a:rPr>
              <a:t>）：智能体接收查询后生成响应的总时间（含检索与推理过程）；</a:t>
            </a:r>
            <a:endParaRPr lang="zh-CN" altLang="en-US"/>
          </a:p>
          <a:p>
            <a:r>
              <a:rPr lang="zh-CN" altLang="en-US">
                <a:sym typeface="+mn-ea"/>
              </a:rPr>
              <a:t>适配时间（</a:t>
            </a:r>
            <a:r>
              <a:rPr lang="en-US" altLang="zh-CN">
                <a:sym typeface="+mn-ea"/>
              </a:rPr>
              <a:t>Adaptation Time</a:t>
            </a:r>
            <a:r>
              <a:rPr lang="zh-CN" altLang="en-US">
                <a:sym typeface="+mn-ea"/>
              </a:rPr>
              <a:t>）：智能体存储一条新消息所需的时间。</a:t>
            </a:r>
            <a:endParaRPr lang="zh-CN" altLang="en-US"/>
          </a:p>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全量记忆（</a:t>
            </a:r>
            <a:r>
              <a:rPr lang="en-US" altLang="zh-CN"/>
              <a:t>FullMem</a:t>
            </a:r>
            <a:r>
              <a:rPr lang="zh-CN" altLang="en-US"/>
              <a:t>）：将所有历史消息以列表形式保存，推理时全部拼接至提示词中；</a:t>
            </a:r>
            <a:endParaRPr lang="zh-CN" altLang="en-US"/>
          </a:p>
          <a:p>
            <a:r>
              <a:rPr lang="zh-CN" altLang="en-US"/>
              <a:t>近期记忆（</a:t>
            </a:r>
            <a:r>
              <a:rPr lang="en-US" altLang="zh-CN"/>
              <a:t>ReceMem</a:t>
            </a:r>
            <a:r>
              <a:rPr lang="zh-CN" altLang="en-US"/>
              <a:t>）：仅保留最新的</a:t>
            </a:r>
            <a:r>
              <a:rPr lang="en-US" altLang="zh-CN"/>
              <a:t> k </a:t>
            </a:r>
            <a:r>
              <a:rPr lang="zh-CN" altLang="en-US"/>
              <a:t>条消息，推理时拼接至提示词（即短时记忆）；</a:t>
            </a:r>
            <a:endParaRPr lang="zh-CN" altLang="en-US"/>
          </a:p>
          <a:p>
            <a:r>
              <a:rPr lang="zh-CN" altLang="en-US"/>
              <a:t>检索记忆（</a:t>
            </a:r>
            <a:r>
              <a:rPr lang="en-US" altLang="zh-CN"/>
              <a:t>RetrMem</a:t>
            </a:r>
            <a:r>
              <a:rPr lang="zh-CN" altLang="en-US"/>
              <a:t>）：用</a:t>
            </a:r>
            <a:r>
              <a:rPr lang="en-US" altLang="zh-CN"/>
              <a:t> FAISS [34] </a:t>
            </a:r>
            <a:r>
              <a:rPr lang="zh-CN" altLang="en-US"/>
              <a:t>存储所有历史消息，推理时检索</a:t>
            </a:r>
            <a:r>
              <a:rPr lang="en-US" altLang="zh-CN"/>
              <a:t> Top-k </a:t>
            </a:r>
            <a:r>
              <a:rPr lang="zh-CN" altLang="en-US"/>
              <a:t>相关消息并拼接至提示词（常用于构建长时记忆）。具体实现为：用</a:t>
            </a:r>
            <a:r>
              <a:rPr lang="en-US" altLang="zh-CN"/>
              <a:t> Llama-160m [35] </a:t>
            </a:r>
            <a:r>
              <a:rPr lang="zh-CN" altLang="en-US"/>
              <a:t>将消息转换为</a:t>
            </a:r>
            <a:r>
              <a:rPr lang="en-US" altLang="zh-CN"/>
              <a:t> 768 </a:t>
            </a:r>
            <a:r>
              <a:rPr lang="zh-CN" altLang="en-US"/>
              <a:t>维嵌入向量，通过余弦相似度</a:t>
            </a:r>
            <a:r>
              <a:rPr lang="en-US" altLang="zh-CN"/>
              <a:t> [36] </a:t>
            </a:r>
            <a:r>
              <a:rPr lang="zh-CN" altLang="en-US"/>
              <a:t>计算相关性；</a:t>
            </a:r>
            <a:endParaRPr lang="zh-CN" altLang="en-US"/>
          </a:p>
          <a:p>
            <a:r>
              <a:rPr lang="zh-CN" altLang="en-US"/>
              <a:t>无记忆（</a:t>
            </a:r>
            <a:r>
              <a:rPr lang="en-US" altLang="zh-CN"/>
              <a:t>NonMem</a:t>
            </a:r>
            <a:r>
              <a:rPr lang="zh-CN" altLang="en-US"/>
              <a:t>）：不使用任何历史记忆进行推理；</a:t>
            </a:r>
            <a:endParaRPr lang="zh-CN" altLang="en-US"/>
          </a:p>
          <a:p>
            <a:r>
              <a:rPr lang="zh-CN" altLang="en-US"/>
              <a:t>噪声记忆（</a:t>
            </a:r>
            <a:r>
              <a:rPr lang="en-US" altLang="zh-CN"/>
              <a:t>NoisyMem</a:t>
            </a:r>
            <a:r>
              <a:rPr lang="zh-CN" altLang="en-US"/>
              <a:t>）：仅接收与问题无关的干扰消息；</a:t>
            </a:r>
            <a:endParaRPr lang="zh-CN" altLang="en-US"/>
          </a:p>
          <a:p>
            <a:r>
              <a:rPr lang="zh-CN" altLang="en-US"/>
              <a:t>理想记忆（</a:t>
            </a:r>
            <a:r>
              <a:rPr lang="en-US" altLang="zh-CN"/>
              <a:t>OracleMem</a:t>
            </a:r>
            <a:r>
              <a:rPr lang="zh-CN" altLang="en-US"/>
              <a:t>）：仅接收</a:t>
            </a:r>
            <a:r>
              <a:rPr lang="en-US" altLang="zh-CN"/>
              <a:t> “</a:t>
            </a:r>
            <a:r>
              <a:rPr lang="zh-CN" altLang="en-US"/>
              <a:t>标准答案检索目标</a:t>
            </a:r>
            <a:r>
              <a:rPr lang="en-US" altLang="zh-CN"/>
              <a:t>” </a:t>
            </a:r>
            <a:r>
              <a:rPr lang="zh-CN" altLang="en-US"/>
              <a:t>中的消息（即已知正确消息的理想情况，用于参考对比）。</a:t>
            </a:r>
            <a:endParaRPr lang="zh-CN" altLang="en-US"/>
          </a:p>
          <a:p>
            <a:r>
              <a:rPr lang="zh-CN" altLang="en-US"/>
              <a:t>所有方法均采用开源模型</a:t>
            </a:r>
            <a:r>
              <a:rPr lang="en-US" altLang="zh-CN"/>
              <a:t> GLM-4-9B [37] </a:t>
            </a:r>
            <a:r>
              <a:rPr lang="zh-CN" altLang="en-US"/>
              <a:t>作为基础推理模型，因其在长上下文场景中表现优异。</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全量记忆（</a:t>
            </a:r>
            <a:r>
              <a:rPr lang="en-US" altLang="zh-CN"/>
              <a:t>FullMem</a:t>
            </a:r>
            <a:r>
              <a:rPr lang="zh-CN" altLang="en-US"/>
              <a:t>）与检索记忆（</a:t>
            </a:r>
            <a:r>
              <a:rPr lang="en-US" altLang="zh-CN"/>
              <a:t>RetrMem</a:t>
            </a:r>
            <a:r>
              <a:rPr lang="zh-CN" altLang="en-US"/>
              <a:t>）表现最优</a:t>
            </a:r>
            <a:endParaRPr lang="zh-CN" altLang="en-US"/>
          </a:p>
          <a:p>
            <a:r>
              <a:rPr lang="zh-CN" altLang="en-US"/>
              <a:t>近期记忆（</a:t>
            </a:r>
            <a:r>
              <a:rPr lang="en-US" altLang="zh-CN"/>
              <a:t>ReceMem</a:t>
            </a:r>
            <a:r>
              <a:rPr lang="zh-CN" altLang="en-US"/>
              <a:t>）抗干扰能力弱：当无关消息较多时（如</a:t>
            </a:r>
            <a:r>
              <a:rPr lang="en-US" altLang="zh-CN"/>
              <a:t> MemDaily-100</a:t>
            </a:r>
            <a:r>
              <a:rPr lang="zh-CN" altLang="en-US"/>
              <a:t>），目标消息可能超出</a:t>
            </a:r>
            <a:r>
              <a:rPr lang="en-US" altLang="zh-CN"/>
              <a:t> “</a:t>
            </a:r>
            <a:r>
              <a:rPr lang="zh-CN" altLang="en-US"/>
              <a:t>最新</a:t>
            </a:r>
            <a:r>
              <a:rPr lang="en-US" altLang="zh-CN"/>
              <a:t> k </a:t>
            </a:r>
            <a:r>
              <a:rPr lang="zh-CN" altLang="en-US"/>
              <a:t>条</a:t>
            </a:r>
            <a:r>
              <a:rPr lang="en-US" altLang="zh-CN"/>
              <a:t>” </a:t>
            </a:r>
            <a:r>
              <a:rPr lang="zh-CN" altLang="en-US"/>
              <a:t>的范围，导致准确率显著下降；</a:t>
            </a:r>
            <a:endParaRPr lang="zh-CN" altLang="en-US"/>
          </a:p>
          <a:p>
            <a:r>
              <a:rPr lang="zh-CN" altLang="en-US"/>
              <a:t>比较性</a:t>
            </a:r>
            <a:r>
              <a:rPr lang="zh-CN" altLang="en-US"/>
              <a:t>和聚合型问答是共同瓶颈：即使是理想记忆（</a:t>
            </a:r>
            <a:r>
              <a:rPr lang="en-US" altLang="zh-CN"/>
              <a:t>OracleMem</a:t>
            </a:r>
            <a:r>
              <a:rPr lang="zh-CN" altLang="en-US"/>
              <a:t>）也难以突破</a:t>
            </a:r>
            <a:r>
              <a:rPr lang="en-US" altLang="zh-CN"/>
              <a:t> —— </a:t>
            </a:r>
            <a:r>
              <a:rPr lang="zh-CN" altLang="en-US"/>
              <a:t>这表明即使能精准检索到目标消息，</a:t>
            </a:r>
            <a:r>
              <a:rPr lang="en-US" altLang="zh-CN"/>
              <a:t>LLM</a:t>
            </a:r>
            <a:r>
              <a:rPr lang="zh-CN" altLang="en-US"/>
              <a:t>在聚合推理能力仍存在短板。</a:t>
            </a:r>
            <a:endParaRPr lang="zh-CN" altLang="en-US"/>
          </a:p>
          <a:p>
            <a:r>
              <a:rPr lang="zh-CN" altLang="en-US"/>
              <a:t>特殊现象：</a:t>
            </a:r>
            <a:endParaRPr lang="zh-CN" altLang="en-US"/>
          </a:p>
          <a:p>
            <a:r>
              <a:rPr lang="en-US" altLang="zh-CN"/>
              <a:t>1. MemDaily-vanilla </a:t>
            </a:r>
            <a:r>
              <a:rPr lang="zh-CN" altLang="en-US"/>
              <a:t>中，噪声记忆（</a:t>
            </a:r>
            <a:r>
              <a:rPr lang="en-US" altLang="zh-CN"/>
              <a:t>NoisyMem</a:t>
            </a:r>
            <a:r>
              <a:rPr lang="zh-CN" altLang="en-US"/>
              <a:t>）准确率高于无记忆（</a:t>
            </a:r>
            <a:r>
              <a:rPr lang="en-US" altLang="zh-CN"/>
              <a:t>NonMem</a:t>
            </a:r>
            <a:r>
              <a:rPr lang="zh-CN" altLang="en-US"/>
              <a:t>），但在</a:t>
            </a:r>
            <a:r>
              <a:rPr lang="en-US" altLang="zh-CN"/>
              <a:t> MemDaily-100 </a:t>
            </a:r>
            <a:r>
              <a:rPr lang="zh-CN" altLang="en-US"/>
              <a:t>中反而更低，暗示少量干扰可能意外触发</a:t>
            </a:r>
            <a:r>
              <a:rPr lang="en-US" altLang="zh-CN"/>
              <a:t> LLM </a:t>
            </a:r>
            <a:r>
              <a:rPr lang="zh-CN" altLang="en-US"/>
              <a:t>的上下文关联能力，而大量干扰会破坏记忆逻辑；</a:t>
            </a:r>
            <a:endParaRPr lang="zh-CN" altLang="en-US"/>
          </a:p>
          <a:p>
            <a:r>
              <a:rPr lang="en-US" altLang="zh-CN"/>
              <a:t>2. MemDaily-vanilla </a:t>
            </a:r>
            <a:r>
              <a:rPr lang="zh-CN" altLang="en-US"/>
              <a:t>的简单型问答中，全量记忆（</a:t>
            </a:r>
            <a:r>
              <a:rPr lang="en-US" altLang="zh-CN"/>
              <a:t>FullMem</a:t>
            </a:r>
            <a:r>
              <a:rPr lang="zh-CN" altLang="en-US"/>
              <a:t>）准确率略高于理想记忆（</a:t>
            </a:r>
            <a:r>
              <a:rPr lang="en-US" altLang="zh-CN"/>
              <a:t>OracleMem</a:t>
            </a:r>
            <a:r>
              <a:rPr lang="zh-CN" altLang="en-US"/>
              <a:t>），推测</a:t>
            </a:r>
            <a:r>
              <a:rPr lang="en-US" altLang="zh-CN"/>
              <a:t> LLM </a:t>
            </a:r>
            <a:r>
              <a:rPr lang="zh-CN" altLang="en-US"/>
              <a:t>在</a:t>
            </a:r>
            <a:r>
              <a:rPr lang="en-US" altLang="zh-CN"/>
              <a:t> “</a:t>
            </a:r>
            <a:r>
              <a:rPr lang="zh-CN" altLang="en-US"/>
              <a:t>中等长度提示词</a:t>
            </a:r>
            <a:r>
              <a:rPr lang="en-US" altLang="zh-CN"/>
              <a:t>” </a:t>
            </a:r>
            <a:r>
              <a:rPr lang="zh-CN" altLang="en-US"/>
              <a:t>下的推理表现更优，极度简短、孤立的陈述句可能不足以</a:t>
            </a:r>
            <a:r>
              <a:rPr lang="en-US" altLang="zh-CN"/>
              <a:t>“</a:t>
            </a:r>
            <a:r>
              <a:rPr lang="zh-CN" altLang="en-US"/>
              <a:t>激活</a:t>
            </a:r>
            <a:r>
              <a:rPr lang="en-US" altLang="zh-CN"/>
              <a:t>”LLM</a:t>
            </a:r>
            <a:r>
              <a:rPr lang="zh-CN" altLang="en-US"/>
              <a:t>的上下文理解和</a:t>
            </a:r>
            <a:r>
              <a:rPr lang="en-US" altLang="zh-CN"/>
              <a:t>“</a:t>
            </a:r>
            <a:r>
              <a:rPr lang="zh-CN" altLang="en-US"/>
              <a:t>任务执行</a:t>
            </a:r>
            <a:r>
              <a:rPr lang="en-US" altLang="zh-CN"/>
              <a:t>”</a:t>
            </a:r>
            <a:r>
              <a:rPr lang="zh-CN" altLang="en-US"/>
              <a:t>能力，</a:t>
            </a:r>
            <a:r>
              <a:rPr lang="zh-CN" altLang="en-US"/>
              <a:t>这也暴露了文本记忆机制的潜在局限性。</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LLM </a:t>
            </a:r>
            <a:r>
              <a:rPr lang="zh-CN" altLang="en-US"/>
              <a:t>直接检索：在短上下文场景（如</a:t>
            </a:r>
            <a:r>
              <a:rPr lang="en-US" altLang="zh-CN"/>
              <a:t> MemDaily-vanilla</a:t>
            </a:r>
            <a:r>
              <a:rPr lang="zh-CN" altLang="en-US"/>
              <a:t>）中表现最佳</a:t>
            </a:r>
            <a:endParaRPr lang="zh-CN" altLang="en-US"/>
          </a:p>
          <a:p>
            <a:r>
              <a:rPr lang="zh-CN" altLang="en-US"/>
              <a:t>嵌入检索（</a:t>
            </a:r>
            <a:r>
              <a:rPr lang="en-US" altLang="zh-CN"/>
              <a:t>RetrMem </a:t>
            </a:r>
            <a:r>
              <a:rPr lang="zh-CN" altLang="en-US"/>
              <a:t>采用）：在长上下文场景（如</a:t>
            </a:r>
            <a:r>
              <a:rPr lang="en-US" altLang="zh-CN"/>
              <a:t> MemDaily-100</a:t>
            </a:r>
            <a:r>
              <a:rPr lang="zh-CN" altLang="en-US"/>
              <a:t>）中更具优势</a:t>
            </a:r>
            <a:endParaRPr lang="zh-CN" altLang="en-US"/>
          </a:p>
          <a:p>
            <a:r>
              <a:rPr lang="zh-CN" altLang="en-US"/>
              <a:t>近期检索（</a:t>
            </a:r>
            <a:r>
              <a:rPr lang="en-US" altLang="zh-CN"/>
              <a:t>ReceMem </a:t>
            </a:r>
            <a:r>
              <a:rPr lang="zh-CN" altLang="en-US"/>
              <a:t>采用）：召回率极低（尤其在高难度数据集上接近</a:t>
            </a:r>
            <a:r>
              <a:rPr lang="en-US" altLang="zh-CN"/>
              <a:t> 0</a:t>
            </a:r>
            <a:r>
              <a:rPr lang="zh-CN" altLang="en-US"/>
              <a:t>），证明</a:t>
            </a:r>
            <a:r>
              <a:rPr lang="en-US" altLang="zh-CN"/>
              <a:t> “</a:t>
            </a:r>
            <a:r>
              <a:rPr lang="zh-CN" altLang="en-US"/>
              <a:t>仅依赖消息时序</a:t>
            </a:r>
            <a:r>
              <a:rPr lang="en-US" altLang="zh-CN"/>
              <a:t>” </a:t>
            </a:r>
            <a:r>
              <a:rPr lang="zh-CN" altLang="en-US"/>
              <a:t>的记忆策略在复杂场景中完全不可靠；</a:t>
            </a:r>
            <a:endParaRPr lang="zh-CN" altLang="en-US"/>
          </a:p>
          <a:p>
            <a:r>
              <a:rPr lang="zh-CN" altLang="en-US"/>
              <a:t>检索与推理的分离差异：单独的检索阶段（如嵌入检索）与</a:t>
            </a:r>
            <a:r>
              <a:rPr lang="en-US" altLang="zh-CN"/>
              <a:t> “</a:t>
            </a:r>
            <a:r>
              <a:rPr lang="zh-CN" altLang="en-US"/>
              <a:t>检索</a:t>
            </a:r>
            <a:r>
              <a:rPr lang="en-US" altLang="zh-CN"/>
              <a:t> + </a:t>
            </a:r>
            <a:r>
              <a:rPr lang="zh-CN" altLang="en-US"/>
              <a:t>推理</a:t>
            </a:r>
            <a:r>
              <a:rPr lang="en-US" altLang="zh-CN"/>
              <a:t>”</a:t>
            </a:r>
            <a:r>
              <a:rPr lang="zh-CN" altLang="en-US"/>
              <a:t>的整合阶段（如</a:t>
            </a:r>
            <a:r>
              <a:rPr lang="en-US" altLang="zh-CN"/>
              <a:t> RetrMem</a:t>
            </a:r>
            <a:r>
              <a:rPr lang="zh-CN" altLang="en-US"/>
              <a:t>）性能存在差异，说明记忆机制的有效性不仅取决于检索精度，还与</a:t>
            </a:r>
            <a:r>
              <a:rPr lang="en-US" altLang="zh-CN"/>
              <a:t> LLM </a:t>
            </a:r>
            <a:r>
              <a:rPr lang="zh-CN" altLang="en-US"/>
              <a:t>对检索结果的利用能力相关。</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短上下文场景（</a:t>
            </a:r>
            <a:r>
              <a:rPr lang="en-US" altLang="zh-CN"/>
              <a:t>MemDaily-vanilla</a:t>
            </a:r>
            <a:r>
              <a:rPr lang="zh-CN" altLang="en-US"/>
              <a:t>）：检索记忆（</a:t>
            </a:r>
            <a:r>
              <a:rPr lang="en-US" altLang="zh-CN"/>
              <a:t>RetrMem</a:t>
            </a:r>
            <a:r>
              <a:rPr lang="zh-CN" altLang="en-US"/>
              <a:t>）响应时间最长（约</a:t>
            </a:r>
            <a:r>
              <a:rPr lang="en-US" altLang="zh-CN"/>
              <a:t> 0.23-0.29 </a:t>
            </a:r>
            <a:r>
              <a:rPr lang="zh-CN" altLang="en-US"/>
              <a:t>秒</a:t>
            </a:r>
            <a:r>
              <a:rPr lang="en-US" altLang="zh-CN"/>
              <a:t> / </a:t>
            </a:r>
            <a:r>
              <a:rPr lang="zh-CN" altLang="en-US"/>
              <a:t>查询），因需额外执行</a:t>
            </a:r>
            <a:r>
              <a:rPr lang="en-US" altLang="zh-CN"/>
              <a:t> FAISS </a:t>
            </a:r>
            <a:r>
              <a:rPr lang="zh-CN" altLang="en-US"/>
              <a:t>检索；全量记忆（</a:t>
            </a:r>
            <a:r>
              <a:rPr lang="en-US" altLang="zh-CN"/>
              <a:t>FullMem</a:t>
            </a:r>
            <a:r>
              <a:rPr lang="zh-CN" altLang="en-US"/>
              <a:t>）次之（约</a:t>
            </a:r>
            <a:r>
              <a:rPr lang="en-US" altLang="zh-CN"/>
              <a:t> 0.13-0.15 </a:t>
            </a:r>
            <a:r>
              <a:rPr lang="zh-CN" altLang="en-US"/>
              <a:t>秒</a:t>
            </a:r>
            <a:r>
              <a:rPr lang="en-US" altLang="zh-CN"/>
              <a:t> / </a:t>
            </a:r>
            <a:r>
              <a:rPr lang="zh-CN" altLang="en-US"/>
              <a:t>查询），因提示词长度较长；无记忆（</a:t>
            </a:r>
            <a:r>
              <a:rPr lang="en-US" altLang="zh-CN"/>
              <a:t>NonMem</a:t>
            </a:r>
            <a:r>
              <a:rPr lang="zh-CN" altLang="en-US"/>
              <a:t>）、近期记忆（</a:t>
            </a:r>
            <a:r>
              <a:rPr lang="en-US" altLang="zh-CN"/>
              <a:t>ReceMem</a:t>
            </a:r>
            <a:r>
              <a:rPr lang="zh-CN" altLang="en-US"/>
              <a:t>）等响应时间最短（约</a:t>
            </a:r>
            <a:r>
              <a:rPr lang="en-US" altLang="zh-CN"/>
              <a:t> 0.11-0.13 </a:t>
            </a:r>
            <a:r>
              <a:rPr lang="zh-CN" altLang="en-US"/>
              <a:t>秒</a:t>
            </a:r>
            <a:r>
              <a:rPr lang="en-US" altLang="zh-CN"/>
              <a:t> / </a:t>
            </a:r>
            <a:r>
              <a:rPr lang="zh-CN" altLang="en-US"/>
              <a:t>查询）；</a:t>
            </a:r>
            <a:endParaRPr lang="zh-CN" altLang="en-US"/>
          </a:p>
          <a:p>
            <a:r>
              <a:rPr lang="zh-CN" altLang="en-US"/>
              <a:t>长上下文场景（</a:t>
            </a:r>
            <a:r>
              <a:rPr lang="en-US" altLang="zh-CN"/>
              <a:t>MemDaily-100</a:t>
            </a:r>
            <a:r>
              <a:rPr lang="zh-CN" altLang="en-US"/>
              <a:t>）：全量记忆（</a:t>
            </a:r>
            <a:r>
              <a:rPr lang="en-US" altLang="zh-CN"/>
              <a:t>FullMem</a:t>
            </a:r>
            <a:r>
              <a:rPr lang="zh-CN" altLang="en-US"/>
              <a:t>）响应时间激增（约</a:t>
            </a:r>
            <a:r>
              <a:rPr lang="en-US" altLang="zh-CN"/>
              <a:t> 1.2-2.5 </a:t>
            </a:r>
            <a:r>
              <a:rPr lang="zh-CN" altLang="en-US"/>
              <a:t>秒</a:t>
            </a:r>
            <a:r>
              <a:rPr lang="en-US" altLang="zh-CN"/>
              <a:t> / </a:t>
            </a:r>
            <a:r>
              <a:rPr lang="zh-CN" altLang="en-US"/>
              <a:t>查询），因提示词长度随无关消息增加而大幅膨胀；检索记忆（</a:t>
            </a:r>
            <a:r>
              <a:rPr lang="en-US" altLang="zh-CN"/>
              <a:t>RetrMem</a:t>
            </a:r>
            <a:r>
              <a:rPr lang="zh-CN" altLang="en-US"/>
              <a:t>）响应时间反而更稳定（约</a:t>
            </a:r>
            <a:r>
              <a:rPr lang="en-US" altLang="zh-CN"/>
              <a:t> 0.20-0.28 </a:t>
            </a:r>
            <a:r>
              <a:rPr lang="zh-CN" altLang="en-US"/>
              <a:t>秒</a:t>
            </a:r>
            <a:r>
              <a:rPr lang="en-US" altLang="zh-CN"/>
              <a:t> / </a:t>
            </a:r>
            <a:r>
              <a:rPr lang="zh-CN" altLang="en-US"/>
              <a:t>查询），凸显其在长上下文场景的效率优势；</a:t>
            </a:r>
            <a:endParaRPr lang="zh-CN" altLang="en-US"/>
          </a:p>
          <a:p>
            <a:r>
              <a:rPr lang="zh-CN" altLang="en-US"/>
              <a:t>噪声记忆（</a:t>
            </a:r>
            <a:r>
              <a:rPr lang="en-US" altLang="zh-CN"/>
              <a:t>NoisyMem</a:t>
            </a:r>
            <a:r>
              <a:rPr lang="zh-CN" altLang="en-US"/>
              <a:t>）：在高难度数据集上响应时间与全量记忆（</a:t>
            </a:r>
            <a:r>
              <a:rPr lang="en-US" altLang="zh-CN"/>
              <a:t>FullMem</a:t>
            </a:r>
            <a:r>
              <a:rPr lang="zh-CN" altLang="en-US"/>
              <a:t>）接近，因需处理大量无关消息，进一步证明</a:t>
            </a:r>
            <a:r>
              <a:rPr lang="en-US" altLang="zh-CN"/>
              <a:t> “</a:t>
            </a:r>
            <a:r>
              <a:rPr lang="zh-CN" altLang="en-US"/>
              <a:t>冗余信息对文本记忆效率的破坏</a:t>
            </a:r>
            <a:r>
              <a:rPr lang="en-US" altLang="zh-CN"/>
              <a:t>”</a:t>
            </a:r>
            <a:r>
              <a:rPr lang="zh-CN" altLang="en-US"/>
              <a:t>。</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检索记忆（</a:t>
            </a:r>
            <a:r>
              <a:rPr lang="en-US" altLang="zh-CN"/>
              <a:t>RetrMem</a:t>
            </a:r>
            <a:r>
              <a:rPr lang="zh-CN" altLang="en-US"/>
              <a:t>）适配时间显著更高：每条消息约需</a:t>
            </a:r>
            <a:r>
              <a:rPr lang="en-US" altLang="zh-CN"/>
              <a:t> 0.05-0.22 </a:t>
            </a:r>
            <a:r>
              <a:rPr lang="zh-CN" altLang="en-US"/>
              <a:t>秒（因需构建</a:t>
            </a:r>
            <a:r>
              <a:rPr lang="en-US" altLang="zh-CN"/>
              <a:t> FAISS </a:t>
            </a:r>
            <a:r>
              <a:rPr lang="zh-CN" altLang="en-US"/>
              <a:t>索引）；</a:t>
            </a:r>
            <a:endParaRPr lang="zh-CN" altLang="en-US"/>
          </a:p>
          <a:p>
            <a:r>
              <a:rPr lang="zh-CN" altLang="en-US"/>
              <a:t>其他机制适配时间可忽略：全量记忆、近期记忆等仅需简单存储或列表维护，适配时间均小于</a:t>
            </a:r>
            <a:r>
              <a:rPr lang="en-US" altLang="zh-CN"/>
              <a:t> 0.001 </a:t>
            </a:r>
            <a:r>
              <a:rPr lang="zh-CN" altLang="en-US"/>
              <a:t>秒</a:t>
            </a:r>
            <a:r>
              <a:rPr lang="en-US" altLang="zh-CN"/>
              <a:t> / </a:t>
            </a:r>
            <a:r>
              <a:rPr lang="zh-CN" altLang="en-US"/>
              <a:t>条，几乎无时间成本。</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首先，本文的研究聚焦于评估基于</a:t>
            </a:r>
            <a:r>
              <a:rPr lang="en-US" altLang="zh-CN"/>
              <a:t> LLM </a:t>
            </a:r>
            <a:r>
              <a:rPr lang="zh-CN" altLang="en-US"/>
              <a:t>的智能体对事实信息的记忆能力，尚未涉及更高层次的抽象信息（如用户未明确提及的潜在兴趣偏好）。</a:t>
            </a:r>
            <a:endParaRPr lang="zh-CN" altLang="en-US"/>
          </a:p>
          <a:p>
            <a:r>
              <a:rPr lang="zh-CN" altLang="en-US"/>
              <a:t>其次，当前的评估场景未涵盖对话形式的交互。对话场景下的信息传递更具动态性与连贯性（如多轮对话中的指代、省略等现象），对记忆机制的可靠性提出了更高要求。</a:t>
            </a:r>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5.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tags" Target="../tags/tag66.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tags" Target="../tags/tag67.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tags" Target="../tags/tag68.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tags" Target="../tags/tag69.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tags" Target="../tags/tag70.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tags" Target="../tags/tag71.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tags" Target="../tags/tag72.xml"/><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9" Type="http://schemas.openxmlformats.org/officeDocument/2006/relationships/tags" Target="../tags/tag81.xml"/><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3" Type="http://schemas.openxmlformats.org/officeDocument/2006/relationships/notesSlide" Target="../notesSlides/notesSlide10.xml"/><Relationship Id="rId12" Type="http://schemas.openxmlformats.org/officeDocument/2006/relationships/slideLayout" Target="../slideLayouts/slideLayout1.xml"/><Relationship Id="rId11" Type="http://schemas.openxmlformats.org/officeDocument/2006/relationships/tags" Target="../tags/tag83.xml"/><Relationship Id="rId10" Type="http://schemas.openxmlformats.org/officeDocument/2006/relationships/tags" Target="../tags/tag82.xml"/><Relationship Id="rId1" Type="http://schemas.openxmlformats.org/officeDocument/2006/relationships/tags" Target="../tags/tag73.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xml"/><Relationship Id="rId3" Type="http://schemas.openxmlformats.org/officeDocument/2006/relationships/tags" Target="../tags/tag84.xml"/><Relationship Id="rId2" Type="http://schemas.openxmlformats.org/officeDocument/2006/relationships/image" Target="../media/image13.png"/><Relationship Id="rId1" Type="http://schemas.openxmlformats.org/officeDocument/2006/relationships/image" Target="../media/image1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1.xml"/><Relationship Id="rId2" Type="http://schemas.openxmlformats.org/officeDocument/2006/relationships/tags" Target="../tags/tag85.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tags" Target="../tags/tag86.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xml"/><Relationship Id="rId3" Type="http://schemas.openxmlformats.org/officeDocument/2006/relationships/tags" Target="../tags/tag87.xml"/><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xml"/><Relationship Id="rId2" Type="http://schemas.openxmlformats.org/officeDocument/2006/relationships/tags" Target="../tags/tag88.xml"/><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8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90.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tags" Target="../tags/tag91.xml"/><Relationship Id="rId1" Type="http://schemas.openxmlformats.org/officeDocument/2006/relationships/image" Target="../media/image18.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tags" Target="../tags/tag92.xml"/><Relationship Id="rId1" Type="http://schemas.openxmlformats.org/officeDocument/2006/relationships/image" Target="../media/image19.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xml"/><Relationship Id="rId2" Type="http://schemas.openxmlformats.org/officeDocument/2006/relationships/tags" Target="../tags/tag93.xml"/><Relationship Id="rId1" Type="http://schemas.openxmlformats.org/officeDocument/2006/relationships/image" Target="../media/image20.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1.xml"/><Relationship Id="rId2" Type="http://schemas.openxmlformats.org/officeDocument/2006/relationships/tags" Target="../tags/tag94.xml"/><Relationship Id="rId1"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tags" Target="../tags/tag95.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409700" y="853440"/>
            <a:ext cx="9372600" cy="1753235"/>
          </a:xfrm>
          <a:prstGeom prst="rect">
            <a:avLst/>
          </a:prstGeom>
        </p:spPr>
        <p:txBody>
          <a:bodyPr wrap="square">
            <a:spAutoFit/>
          </a:bodyPr>
          <a:p>
            <a:pPr marL="0" indent="0" algn="ctr">
              <a:lnSpc>
                <a:spcPct val="150000"/>
              </a:lnSpc>
              <a:spcBef>
                <a:spcPct val="0"/>
              </a:spcBef>
              <a:spcAft>
                <a:spcPct val="0"/>
              </a:spcAft>
            </a:pPr>
            <a:r>
              <a:rPr lang="en-US" altLang="zh-CN" sz="3600" b="1" i="0">
                <a:latin typeface="Times New Roman" panose="02020603050405020304" charset="0"/>
                <a:ea typeface="sans-serif"/>
                <a:cs typeface="Times New Roman" panose="02020603050405020304" charset="0"/>
              </a:rPr>
              <a:t>MemSim: A Bayesian Simulator for Evaluating</a:t>
            </a:r>
            <a:endParaRPr lang="en-US" altLang="zh-CN" sz="3600" b="1"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r>
              <a:rPr lang="en-US" altLang="zh-CN" sz="3600" b="1" i="0">
                <a:latin typeface="Times New Roman" panose="02020603050405020304" charset="0"/>
                <a:ea typeface="sans-serif"/>
                <a:cs typeface="Times New Roman" panose="02020603050405020304" charset="0"/>
              </a:rPr>
              <a:t>Memory of LLM-based Personal Assistants</a:t>
            </a:r>
            <a:endParaRPr lang="en-US" altLang="zh-CN" sz="3600" b="1" i="0">
              <a:latin typeface="Times New Roman" panose="02020603050405020304" charset="0"/>
              <a:ea typeface="sans-serif"/>
              <a:cs typeface="Times New Roman" panose="02020603050405020304" charset="0"/>
            </a:endParaRPr>
          </a:p>
        </p:txBody>
      </p:sp>
      <p:sp>
        <p:nvSpPr>
          <p:cNvPr id="3" name="文本框 2"/>
          <p:cNvSpPr txBox="1"/>
          <p:nvPr/>
        </p:nvSpPr>
        <p:spPr>
          <a:xfrm>
            <a:off x="1409700" y="2766060"/>
            <a:ext cx="9459595" cy="2842260"/>
          </a:xfrm>
          <a:prstGeom prst="rect">
            <a:avLst/>
          </a:prstGeom>
        </p:spPr>
        <p:txBody>
          <a:bodyPr wrap="square">
            <a:noAutofit/>
          </a:bodyPr>
          <a:p>
            <a:pPr marL="0" indent="0" algn="ctr">
              <a:lnSpc>
                <a:spcPct val="150000"/>
              </a:lnSpc>
              <a:spcBef>
                <a:spcPct val="0"/>
              </a:spcBef>
              <a:spcAft>
                <a:spcPct val="0"/>
              </a:spcAft>
            </a:pPr>
            <a:r>
              <a:rPr lang="en-US" altLang="zh-CN" sz="2100" b="0" i="0">
                <a:latin typeface="Times New Roman" panose="02020603050405020304" charset="0"/>
                <a:ea typeface="sans-serif"/>
                <a:cs typeface="Times New Roman" panose="02020603050405020304" charset="0"/>
              </a:rPr>
              <a:t>Zeyu Zhang</a:t>
            </a:r>
            <a:r>
              <a:rPr lang="en-US" altLang="zh-CN" sz="2100" b="0" i="0" baseline="30000">
                <a:latin typeface="Times New Roman" panose="02020603050405020304" charset="0"/>
                <a:ea typeface="sans-serif"/>
                <a:cs typeface="Times New Roman" panose="02020603050405020304" charset="0"/>
              </a:rPr>
              <a:t>1</a:t>
            </a:r>
            <a:r>
              <a:rPr lang="en-US" altLang="zh-CN" sz="2100" b="0" i="0">
                <a:latin typeface="Times New Roman" panose="02020603050405020304" charset="0"/>
                <a:ea typeface="sans-serif"/>
                <a:cs typeface="Times New Roman" panose="02020603050405020304" charset="0"/>
              </a:rPr>
              <a:t>, Quanyu Dai</a:t>
            </a:r>
            <a:r>
              <a:rPr lang="en-US" altLang="zh-CN" sz="1600" b="0" i="0" baseline="30000">
                <a:latin typeface="Times New Roman" panose="02020603050405020304" charset="0"/>
                <a:ea typeface="sans-serif"/>
                <a:cs typeface="Times New Roman" panose="02020603050405020304" charset="0"/>
              </a:rPr>
              <a:t>2</a:t>
            </a:r>
            <a:r>
              <a:rPr lang="en-US" altLang="zh-CN" sz="2100" b="0" i="0">
                <a:latin typeface="Times New Roman" panose="02020603050405020304" charset="0"/>
                <a:ea typeface="sans-serif"/>
                <a:cs typeface="Times New Roman" panose="02020603050405020304" charset="0"/>
              </a:rPr>
              <a:t>, Luyu Chen</a:t>
            </a:r>
            <a:r>
              <a:rPr lang="en-US" altLang="zh-CN" sz="1600" b="0" i="0" baseline="30000">
                <a:latin typeface="Times New Roman" panose="02020603050405020304" charset="0"/>
                <a:ea typeface="sans-serif"/>
                <a:cs typeface="Times New Roman" panose="02020603050405020304" charset="0"/>
              </a:rPr>
              <a:t>1</a:t>
            </a:r>
            <a:r>
              <a:rPr lang="en-US" altLang="zh-CN" sz="2100" b="0" i="0">
                <a:latin typeface="Times New Roman" panose="02020603050405020304" charset="0"/>
                <a:ea typeface="sans-serif"/>
                <a:cs typeface="Times New Roman" panose="02020603050405020304" charset="0"/>
              </a:rPr>
              <a:t>, Zeren Jiang</a:t>
            </a:r>
            <a:r>
              <a:rPr lang="en-US" altLang="zh-CN" sz="1600" b="0" i="0" baseline="30000">
                <a:latin typeface="Times New Roman" panose="02020603050405020304" charset="0"/>
                <a:ea typeface="sans-serif"/>
                <a:cs typeface="Times New Roman" panose="02020603050405020304" charset="0"/>
              </a:rPr>
              <a:t>3</a:t>
            </a:r>
            <a:r>
              <a:rPr lang="en-US" altLang="zh-CN" sz="2100" b="0" i="0">
                <a:latin typeface="Times New Roman" panose="02020603050405020304" charset="0"/>
                <a:ea typeface="sans-serif"/>
                <a:cs typeface="Times New Roman" panose="02020603050405020304" charset="0"/>
              </a:rPr>
              <a:t>, Rui Li</a:t>
            </a:r>
            <a:r>
              <a:rPr lang="en-US" altLang="zh-CN" sz="1600" b="0" i="0" baseline="30000">
                <a:latin typeface="Times New Roman" panose="02020603050405020304" charset="0"/>
                <a:ea typeface="sans-serif"/>
                <a:cs typeface="Times New Roman" panose="02020603050405020304" charset="0"/>
              </a:rPr>
              <a:t>1</a:t>
            </a:r>
            <a:r>
              <a:rPr lang="en-US" altLang="zh-CN" sz="2100" b="0" i="0">
                <a:latin typeface="Times New Roman" panose="02020603050405020304" charset="0"/>
                <a:ea typeface="sans-serif"/>
                <a:cs typeface="Times New Roman" panose="02020603050405020304" charset="0"/>
              </a:rPr>
              <a:t>, Jieming Zhu</a:t>
            </a:r>
            <a:r>
              <a:rPr lang="en-US" altLang="zh-CN" sz="1600" b="0" i="0" baseline="30000">
                <a:latin typeface="Times New Roman" panose="02020603050405020304" charset="0"/>
                <a:ea typeface="sans-serif"/>
                <a:cs typeface="Times New Roman" panose="02020603050405020304" charset="0"/>
              </a:rPr>
              <a:t>2</a:t>
            </a:r>
            <a:r>
              <a:rPr lang="en-US" altLang="zh-CN" sz="2100" b="0" i="0">
                <a:latin typeface="Times New Roman" panose="02020603050405020304" charset="0"/>
                <a:ea typeface="sans-serif"/>
                <a:cs typeface="Times New Roman" panose="02020603050405020304" charset="0"/>
              </a:rPr>
              <a:t>,</a:t>
            </a:r>
            <a:endParaRPr lang="en-US" altLang="zh-CN" sz="2100" b="0"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r>
              <a:rPr lang="en-US" altLang="zh-CN" sz="2100" b="0" i="0">
                <a:latin typeface="Times New Roman" panose="02020603050405020304" charset="0"/>
                <a:ea typeface="sans-serif"/>
                <a:cs typeface="Times New Roman" panose="02020603050405020304" charset="0"/>
              </a:rPr>
              <a:t>Xu Chen</a:t>
            </a:r>
            <a:r>
              <a:rPr lang="en-US" altLang="zh-CN" sz="1600" b="0" i="0" baseline="30000">
                <a:latin typeface="Times New Roman" panose="02020603050405020304" charset="0"/>
                <a:ea typeface="sans-serif"/>
                <a:cs typeface="Times New Roman" panose="02020603050405020304" charset="0"/>
              </a:rPr>
              <a:t>1</a:t>
            </a:r>
            <a:r>
              <a:rPr lang="en-US" altLang="zh-CN" sz="2100" b="0" i="0">
                <a:latin typeface="Times New Roman" panose="02020603050405020304" charset="0"/>
                <a:ea typeface="sans-serif"/>
                <a:cs typeface="Times New Roman" panose="02020603050405020304" charset="0"/>
              </a:rPr>
              <a:t>,Yi Xie</a:t>
            </a:r>
            <a:r>
              <a:rPr lang="en-US" altLang="zh-CN" sz="1600" b="0" i="0" baseline="30000">
                <a:latin typeface="Times New Roman" panose="02020603050405020304" charset="0"/>
                <a:ea typeface="sans-serif"/>
                <a:cs typeface="Times New Roman" panose="02020603050405020304" charset="0"/>
              </a:rPr>
              <a:t>3</a:t>
            </a:r>
            <a:r>
              <a:rPr lang="en-US" altLang="zh-CN" sz="2100" b="0" i="0">
                <a:latin typeface="Times New Roman" panose="02020603050405020304" charset="0"/>
                <a:ea typeface="sans-serif"/>
                <a:cs typeface="Times New Roman" panose="02020603050405020304" charset="0"/>
              </a:rPr>
              <a:t>,Zhenhua Dong</a:t>
            </a:r>
            <a:r>
              <a:rPr lang="en-US" altLang="zh-CN" sz="1600" b="0" i="0" baseline="30000">
                <a:latin typeface="Times New Roman" panose="02020603050405020304" charset="0"/>
                <a:ea typeface="sans-serif"/>
                <a:cs typeface="Times New Roman" panose="02020603050405020304" charset="0"/>
              </a:rPr>
              <a:t>2</a:t>
            </a:r>
            <a:r>
              <a:rPr lang="en-US" altLang="zh-CN" sz="2100" b="0" i="0">
                <a:latin typeface="Times New Roman" panose="02020603050405020304" charset="0"/>
                <a:ea typeface="sans-serif"/>
                <a:cs typeface="Times New Roman" panose="02020603050405020304" charset="0"/>
              </a:rPr>
              <a:t>,Ji-Rong Wen</a:t>
            </a:r>
            <a:r>
              <a:rPr lang="en-US" altLang="zh-CN" sz="1600" b="0" i="0" baseline="30000">
                <a:latin typeface="Times New Roman" panose="02020603050405020304" charset="0"/>
                <a:ea typeface="sans-serif"/>
                <a:cs typeface="Times New Roman" panose="02020603050405020304" charset="0"/>
              </a:rPr>
              <a:t>1</a:t>
            </a:r>
            <a:endParaRPr lang="en-US" altLang="zh-CN" sz="1600" b="0" i="0" baseline="3000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endParaRPr lang="en-US" altLang="zh-CN" sz="1600" b="0"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r>
              <a:rPr lang="en-US" altLang="zh-CN" sz="1600" b="0" i="0" baseline="30000">
                <a:latin typeface="Times New Roman" panose="02020603050405020304" charset="0"/>
                <a:ea typeface="sans-serif"/>
                <a:cs typeface="Times New Roman" panose="02020603050405020304" charset="0"/>
              </a:rPr>
              <a:t>1</a:t>
            </a:r>
            <a:r>
              <a:rPr lang="en-US" altLang="zh-CN" sz="2100" b="0" i="0">
                <a:latin typeface="Times New Roman" panose="02020603050405020304" charset="0"/>
                <a:ea typeface="sans-serif"/>
                <a:cs typeface="Times New Roman" panose="02020603050405020304" charset="0"/>
              </a:rPr>
              <a:t>Gaoling School of Artificial Intelligence, Renmin University of China</a:t>
            </a:r>
            <a:endParaRPr lang="en-US" altLang="zh-CN" sz="2100" b="0"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r>
              <a:rPr lang="en-US" altLang="zh-CN" sz="1600" b="0" i="0" baseline="30000">
                <a:latin typeface="Times New Roman" panose="02020603050405020304" charset="0"/>
                <a:ea typeface="sans-serif"/>
                <a:cs typeface="Times New Roman" panose="02020603050405020304" charset="0"/>
              </a:rPr>
              <a:t>2</a:t>
            </a:r>
            <a:r>
              <a:rPr lang="en-US" altLang="zh-CN" sz="2100" b="0" i="0">
                <a:latin typeface="Times New Roman" panose="02020603050405020304" charset="0"/>
                <a:ea typeface="sans-serif"/>
                <a:cs typeface="Times New Roman" panose="02020603050405020304" charset="0"/>
              </a:rPr>
              <a:t>Huawei Noah’s Ark Lab   </a:t>
            </a:r>
            <a:endParaRPr lang="en-US" altLang="zh-CN" sz="2100" b="0"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r>
              <a:rPr lang="en-US" altLang="zh-CN" sz="1600" b="0" i="0" baseline="30000">
                <a:latin typeface="Times New Roman" panose="02020603050405020304" charset="0"/>
                <a:ea typeface="sans-serif"/>
                <a:cs typeface="Times New Roman" panose="02020603050405020304" charset="0"/>
              </a:rPr>
              <a:t>3</a:t>
            </a:r>
            <a:r>
              <a:rPr lang="en-US" altLang="zh-CN" sz="2100" b="0" i="0">
                <a:latin typeface="Times New Roman" panose="02020603050405020304" charset="0"/>
                <a:ea typeface="sans-serif"/>
                <a:cs typeface="Times New Roman" panose="02020603050405020304" charset="0"/>
              </a:rPr>
              <a:t>Huawei Technologies Ltd</a:t>
            </a:r>
            <a:endParaRPr lang="en-US" altLang="zh-CN" sz="2100" b="0" i="0">
              <a:latin typeface="Times New Roman" panose="02020603050405020304" charset="0"/>
              <a:ea typeface="sans-serif"/>
              <a:cs typeface="Times New Roman" panose="02020603050405020304" charset="0"/>
            </a:endParaRPr>
          </a:p>
          <a:p>
            <a:pPr marL="0" indent="0" algn="ctr">
              <a:lnSpc>
                <a:spcPct val="150000"/>
              </a:lnSpc>
              <a:spcBef>
                <a:spcPct val="0"/>
              </a:spcBef>
              <a:spcAft>
                <a:spcPct val="0"/>
              </a:spcAft>
            </a:pPr>
            <a:endParaRPr lang="en-US" altLang="zh-CN" sz="2100" b="0" i="0">
              <a:latin typeface="Times New Roman" panose="02020603050405020304" charset="0"/>
              <a:ea typeface="monospace"/>
              <a:cs typeface="Times New Roman" panose="02020603050405020304" charset="0"/>
            </a:endParaRPr>
          </a:p>
        </p:txBody>
      </p:sp>
      <p:sp>
        <p:nvSpPr>
          <p:cNvPr id="11" name="文本框 10"/>
          <p:cNvSpPr txBox="1"/>
          <p:nvPr/>
        </p:nvSpPr>
        <p:spPr>
          <a:xfrm>
            <a:off x="4471670" y="6327775"/>
            <a:ext cx="3335655" cy="368300"/>
          </a:xfrm>
          <a:prstGeom prst="rect">
            <a:avLst/>
          </a:prstGeom>
          <a:noFill/>
        </p:spPr>
        <p:txBody>
          <a:bodyPr wrap="square" rtlCol="0">
            <a:spAutoFit/>
          </a:bodyPr>
          <a:p>
            <a:r>
              <a:rPr lang="en-US" altLang="zh-CN">
                <a:latin typeface="Comic Sans MS" panose="030F0702030302020204" charset="0"/>
                <a:cs typeface="Comic Sans MS" panose="030F0702030302020204" charset="0"/>
              </a:rPr>
              <a:t>arXiv:2409.20163    preprint</a:t>
            </a:r>
            <a:endParaRPr lang="en-US" altLang="zh-CN">
              <a:latin typeface="Comic Sans MS" panose="030F0702030302020204" charset="0"/>
              <a:cs typeface="Comic Sans MS" panose="030F0702030302020204"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3710" y="341630"/>
            <a:ext cx="59626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Introduction - Memory</a:t>
            </a:r>
            <a:endParaRPr lang="en-US" altLang="zh-CN" sz="3600" b="1">
              <a:latin typeface="Times New Roman" panose="02020603050405020304" charset="0"/>
              <a:cs typeface="Times New Roman" panose="02020603050405020304" charset="0"/>
            </a:endParaRPr>
          </a:p>
        </p:txBody>
      </p:sp>
      <p:sp>
        <p:nvSpPr>
          <p:cNvPr id="2" name="文本框 1"/>
          <p:cNvSpPr txBox="1"/>
          <p:nvPr/>
        </p:nvSpPr>
        <p:spPr>
          <a:xfrm>
            <a:off x="473710" y="1306195"/>
            <a:ext cx="11379200" cy="2676525"/>
          </a:xfrm>
          <a:prstGeom prst="rect">
            <a:avLst/>
          </a:prstGeom>
          <a:noFill/>
        </p:spPr>
        <p:txBody>
          <a:bodyPr wrap="square" rtlCol="0">
            <a:spAutoFit/>
          </a:bodyPr>
          <a:p>
            <a:pPr>
              <a:lnSpc>
                <a:spcPct val="200000"/>
              </a:lnSpc>
            </a:pPr>
            <a:r>
              <a:rPr lang="en-US" altLang="zh-CN" sz="2800">
                <a:latin typeface="Times New Roman" panose="02020603050405020304" charset="0"/>
                <a:cs typeface="Times New Roman" panose="02020603050405020304" charset="0"/>
              </a:rPr>
              <a:t>→ For LLM agents, the most significant applications ——personal assistants</a:t>
            </a:r>
            <a:endParaRPr lang="en-US" altLang="zh-CN" sz="2800">
              <a:latin typeface="Times New Roman" panose="02020603050405020304" charset="0"/>
              <a:cs typeface="Times New Roman" panose="02020603050405020304" charset="0"/>
            </a:endParaRPr>
          </a:p>
          <a:p>
            <a:pPr>
              <a:lnSpc>
                <a:spcPct val="200000"/>
              </a:lnSpc>
            </a:pPr>
            <a:r>
              <a:rPr lang="en-US" altLang="zh-CN" sz="2800">
                <a:latin typeface="Times New Roman" panose="02020603050405020304" charset="0"/>
                <a:cs typeface="Times New Roman" panose="02020603050405020304" charset="0"/>
              </a:rPr>
              <a:t>→ Long-term interactions with users</a:t>
            </a:r>
            <a:endParaRPr lang="en-US" altLang="zh-CN" sz="2800">
              <a:latin typeface="Times New Roman" panose="02020603050405020304" charset="0"/>
              <a:cs typeface="Times New Roman" panose="02020603050405020304" charset="0"/>
            </a:endParaRPr>
          </a:p>
          <a:p>
            <a:pPr>
              <a:lnSpc>
                <a:spcPct val="200000"/>
              </a:lnSpc>
            </a:pPr>
            <a:r>
              <a:rPr lang="en-US" altLang="zh-CN" sz="2800">
                <a:latin typeface="Times New Roman" panose="02020603050405020304" charset="0"/>
                <a:cs typeface="Times New Roman" panose="02020603050405020304" charset="0"/>
              </a:rPr>
              <a:t>→ Memory</a:t>
            </a:r>
            <a:endParaRPr lang="en-US" altLang="zh-CN" sz="2800">
              <a:latin typeface="Times New Roman" panose="02020603050405020304" charset="0"/>
              <a:cs typeface="Times New Roman" panose="02020603050405020304" charset="0"/>
            </a:endParaRPr>
          </a:p>
        </p:txBody>
      </p:sp>
      <p:sp>
        <p:nvSpPr>
          <p:cNvPr id="3" name="文本框 2"/>
          <p:cNvSpPr txBox="1"/>
          <p:nvPr/>
        </p:nvSpPr>
        <p:spPr>
          <a:xfrm>
            <a:off x="473710" y="4540250"/>
            <a:ext cx="10801985" cy="1824355"/>
          </a:xfrm>
          <a:prstGeom prst="rect">
            <a:avLst/>
          </a:prstGeom>
          <a:noFill/>
        </p:spPr>
        <p:txBody>
          <a:bodyPr wrap="square" rtlCol="0">
            <a:noAutofit/>
          </a:bodyPr>
          <a:p>
            <a:pPr marL="342900" indent="-342900">
              <a:lnSpc>
                <a:spcPct val="200000"/>
              </a:lnSpc>
              <a:buFont typeface="Wingdings" panose="05000000000000000000" charset="0"/>
              <a:buChar char="Ø"/>
            </a:pPr>
            <a:r>
              <a:rPr lang="en-US" altLang="zh-CN" sz="2800" b="1">
                <a:solidFill>
                  <a:schemeClr val="tx1"/>
                </a:solidFill>
                <a:latin typeface="Times New Roman" panose="02020603050405020304" charset="0"/>
                <a:cs typeface="Times New Roman" panose="02020603050405020304" charset="0"/>
              </a:rPr>
              <a:t>How to </a:t>
            </a:r>
            <a:r>
              <a:rPr lang="en-US" altLang="zh-CN" sz="2800" b="1" u="sng">
                <a:solidFill>
                  <a:schemeClr val="tx1"/>
                </a:solidFill>
                <a:latin typeface="Times New Roman" panose="02020603050405020304" charset="0"/>
                <a:cs typeface="Times New Roman" panose="02020603050405020304" charset="0"/>
              </a:rPr>
              <a:t>objectively</a:t>
            </a:r>
            <a:r>
              <a:rPr lang="en-US" altLang="zh-CN" sz="2800" b="1">
                <a:solidFill>
                  <a:schemeClr val="tx1"/>
                </a:solidFill>
                <a:latin typeface="Times New Roman" panose="02020603050405020304" charset="0"/>
                <a:cs typeface="Times New Roman" panose="02020603050405020304" charset="0"/>
              </a:rPr>
              <a:t> and </a:t>
            </a:r>
            <a:r>
              <a:rPr lang="en-US" altLang="zh-CN" sz="2800" b="1" u="sng">
                <a:solidFill>
                  <a:schemeClr val="tx1"/>
                </a:solidFill>
                <a:latin typeface="Times New Roman" panose="02020603050405020304" charset="0"/>
                <a:cs typeface="Times New Roman" panose="02020603050405020304" charset="0"/>
              </a:rPr>
              <a:t>automatically</a:t>
            </a:r>
            <a:r>
              <a:rPr lang="en-US" altLang="zh-CN" sz="2800" b="1">
                <a:solidFill>
                  <a:schemeClr val="tx1"/>
                </a:solidFill>
                <a:latin typeface="Times New Roman" panose="02020603050405020304" charset="0"/>
                <a:cs typeface="Times New Roman" panose="02020603050405020304" charset="0"/>
              </a:rPr>
              <a:t> measure an </a:t>
            </a:r>
            <a:r>
              <a:rPr lang="en-US" altLang="zh-CN" sz="2800" b="1" u="sng">
                <a:solidFill>
                  <a:schemeClr val="tx1"/>
                </a:solidFill>
                <a:latin typeface="Times New Roman" panose="02020603050405020304" charset="0"/>
                <a:cs typeface="Times New Roman" panose="02020603050405020304" charset="0"/>
              </a:rPr>
              <a:t>personal</a:t>
            </a:r>
            <a:r>
              <a:rPr lang="en-US" altLang="zh-CN" sz="2800" b="1">
                <a:solidFill>
                  <a:schemeClr val="tx1"/>
                </a:solidFill>
                <a:latin typeface="Times New Roman" panose="02020603050405020304" charset="0"/>
                <a:cs typeface="Times New Roman" panose="02020603050405020304" charset="0"/>
              </a:rPr>
              <a:t> LLM assistants' </a:t>
            </a:r>
            <a:r>
              <a:rPr lang="en-US" altLang="zh-CN" sz="2800" b="1" u="sng">
                <a:solidFill>
                  <a:schemeClr val="tx1"/>
                </a:solidFill>
                <a:latin typeface="Times New Roman" panose="02020603050405020304" charset="0"/>
                <a:cs typeface="Times New Roman" panose="02020603050405020304" charset="0"/>
              </a:rPr>
              <a:t>memory</a:t>
            </a:r>
            <a:r>
              <a:rPr lang="en-US" altLang="zh-CN" sz="2800" b="1">
                <a:solidFill>
                  <a:schemeClr val="tx1"/>
                </a:solidFill>
                <a:latin typeface="Times New Roman" panose="02020603050405020304" charset="0"/>
                <a:cs typeface="Times New Roman" panose="02020603050405020304" charset="0"/>
              </a:rPr>
              <a:t>?</a:t>
            </a:r>
            <a:endParaRPr lang="en-US" altLang="zh-CN" sz="2800" b="1">
              <a:solidFill>
                <a:schemeClr val="tx1"/>
              </a:solidFill>
              <a:latin typeface="Times New Roman" panose="02020603050405020304" charset="0"/>
              <a:cs typeface="Times New Roman" panose="02020603050405020304" charset="0"/>
            </a:endParaRPr>
          </a:p>
        </p:txBody>
      </p:sp>
    </p:spTree>
    <p:custDataLst>
      <p:tags r:id="rId1"/>
    </p:custDataLst>
  </p:cSld>
  <p:clrMapOvr>
    <a:masterClrMapping/>
  </p:clrMapOvr>
  <p:timing>
    <p:tnLst>
      <p:par>
        <p:cTn id="1" dur="indefinite" restart="never" nodeType="tmRoot"/>
      </p:par>
    </p:tnLst>
    <p:bldLst>
      <p:bldP spid="3" grpId="0"/>
      <p:bldP spid="3"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Introduction - Challenge</a:t>
            </a:r>
            <a:endParaRPr lang="en-US" altLang="zh-CN" sz="3600" b="1">
              <a:latin typeface="Times New Roman" panose="02020603050405020304" charset="0"/>
              <a:cs typeface="Times New Roman" panose="02020603050405020304" charset="0"/>
            </a:endParaRPr>
          </a:p>
        </p:txBody>
      </p:sp>
      <p:sp>
        <p:nvSpPr>
          <p:cNvPr id="3" name="文本框 2"/>
          <p:cNvSpPr txBox="1"/>
          <p:nvPr/>
        </p:nvSpPr>
        <p:spPr>
          <a:xfrm>
            <a:off x="78105" y="1137920"/>
            <a:ext cx="11901170" cy="4149090"/>
          </a:xfrm>
          <a:prstGeom prst="rect">
            <a:avLst/>
          </a:prstGeom>
        </p:spPr>
        <p:txBody>
          <a:bodyPr wrap="square">
            <a:spAutoFit/>
          </a:bodyPr>
          <a:p>
            <a:pPr marL="742950" lvl="2" indent="-285750">
              <a:lnSpc>
                <a:spcPct val="150000"/>
              </a:lnSpc>
              <a:spcBef>
                <a:spcPct val="0"/>
              </a:spcBef>
              <a:spcAft>
                <a:spcPts val="200"/>
              </a:spcAft>
              <a:buFont typeface="Wingdings" panose="05000000000000000000" charset="0"/>
              <a:buChar char="p"/>
            </a:pPr>
            <a:r>
              <a:rPr lang="en-US" altLang="zh-CN" sz="2400" b="0" i="0">
                <a:solidFill>
                  <a:schemeClr val="tx1"/>
                </a:solidFill>
                <a:latin typeface="Times New Roman" panose="02020603050405020304" charset="0"/>
                <a:ea typeface="Inter"/>
                <a:cs typeface="Times New Roman" panose="02020603050405020304" charset="0"/>
              </a:rPr>
              <a:t> Manual Curation</a:t>
            </a:r>
            <a:endParaRPr lang="en-US" altLang="zh-CN" sz="2400" b="0" i="0">
              <a:solidFill>
                <a:schemeClr val="tx1"/>
              </a:solidFill>
              <a:latin typeface="Times New Roman" panose="02020603050405020304" charset="0"/>
              <a:ea typeface="Inter"/>
              <a:cs typeface="Times New Roman" panose="02020603050405020304" charset="0"/>
            </a:endParaRPr>
          </a:p>
          <a:p>
            <a:pPr marL="742950" lvl="4" indent="-285750">
              <a:lnSpc>
                <a:spcPct val="150000"/>
              </a:lnSpc>
              <a:spcBef>
                <a:spcPct val="0"/>
              </a:spcBef>
              <a:spcAft>
                <a:spcPts val="200"/>
              </a:spcAft>
              <a:buFont typeface="Arial" panose="020B0604020202020204" pitchFamily="34" charset="0"/>
              <a:buChar char="•"/>
            </a:pPr>
            <a:r>
              <a:rPr lang="en-US" altLang="zh-CN" sz="2000" b="0" i="0">
                <a:solidFill>
                  <a:schemeClr val="tx1"/>
                </a:solidFill>
                <a:latin typeface="Times New Roman" panose="02020603050405020304" charset="0"/>
                <a:ea typeface="Inter"/>
                <a:cs typeface="Times New Roman" panose="02020603050405020304" charset="0"/>
              </a:rPr>
              <a:t> High Cost: Extremely labor-intensive and time-consuming.</a:t>
            </a:r>
            <a:endParaRPr lang="en-US" altLang="zh-CN" sz="2000" b="0" i="0">
              <a:solidFill>
                <a:schemeClr val="tx1"/>
              </a:solidFill>
              <a:latin typeface="Times New Roman" panose="02020603050405020304" charset="0"/>
              <a:ea typeface="Inter"/>
              <a:cs typeface="Times New Roman" panose="02020603050405020304" charset="0"/>
            </a:endParaRPr>
          </a:p>
          <a:p>
            <a:pPr marL="742950" lvl="4" indent="-285750">
              <a:lnSpc>
                <a:spcPct val="150000"/>
              </a:lnSpc>
              <a:spcBef>
                <a:spcPct val="0"/>
              </a:spcBef>
              <a:spcAft>
                <a:spcPts val="200"/>
              </a:spcAft>
              <a:buFont typeface="Arial" panose="020B0604020202020204" pitchFamily="34" charset="0"/>
              <a:buChar char="•"/>
            </a:pPr>
            <a:r>
              <a:rPr lang="en-US" altLang="zh-CN" sz="2000" b="0" i="0">
                <a:solidFill>
                  <a:schemeClr val="tx1"/>
                </a:solidFill>
                <a:latin typeface="Times New Roman" panose="02020603050405020304" charset="0"/>
                <a:ea typeface="Inter"/>
                <a:cs typeface="Times New Roman" panose="02020603050405020304" charset="0"/>
              </a:rPr>
              <a:t> Poor Scalability: Difficult to cover diverse, real-world scenarios.</a:t>
            </a:r>
            <a:endParaRPr lang="en-US" altLang="zh-CN" sz="2000" b="0" i="0">
              <a:solidFill>
                <a:schemeClr val="tx1"/>
              </a:solidFill>
              <a:latin typeface="Times New Roman" panose="02020603050405020304" charset="0"/>
              <a:ea typeface="Inter"/>
              <a:cs typeface="Times New Roman" panose="02020603050405020304" charset="0"/>
            </a:endParaRPr>
          </a:p>
          <a:p>
            <a:pPr marL="742950" lvl="4" indent="-285750">
              <a:lnSpc>
                <a:spcPct val="150000"/>
              </a:lnSpc>
              <a:spcBef>
                <a:spcPct val="0"/>
              </a:spcBef>
              <a:spcAft>
                <a:spcPts val="200"/>
              </a:spcAft>
              <a:buFont typeface="Arial" panose="020B0604020202020204" pitchFamily="34" charset="0"/>
              <a:buChar char="•"/>
            </a:pPr>
            <a:r>
              <a:rPr lang="en-US" altLang="zh-CN" sz="2000" b="0" i="0">
                <a:solidFill>
                  <a:schemeClr val="tx1"/>
                </a:solidFill>
                <a:latin typeface="Times New Roman" panose="02020603050405020304" charset="0"/>
                <a:ea typeface="Inter"/>
                <a:cs typeface="Times New Roman" panose="02020603050405020304" charset="0"/>
              </a:rPr>
              <a:t> Subjectivity: Prone to annotator bias and inconsistency.</a:t>
            </a:r>
            <a:endParaRPr lang="en-US" altLang="zh-CN" sz="2000" b="0" i="0">
              <a:solidFill>
                <a:schemeClr val="tx1"/>
              </a:solidFill>
              <a:latin typeface="Times New Roman" panose="02020603050405020304" charset="0"/>
              <a:ea typeface="Inter"/>
              <a:cs typeface="Times New Roman" panose="02020603050405020304" charset="0"/>
            </a:endParaRPr>
          </a:p>
          <a:p>
            <a:pPr marL="742950" lvl="4" indent="-285750">
              <a:lnSpc>
                <a:spcPct val="150000"/>
              </a:lnSpc>
              <a:spcBef>
                <a:spcPct val="0"/>
              </a:spcBef>
              <a:spcAft>
                <a:spcPts val="200"/>
              </a:spcAft>
              <a:buFont typeface="Arial" panose="020B0604020202020204" pitchFamily="34" charset="0"/>
              <a:buChar char="•"/>
            </a:pPr>
            <a:endParaRPr lang="en-US" altLang="zh-CN" sz="2000" b="0" i="0">
              <a:solidFill>
                <a:schemeClr val="tx1"/>
              </a:solidFill>
              <a:latin typeface="Times New Roman" panose="02020603050405020304" charset="0"/>
              <a:ea typeface="Inter"/>
              <a:cs typeface="Times New Roman" panose="02020603050405020304" charset="0"/>
            </a:endParaRPr>
          </a:p>
          <a:p>
            <a:pPr marL="742950" lvl="2" indent="-285750">
              <a:lnSpc>
                <a:spcPct val="150000"/>
              </a:lnSpc>
              <a:spcBef>
                <a:spcPct val="0"/>
              </a:spcBef>
              <a:spcAft>
                <a:spcPts val="200"/>
              </a:spcAft>
              <a:buFont typeface="Wingdings" panose="05000000000000000000" charset="0"/>
              <a:buChar char="p"/>
            </a:pPr>
            <a:r>
              <a:rPr lang="en-US" altLang="zh-CN" sz="2400" b="0" i="0">
                <a:solidFill>
                  <a:schemeClr val="tx1"/>
                </a:solidFill>
                <a:latin typeface="Times New Roman" panose="02020603050405020304" charset="0"/>
                <a:ea typeface="Inter"/>
                <a:cs typeface="Times New Roman" panose="02020603050405020304" charset="0"/>
              </a:rPr>
              <a:t> Direct Generation with LLMs</a:t>
            </a:r>
            <a:endParaRPr lang="en-US" altLang="zh-CN" sz="2400" b="0" i="0">
              <a:solidFill>
                <a:schemeClr val="tx1"/>
              </a:solidFill>
              <a:latin typeface="Times New Roman" panose="02020603050405020304" charset="0"/>
              <a:ea typeface="Inter"/>
              <a:cs typeface="Times New Roman" panose="02020603050405020304" charset="0"/>
            </a:endParaRPr>
          </a:p>
          <a:p>
            <a:pPr marL="742950" lvl="2" indent="-285750">
              <a:lnSpc>
                <a:spcPct val="150000"/>
              </a:lnSpc>
              <a:spcBef>
                <a:spcPct val="0"/>
              </a:spcBef>
              <a:spcAft>
                <a:spcPts val="200"/>
              </a:spcAft>
              <a:buFont typeface="Arial" panose="020B0604020202020204" pitchFamily="34" charset="0"/>
              <a:buChar char="•"/>
            </a:pPr>
            <a:r>
              <a:rPr lang="en-US" altLang="zh-CN" sz="2000" b="0" i="0">
                <a:solidFill>
                  <a:schemeClr val="tx1"/>
                </a:solidFill>
                <a:latin typeface="Times New Roman" panose="02020603050405020304" charset="0"/>
                <a:ea typeface="Inter"/>
                <a:cs typeface="Times New Roman" panose="02020603050405020304" charset="0"/>
              </a:rPr>
              <a:t> Hallucination → Generates factually incorrect data, making the ground truth unreliable.</a:t>
            </a:r>
            <a:endParaRPr lang="en-US" altLang="zh-CN" sz="2000" b="0" i="0">
              <a:solidFill>
                <a:schemeClr val="tx1"/>
              </a:solidFill>
              <a:latin typeface="Times New Roman" panose="02020603050405020304" charset="0"/>
              <a:ea typeface="Inter"/>
              <a:cs typeface="Times New Roman" panose="02020603050405020304" charset="0"/>
            </a:endParaRPr>
          </a:p>
          <a:p>
            <a:pPr marL="742950" lvl="4" indent="-285750">
              <a:lnSpc>
                <a:spcPct val="150000"/>
              </a:lnSpc>
              <a:spcBef>
                <a:spcPct val="0"/>
              </a:spcBef>
              <a:spcAft>
                <a:spcPts val="200"/>
              </a:spcAft>
              <a:buFont typeface="Arial" panose="020B0604020202020204" pitchFamily="34" charset="0"/>
              <a:buChar char="•"/>
            </a:pPr>
            <a:r>
              <a:rPr lang="en-US" altLang="zh-CN" sz="2000" b="0" i="0">
                <a:solidFill>
                  <a:schemeClr val="tx1"/>
                </a:solidFill>
                <a:latin typeface="Times New Roman" panose="02020603050405020304" charset="0"/>
                <a:ea typeface="Inter"/>
                <a:cs typeface="Times New Roman" panose="02020603050405020304" charset="0"/>
              </a:rPr>
              <a:t> Lack of Diversity → Tends to produce generic, "vanilla" user profiles.</a:t>
            </a:r>
            <a:endParaRPr lang="en-US" altLang="zh-CN" sz="2000" b="0" i="0">
              <a:solidFill>
                <a:schemeClr val="tx1"/>
              </a:solidFill>
              <a:latin typeface="Times New Roman" panose="02020603050405020304" charset="0"/>
              <a:ea typeface="Inter"/>
              <a:cs typeface="Times New Roman" panose="02020603050405020304" charset="0"/>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M</a:t>
            </a:r>
            <a:r>
              <a:rPr lang="en-US" altLang="zh-CN" sz="3600" b="1">
                <a:latin typeface="Times New Roman" panose="02020603050405020304" charset="0"/>
                <a:cs typeface="Times New Roman" panose="02020603050405020304" charset="0"/>
              </a:rPr>
              <a:t>emSim</a:t>
            </a:r>
            <a:endParaRPr lang="en-US" altLang="zh-CN" sz="3600" b="1">
              <a:latin typeface="Times New Roman" panose="02020603050405020304" charset="0"/>
              <a:cs typeface="Times New Roman" panose="02020603050405020304" charset="0"/>
            </a:endParaRPr>
          </a:p>
        </p:txBody>
      </p:sp>
      <p:pic>
        <p:nvPicPr>
          <p:cNvPr id="7" name="图片 6"/>
          <p:cNvPicPr>
            <a:picLocks noChangeAspect="1"/>
          </p:cNvPicPr>
          <p:nvPr/>
        </p:nvPicPr>
        <p:blipFill>
          <a:blip r:embed="rId1"/>
          <a:stretch>
            <a:fillRect/>
          </a:stretch>
        </p:blipFill>
        <p:spPr>
          <a:xfrm>
            <a:off x="750570" y="986790"/>
            <a:ext cx="10690860" cy="5541010"/>
          </a:xfrm>
          <a:prstGeom prst="rect">
            <a:avLst/>
          </a:prstGeom>
        </p:spPr>
      </p:pic>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BRNet</a:t>
            </a:r>
            <a:endParaRPr lang="en-US" altLang="zh-CN" sz="3600" b="1">
              <a:latin typeface="Times New Roman" panose="02020603050405020304" charset="0"/>
              <a:cs typeface="Times New Roman" panose="02020603050405020304" charset="0"/>
            </a:endParaRPr>
          </a:p>
        </p:txBody>
      </p:sp>
      <mc:AlternateContent xmlns:mc="http://schemas.openxmlformats.org/markup-compatibility/2006">
        <mc:Choice xmlns:a14="http://schemas.microsoft.com/office/drawing/2010/main" Requires="a14">
          <p:sp>
            <p:nvSpPr>
              <p:cNvPr id="2" name="文本框 1"/>
              <p:cNvSpPr txBox="1"/>
              <p:nvPr/>
            </p:nvSpPr>
            <p:spPr>
              <a:xfrm>
                <a:off x="473710" y="1127125"/>
                <a:ext cx="9637395" cy="913130"/>
              </a:xfrm>
              <a:prstGeom prst="rect">
                <a:avLst/>
              </a:prstGeom>
              <a:noFill/>
            </p:spPr>
            <p:txBody>
              <a:bodyPr wrap="square" rtlCol="0">
                <a:spAutoFit/>
              </a:bodyPr>
              <a:p>
                <a:pPr>
                  <a:lnSpc>
                    <a:spcPct val="100000"/>
                  </a:lnSpc>
                </a:pPr>
                <a:r>
                  <a:rPr lang="en-US" altLang="zh-CN" sz="2400">
                    <a:latin typeface="Times New Roman" panose="02020603050405020304" charset="0"/>
                    <a:cs typeface="Times New Roman" panose="02020603050405020304" charset="0"/>
                  </a:rPr>
                  <a:t>Entity level: user-related entities.  </a:t>
                </a:r>
                <a:r>
                  <a:rPr lang="zh-CN" altLang="en-US" sz="2400">
                    <a:latin typeface="MV Boli" panose="02000500030200090000" charset="0"/>
                    <a:cs typeface="MV Boli" panose="02000500030200090000" charset="0"/>
                    <a:sym typeface="+mn-ea"/>
                  </a:rPr>
                  <a:t>A</a:t>
                </a:r>
                <a:r>
                  <a:rPr lang="en-US" altLang="zh-CN" sz="2400" baseline="30000">
                    <a:latin typeface="Times New Roman" panose="02020603050405020304" charset="0"/>
                    <a:cs typeface="Times New Roman" panose="02020603050405020304" charset="0"/>
                    <a:sym typeface="+mn-ea"/>
                  </a:rPr>
                  <a:t>1</a:t>
                </a:r>
                <a:r>
                  <a:rPr lang="en-US" altLang="zh-CN" sz="2400">
                    <a:latin typeface="Times New Roman" panose="02020603050405020304" charset="0"/>
                    <a:cs typeface="Times New Roman" panose="02020603050405020304" charset="0"/>
                    <a:sym typeface="+mn-ea"/>
                  </a:rPr>
                  <a:t>,</a:t>
                </a:r>
                <a:r>
                  <a:rPr lang="zh-CN" altLang="en-US" sz="2400">
                    <a:latin typeface="MV Boli" panose="02000500030200090000" charset="0"/>
                    <a:cs typeface="MV Boli" panose="02000500030200090000" charset="0"/>
                    <a:sym typeface="+mn-ea"/>
                  </a:rPr>
                  <a:t>A</a:t>
                </a:r>
                <a:r>
                  <a:rPr lang="en-US" altLang="zh-CN" sz="2400" baseline="30000">
                    <a:latin typeface="Times New Roman" panose="02020603050405020304" charset="0"/>
                    <a:cs typeface="Times New Roman" panose="02020603050405020304" charset="0"/>
                    <a:sym typeface="+mn-ea"/>
                  </a:rPr>
                  <a:t>2</a:t>
                </a:r>
                <a:r>
                  <a:rPr lang="en-US" altLang="zh-CN" sz="2400">
                    <a:latin typeface="Times New Roman" panose="02020603050405020304" charset="0"/>
                    <a:cs typeface="Times New Roman" panose="02020603050405020304" charset="0"/>
                    <a:sym typeface="+mn-ea"/>
                  </a:rPr>
                  <a:t>...</a:t>
                </a:r>
                <a:r>
                  <a:rPr lang="zh-CN" altLang="en-US" sz="2400">
                    <a:latin typeface="MV Boli" panose="02000500030200090000" charset="0"/>
                    <a:cs typeface="MV Boli" panose="02000500030200090000" charset="0"/>
                    <a:sym typeface="+mn-ea"/>
                  </a:rPr>
                  <a:t>A</a:t>
                </a:r>
                <a:r>
                  <a:rPr lang="en-US" altLang="zh-CN" sz="2400" baseline="30000">
                    <a:latin typeface="Times New Roman" panose="02020603050405020304" charset="0"/>
                    <a:cs typeface="Times New Roman" panose="02020603050405020304" charset="0"/>
                    <a:sym typeface="+mn-ea"/>
                  </a:rPr>
                  <a:t>N</a:t>
                </a:r>
                <a:r>
                  <a:rPr lang="en-US" altLang="zh-CN" sz="2400">
                    <a:latin typeface="Times New Roman" panose="02020603050405020304" charset="0"/>
                    <a:cs typeface="Times New Roman" panose="02020603050405020304" charset="0"/>
                    <a:sym typeface="+mn-ea"/>
                  </a:rPr>
                  <a:t>.</a:t>
                </a:r>
                <a:r>
                  <a:rPr lang="en-US" altLang="zh-CN" sz="2400">
                    <a:latin typeface="Times New Roman" panose="02020603050405020304" charset="0"/>
                    <a:cs typeface="Times New Roman" panose="02020603050405020304" charset="0"/>
                  </a:rPr>
                  <a:t> </a:t>
                </a:r>
                <a:endParaRPr lang="en-US" altLang="zh-CN" sz="2400">
                  <a:latin typeface="Times New Roman" panose="02020603050405020304" charset="0"/>
                  <a:cs typeface="Times New Roman" panose="02020603050405020304" charset="0"/>
                </a:endParaRPr>
              </a:p>
              <a:p>
                <a:pPr>
                  <a:lnSpc>
                    <a:spcPct val="100000"/>
                  </a:lnSpc>
                </a:pPr>
                <a:r>
                  <a:rPr lang="en-US" altLang="zh-CN" sz="2400">
                    <a:latin typeface="Times New Roman" panose="02020603050405020304" charset="0"/>
                    <a:cs typeface="Times New Roman" panose="02020603050405020304" charset="0"/>
                  </a:rPr>
                  <a:t>Attribute level: each entity comprises several attributes.  </a:t>
                </a:r>
                <a14:m>
                  <m:oMath xmlns:m="http://schemas.openxmlformats.org/officeDocument/2006/math">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1</m:t>
                        </m:r>
                      </m:sub>
                      <m:sup>
                        <m:r>
                          <a:rPr lang="en-US" altLang="zh-CN" sz="2400" i="1">
                            <a:latin typeface="Cambria Math" panose="02040503050406030204" charset="0"/>
                            <a:cs typeface="Cambria Math" panose="02040503050406030204" charset="0"/>
                          </a:rPr>
                          <m:t>𝑖</m:t>
                        </m:r>
                      </m:sup>
                    </m:sSubSup>
                    <m:r>
                      <a:rPr lang="en-US" altLang="zh-CN" sz="2400" i="1">
                        <a:latin typeface="Cambria Math" panose="02040503050406030204" charset="0"/>
                        <a:cs typeface="Cambria Math" panose="02040503050406030204" charset="0"/>
                      </a:rPr>
                      <m:t>,</m:t>
                    </m:r>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𝐴</m:t>
                        </m:r>
                      </m:e>
                      <m:sub>
                        <m:r>
                          <a:rPr lang="en-US" altLang="zh-CN" sz="2400" i="1">
                            <a:latin typeface="Cambria Math" panose="02040503050406030204" charset="0"/>
                            <a:cs typeface="Cambria Math" panose="02040503050406030204" charset="0"/>
                          </a:rPr>
                          <m:t>2</m:t>
                        </m:r>
                      </m:sub>
                      <m:sup>
                        <m:r>
                          <a:rPr lang="en-US" altLang="zh-CN" sz="2400" i="1">
                            <a:latin typeface="Cambria Math" panose="02040503050406030204" charset="0"/>
                            <a:cs typeface="Cambria Math" panose="02040503050406030204" charset="0"/>
                          </a:rPr>
                          <m:t>𝑖</m:t>
                        </m:r>
                      </m:sup>
                    </m:sSubSup>
                    <m:r>
                      <a:rPr lang="en-US" altLang="zh-CN" sz="2400" i="1">
                        <a:latin typeface="Cambria Math" panose="02040503050406030204" charset="0"/>
                        <a:cs typeface="Cambria Math" panose="02040503050406030204" charset="0"/>
                      </a:rPr>
                      <m:t>...</m:t>
                    </m:r>
                    <m:sSubSup>
                      <m:sSubSupPr>
                        <m:ctrlPr>
                          <a:rPr lang="en-US" altLang="zh-CN" sz="2400" i="1">
                            <a:latin typeface="Cambria Math" panose="02040503050406030204" charset="0"/>
                            <a:cs typeface="Cambria Math" panose="02040503050406030204" charset="0"/>
                          </a:rPr>
                        </m:ctrlPr>
                      </m:sSubSupPr>
                      <m:e>
                        <m:r>
                          <a:rPr lang="en-US" altLang="zh-CN" sz="2400" i="1">
                            <a:latin typeface="Cambria Math" panose="02040503050406030204" charset="0"/>
                            <a:cs typeface="Cambria Math" panose="02040503050406030204" charset="0"/>
                          </a:rPr>
                          <m:t>𝐴</m:t>
                        </m:r>
                      </m:e>
                      <m:sub>
                        <m:sSup>
                          <m:sSupPr>
                            <m:ctrlPr>
                              <a:rPr lang="en-US" altLang="zh-CN" sz="2400" i="1">
                                <a:latin typeface="Cambria Math" panose="02040503050406030204" charset="0"/>
                                <a:cs typeface="Cambria Math" panose="02040503050406030204" charset="0"/>
                              </a:rPr>
                            </m:ctrlPr>
                          </m:sSupPr>
                          <m:e>
                            <m:r>
                              <a:rPr lang="en-US" altLang="zh-CN" sz="2400" i="1">
                                <a:latin typeface="Cambria Math" panose="02040503050406030204" charset="0"/>
                                <a:cs typeface="Cambria Math" panose="02040503050406030204" charset="0"/>
                              </a:rPr>
                              <m:t>𝑁</m:t>
                            </m:r>
                          </m:e>
                          <m:sup>
                            <m:r>
                              <a:rPr lang="en-US" altLang="zh-CN" sz="2400" i="1">
                                <a:latin typeface="Cambria Math" panose="02040503050406030204" charset="0"/>
                                <a:cs typeface="Cambria Math" panose="02040503050406030204" charset="0"/>
                              </a:rPr>
                              <m:t>𝑖</m:t>
                            </m:r>
                          </m:sup>
                        </m:sSup>
                      </m:sub>
                      <m:sup>
                        <m:r>
                          <a:rPr lang="en-US" altLang="zh-CN" sz="2400" i="1">
                            <a:latin typeface="Cambria Math" panose="02040503050406030204" charset="0"/>
                            <a:cs typeface="Cambria Math" panose="02040503050406030204" charset="0"/>
                          </a:rPr>
                          <m:t>𝑖</m:t>
                        </m:r>
                      </m:sup>
                    </m:sSubSup>
                  </m:oMath>
                </a14:m>
                <a:endParaRPr lang="en-US" altLang="zh-CN" sz="2400">
                  <a:latin typeface="Times New Roman" panose="02020603050405020304" charset="0"/>
                  <a:cs typeface="Times New Roman" panose="02020603050405020304" charset="0"/>
                </a:endParaRPr>
              </a:p>
            </p:txBody>
          </p:sp>
        </mc:Choice>
        <mc:Fallback>
          <p:sp>
            <p:nvSpPr>
              <p:cNvPr id="2" name="文本框 1"/>
              <p:cNvSpPr txBox="1">
                <a:spLocks noRot="1" noChangeAspect="1" noMove="1" noResize="1" noEditPoints="1" noAdjustHandles="1" noChangeArrowheads="1" noChangeShapeType="1" noTextEdit="1"/>
              </p:cNvSpPr>
              <p:nvPr/>
            </p:nvSpPr>
            <p:spPr>
              <a:xfrm>
                <a:off x="473710" y="1127125"/>
                <a:ext cx="9637395" cy="913130"/>
              </a:xfrm>
              <a:prstGeom prst="rect">
                <a:avLst/>
              </a:prstGeom>
              <a:blipFill rotWithShape="1">
                <a:blip r:embed="rId1"/>
                <a:stretch>
                  <a:fillRect t="-10223"/>
                </a:stretch>
              </a:blipFill>
            </p:spPr>
            <p:txBody>
              <a:bodyPr/>
              <a:lstStyle/>
              <a:p>
                <a:r>
                  <a:rPr lang="zh-CN" altLang="en-US">
                    <a:noFill/>
                  </a:rPr>
                  <a:t> </a:t>
                </a:r>
              </a:p>
            </p:txBody>
          </p:sp>
        </mc:Fallback>
      </mc:AlternateContent>
      <p:sp>
        <p:nvSpPr>
          <p:cNvPr id="3" name="文本框 2"/>
          <p:cNvSpPr txBox="1"/>
          <p:nvPr/>
        </p:nvSpPr>
        <p:spPr>
          <a:xfrm>
            <a:off x="473710" y="5594350"/>
            <a:ext cx="6133465" cy="46037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ps. we assume the causal structure is loop-free.</a:t>
            </a:r>
            <a:endParaRPr lang="en-US" altLang="zh-CN" sz="2400">
              <a:latin typeface="Times New Roman" panose="02020603050405020304" charset="0"/>
              <a:cs typeface="Times New Roman" panose="02020603050405020304" charset="0"/>
            </a:endParaRPr>
          </a:p>
        </p:txBody>
      </p:sp>
      <p:pic>
        <p:nvPicPr>
          <p:cNvPr id="10" name="图片 9"/>
          <p:cNvPicPr/>
          <p:nvPr/>
        </p:nvPicPr>
        <p:blipFill>
          <a:blip r:embed="rId2"/>
          <a:stretch>
            <a:fillRect/>
          </a:stretch>
        </p:blipFill>
        <p:spPr>
          <a:xfrm>
            <a:off x="8074819" y="3863816"/>
            <a:ext cx="3362642" cy="2419667"/>
          </a:xfrm>
          <a:prstGeom prst="rect">
            <a:avLst/>
          </a:prstGeom>
        </p:spPr>
      </p:pic>
      <mc:AlternateContent xmlns:mc="http://schemas.openxmlformats.org/markup-compatibility/2006">
        <mc:Choice xmlns:a14="http://schemas.microsoft.com/office/drawing/2010/main" Requires="a14">
          <p:sp>
            <p:nvSpPr>
              <p:cNvPr id="14" name="文本框 13"/>
              <p:cNvSpPr txBox="1"/>
              <p:nvPr/>
            </p:nvSpPr>
            <p:spPr>
              <a:xfrm>
                <a:off x="473710" y="2180590"/>
                <a:ext cx="8299450" cy="489585"/>
              </a:xfrm>
              <a:prstGeom prst="rect">
                <a:avLst/>
              </a:prstGeom>
              <a:noFill/>
            </p:spPr>
            <p:txBody>
              <a:bodyPr wrap="square" rtlCol="0">
                <a:spAutoFit/>
              </a:bodyPr>
              <a:p>
                <a:pPr marL="285750" indent="-285750" algn="l">
                  <a:buFont typeface="Arial" panose="020B0604020202020204" pitchFamily="34" charset="0"/>
                  <a:buChar char="•"/>
                </a:pPr>
                <a:r>
                  <a:rPr lang="en-US" altLang="zh-CN" sz="2000">
                    <a:latin typeface="Times New Roman" panose="02020603050405020304" charset="0"/>
                    <a:cs typeface="Times New Roman" panose="02020603050405020304" charset="0"/>
                  </a:rPr>
                  <a:t>e.g. the college’s (entity </a:t>
                </a:r>
                <a:r>
                  <a:rPr lang="zh-CN" altLang="en-US" sz="2000">
                    <a:latin typeface="MV Boli" panose="02000500030200090000" charset="0"/>
                    <a:cs typeface="MV Boli" panose="02000500030200090000" charset="0"/>
                    <a:sym typeface="+mn-ea"/>
                  </a:rPr>
                  <a:t>A</a:t>
                </a:r>
                <a:r>
                  <a:rPr lang="en-US" altLang="zh-CN" sz="2000" baseline="30000">
                    <a:latin typeface="Times New Roman" panose="02020603050405020304" charset="0"/>
                    <a:cs typeface="Times New Roman" panose="02020603050405020304" charset="0"/>
                    <a:sym typeface="+mn-ea"/>
                  </a:rPr>
                  <a:t>i </a:t>
                </a:r>
                <a:r>
                  <a:rPr lang="en-US" altLang="zh-CN" sz="2000">
                    <a:latin typeface="Times New Roman" panose="02020603050405020304" charset="0"/>
                    <a:cs typeface="Times New Roman" panose="02020603050405020304" charset="0"/>
                  </a:rPr>
                  <a:t>) age (attribute </a:t>
                </a:r>
                <a14:m>
                  <m:oMath xmlns:m="http://schemas.openxmlformats.org/officeDocument/2006/math">
                    <m:sSubSup>
                      <m:sSubSupPr>
                        <m:ctrlPr>
                          <a:rPr lang="en-US" altLang="zh-CN" sz="2000" i="1">
                            <a:latin typeface="Cambria Math" panose="02040503050406030204" charset="0"/>
                            <a:cs typeface="Cambria Math" panose="02040503050406030204" charset="0"/>
                          </a:rPr>
                        </m:ctrlPr>
                      </m:sSubSupPr>
                      <m:e>
                        <m:r>
                          <a:rPr lang="en-US" altLang="zh-CN" sz="2000" i="1">
                            <a:latin typeface="Cambria Math" panose="02040503050406030204" charset="0"/>
                            <a:cs typeface="Cambria Math" panose="02040503050406030204" charset="0"/>
                          </a:rPr>
                          <m:t>𝐴</m:t>
                        </m:r>
                      </m:e>
                      <m:sub>
                        <m:r>
                          <a:rPr lang="en-US" altLang="zh-CN" sz="2000" i="1">
                            <a:latin typeface="Cambria Math" panose="02040503050406030204" charset="0"/>
                            <a:cs typeface="Cambria Math" panose="02040503050406030204" charset="0"/>
                          </a:rPr>
                          <m:t>𝑗</m:t>
                        </m:r>
                      </m:sub>
                      <m:sup>
                        <m:r>
                          <a:rPr lang="en-US" altLang="zh-CN" sz="2000" i="1">
                            <a:latin typeface="Cambria Math" panose="02040503050406030204" charset="0"/>
                            <a:cs typeface="Cambria Math" panose="02040503050406030204" charset="0"/>
                          </a:rPr>
                          <m:t>𝑖</m:t>
                        </m:r>
                      </m:sup>
                    </m:sSubSup>
                  </m:oMath>
                </a14:m>
                <a:r>
                  <a:rPr lang="en-US" altLang="zh-CN" sz="2000">
                    <a:latin typeface="Times New Roman" panose="02020603050405020304" charset="0"/>
                    <a:cs typeface="Times New Roman" panose="02020603050405020304" charset="0"/>
                  </a:rPr>
                  <a:t>) is 28 years old (value </a:t>
                </a:r>
                <a14:m>
                  <m:oMath xmlns:m="http://schemas.openxmlformats.org/officeDocument/2006/math">
                    <m:sSubSup>
                      <m:sSubSupPr>
                        <m:ctrlPr>
                          <a:rPr lang="en-US" altLang="zh-CN" sz="2000" i="1">
                            <a:latin typeface="Cambria Math" panose="02040503050406030204" charset="0"/>
                            <a:cs typeface="Cambria Math" panose="02040503050406030204" charset="0"/>
                          </a:rPr>
                        </m:ctrlPr>
                      </m:sSubSupPr>
                      <m:e>
                        <m:r>
                          <a:rPr lang="en-US" altLang="zh-CN" sz="2000" i="1">
                            <a:latin typeface="Cambria Math" panose="02040503050406030204" charset="0"/>
                            <a:cs typeface="Cambria Math" panose="02040503050406030204" charset="0"/>
                          </a:rPr>
                          <m:t>𝑥</m:t>
                        </m:r>
                      </m:e>
                      <m:sub>
                        <m:r>
                          <a:rPr lang="en-US" altLang="zh-CN" sz="2000" i="1">
                            <a:latin typeface="Cambria Math" panose="02040503050406030204" charset="0"/>
                            <a:cs typeface="Cambria Math" panose="02040503050406030204" charset="0"/>
                          </a:rPr>
                          <m:t>𝑗</m:t>
                        </m:r>
                      </m:sub>
                      <m:sup>
                        <m:r>
                          <a:rPr lang="en-US" altLang="zh-CN" sz="2000" i="1">
                            <a:latin typeface="Cambria Math" panose="02040503050406030204" charset="0"/>
                            <a:cs typeface="Cambria Math" panose="02040503050406030204" charset="0"/>
                          </a:rPr>
                          <m:t>𝑖</m:t>
                        </m:r>
                      </m:sup>
                    </m:sSubSup>
                  </m:oMath>
                </a14:m>
                <a:r>
                  <a:rPr lang="en-US" altLang="zh-CN" sz="2000">
                    <a:latin typeface="Times New Roman" panose="02020603050405020304" charset="0"/>
                    <a:cs typeface="Times New Roman" panose="02020603050405020304" charset="0"/>
                  </a:rPr>
                  <a:t> ~ </a:t>
                </a:r>
                <a:r>
                  <a:rPr lang="en-US" altLang="zh-CN" sz="2000">
                    <a:latin typeface="Times New Roman" panose="02020603050405020304" charset="0"/>
                    <a:cs typeface="Times New Roman" panose="02020603050405020304" charset="0"/>
                    <a:sym typeface="+mn-ea"/>
                  </a:rPr>
                  <a:t> </a:t>
                </a:r>
                <a14:m>
                  <m:oMath xmlns:m="http://schemas.openxmlformats.org/officeDocument/2006/math">
                    <m:sSubSup>
                      <m:sSubSupPr>
                        <m:ctrlPr>
                          <a:rPr lang="en-US" altLang="zh-CN" sz="2000" i="1">
                            <a:latin typeface="Cambria Math" panose="02040503050406030204" charset="0"/>
                            <a:cs typeface="Cambria Math" panose="02040503050406030204" charset="0"/>
                          </a:rPr>
                        </m:ctrlPr>
                      </m:sSubSupPr>
                      <m:e>
                        <m:r>
                          <a:rPr lang="en-US" altLang="zh-CN" sz="2000" i="1">
                            <a:latin typeface="Cambria Math" panose="02040503050406030204" charset="0"/>
                            <a:cs typeface="Cambria Math" panose="02040503050406030204" charset="0"/>
                          </a:rPr>
                          <m:t>𝑋</m:t>
                        </m:r>
                      </m:e>
                      <m:sub>
                        <m:r>
                          <a:rPr lang="en-US" altLang="zh-CN" sz="2000" i="1">
                            <a:latin typeface="Cambria Math" panose="02040503050406030204" charset="0"/>
                            <a:cs typeface="Cambria Math" panose="02040503050406030204" charset="0"/>
                          </a:rPr>
                          <m:t>𝑗</m:t>
                        </m:r>
                      </m:sub>
                      <m:sup>
                        <m:r>
                          <a:rPr lang="en-US" altLang="zh-CN" sz="2000" i="1">
                            <a:latin typeface="Cambria Math" panose="02040503050406030204" charset="0"/>
                            <a:cs typeface="Cambria Math" panose="02040503050406030204" charset="0"/>
                          </a:rPr>
                          <m:t>𝑖</m:t>
                        </m:r>
                      </m:sup>
                    </m:sSubSup>
                  </m:oMath>
                </a14:m>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p:txBody>
          </p:sp>
        </mc:Choice>
        <mc:Fallback>
          <p:sp>
            <p:nvSpPr>
              <p:cNvPr id="14" name="文本框 13"/>
              <p:cNvSpPr txBox="1">
                <a:spLocks noRot="1" noChangeAspect="1" noMove="1" noResize="1" noEditPoints="1" noAdjustHandles="1" noChangeArrowheads="1" noChangeShapeType="1" noTextEdit="1"/>
              </p:cNvSpPr>
              <p:nvPr/>
            </p:nvSpPr>
            <p:spPr>
              <a:xfrm>
                <a:off x="473710" y="2180590"/>
                <a:ext cx="8299450" cy="489585"/>
              </a:xfrm>
              <a:prstGeom prst="rect">
                <a:avLst/>
              </a:prstGeom>
              <a:blipFill rotWithShape="1">
                <a:blip r:embed="rId3"/>
                <a:stretch>
                  <a:fillRect t="-5188"/>
                </a:stretch>
              </a:blipFill>
            </p:spPr>
            <p:txBody>
              <a:bodyPr/>
              <a:lstStyle/>
              <a:p>
                <a:r>
                  <a:rPr lang="zh-CN" altLang="en-US">
                    <a:noFill/>
                  </a:rPr>
                  <a:t> </a:t>
                </a:r>
              </a:p>
            </p:txBody>
          </p:sp>
        </mc:Fallback>
      </mc:AlternateContent>
      <p:sp>
        <p:nvSpPr>
          <p:cNvPr id="15" name="文本框 14"/>
          <p:cNvSpPr txBox="1"/>
          <p:nvPr/>
        </p:nvSpPr>
        <p:spPr>
          <a:xfrm>
            <a:off x="473710" y="3241040"/>
            <a:ext cx="9636760" cy="46037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sym typeface="+mn-ea"/>
              </a:rPr>
              <a:t>At the attribute level, </a:t>
            </a:r>
            <a:r>
              <a:rPr lang="en-US" altLang="zh-CN" sz="2400">
                <a:latin typeface="Times New Roman" panose="02020603050405020304" charset="0"/>
                <a:cs typeface="Times New Roman" panose="02020603050405020304" charset="0"/>
              </a:rPr>
              <a:t>BRNet can be denoted as a directed graph G = &lt;V, E&gt;: </a:t>
            </a:r>
            <a:endParaRPr lang="en-US" altLang="zh-CN" sz="2400">
              <a:latin typeface="Times New Roman" panose="02020603050405020304" charset="0"/>
              <a:cs typeface="Times New Roman" panose="02020603050405020304" charset="0"/>
            </a:endParaRPr>
          </a:p>
        </p:txBody>
      </p:sp>
      <p:sp>
        <p:nvSpPr>
          <p:cNvPr id="16" name="文本框 15"/>
          <p:cNvSpPr txBox="1"/>
          <p:nvPr/>
        </p:nvSpPr>
        <p:spPr>
          <a:xfrm>
            <a:off x="473710" y="3701415"/>
            <a:ext cx="9708515" cy="1014730"/>
          </a:xfrm>
          <a:prstGeom prst="rect">
            <a:avLst/>
          </a:prstGeom>
          <a:noFill/>
        </p:spPr>
        <p:txBody>
          <a:bodyPr wrap="square" rtlCol="0">
            <a:spAutoFit/>
          </a:bodyPr>
          <a:p>
            <a:pPr marL="342900" indent="-342900">
              <a:lnSpc>
                <a:spcPct val="150000"/>
              </a:lnSpc>
              <a:buFont typeface="Arial" panose="020B0604020202020204" pitchFamily="34" charset="0"/>
              <a:buChar char="•"/>
            </a:pPr>
            <a:r>
              <a:rPr lang="en-US" altLang="zh-CN" sz="2000">
                <a:latin typeface="Times New Roman" panose="02020603050405020304" charset="0"/>
                <a:cs typeface="Times New Roman" panose="02020603050405020304" charset="0"/>
              </a:rPr>
              <a:t>V - all attributes</a:t>
            </a:r>
            <a:endParaRPr lang="en-US" altLang="zh-CN" sz="2000">
              <a:latin typeface="Times New Roman" panose="02020603050405020304" charset="0"/>
              <a:cs typeface="Times New Roman" panose="02020603050405020304" charset="0"/>
            </a:endParaRPr>
          </a:p>
          <a:p>
            <a:pPr marL="342900" indent="-342900">
              <a:lnSpc>
                <a:spcPct val="150000"/>
              </a:lnSpc>
              <a:buFont typeface="Arial" panose="020B0604020202020204" pitchFamily="34" charset="0"/>
              <a:buChar char="•"/>
            </a:pPr>
            <a:r>
              <a:rPr lang="en-US" altLang="zh-CN" sz="2000">
                <a:latin typeface="Times New Roman" panose="02020603050405020304" charset="0"/>
                <a:cs typeface="Times New Roman" panose="02020603050405020304" charset="0"/>
              </a:rPr>
              <a:t>E - all the direct causal relations among these attributes</a:t>
            </a:r>
            <a:endParaRPr lang="en-US" altLang="zh-CN" sz="2000">
              <a:latin typeface="Times New Roman" panose="02020603050405020304" charset="0"/>
              <a:cs typeface="Times New Roman" panose="02020603050405020304" charset="0"/>
            </a:endParaRPr>
          </a:p>
        </p:txBody>
      </p:sp>
    </p:spTree>
    <p:custDataLst>
      <p:tags r:id="rId4"/>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3710" y="1186180"/>
            <a:ext cx="6204585" cy="521970"/>
          </a:xfrm>
          <a:prstGeom prst="rect">
            <a:avLst/>
          </a:prstGeom>
          <a:noFill/>
        </p:spPr>
        <p:txBody>
          <a:bodyPr wrap="square" rtlCol="0">
            <a:spAutoFit/>
          </a:bodyPr>
          <a:p>
            <a:pPr marL="342900" indent="-342900">
              <a:buFont typeface="Wingdings" panose="05000000000000000000" charset="0"/>
              <a:buChar char="Ø"/>
            </a:pPr>
            <a:r>
              <a:rPr lang="en-US" altLang="zh-CN" sz="2800">
                <a:latin typeface="Times New Roman" panose="02020603050405020304" charset="0"/>
                <a:cs typeface="Times New Roman" panose="02020603050405020304" charset="0"/>
              </a:rPr>
              <a:t>Assumption 1 (Local Markov Property)</a:t>
            </a:r>
            <a:endParaRPr lang="en-US" altLang="zh-CN" sz="2800">
              <a:latin typeface="Times New Roman" panose="02020603050405020304" charset="0"/>
              <a:cs typeface="Times New Roman" panose="02020603050405020304" charset="0"/>
            </a:endParaRPr>
          </a:p>
        </p:txBody>
      </p:sp>
      <p:sp>
        <p:nvSpPr>
          <p:cNvPr id="6" name="文本框 5"/>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BRNet - Assumption &amp; Theorem</a:t>
            </a:r>
            <a:endParaRPr lang="en-US" altLang="zh-CN" sz="3600" b="1">
              <a:latin typeface="Times New Roman" panose="02020603050405020304" charset="0"/>
              <a:cs typeface="Times New Roman" panose="02020603050405020304" charset="0"/>
            </a:endParaRPr>
          </a:p>
        </p:txBody>
      </p:sp>
      <p:sp>
        <p:nvSpPr>
          <p:cNvPr id="7" name="文本框 6"/>
          <p:cNvSpPr txBox="1"/>
          <p:nvPr/>
        </p:nvSpPr>
        <p:spPr>
          <a:xfrm>
            <a:off x="473710" y="3756025"/>
            <a:ext cx="5447030"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rPr>
              <a:t>Theorem 1 (Factorization)</a:t>
            </a:r>
            <a:endParaRPr lang="en-US" altLang="zh-CN" sz="2800">
              <a:latin typeface="Times New Roman" panose="02020603050405020304" charset="0"/>
              <a:cs typeface="Times New Roman" panose="02020603050405020304" charset="0"/>
            </a:endParaRPr>
          </a:p>
        </p:txBody>
      </p:sp>
      <p:sp>
        <p:nvSpPr>
          <p:cNvPr id="3" name="文本框 2"/>
          <p:cNvSpPr txBox="1"/>
          <p:nvPr/>
        </p:nvSpPr>
        <p:spPr>
          <a:xfrm>
            <a:off x="473710" y="2729865"/>
            <a:ext cx="11107420" cy="82994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In a Bayesian network, given its direct parents, a node is conditionally independent of all its non-descendants.</a:t>
            </a:r>
            <a:endParaRPr lang="en-US" altLang="zh-CN" sz="2400">
              <a:latin typeface="Times New Roman" panose="02020603050405020304" charset="0"/>
              <a:cs typeface="Times New Roman" panose="02020603050405020304" charset="0"/>
            </a:endParaRPr>
          </a:p>
        </p:txBody>
      </p:sp>
      <p:pic>
        <p:nvPicPr>
          <p:cNvPr id="11" name="图片 10"/>
          <p:cNvPicPr>
            <a:picLocks noChangeAspect="1"/>
          </p:cNvPicPr>
          <p:nvPr/>
        </p:nvPicPr>
        <p:blipFill>
          <a:blip r:embed="rId1"/>
          <a:stretch>
            <a:fillRect/>
          </a:stretch>
        </p:blipFill>
        <p:spPr>
          <a:xfrm>
            <a:off x="3348990" y="1907540"/>
            <a:ext cx="5648325" cy="793750"/>
          </a:xfrm>
          <a:prstGeom prst="rect">
            <a:avLst/>
          </a:prstGeom>
        </p:spPr>
      </p:pic>
      <p:sp>
        <p:nvSpPr>
          <p:cNvPr id="12" name="文本框 11"/>
          <p:cNvSpPr txBox="1"/>
          <p:nvPr/>
        </p:nvSpPr>
        <p:spPr>
          <a:xfrm>
            <a:off x="473710" y="5543550"/>
            <a:ext cx="11107420" cy="829945"/>
          </a:xfrm>
          <a:prstGeom prst="rect">
            <a:avLst/>
          </a:prstGeom>
          <a:noFill/>
        </p:spPr>
        <p:txBody>
          <a:bodyPr wrap="square" rtlCol="0">
            <a:spAutoFit/>
          </a:bodyPr>
          <a:p>
            <a:pPr algn="just"/>
            <a:r>
              <a:rPr lang="en-US" altLang="zh-CN" sz="2400">
                <a:latin typeface="Times New Roman" panose="02020603050405020304" charset="0"/>
                <a:cs typeface="Times New Roman" panose="02020603050405020304" charset="0"/>
              </a:rPr>
              <a:t>The joint probability distribution of all variables in the network can be calculated by multiplying the conditional probability of each variable given its direct parents.</a:t>
            </a:r>
            <a:endParaRPr lang="en-US" altLang="zh-CN" sz="2400">
              <a:latin typeface="Times New Roman" panose="02020603050405020304" charset="0"/>
              <a:cs typeface="Times New Roman" panose="02020603050405020304" charset="0"/>
            </a:endParaRPr>
          </a:p>
        </p:txBody>
      </p:sp>
      <p:pic>
        <p:nvPicPr>
          <p:cNvPr id="14" name="图片 13"/>
          <p:cNvPicPr>
            <a:picLocks noChangeAspect="1"/>
          </p:cNvPicPr>
          <p:nvPr/>
        </p:nvPicPr>
        <p:blipFill>
          <a:blip r:embed="rId2"/>
          <a:stretch>
            <a:fillRect/>
          </a:stretch>
        </p:blipFill>
        <p:spPr>
          <a:xfrm>
            <a:off x="3189605" y="4581525"/>
            <a:ext cx="5967730" cy="824865"/>
          </a:xfrm>
          <a:prstGeom prst="rect">
            <a:avLst/>
          </a:prstGeom>
        </p:spPr>
      </p:pic>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BRNet - Assumption &amp; Theorem</a:t>
            </a:r>
            <a:endParaRPr lang="en-US" altLang="zh-CN" sz="3600" b="1">
              <a:latin typeface="Times New Roman" panose="02020603050405020304" charset="0"/>
              <a:cs typeface="Times New Roman" panose="02020603050405020304" charset="0"/>
            </a:endParaRPr>
          </a:p>
        </p:txBody>
      </p:sp>
      <p:sp>
        <p:nvSpPr>
          <p:cNvPr id="3" name="文本框 2"/>
          <p:cNvSpPr txBox="1"/>
          <p:nvPr/>
        </p:nvSpPr>
        <p:spPr>
          <a:xfrm>
            <a:off x="473710" y="1189355"/>
            <a:ext cx="6517005" cy="521970"/>
          </a:xfrm>
          <a:prstGeom prst="rect">
            <a:avLst/>
          </a:prstGeom>
          <a:noFill/>
        </p:spPr>
        <p:txBody>
          <a:bodyPr wrap="square" rtlCol="0">
            <a:spAutoFit/>
          </a:bodyPr>
          <a:p>
            <a:pPr marL="342900" lvl="0" indent="-342900" algn="l">
              <a:buClrTx/>
              <a:buSzTx/>
              <a:buFont typeface="Wingdings" panose="05000000000000000000" charset="0"/>
              <a:buChar char="Ø"/>
            </a:pPr>
            <a:r>
              <a:rPr lang="en-US" altLang="zh-CN" sz="2800">
                <a:latin typeface="Times New Roman" panose="02020603050405020304" charset="0"/>
                <a:cs typeface="Times New Roman" panose="02020603050405020304" charset="0"/>
                <a:sym typeface="+mn-ea"/>
              </a:rPr>
              <a:t>Assumption 2 (Conditional Sampling)</a:t>
            </a:r>
            <a:endParaRPr lang="en-US" altLang="zh-CN" sz="2800">
              <a:latin typeface="Times New Roman" panose="02020603050405020304" charset="0"/>
              <a:cs typeface="Times New Roman" panose="02020603050405020304" charset="0"/>
              <a:sym typeface="+mn-ea"/>
            </a:endParaRPr>
          </a:p>
        </p:txBody>
      </p:sp>
      <p:sp>
        <p:nvSpPr>
          <p:cNvPr id="4" name="文本框 3"/>
          <p:cNvSpPr txBox="1"/>
          <p:nvPr/>
        </p:nvSpPr>
        <p:spPr>
          <a:xfrm>
            <a:off x="473075" y="5132070"/>
            <a:ext cx="6122670"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rPr>
              <a:t>Theorem 2 (Ancestral Sampling)</a:t>
            </a:r>
            <a:endParaRPr lang="en-US" altLang="zh-CN" sz="2800">
              <a:latin typeface="Times New Roman" panose="02020603050405020304" charset="0"/>
              <a:cs typeface="Times New Roman" panose="02020603050405020304" charset="0"/>
            </a:endParaRPr>
          </a:p>
        </p:txBody>
      </p:sp>
      <p:pic>
        <p:nvPicPr>
          <p:cNvPr id="7" name="图片 6"/>
          <p:cNvPicPr>
            <a:picLocks noChangeAspect="1"/>
          </p:cNvPicPr>
          <p:nvPr/>
        </p:nvPicPr>
        <p:blipFill>
          <a:blip r:embed="rId1"/>
          <a:stretch>
            <a:fillRect/>
          </a:stretch>
        </p:blipFill>
        <p:spPr>
          <a:xfrm>
            <a:off x="3594735" y="1913890"/>
            <a:ext cx="5003165" cy="473710"/>
          </a:xfrm>
          <a:prstGeom prst="rect">
            <a:avLst/>
          </a:prstGeom>
        </p:spPr>
      </p:pic>
      <p:sp>
        <p:nvSpPr>
          <p:cNvPr id="8" name="文本框 7"/>
          <p:cNvSpPr txBox="1"/>
          <p:nvPr/>
        </p:nvSpPr>
        <p:spPr>
          <a:xfrm>
            <a:off x="473710" y="2361565"/>
            <a:ext cx="9088755" cy="2491740"/>
          </a:xfrm>
          <a:prstGeom prst="rect">
            <a:avLst/>
          </a:prstGeom>
          <a:noFill/>
        </p:spPr>
        <p:txBody>
          <a:bodyPr wrap="square" rtlCol="0">
            <a:spAutoFit/>
          </a:bodyPr>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The ancestral sampling algorithm</a:t>
            </a:r>
            <a:endParaRPr lang="en-US" altLang="zh-CN" sz="2400">
              <a:latin typeface="Times New Roman" panose="02020603050405020304" charset="0"/>
              <a:cs typeface="Times New Roman" panose="02020603050405020304" charset="0"/>
            </a:endParaRPr>
          </a:p>
          <a:p>
            <a:pPr indent="0">
              <a:lnSpc>
                <a:spcPct val="150000"/>
              </a:lnSpc>
              <a:buFont typeface="Wingdings" panose="05000000000000000000" charset="0"/>
              <a:buNone/>
            </a:pPr>
            <a:r>
              <a:rPr lang="en-US" altLang="zh-CN" sz="2000">
                <a:latin typeface="Times New Roman" panose="02020603050405020304" charset="0"/>
                <a:cs typeface="Times New Roman" panose="02020603050405020304" charset="0"/>
                <a:sym typeface="+mn-ea"/>
              </a:rPr>
              <a:t>1. Obtain the topological ordering of BRNet </a:t>
            </a:r>
            <a:endParaRPr lang="en-US" altLang="zh-CN" sz="2000">
              <a:latin typeface="Times New Roman" panose="02020603050405020304" charset="0"/>
              <a:cs typeface="Times New Roman" panose="02020603050405020304" charset="0"/>
            </a:endParaRPr>
          </a:p>
          <a:p>
            <a:pPr indent="0">
              <a:lnSpc>
                <a:spcPct val="150000"/>
              </a:lnSpc>
              <a:buFont typeface="Wingdings" panose="05000000000000000000" charset="0"/>
              <a:buNone/>
            </a:pPr>
            <a:r>
              <a:rPr lang="en-US" altLang="zh-CN" sz="2000">
                <a:latin typeface="Times New Roman" panose="02020603050405020304" charset="0"/>
                <a:cs typeface="Times New Roman" panose="02020603050405020304" charset="0"/>
              </a:rPr>
              <a:t>2. Sample all attributes according to this ordering</a:t>
            </a:r>
            <a:endParaRPr lang="zh-CN" altLang="en-US" sz="2000">
              <a:latin typeface="Times New Roman" panose="02020603050405020304" charset="0"/>
              <a:cs typeface="Times New Roman" panose="02020603050405020304" charset="0"/>
            </a:endParaRPr>
          </a:p>
          <a:p>
            <a:pPr indent="0">
              <a:lnSpc>
                <a:spcPct val="150000"/>
              </a:lnSpc>
              <a:buFont typeface="Wingdings" panose="05000000000000000000" charset="0"/>
              <a:buNone/>
            </a:pPr>
            <a:r>
              <a:rPr lang="en-US" altLang="zh-CN" sz="2000">
                <a:latin typeface="Times New Roman" panose="02020603050405020304" charset="0"/>
                <a:cs typeface="Times New Roman" panose="02020603050405020304" charset="0"/>
              </a:rPr>
              <a:t>       For top-level attributes without parents → marginal probability distributions</a:t>
            </a:r>
            <a:endParaRPr lang="en-US" altLang="zh-CN" sz="2000">
              <a:latin typeface="Times New Roman" panose="02020603050405020304" charset="0"/>
              <a:cs typeface="Times New Roman" panose="02020603050405020304" charset="0"/>
            </a:endParaRPr>
          </a:p>
          <a:p>
            <a:pPr indent="0">
              <a:lnSpc>
                <a:spcPct val="150000"/>
              </a:lnSpc>
              <a:buFont typeface="Wingdings" panose="05000000000000000000" charset="0"/>
              <a:buNone/>
            </a:pPr>
            <a:r>
              <a:rPr lang="en-US" altLang="zh-CN" sz="2000">
                <a:latin typeface="Times New Roman" panose="02020603050405020304" charset="0"/>
                <a:cs typeface="Times New Roman" panose="02020603050405020304" charset="0"/>
              </a:rPr>
              <a:t>       For other variables </a:t>
            </a:r>
            <a:r>
              <a:rPr lang="en-US" altLang="zh-CN" sz="2000">
                <a:latin typeface="Times New Roman" panose="02020603050405020304" charset="0"/>
                <a:cs typeface="Times New Roman" panose="02020603050405020304" charset="0"/>
                <a:sym typeface="+mn-ea"/>
              </a:rPr>
              <a:t>→ </a:t>
            </a:r>
            <a:r>
              <a:rPr lang="en-US" altLang="zh-CN" sz="2000">
                <a:latin typeface="Times New Roman" panose="02020603050405020304" charset="0"/>
                <a:cs typeface="Times New Roman" panose="02020603050405020304" charset="0"/>
              </a:rPr>
              <a:t>conditional probability distribution</a:t>
            </a:r>
            <a:endParaRPr lang="en-US" altLang="zh-CN" sz="2000">
              <a:latin typeface="Times New Roman" panose="02020603050405020304" charset="0"/>
              <a:cs typeface="Times New Roman" panose="02020603050405020304" charset="0"/>
            </a:endParaRPr>
          </a:p>
        </p:txBody>
      </p:sp>
      <p:pic>
        <p:nvPicPr>
          <p:cNvPr id="10" name="图片 9"/>
          <p:cNvPicPr>
            <a:picLocks noChangeAspect="1"/>
          </p:cNvPicPr>
          <p:nvPr/>
        </p:nvPicPr>
        <p:blipFill>
          <a:blip r:embed="rId2"/>
          <a:stretch>
            <a:fillRect/>
          </a:stretch>
        </p:blipFill>
        <p:spPr>
          <a:xfrm>
            <a:off x="2797810" y="5851525"/>
            <a:ext cx="6597015" cy="549275"/>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473710" y="341630"/>
            <a:ext cx="7600950" cy="645160"/>
          </a:xfrm>
          <a:prstGeom prst="rect">
            <a:avLst/>
          </a:prstGeom>
          <a:noFill/>
        </p:spPr>
        <p:txBody>
          <a:bodyPr wrap="square" rtlCol="0">
            <a:spAutoFit/>
          </a:bodyPr>
          <a:p>
            <a:r>
              <a:rPr lang="en-US" altLang="zh-CN" sz="3600" b="1">
                <a:latin typeface="Times New Roman" panose="02020603050405020304" charset="0"/>
                <a:cs typeface="Times New Roman" panose="02020603050405020304" charset="0"/>
              </a:rPr>
              <a:t>Causal Generation Mechanism</a:t>
            </a:r>
            <a:endParaRPr lang="en-US" altLang="zh-CN" sz="3600" b="1">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283335" y="1552575"/>
            <a:ext cx="9624695" cy="5087620"/>
          </a:xfrm>
          <a:prstGeom prst="rect">
            <a:avLst/>
          </a:prstGeom>
        </p:spPr>
      </p:pic>
      <p:sp>
        <p:nvSpPr>
          <p:cNvPr id="3" name="文本框 2"/>
          <p:cNvSpPr txBox="1"/>
          <p:nvPr/>
        </p:nvSpPr>
        <p:spPr>
          <a:xfrm>
            <a:off x="473710" y="1062990"/>
            <a:ext cx="7479665" cy="46037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Construction of Informative Hints &amp; User Messages &amp; QA</a:t>
            </a:r>
            <a:endParaRPr lang="en-US" altLang="zh-CN" sz="24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770890" y="165735"/>
            <a:ext cx="4829810" cy="368300"/>
          </a:xfrm>
          <a:prstGeom prst="rect">
            <a:avLst/>
          </a:prstGeom>
          <a:noFill/>
        </p:spPr>
        <p:txBody>
          <a:bodyPr wrap="square" rtlCol="0">
            <a:spAutoFit/>
          </a:bodyPr>
          <a:p>
            <a:pPr marL="285750" indent="-285750">
              <a:buFont typeface="Wingdings" panose="05000000000000000000" charset="0"/>
              <a:buChar char="Ø"/>
            </a:pPr>
            <a:r>
              <a:rPr lang="en-US" altLang="zh-CN"/>
              <a:t>Construction of Questions and Answers</a:t>
            </a:r>
            <a:endParaRPr lang="en-US" altLang="zh-CN"/>
          </a:p>
        </p:txBody>
      </p:sp>
      <p:sp>
        <p:nvSpPr>
          <p:cNvPr id="4" name="文本框 3"/>
          <p:cNvSpPr txBox="1"/>
          <p:nvPr/>
        </p:nvSpPr>
        <p:spPr>
          <a:xfrm>
            <a:off x="770890" y="534035"/>
            <a:ext cx="10722610" cy="922020"/>
          </a:xfrm>
          <a:prstGeom prst="rect">
            <a:avLst/>
          </a:prstGeom>
          <a:noFill/>
        </p:spPr>
        <p:txBody>
          <a:bodyPr wrap="square" rtlCol="0">
            <a:spAutoFit/>
          </a:bodyPr>
          <a:p>
            <a:r>
              <a:rPr lang="en-US" altLang="zh-CN"/>
              <a:t>(1) the textual answer a that can correctly respond to q</a:t>
            </a:r>
            <a:endParaRPr lang="en-US" altLang="zh-CN"/>
          </a:p>
          <a:p>
            <a:r>
              <a:rPr lang="en-US" altLang="zh-CN"/>
              <a:t>(2) the correct choice a among confusing choices a′ (generated by LLM) as a single-choice format, and</a:t>
            </a:r>
            <a:endParaRPr lang="en-US" altLang="zh-CN"/>
          </a:p>
          <a:p>
            <a:r>
              <a:rPr lang="en-US" altLang="zh-CN"/>
              <a:t>(3)the correct retrieval target h ⊆ M that contains the required factual information to the question.</a:t>
            </a:r>
            <a:endParaRPr lang="en-US" altLang="zh-CN"/>
          </a:p>
        </p:txBody>
      </p:sp>
      <p:pic>
        <p:nvPicPr>
          <p:cNvPr id="8" name="图片 7"/>
          <p:cNvPicPr>
            <a:picLocks noChangeAspect="1"/>
          </p:cNvPicPr>
          <p:nvPr/>
        </p:nvPicPr>
        <p:blipFill>
          <a:blip r:embed="rId1"/>
          <a:stretch>
            <a:fillRect/>
          </a:stretch>
        </p:blipFill>
        <p:spPr>
          <a:xfrm>
            <a:off x="290830" y="1803400"/>
            <a:ext cx="11434445" cy="4603750"/>
          </a:xfrm>
          <a:prstGeom prst="rect">
            <a:avLst/>
          </a:prstGeom>
        </p:spPr>
      </p:pic>
      <p:sp>
        <p:nvSpPr>
          <p:cNvPr id="9" name="文本框 8"/>
          <p:cNvSpPr txBox="1"/>
          <p:nvPr/>
        </p:nvSpPr>
        <p:spPr>
          <a:xfrm>
            <a:off x="3220085" y="1456055"/>
            <a:ext cx="6386830" cy="368300"/>
          </a:xfrm>
          <a:prstGeom prst="rect">
            <a:avLst/>
          </a:prstGeom>
          <a:noFill/>
        </p:spPr>
        <p:txBody>
          <a:bodyPr wrap="square" rtlCol="0">
            <a:spAutoFit/>
          </a:bodyPr>
          <a:p>
            <a:r>
              <a:rPr lang="en-US" altLang="zh-CN"/>
              <a:t>Table 1: Overview of comprehensive questions and answers.</a:t>
            </a:r>
            <a:endParaRPr lang="en-US" altLang="zh-CN"/>
          </a:p>
        </p:txBody>
      </p:sp>
    </p:spTree>
    <p:custDataLst>
      <p:tags r:id="rId2"/>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7600950"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sym typeface="+mn-ea"/>
              </a:rPr>
              <a:t>Dataset - </a:t>
            </a:r>
            <a:r>
              <a:rPr lang="en-US" altLang="zh-CN" sz="3600" b="1">
                <a:latin typeface="Times New Roman" panose="02020603050405020304" charset="0"/>
                <a:cs typeface="Times New Roman" panose="02020603050405020304" charset="0"/>
                <a:sym typeface="+mn-ea"/>
              </a:rPr>
              <a:t>MemDaily</a:t>
            </a:r>
            <a:endParaRPr lang="en-US" altLang="zh-CN" sz="3600" b="1">
              <a:latin typeface="Times New Roman" panose="02020603050405020304" charset="0"/>
              <a:cs typeface="Times New Roman" panose="02020603050405020304" charset="0"/>
            </a:endParaRPr>
          </a:p>
        </p:txBody>
      </p:sp>
      <p:sp>
        <p:nvSpPr>
          <p:cNvPr id="9" name="文本框 8"/>
          <p:cNvSpPr txBox="1"/>
          <p:nvPr/>
        </p:nvSpPr>
        <p:spPr>
          <a:xfrm>
            <a:off x="473710" y="1029970"/>
            <a:ext cx="3630930" cy="46037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11 entities and 73 attributes </a:t>
            </a:r>
            <a:endParaRPr lang="en-US" altLang="zh-CN" sz="2400">
              <a:latin typeface="Times New Roman" panose="02020603050405020304" charset="0"/>
              <a:cs typeface="Times New Roman" panose="02020603050405020304" charset="0"/>
            </a:endParaRPr>
          </a:p>
        </p:txBody>
      </p:sp>
      <p:sp>
        <p:nvSpPr>
          <p:cNvPr id="10" name="文本框 9"/>
          <p:cNvSpPr txBox="1"/>
          <p:nvPr/>
        </p:nvSpPr>
        <p:spPr>
          <a:xfrm>
            <a:off x="473710" y="1490345"/>
            <a:ext cx="6276975" cy="5077460"/>
          </a:xfrm>
          <a:prstGeom prst="rect">
            <a:avLst/>
          </a:prstGeom>
          <a:noFill/>
        </p:spPr>
        <p:txBody>
          <a:bodyPr wrap="square" rtlCol="0">
            <a:spAutoFit/>
          </a:bodyPr>
          <a:p>
            <a:pPr>
              <a:lnSpc>
                <a:spcPct val="150000"/>
              </a:lnSpc>
            </a:pPr>
            <a:r>
              <a:rPr lang="en-US" altLang="zh-CN" sz="2400">
                <a:latin typeface="Times New Roman" panose="02020603050405020304" charset="0"/>
                <a:cs typeface="Times New Roman" panose="02020603050405020304" charset="0"/>
              </a:rPr>
              <a:t>6 sub-datasets of different QA types: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(1) Simple (Simp.): single-hop QAs.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(2) Conditional (Cond.): multi-hop QAs with conditions.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(3) Comparative (Comp.): comparative QAs.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(4) Aggregative(Aggr.): aggregative QAs.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(5) Post-processing (Post.): post-processing QAs.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(6) Noisy: multi-hop QAs with additional irrelevant noisy texts inside questions</a:t>
            </a:r>
            <a:endParaRPr lang="en-US" altLang="zh-CN" sz="24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6736715" y="187960"/>
            <a:ext cx="5039995" cy="6101080"/>
          </a:xfrm>
          <a:prstGeom prst="rect">
            <a:avLst/>
          </a:prstGeom>
        </p:spPr>
      </p:pic>
      <p:sp>
        <p:nvSpPr>
          <p:cNvPr id="3" name="文本框 2"/>
          <p:cNvSpPr txBox="1"/>
          <p:nvPr/>
        </p:nvSpPr>
        <p:spPr>
          <a:xfrm>
            <a:off x="6910070" y="6289040"/>
            <a:ext cx="4693285" cy="368300"/>
          </a:xfrm>
          <a:prstGeom prst="rect">
            <a:avLst/>
          </a:prstGeom>
          <a:noFill/>
        </p:spPr>
        <p:txBody>
          <a:bodyPr wrap="square" rtlCol="0">
            <a:spAutoFit/>
          </a:bodyPr>
          <a:p>
            <a:r>
              <a:rPr lang="en-US" altLang="zh-CN">
                <a:latin typeface="Times New Roman" panose="02020603050405020304" charset="0"/>
                <a:cs typeface="Times New Roman" panose="02020603050405020304" charset="0"/>
              </a:rPr>
              <a:t>Summary of entities and attributes of MemDaily</a:t>
            </a:r>
            <a:endParaRPr lang="en-US" altLang="zh-CN">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7600950"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sym typeface="+mn-ea"/>
              </a:rPr>
              <a:t>Dataset - </a:t>
            </a:r>
            <a:r>
              <a:rPr lang="en-US" altLang="zh-CN" sz="3600" b="1">
                <a:latin typeface="Times New Roman" panose="02020603050405020304" charset="0"/>
                <a:cs typeface="Times New Roman" panose="02020603050405020304" charset="0"/>
                <a:sym typeface="+mn-ea"/>
              </a:rPr>
              <a:t>MemDaily</a:t>
            </a:r>
            <a:endParaRPr lang="en-US" altLang="zh-CN" sz="3600" b="1">
              <a:latin typeface="Times New Roman" panose="02020603050405020304" charset="0"/>
              <a:cs typeface="Times New Roman" panose="02020603050405020304" charset="0"/>
            </a:endParaRPr>
          </a:p>
        </p:txBody>
      </p:sp>
      <p:grpSp>
        <p:nvGrpSpPr>
          <p:cNvPr id="28" name="组合 27"/>
          <p:cNvGrpSpPr/>
          <p:nvPr/>
        </p:nvGrpSpPr>
        <p:grpSpPr>
          <a:xfrm>
            <a:off x="179705" y="1941195"/>
            <a:ext cx="3119333" cy="3466453"/>
            <a:chOff x="746" y="2129"/>
            <a:chExt cx="6163" cy="6502"/>
          </a:xfrm>
        </p:grpSpPr>
        <p:grpSp>
          <p:nvGrpSpPr>
            <p:cNvPr id="13" name="组合 12"/>
            <p:cNvGrpSpPr/>
            <p:nvPr/>
          </p:nvGrpSpPr>
          <p:grpSpPr>
            <a:xfrm>
              <a:off x="746" y="2129"/>
              <a:ext cx="6163" cy="6502"/>
              <a:chOff x="746" y="2129"/>
              <a:chExt cx="6163" cy="6502"/>
            </a:xfrm>
          </p:grpSpPr>
          <p:sp>
            <p:nvSpPr>
              <p:cNvPr id="4" name="流程图: 可选过程 3"/>
              <p:cNvSpPr/>
              <p:nvPr/>
            </p:nvSpPr>
            <p:spPr>
              <a:xfrm>
                <a:off x="746" y="2129"/>
                <a:ext cx="6163" cy="6502"/>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7" name="文本框 6"/>
              <p:cNvSpPr txBox="1"/>
              <p:nvPr/>
            </p:nvSpPr>
            <p:spPr>
              <a:xfrm>
                <a:off x="3247" y="2279"/>
                <a:ext cx="1307" cy="691"/>
              </a:xfrm>
              <a:prstGeom prst="rect">
                <a:avLst/>
              </a:prstGeom>
              <a:noFill/>
            </p:spPr>
            <p:txBody>
              <a:bodyPr wrap="square" rtlCol="0">
                <a:spAutoFit/>
                <a:scene3d>
                  <a:camera prst="orthographicFront"/>
                  <a:lightRig rig="threePt" dir="t"/>
                </a:scene3d>
              </a:bodyPr>
              <a:p>
                <a:r>
                  <a:rPr lang="en-US" altLang="zh-CN" b="1">
                    <a:solidFill>
                      <a:schemeClr val="accent1"/>
                    </a:solidFill>
                    <a:effectLst>
                      <a:outerShdw blurRad="38100" dist="25400" dir="5400000" algn="ctr" rotWithShape="0">
                        <a:srgbClr val="6E747A">
                          <a:alpha val="43000"/>
                        </a:srgbClr>
                      </a:outerShdw>
                    </a:effectLst>
                  </a:rPr>
                  <a:t>Item</a:t>
                </a:r>
                <a:endParaRPr lang="en-US" altLang="zh-CN" b="1">
                  <a:solidFill>
                    <a:schemeClr val="accent1"/>
                  </a:solidFill>
                  <a:effectLst>
                    <a:outerShdw blurRad="38100" dist="25400" dir="5400000" algn="ctr" rotWithShape="0">
                      <a:srgbClr val="6E747A">
                        <a:alpha val="43000"/>
                      </a:srgbClr>
                    </a:outerShdw>
                  </a:effectLst>
                </a:endParaRPr>
              </a:p>
            </p:txBody>
          </p:sp>
          <p:cxnSp>
            <p:nvCxnSpPr>
              <p:cNvPr id="11" name="直接连接符 10"/>
              <p:cNvCxnSpPr/>
              <p:nvPr/>
            </p:nvCxnSpPr>
            <p:spPr>
              <a:xfrm flipV="1">
                <a:off x="760" y="2977"/>
                <a:ext cx="6125" cy="11"/>
              </a:xfrm>
              <a:prstGeom prst="line">
                <a:avLst/>
              </a:prstGeom>
            </p:spPr>
            <p:style>
              <a:lnRef idx="2">
                <a:schemeClr val="accent1"/>
              </a:lnRef>
              <a:fillRef idx="0">
                <a:srgbClr val="FFFFFF"/>
              </a:fillRef>
              <a:effectRef idx="0">
                <a:srgbClr val="FFFFFF"/>
              </a:effectRef>
              <a:fontRef idx="minor">
                <a:schemeClr val="tx1"/>
              </a:fontRef>
            </p:style>
          </p:cxnSp>
        </p:grpSp>
        <p:sp>
          <p:nvSpPr>
            <p:cNvPr id="12" name="文本框 11"/>
            <p:cNvSpPr txBox="1"/>
            <p:nvPr/>
          </p:nvSpPr>
          <p:spPr>
            <a:xfrm>
              <a:off x="771" y="2970"/>
              <a:ext cx="5899" cy="5480"/>
            </a:xfrm>
            <a:prstGeom prst="rect">
              <a:avLst/>
            </a:prstGeom>
            <a:noFill/>
          </p:spPr>
          <p:txBody>
            <a:bodyPr wrap="square" rtlCol="0">
              <a:noAutofit/>
            </a:bodyPr>
            <a:p>
              <a:r>
                <a:rPr lang="en-US" altLang="zh-CN" sz="1600">
                  <a:latin typeface="Times New Roman" panose="02020603050405020304" charset="0"/>
                  <a:cs typeface="Times New Roman" panose="02020603050405020304" charset="0"/>
                </a:rPr>
                <a:t>(</a:t>
              </a:r>
              <a:r>
                <a:rPr lang="en-US" altLang="zh-CN" sz="1600" b="1">
                  <a:latin typeface="Times New Roman" panose="02020603050405020304" charset="0"/>
                  <a:cs typeface="Times New Roman" panose="02020603050405020304" charset="0"/>
                </a:rPr>
                <a:t>Type</a:t>
              </a:r>
              <a:r>
                <a:rPr lang="en-US" altLang="zh-CN" sz="1600">
                  <a:latin typeface="Times New Roman" panose="02020603050405020304" charset="0"/>
                  <a:cs typeface="Times New Roman" panose="02020603050405020304" charset="0"/>
                </a:rPr>
                <a:t>) Sports Shoes; (</a:t>
              </a:r>
              <a:r>
                <a:rPr lang="en-US" altLang="zh-CN" sz="1600" b="1">
                  <a:latin typeface="Times New Roman" panose="02020603050405020304" charset="0"/>
                  <a:cs typeface="Times New Roman" panose="02020603050405020304" charset="0"/>
                </a:rPr>
                <a:t>Name</a:t>
              </a:r>
              <a:r>
                <a:rPr lang="en-US" altLang="zh-CN" sz="1600">
                  <a:latin typeface="Times New Roman" panose="02020603050405020304" charset="0"/>
                  <a:cs typeface="Times New Roman" panose="02020603050405020304" charset="0"/>
                </a:rPr>
                <a:t>) ASICS Gel-Kayano 26; (</a:t>
              </a:r>
              <a:r>
                <a:rPr lang="en-US" altLang="zh-CN" sz="1600" b="1">
                  <a:latin typeface="Times New Roman" panose="02020603050405020304" charset="0"/>
                  <a:cs typeface="Times New Roman" panose="02020603050405020304" charset="0"/>
                </a:rPr>
                <a:t>Comment</a:t>
              </a:r>
              <a:r>
                <a:rPr lang="en-US" altLang="zh-CN" sz="1600">
                  <a:latin typeface="Times New Roman" panose="02020603050405020304" charset="0"/>
                  <a:cs typeface="Times New Roman" panose="02020603050405020304" charset="0"/>
                </a:rPr>
                <a:t>) These ASICS Gel-Kayano 26 shoes are really great, especially for their stability and support, which is perfect for standing work for long periods. Wearing them, my feet feel much more comfortable. However, it</a:t>
              </a:r>
              <a:endParaRPr lang="en-US" altLang="zh-CN" sz="1600">
                <a:latin typeface="Times New Roman" panose="02020603050405020304" charset="0"/>
                <a:cs typeface="Times New Roman" panose="02020603050405020304" charset="0"/>
              </a:endParaRPr>
            </a:p>
            <a:p>
              <a:r>
                <a:rPr lang="en-US" altLang="zh-CN" sz="1600">
                  <a:latin typeface="Times New Roman" panose="02020603050405020304" charset="0"/>
                  <a:cs typeface="Times New Roman" panose="02020603050405020304" charset="0"/>
                </a:rPr>
                <a:t>would be perfect if they had better breathability.</a:t>
              </a:r>
              <a:endParaRPr lang="en-US" altLang="zh-CN" sz="1600">
                <a:latin typeface="Times New Roman" panose="02020603050405020304" charset="0"/>
                <a:cs typeface="Times New Roman" panose="02020603050405020304" charset="0"/>
              </a:endParaRPr>
            </a:p>
          </p:txBody>
        </p:sp>
      </p:grpSp>
      <p:grpSp>
        <p:nvGrpSpPr>
          <p:cNvPr id="26" name="组合 25"/>
          <p:cNvGrpSpPr/>
          <p:nvPr/>
        </p:nvGrpSpPr>
        <p:grpSpPr>
          <a:xfrm>
            <a:off x="8014970" y="128270"/>
            <a:ext cx="3912870" cy="2983230"/>
            <a:chOff x="7823" y="284"/>
            <a:chExt cx="6162" cy="4698"/>
          </a:xfrm>
        </p:grpSpPr>
        <p:grpSp>
          <p:nvGrpSpPr>
            <p:cNvPr id="14" name="组合 13"/>
            <p:cNvGrpSpPr/>
            <p:nvPr>
              <p:custDataLst>
                <p:tags r:id="rId1"/>
              </p:custDataLst>
            </p:nvPr>
          </p:nvGrpSpPr>
          <p:grpSpPr>
            <a:xfrm>
              <a:off x="7823" y="284"/>
              <a:ext cx="6162" cy="4698"/>
              <a:chOff x="746" y="2129"/>
              <a:chExt cx="6162" cy="6745"/>
            </a:xfrm>
          </p:grpSpPr>
          <p:sp>
            <p:nvSpPr>
              <p:cNvPr id="15" name="流程图: 可选过程 14"/>
              <p:cNvSpPr/>
              <p:nvPr>
                <p:custDataLst>
                  <p:tags r:id="rId2"/>
                </p:custDataLst>
              </p:nvPr>
            </p:nvSpPr>
            <p:spPr>
              <a:xfrm>
                <a:off x="746" y="2129"/>
                <a:ext cx="6162" cy="6745"/>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6" name="文本框 15"/>
              <p:cNvSpPr txBox="1"/>
              <p:nvPr>
                <p:custDataLst>
                  <p:tags r:id="rId3"/>
                </p:custDataLst>
              </p:nvPr>
            </p:nvSpPr>
            <p:spPr>
              <a:xfrm>
                <a:off x="2555" y="2280"/>
                <a:ext cx="2581" cy="833"/>
              </a:xfrm>
              <a:prstGeom prst="rect">
                <a:avLst/>
              </a:prstGeom>
              <a:noFill/>
            </p:spPr>
            <p:txBody>
              <a:bodyPr wrap="square" rtlCol="0">
                <a:spAutoFit/>
                <a:scene3d>
                  <a:camera prst="orthographicFront"/>
                  <a:lightRig rig="threePt" dir="t"/>
                </a:scene3d>
              </a:bodyPr>
              <a:p>
                <a:r>
                  <a:rPr lang="en-US" altLang="zh-CN" b="1">
                    <a:solidFill>
                      <a:schemeClr val="accent1"/>
                    </a:solidFill>
                    <a:effectLst>
                      <a:outerShdw blurRad="38100" dist="25400" dir="5400000" algn="ctr" rotWithShape="0">
                        <a:srgbClr val="6E747A">
                          <a:alpha val="43000"/>
                        </a:srgbClr>
                      </a:outerShdw>
                    </a:effectLst>
                  </a:rPr>
                  <a:t>Work Event 1</a:t>
                </a:r>
                <a:endParaRPr lang="en-US" altLang="zh-CN" b="1">
                  <a:solidFill>
                    <a:schemeClr val="accent1"/>
                  </a:solidFill>
                  <a:effectLst>
                    <a:outerShdw blurRad="38100" dist="25400" dir="5400000" algn="ctr" rotWithShape="0">
                      <a:srgbClr val="6E747A">
                        <a:alpha val="43000"/>
                      </a:srgbClr>
                    </a:outerShdw>
                  </a:effectLst>
                </a:endParaRPr>
              </a:p>
            </p:txBody>
          </p:sp>
          <p:cxnSp>
            <p:nvCxnSpPr>
              <p:cNvPr id="17" name="直接连接符 16"/>
              <p:cNvCxnSpPr/>
              <p:nvPr>
                <p:custDataLst>
                  <p:tags r:id="rId4"/>
                </p:custDataLst>
              </p:nvPr>
            </p:nvCxnSpPr>
            <p:spPr>
              <a:xfrm flipV="1">
                <a:off x="747" y="3148"/>
                <a:ext cx="6161" cy="14"/>
              </a:xfrm>
              <a:prstGeom prst="line">
                <a:avLst/>
              </a:prstGeom>
            </p:spPr>
            <p:style>
              <a:lnRef idx="2">
                <a:schemeClr val="accent1"/>
              </a:lnRef>
              <a:fillRef idx="0">
                <a:srgbClr val="FFFFFF"/>
              </a:fillRef>
              <a:effectRef idx="0">
                <a:srgbClr val="FFFFFF"/>
              </a:effectRef>
              <a:fontRef idx="minor">
                <a:schemeClr val="tx1"/>
              </a:fontRef>
            </p:style>
          </p:cxnSp>
        </p:grpSp>
        <p:sp>
          <p:nvSpPr>
            <p:cNvPr id="20" name="文本框 19"/>
            <p:cNvSpPr txBox="1"/>
            <p:nvPr>
              <p:custDataLst>
                <p:tags r:id="rId5"/>
              </p:custDataLst>
            </p:nvPr>
          </p:nvSpPr>
          <p:spPr>
            <a:xfrm>
              <a:off x="7837" y="1029"/>
              <a:ext cx="6148" cy="3766"/>
            </a:xfrm>
            <a:prstGeom prst="rect">
              <a:avLst/>
            </a:prstGeom>
            <a:noFill/>
          </p:spPr>
          <p:txBody>
            <a:bodyPr wrap="square" rtlCol="0">
              <a:noAutofit/>
            </a:bodyPr>
            <a:p>
              <a:r>
                <a:rPr lang="en-US" altLang="zh-CN" sz="1600">
                  <a:latin typeface="Times New Roman" panose="02020603050405020304" charset="0"/>
                  <a:cs typeface="Times New Roman" panose="02020603050405020304" charset="0"/>
                </a:rPr>
                <a:t>(</a:t>
              </a:r>
              <a:r>
                <a:rPr lang="en-US" altLang="zh-CN" sz="1600" b="1">
                  <a:latin typeface="Times New Roman" panose="02020603050405020304" charset="0"/>
                  <a:cs typeface="Times New Roman" panose="02020603050405020304" charset="0"/>
                </a:rPr>
                <a:t>Type</a:t>
              </a:r>
              <a:r>
                <a:rPr lang="en-US" altLang="zh-CN" sz="1600">
                  <a:latin typeface="Times New Roman" panose="02020603050405020304" charset="0"/>
                  <a:cs typeface="Times New Roman" panose="02020603050405020304" charset="0"/>
                </a:rPr>
                <a:t>) Job Fair; (</a:t>
              </a:r>
              <a:r>
                <a:rPr lang="en-US" altLang="zh-CN" sz="1600" b="1">
                  <a:latin typeface="Times New Roman" panose="02020603050405020304" charset="0"/>
                  <a:cs typeface="Times New Roman" panose="02020603050405020304" charset="0"/>
                </a:rPr>
                <a:t>Content</a:t>
              </a:r>
              <a:r>
                <a:rPr lang="en-US" altLang="zh-CN" sz="1600">
                  <a:latin typeface="Times New Roman" panose="02020603050405020304" charset="0"/>
                  <a:cs typeface="Times New Roman" panose="02020603050405020304" charset="0"/>
                </a:rPr>
                <a:t>) Job Fair for Bank Teller Supervisors in the Shenzhen area, sharing professional experience, recruiting talented individuals, and jointly creating a brilliant future for the banking industry.; (</a:t>
              </a:r>
              <a:r>
                <a:rPr lang="en-US" altLang="zh-CN" sz="1600" b="1">
                  <a:latin typeface="Times New Roman" panose="02020603050405020304" charset="0"/>
                  <a:cs typeface="Times New Roman" panose="02020603050405020304" charset="0"/>
                </a:rPr>
                <a:t>Location</a:t>
              </a:r>
              <a:r>
                <a:rPr lang="en-US" altLang="zh-CN" sz="1600">
                  <a:latin typeface="Times New Roman" panose="02020603050405020304" charset="0"/>
                  <a:cs typeface="Times New Roman" panose="02020603050405020304" charset="0"/>
                </a:rPr>
                <a:t>) Shenzhen, Guangdong; (</a:t>
              </a:r>
              <a:r>
                <a:rPr lang="en-US" altLang="zh-CN" sz="1600" b="1">
                  <a:latin typeface="Times New Roman" panose="02020603050405020304" charset="0"/>
                  <a:cs typeface="Times New Roman" panose="02020603050405020304" charset="0"/>
                </a:rPr>
                <a:t>Time</a:t>
              </a:r>
              <a:r>
                <a:rPr lang="en-US" altLang="zh-CN" sz="1600">
                  <a:latin typeface="Times New Roman" panose="02020603050405020304" charset="0"/>
                  <a:cs typeface="Times New Roman" panose="02020603050405020304" charset="0"/>
                </a:rPr>
                <a:t>) At 7 PM on the Sunday after next; (</a:t>
              </a:r>
              <a:r>
                <a:rPr lang="en-US" altLang="zh-CN" sz="1600" b="1">
                  <a:latin typeface="Times New Roman" panose="02020603050405020304" charset="0"/>
                  <a:cs typeface="Times New Roman" panose="02020603050405020304" charset="0"/>
                </a:rPr>
                <a:t>Title</a:t>
              </a:r>
              <a:r>
                <a:rPr lang="en-US" altLang="zh-CN" sz="1600">
                  <a:latin typeface="Times New Roman" panose="02020603050405020304" charset="0"/>
                  <a:cs typeface="Times New Roman" panose="02020603050405020304" charset="0"/>
                </a:rPr>
                <a:t>) Bank Teller Job Fair; (</a:t>
              </a:r>
              <a:r>
                <a:rPr lang="en-US" altLang="zh-CN" sz="1600" b="1">
                  <a:latin typeface="Times New Roman" panose="02020603050405020304" charset="0"/>
                  <a:cs typeface="Times New Roman" panose="02020603050405020304" charset="0"/>
                </a:rPr>
                <a:t>Scale</a:t>
              </a:r>
              <a:r>
                <a:rPr lang="en-US" altLang="zh-CN" sz="1600">
                  <a:latin typeface="Times New Roman" panose="02020603050405020304" charset="0"/>
                  <a:cs typeface="Times New Roman" panose="02020603050405020304" charset="0"/>
                </a:rPr>
                <a:t>) Around 500 People; (</a:t>
              </a:r>
              <a:r>
                <a:rPr lang="en-US" altLang="zh-CN" sz="1600" b="1">
                  <a:latin typeface="Times New Roman" panose="02020603050405020304" charset="0"/>
                  <a:cs typeface="Times New Roman" panose="02020603050405020304" charset="0"/>
                </a:rPr>
                <a:t>Duration</a:t>
              </a:r>
              <a:r>
                <a:rPr lang="en-US" altLang="zh-CN" sz="1600">
                  <a:latin typeface="Times New Roman" panose="02020603050405020304" charset="0"/>
                  <a:cs typeface="Times New Roman" panose="02020603050405020304" charset="0"/>
                </a:rPr>
                <a:t>) Eight Weeks;</a:t>
              </a:r>
              <a:endParaRPr lang="en-US" altLang="zh-CN" sz="1600">
                <a:latin typeface="Times New Roman" panose="02020603050405020304" charset="0"/>
                <a:cs typeface="Times New Roman" panose="02020603050405020304" charset="0"/>
              </a:endParaRPr>
            </a:p>
          </p:txBody>
        </p:sp>
      </p:grpSp>
      <p:grpSp>
        <p:nvGrpSpPr>
          <p:cNvPr id="27" name="组合 26"/>
          <p:cNvGrpSpPr/>
          <p:nvPr/>
        </p:nvGrpSpPr>
        <p:grpSpPr>
          <a:xfrm>
            <a:off x="8014970" y="3585210"/>
            <a:ext cx="4004310" cy="3136900"/>
            <a:chOff x="7823" y="5746"/>
            <a:chExt cx="6306" cy="4940"/>
          </a:xfrm>
        </p:grpSpPr>
        <p:grpSp>
          <p:nvGrpSpPr>
            <p:cNvPr id="21" name="组合 20"/>
            <p:cNvGrpSpPr/>
            <p:nvPr>
              <p:custDataLst>
                <p:tags r:id="rId6"/>
              </p:custDataLst>
            </p:nvPr>
          </p:nvGrpSpPr>
          <p:grpSpPr>
            <a:xfrm>
              <a:off x="7823" y="5746"/>
              <a:ext cx="6162" cy="4940"/>
              <a:chOff x="746" y="2129"/>
              <a:chExt cx="6162" cy="6745"/>
            </a:xfrm>
          </p:grpSpPr>
          <p:sp>
            <p:nvSpPr>
              <p:cNvPr id="22" name="流程图: 可选过程 21"/>
              <p:cNvSpPr/>
              <p:nvPr>
                <p:custDataLst>
                  <p:tags r:id="rId7"/>
                </p:custDataLst>
              </p:nvPr>
            </p:nvSpPr>
            <p:spPr>
              <a:xfrm>
                <a:off x="746" y="2129"/>
                <a:ext cx="6162" cy="6745"/>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文本框 22"/>
              <p:cNvSpPr txBox="1"/>
              <p:nvPr>
                <p:custDataLst>
                  <p:tags r:id="rId8"/>
                </p:custDataLst>
              </p:nvPr>
            </p:nvSpPr>
            <p:spPr>
              <a:xfrm>
                <a:off x="3356" y="2297"/>
                <a:ext cx="1238" cy="792"/>
              </a:xfrm>
              <a:prstGeom prst="rect">
                <a:avLst/>
              </a:prstGeom>
              <a:noFill/>
            </p:spPr>
            <p:txBody>
              <a:bodyPr wrap="square" rtlCol="0">
                <a:spAutoFit/>
                <a:scene3d>
                  <a:camera prst="orthographicFront"/>
                  <a:lightRig rig="threePt" dir="t"/>
                </a:scene3d>
              </a:bodyPr>
              <a:p>
                <a:r>
                  <a:rPr lang="en-US" altLang="zh-CN" b="1">
                    <a:solidFill>
                      <a:schemeClr val="accent1"/>
                    </a:solidFill>
                    <a:effectLst>
                      <a:outerShdw blurRad="38100" dist="25400" dir="5400000" algn="ctr" rotWithShape="0">
                        <a:srgbClr val="6E747A">
                          <a:alpha val="43000"/>
                        </a:srgbClr>
                      </a:outerShdw>
                    </a:effectLst>
                  </a:rPr>
                  <a:t>Place</a:t>
                </a:r>
                <a:endParaRPr lang="en-US" altLang="zh-CN" b="1">
                  <a:solidFill>
                    <a:schemeClr val="accent1"/>
                  </a:solidFill>
                  <a:effectLst>
                    <a:outerShdw blurRad="38100" dist="25400" dir="5400000" algn="ctr" rotWithShape="0">
                      <a:srgbClr val="6E747A">
                        <a:alpha val="43000"/>
                      </a:srgbClr>
                    </a:outerShdw>
                  </a:effectLst>
                </a:endParaRPr>
              </a:p>
            </p:txBody>
          </p:sp>
          <p:cxnSp>
            <p:nvCxnSpPr>
              <p:cNvPr id="24" name="直接连接符 23"/>
              <p:cNvCxnSpPr/>
              <p:nvPr>
                <p:custDataLst>
                  <p:tags r:id="rId9"/>
                </p:custDataLst>
              </p:nvPr>
            </p:nvCxnSpPr>
            <p:spPr>
              <a:xfrm flipV="1">
                <a:off x="783" y="3152"/>
                <a:ext cx="6125" cy="11"/>
              </a:xfrm>
              <a:prstGeom prst="line">
                <a:avLst/>
              </a:prstGeom>
            </p:spPr>
            <p:style>
              <a:lnRef idx="2">
                <a:schemeClr val="accent1"/>
              </a:lnRef>
              <a:fillRef idx="0">
                <a:srgbClr val="FFFFFF"/>
              </a:fillRef>
              <a:effectRef idx="0">
                <a:srgbClr val="FFFFFF"/>
              </a:effectRef>
              <a:fontRef idx="minor">
                <a:schemeClr val="tx1"/>
              </a:fontRef>
            </p:style>
          </p:cxnSp>
        </p:grpSp>
        <p:sp>
          <p:nvSpPr>
            <p:cNvPr id="25" name="文本框 24"/>
            <p:cNvSpPr txBox="1"/>
            <p:nvPr>
              <p:custDataLst>
                <p:tags r:id="rId10"/>
              </p:custDataLst>
            </p:nvPr>
          </p:nvSpPr>
          <p:spPr>
            <a:xfrm>
              <a:off x="8037" y="6503"/>
              <a:ext cx="6092" cy="4133"/>
            </a:xfrm>
            <a:prstGeom prst="rect">
              <a:avLst/>
            </a:prstGeom>
            <a:noFill/>
          </p:spPr>
          <p:txBody>
            <a:bodyPr wrap="square" rtlCol="0">
              <a:noAutofit/>
            </a:bodyPr>
            <a:p>
              <a:r>
                <a:rPr lang="en-US" altLang="zh-CN" sz="1600">
                  <a:latin typeface="Times New Roman" panose="02020603050405020304" charset="0"/>
                  <a:cs typeface="Times New Roman" panose="02020603050405020304" charset="0"/>
                </a:rPr>
                <a:t>(</a:t>
              </a:r>
              <a:r>
                <a:rPr lang="en-US" altLang="zh-CN" sz="1600" b="1">
                  <a:latin typeface="Times New Roman" panose="02020603050405020304" charset="0"/>
                  <a:cs typeface="Times New Roman" panose="02020603050405020304" charset="0"/>
                </a:rPr>
                <a:t>Type</a:t>
              </a:r>
              <a:r>
                <a:rPr lang="en-US" altLang="zh-CN" sz="1600">
                  <a:latin typeface="Times New Roman" panose="02020603050405020304" charset="0"/>
                  <a:cs typeface="Times New Roman" panose="02020603050405020304" charset="0"/>
                </a:rPr>
                <a:t>) Residential Community; (</a:t>
              </a:r>
              <a:r>
                <a:rPr lang="en-US" altLang="zh-CN" sz="1600" b="1">
                  <a:latin typeface="Times New Roman" panose="02020603050405020304" charset="0"/>
                  <a:cs typeface="Times New Roman" panose="02020603050405020304" charset="0"/>
                </a:rPr>
                <a:t>Name</a:t>
              </a:r>
              <a:r>
                <a:rPr lang="en-US" altLang="zh-CN" sz="1600">
                  <a:latin typeface="Times New Roman" panose="02020603050405020304" charset="0"/>
                  <a:cs typeface="Times New Roman" panose="02020603050405020304" charset="0"/>
                </a:rPr>
                <a:t>) Oasis Home; (</a:t>
              </a:r>
              <a:r>
                <a:rPr lang="en-US" altLang="zh-CN" sz="1600" b="1">
                  <a:latin typeface="Times New Roman" panose="02020603050405020304" charset="0"/>
                  <a:cs typeface="Times New Roman" panose="02020603050405020304" charset="0"/>
                </a:rPr>
                <a:t>Comment</a:t>
              </a:r>
              <a:r>
                <a:rPr lang="en-US" altLang="zh-CN" sz="1600">
                  <a:latin typeface="Times New Roman" panose="02020603050405020304" charset="0"/>
                  <a:cs typeface="Times New Roman" panose="02020603050405020304" charset="0"/>
                </a:rPr>
                <a:t>) Oasis Home is really a nice place to live, with a high green coverage rate and a beautiful environment. It’s especially great to walk and relax here after work every day. However, the commercial facilities are slightly lacking, and it would be perfect if there were more convenience stores and restaurants.; (</a:t>
              </a:r>
              <a:r>
                <a:rPr lang="en-US" altLang="zh-CN" sz="1600" b="1">
                  <a:latin typeface="Times New Roman" panose="02020603050405020304" charset="0"/>
                  <a:cs typeface="Times New Roman" panose="02020603050405020304" charset="0"/>
                </a:rPr>
                <a:t>Relationship</a:t>
              </a:r>
              <a:r>
                <a:rPr lang="en-US" altLang="zh-CN" sz="1600">
                  <a:latin typeface="Times New Roman" panose="02020603050405020304" charset="0"/>
                  <a:cs typeface="Times New Roman" panose="02020603050405020304" charset="0"/>
                </a:rPr>
                <a:t>) Use</a:t>
              </a:r>
              <a:endParaRPr lang="en-US" altLang="zh-CN" sz="1600">
                <a:latin typeface="Times New Roman" panose="02020603050405020304" charset="0"/>
                <a:cs typeface="Times New Roman" panose="02020603050405020304" charset="0"/>
              </a:endParaRPr>
            </a:p>
          </p:txBody>
        </p:sp>
      </p:grpSp>
      <p:grpSp>
        <p:nvGrpSpPr>
          <p:cNvPr id="29" name="组合 28"/>
          <p:cNvGrpSpPr/>
          <p:nvPr/>
        </p:nvGrpSpPr>
        <p:grpSpPr>
          <a:xfrm>
            <a:off x="3694430" y="1574165"/>
            <a:ext cx="3912870" cy="4436745"/>
            <a:chOff x="891" y="2129"/>
            <a:chExt cx="6162" cy="6987"/>
          </a:xfrm>
        </p:grpSpPr>
        <p:grpSp>
          <p:nvGrpSpPr>
            <p:cNvPr id="30" name="组合 29"/>
            <p:cNvGrpSpPr/>
            <p:nvPr/>
          </p:nvGrpSpPr>
          <p:grpSpPr>
            <a:xfrm>
              <a:off x="891" y="2129"/>
              <a:ext cx="6162" cy="6987"/>
              <a:chOff x="891" y="2129"/>
              <a:chExt cx="6162" cy="6987"/>
            </a:xfrm>
          </p:grpSpPr>
          <p:sp>
            <p:nvSpPr>
              <p:cNvPr id="31" name="流程图: 可选过程 30"/>
              <p:cNvSpPr/>
              <p:nvPr/>
            </p:nvSpPr>
            <p:spPr>
              <a:xfrm>
                <a:off x="891" y="2129"/>
                <a:ext cx="6162" cy="6987"/>
              </a:xfrm>
              <a:prstGeom prst="flowChartAlternateProcess">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32" name="文本框 31"/>
              <p:cNvSpPr txBox="1"/>
              <p:nvPr/>
            </p:nvSpPr>
            <p:spPr>
              <a:xfrm>
                <a:off x="2776" y="2279"/>
                <a:ext cx="2103" cy="580"/>
              </a:xfrm>
              <a:prstGeom prst="rect">
                <a:avLst/>
              </a:prstGeom>
              <a:noFill/>
            </p:spPr>
            <p:txBody>
              <a:bodyPr wrap="square" rtlCol="0">
                <a:spAutoFit/>
                <a:scene3d>
                  <a:camera prst="orthographicFront"/>
                  <a:lightRig rig="threePt" dir="t"/>
                </a:scene3d>
              </a:bodyPr>
              <a:p>
                <a:r>
                  <a:rPr lang="en-US" altLang="zh-CN" b="1">
                    <a:solidFill>
                      <a:schemeClr val="accent1"/>
                    </a:solidFill>
                    <a:effectLst>
                      <a:outerShdw blurRad="38100" dist="25400" dir="5400000" algn="ctr" rotWithShape="0">
                        <a:srgbClr val="6E747A">
                          <a:alpha val="43000"/>
                        </a:srgbClr>
                      </a:outerShdw>
                    </a:effectLst>
                  </a:rPr>
                  <a:t>User (self)</a:t>
                </a:r>
                <a:endParaRPr lang="en-US" altLang="zh-CN" b="1">
                  <a:solidFill>
                    <a:schemeClr val="accent1"/>
                  </a:solidFill>
                  <a:effectLst>
                    <a:outerShdw blurRad="38100" dist="25400" dir="5400000" algn="ctr" rotWithShape="0">
                      <a:srgbClr val="6E747A">
                        <a:alpha val="43000"/>
                      </a:srgbClr>
                    </a:outerShdw>
                  </a:effectLst>
                </a:endParaRPr>
              </a:p>
            </p:txBody>
          </p:sp>
          <p:cxnSp>
            <p:nvCxnSpPr>
              <p:cNvPr id="33" name="直接连接符 32"/>
              <p:cNvCxnSpPr/>
              <p:nvPr/>
            </p:nvCxnSpPr>
            <p:spPr>
              <a:xfrm flipV="1">
                <a:off x="919" y="2977"/>
                <a:ext cx="6125" cy="11"/>
              </a:xfrm>
              <a:prstGeom prst="line">
                <a:avLst/>
              </a:prstGeom>
            </p:spPr>
            <p:style>
              <a:lnRef idx="2">
                <a:schemeClr val="accent1"/>
              </a:lnRef>
              <a:fillRef idx="0">
                <a:srgbClr val="FFFFFF"/>
              </a:fillRef>
              <a:effectRef idx="0">
                <a:srgbClr val="FFFFFF"/>
              </a:effectRef>
              <a:fontRef idx="minor">
                <a:schemeClr val="tx1"/>
              </a:fontRef>
            </p:style>
          </p:cxnSp>
        </p:grpSp>
        <p:sp>
          <p:nvSpPr>
            <p:cNvPr id="34" name="文本框 33"/>
            <p:cNvSpPr txBox="1"/>
            <p:nvPr/>
          </p:nvSpPr>
          <p:spPr>
            <a:xfrm>
              <a:off x="973" y="2988"/>
              <a:ext cx="6018" cy="5679"/>
            </a:xfrm>
            <a:prstGeom prst="rect">
              <a:avLst/>
            </a:prstGeom>
            <a:noFill/>
          </p:spPr>
          <p:txBody>
            <a:bodyPr wrap="square" rtlCol="0">
              <a:noAutofit/>
            </a:bodyPr>
            <a:p>
              <a:r>
                <a:rPr lang="en-US" altLang="zh-CN" sz="1600">
                  <a:latin typeface="Times New Roman" panose="02020603050405020304" charset="0"/>
                  <a:cs typeface="Times New Roman" panose="02020603050405020304" charset="0"/>
                </a:rPr>
                <a:t>(</a:t>
              </a:r>
              <a:r>
                <a:rPr lang="en-US" altLang="zh-CN" sz="1600" b="1">
                  <a:latin typeface="Times New Roman" panose="02020603050405020304" charset="0"/>
                  <a:cs typeface="Times New Roman" panose="02020603050405020304" charset="0"/>
                </a:rPr>
                <a:t>Gender</a:t>
              </a:r>
              <a:r>
                <a:rPr lang="en-US" altLang="zh-CN" sz="1600">
                  <a:latin typeface="Times New Roman" panose="02020603050405020304" charset="0"/>
                  <a:cs typeface="Times New Roman" panose="02020603050405020304" charset="0"/>
                </a:rPr>
                <a:t>) Male; (</a:t>
              </a:r>
              <a:r>
                <a:rPr lang="en-US" altLang="zh-CN" sz="1600" b="1">
                  <a:latin typeface="Times New Roman" panose="02020603050405020304" charset="0"/>
                  <a:cs typeface="Times New Roman" panose="02020603050405020304" charset="0"/>
                </a:rPr>
                <a:t>Name</a:t>
              </a:r>
              <a:r>
                <a:rPr lang="en-US" altLang="zh-CN" sz="1600">
                  <a:latin typeface="Times New Roman" panose="02020603050405020304" charset="0"/>
                  <a:cs typeface="Times New Roman" panose="02020603050405020304" charset="0"/>
                </a:rPr>
                <a:t>) Qiang Wang; (</a:t>
              </a:r>
              <a:r>
                <a:rPr lang="en-US" altLang="zh-CN" sz="1600" b="1">
                  <a:latin typeface="Times New Roman" panose="02020603050405020304" charset="0"/>
                  <a:cs typeface="Times New Roman" panose="02020603050405020304" charset="0"/>
                </a:rPr>
                <a:t>Age</a:t>
              </a:r>
              <a:r>
                <a:rPr lang="en-US" altLang="zh-CN" sz="1600">
                  <a:latin typeface="Times New Roman" panose="02020603050405020304" charset="0"/>
                  <a:cs typeface="Times New Roman" panose="02020603050405020304" charset="0"/>
                </a:rPr>
                <a:t>) 38; (</a:t>
              </a:r>
              <a:r>
                <a:rPr lang="en-US" altLang="zh-CN" sz="1600" b="1">
                  <a:latin typeface="Times New Roman" panose="02020603050405020304" charset="0"/>
                  <a:cs typeface="Times New Roman" panose="02020603050405020304" charset="0"/>
                </a:rPr>
                <a:t>Height</a:t>
              </a:r>
              <a:r>
                <a:rPr lang="en-US" altLang="zh-CN" sz="1600">
                  <a:latin typeface="Times New Roman" panose="02020603050405020304" charset="0"/>
                  <a:cs typeface="Times New Roman" panose="02020603050405020304" charset="0"/>
                </a:rPr>
                <a:t>) 166cm; (</a:t>
              </a:r>
              <a:r>
                <a:rPr lang="en-US" altLang="zh-CN" sz="1600" b="1">
                  <a:latin typeface="Times New Roman" panose="02020603050405020304" charset="0"/>
                  <a:cs typeface="Times New Roman" panose="02020603050405020304" charset="0"/>
                </a:rPr>
                <a:t>Birthday</a:t>
              </a:r>
              <a:r>
                <a:rPr lang="en-US" altLang="zh-CN" sz="1600">
                  <a:latin typeface="Times New Roman" panose="02020603050405020304" charset="0"/>
                  <a:cs typeface="Times New Roman" panose="02020603050405020304" charset="0"/>
                </a:rPr>
                <a:t>) December 1st.; (</a:t>
              </a:r>
              <a:r>
                <a:rPr lang="en-US" altLang="zh-CN" sz="1600" b="1">
                  <a:latin typeface="Times New Roman" panose="02020603050405020304" charset="0"/>
                  <a:cs typeface="Times New Roman" panose="02020603050405020304" charset="0"/>
                </a:rPr>
                <a:t>Hometown</a:t>
              </a:r>
              <a:r>
                <a:rPr lang="en-US" altLang="zh-CN" sz="1600">
                  <a:latin typeface="Times New Roman" panose="02020603050405020304" charset="0"/>
                  <a:cs typeface="Times New Roman" panose="02020603050405020304" charset="0"/>
                </a:rPr>
                <a:t>) Beijing; (</a:t>
              </a:r>
              <a:r>
                <a:rPr lang="en-US" altLang="zh-CN" sz="1600" b="1">
                  <a:latin typeface="Times New Roman" panose="02020603050405020304" charset="0"/>
                  <a:cs typeface="Times New Roman" panose="02020603050405020304" charset="0"/>
                </a:rPr>
                <a:t>Workplace</a:t>
              </a:r>
              <a:r>
                <a:rPr lang="en-US" altLang="zh-CN" sz="1600">
                  <a:latin typeface="Times New Roman" panose="02020603050405020304" charset="0"/>
                  <a:cs typeface="Times New Roman" panose="02020603050405020304" charset="0"/>
                </a:rPr>
                <a:t>) Shenzhen, Guangdong; (</a:t>
              </a:r>
              <a:r>
                <a:rPr lang="en-US" altLang="zh-CN" sz="1600" b="1">
                  <a:latin typeface="Times New Roman" panose="02020603050405020304" charset="0"/>
                  <a:cs typeface="Times New Roman" panose="02020603050405020304" charset="0"/>
                </a:rPr>
                <a:t>Education</a:t>
              </a:r>
              <a:r>
                <a:rPr lang="en-US" altLang="zh-CN" sz="1600">
                  <a:latin typeface="Times New Roman" panose="02020603050405020304" charset="0"/>
                  <a:cs typeface="Times New Roman" panose="02020603050405020304" charset="0"/>
                </a:rPr>
                <a:t>) High School; (</a:t>
              </a:r>
              <a:r>
                <a:rPr lang="en-US" altLang="zh-CN" sz="1600" b="1">
                  <a:latin typeface="Times New Roman" panose="02020603050405020304" charset="0"/>
                  <a:cs typeface="Times New Roman" panose="02020603050405020304" charset="0"/>
                </a:rPr>
                <a:t>Occupation</a:t>
              </a:r>
              <a:r>
                <a:rPr lang="en-US" altLang="zh-CN" sz="1600">
                  <a:latin typeface="Times New Roman" panose="02020603050405020304" charset="0"/>
                  <a:cs typeface="Times New Roman" panose="02020603050405020304" charset="0"/>
                </a:rPr>
                <a:t>) Bank Teller; (</a:t>
              </a:r>
              <a:r>
                <a:rPr lang="en-US" altLang="zh-CN" sz="1600" b="1">
                  <a:latin typeface="Times New Roman" panose="02020603050405020304" charset="0"/>
                  <a:cs typeface="Times New Roman" panose="02020603050405020304" charset="0"/>
                </a:rPr>
                <a:t>Position</a:t>
              </a:r>
              <a:r>
                <a:rPr lang="en-US" altLang="zh-CN" sz="1600">
                  <a:latin typeface="Times New Roman" panose="02020603050405020304" charset="0"/>
                  <a:cs typeface="Times New Roman" panose="02020603050405020304" charset="0"/>
                </a:rPr>
                <a:t>) Head Teller; (</a:t>
              </a:r>
              <a:r>
                <a:rPr lang="en-US" altLang="zh-CN" sz="1600" b="1">
                  <a:latin typeface="Times New Roman" panose="02020603050405020304" charset="0"/>
                  <a:cs typeface="Times New Roman" panose="02020603050405020304" charset="0"/>
                </a:rPr>
                <a:t>Company</a:t>
              </a:r>
              <a:r>
                <a:rPr lang="en-US" altLang="zh-CN" sz="1600">
                  <a:latin typeface="Times New Roman" panose="02020603050405020304" charset="0"/>
                  <a:cs typeface="Times New Roman" panose="02020603050405020304" charset="0"/>
                </a:rPr>
                <a:t>) Huayin Financial Service Center; (</a:t>
              </a:r>
              <a:r>
                <a:rPr lang="en-US" altLang="zh-CN" sz="1600" b="1">
                  <a:latin typeface="Times New Roman" panose="02020603050405020304" charset="0"/>
                  <a:cs typeface="Times New Roman" panose="02020603050405020304" charset="0"/>
                </a:rPr>
                <a:t>Hobbies</a:t>
              </a:r>
              <a:r>
                <a:rPr lang="en-US" altLang="zh-CN" sz="1600">
                  <a:latin typeface="Times New Roman" panose="02020603050405020304" charset="0"/>
                  <a:cs typeface="Times New Roman" panose="02020603050405020304" charset="0"/>
                </a:rPr>
                <a:t>) Model Making; (</a:t>
              </a:r>
              <a:r>
                <a:rPr lang="en-US" altLang="zh-CN" sz="1600" b="1">
                  <a:latin typeface="Times New Roman" panose="02020603050405020304" charset="0"/>
                  <a:cs typeface="Times New Roman" panose="02020603050405020304" charset="0"/>
                </a:rPr>
                <a:t>Personality</a:t>
              </a:r>
              <a:r>
                <a:rPr lang="en-US" altLang="zh-CN" sz="1600">
                  <a:latin typeface="Times New Roman" panose="02020603050405020304" charset="0"/>
                  <a:cs typeface="Times New Roman" panose="02020603050405020304" charset="0"/>
                </a:rPr>
                <a:t>) Outgoing; (</a:t>
              </a:r>
              <a:r>
                <a:rPr lang="en-US" altLang="zh-CN" sz="1600" b="1">
                  <a:latin typeface="Times New Roman" panose="02020603050405020304" charset="0"/>
                  <a:cs typeface="Times New Roman" panose="02020603050405020304" charset="0"/>
                </a:rPr>
                <a:t>Phone</a:t>
              </a:r>
              <a:r>
                <a:rPr lang="en-US" altLang="zh-CN" sz="1600">
                  <a:latin typeface="Times New Roman" panose="02020603050405020304" charset="0"/>
                  <a:cs typeface="Times New Roman" panose="02020603050405020304" charset="0"/>
                </a:rPr>
                <a:t>) 13420824898; (</a:t>
              </a:r>
              <a:r>
                <a:rPr lang="en-US" altLang="zh-CN" sz="1600" b="1">
                  <a:latin typeface="Times New Roman" panose="02020603050405020304" charset="0"/>
                  <a:cs typeface="Times New Roman" panose="02020603050405020304" charset="0"/>
                </a:rPr>
                <a:t>Email</a:t>
              </a:r>
              <a:r>
                <a:rPr lang="en-US" altLang="zh-CN" sz="1600">
                  <a:latin typeface="Times New Roman" panose="02020603050405020304" charset="0"/>
                  <a:cs typeface="Times New Roman" panose="02020603050405020304" charset="0"/>
                </a:rPr>
                <a:t>) wangqiang1201 @huayinfinance.com; (</a:t>
              </a:r>
              <a:r>
                <a:rPr lang="en-US" altLang="zh-CN" sz="1600" b="1">
                  <a:latin typeface="Times New Roman" panose="02020603050405020304" charset="0"/>
                  <a:cs typeface="Times New Roman" panose="02020603050405020304" charset="0"/>
                </a:rPr>
                <a:t>ID Number</a:t>
              </a:r>
              <a:r>
                <a:rPr lang="en-US" altLang="zh-CN" sz="1600">
                  <a:latin typeface="Times New Roman" panose="02020603050405020304" charset="0"/>
                  <a:cs typeface="Times New Roman" panose="02020603050405020304" charset="0"/>
                </a:rPr>
                <a:t>) 640168198612016598; (</a:t>
              </a:r>
              <a:r>
                <a:rPr lang="en-US" altLang="zh-CN" sz="1600" b="1">
                  <a:latin typeface="Times New Roman" panose="02020603050405020304" charset="0"/>
                  <a:cs typeface="Times New Roman" panose="02020603050405020304" charset="0"/>
                </a:rPr>
                <a:t>Passport Number</a:t>
              </a:r>
              <a:r>
                <a:rPr lang="en-US" altLang="zh-CN" sz="1600">
                  <a:latin typeface="Times New Roman" panose="02020603050405020304" charset="0"/>
                  <a:cs typeface="Times New Roman" panose="02020603050405020304" charset="0"/>
                </a:rPr>
                <a:t>) NZ0448096; (</a:t>
              </a:r>
              <a:r>
                <a:rPr lang="en-US" altLang="zh-CN" sz="1600" b="1">
                  <a:latin typeface="Times New Roman" panose="02020603050405020304" charset="0"/>
                  <a:cs typeface="Times New Roman" panose="02020603050405020304" charset="0"/>
                </a:rPr>
                <a:t>Bank Card Number</a:t>
              </a:r>
              <a:r>
                <a:rPr lang="en-US" altLang="zh-CN" sz="1600">
                  <a:latin typeface="Times New Roman" panose="02020603050405020304" charset="0"/>
                  <a:cs typeface="Times New Roman" panose="02020603050405020304" charset="0"/>
                </a:rPr>
                <a:t>) 6222022612177604; (</a:t>
              </a:r>
              <a:r>
                <a:rPr lang="en-US" altLang="zh-CN" sz="1600" b="1">
                  <a:latin typeface="Times New Roman" panose="02020603050405020304" charset="0"/>
                  <a:cs typeface="Times New Roman" panose="02020603050405020304" charset="0"/>
                </a:rPr>
                <a:t>Driver’s License Number</a:t>
              </a:r>
              <a:r>
                <a:rPr lang="en-US" altLang="zh-CN" sz="1600">
                  <a:latin typeface="Times New Roman" panose="02020603050405020304" charset="0"/>
                  <a:cs typeface="Times New Roman" panose="02020603050405020304" charset="0"/>
                </a:rPr>
                <a:t>) 640168198612012730;</a:t>
              </a:r>
              <a:endParaRPr lang="en-US" altLang="zh-CN" sz="1600">
                <a:latin typeface="Times New Roman" panose="02020603050405020304" charset="0"/>
                <a:cs typeface="Times New Roman" panose="02020603050405020304" charset="0"/>
              </a:endParaRPr>
            </a:p>
          </p:txBody>
        </p:sp>
      </p:grpSp>
    </p:spTree>
    <p:custDataLst>
      <p:tags r:id="rId1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Evaluations - User Profiles</a:t>
            </a:r>
            <a:endParaRPr lang="en-US" altLang="zh-CN" sz="3600" b="1">
              <a:latin typeface="Times New Roman" panose="02020603050405020304" charset="0"/>
              <a:cs typeface="Times New Roman" panose="02020603050405020304" charset="0"/>
            </a:endParaRPr>
          </a:p>
        </p:txBody>
      </p:sp>
      <p:sp>
        <p:nvSpPr>
          <p:cNvPr id="4" name="文本框 3"/>
          <p:cNvSpPr txBox="1"/>
          <p:nvPr/>
        </p:nvSpPr>
        <p:spPr>
          <a:xfrm>
            <a:off x="473710" y="1129665"/>
            <a:ext cx="11297285" cy="1198880"/>
          </a:xfrm>
          <a:prstGeom prst="rect">
            <a:avLst/>
          </a:prstGeom>
          <a:noFill/>
        </p:spPr>
        <p:txBody>
          <a:bodyPr wrap="square" rtlCol="0">
            <a:spAutoFit/>
          </a:bodyPr>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Rationality: no internal contradictions in their descriptions. </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Diversity: the descriptions among users are distinct, covering a wide range of user types.</a:t>
            </a:r>
            <a:endParaRPr lang="en-US" altLang="zh-CN" sz="2400">
              <a:latin typeface="Times New Roman" panose="02020603050405020304" charset="0"/>
              <a:cs typeface="Times New Roman" panose="02020603050405020304" charset="0"/>
            </a:endParaRPr>
          </a:p>
        </p:txBody>
      </p:sp>
      <p:sp>
        <p:nvSpPr>
          <p:cNvPr id="9" name="文本框 8"/>
          <p:cNvSpPr txBox="1"/>
          <p:nvPr/>
        </p:nvSpPr>
        <p:spPr>
          <a:xfrm>
            <a:off x="473710" y="2717800"/>
            <a:ext cx="4064000"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rPr>
              <a:t>Metrics</a:t>
            </a:r>
            <a:endParaRPr lang="en-US" altLang="zh-CN" sz="2800">
              <a:latin typeface="Times New Roman" panose="02020603050405020304" charset="0"/>
              <a:cs typeface="Times New Roman" panose="02020603050405020304" charset="0"/>
            </a:endParaRPr>
          </a:p>
        </p:txBody>
      </p:sp>
      <p:sp>
        <p:nvSpPr>
          <p:cNvPr id="10" name="文本框 9"/>
          <p:cNvSpPr txBox="1"/>
          <p:nvPr/>
        </p:nvSpPr>
        <p:spPr>
          <a:xfrm>
            <a:off x="473710" y="3413125"/>
            <a:ext cx="9618980" cy="3261995"/>
          </a:xfrm>
          <a:prstGeom prst="rect">
            <a:avLst/>
          </a:prstGeom>
          <a:noFill/>
        </p:spPr>
        <p:txBody>
          <a:bodyPr wrap="square" rtlCol="0">
            <a:noAutofit/>
          </a:bodyPr>
          <a:p>
            <a:pPr marL="342900" indent="-342900">
              <a:buFont typeface="Wingdings" panose="05000000000000000000" charset="0"/>
              <a:buChar char="ü"/>
            </a:pPr>
            <a:r>
              <a:rPr lang="en-US" altLang="zh-CN" sz="2400">
                <a:latin typeface="Times New Roman" panose="02020603050405020304" charset="0"/>
                <a:cs typeface="Times New Roman" panose="02020603050405020304" charset="0"/>
              </a:rPr>
              <a:t>Rationality</a:t>
            </a:r>
            <a:endParaRPr lang="en-US" altLang="zh-CN" sz="2400">
              <a:latin typeface="Times New Roman" panose="02020603050405020304" charset="0"/>
              <a:cs typeface="Times New Roman" panose="02020603050405020304" charset="0"/>
            </a:endParaRPr>
          </a:p>
          <a:p>
            <a:pPr indent="457200"/>
            <a:r>
              <a:rPr lang="en-US" altLang="zh-CN" sz="2400">
                <a:latin typeface="Times New Roman" panose="02020603050405020304" charset="0"/>
                <a:cs typeface="Times New Roman" panose="02020603050405020304" charset="0"/>
              </a:rPr>
              <a:t>six human evaluators(R-Human) &amp; GPT-4o(R-GPT), scale from 1 to 5</a:t>
            </a:r>
            <a:endParaRPr lang="en-US" altLang="zh-CN" sz="2400">
              <a:latin typeface="Times New Roman" panose="02020603050405020304" charset="0"/>
              <a:cs typeface="Times New Roman" panose="02020603050405020304" charset="0"/>
            </a:endParaRPr>
          </a:p>
          <a:p>
            <a:pPr marL="342900" indent="-342900">
              <a:buFont typeface="Wingdings" panose="05000000000000000000" charset="0"/>
              <a:buChar char="ü"/>
            </a:pPr>
            <a:r>
              <a:rPr lang="en-US" altLang="zh-CN" sz="2400">
                <a:latin typeface="Times New Roman" panose="02020603050405020304" charset="0"/>
                <a:cs typeface="Times New Roman" panose="02020603050405020304" charset="0"/>
              </a:rPr>
              <a:t>Diversity</a:t>
            </a:r>
            <a:endParaRPr lang="en-US" altLang="zh-CN" sz="2400">
              <a:latin typeface="Times New Roman" panose="02020603050405020304" charset="0"/>
              <a:cs typeface="Times New Roman" panose="02020603050405020304" charset="0"/>
            </a:endParaRPr>
          </a:p>
          <a:p>
            <a:endParaRPr lang="en-US" altLang="zh-CN" sz="2400">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3301365" y="4761230"/>
            <a:ext cx="5641975" cy="962660"/>
          </a:xfrm>
          <a:prstGeom prst="rect">
            <a:avLst/>
          </a:prstGeom>
        </p:spPr>
      </p:pic>
      <p:pic>
        <p:nvPicPr>
          <p:cNvPr id="6" name="图片 5"/>
          <p:cNvPicPr>
            <a:picLocks noChangeAspect="1"/>
          </p:cNvPicPr>
          <p:nvPr/>
        </p:nvPicPr>
        <p:blipFill>
          <a:blip r:embed="rId2"/>
          <a:stretch>
            <a:fillRect/>
          </a:stretch>
        </p:blipFill>
        <p:spPr>
          <a:xfrm>
            <a:off x="775970" y="5887085"/>
            <a:ext cx="5944870" cy="337820"/>
          </a:xfrm>
          <a:prstGeom prst="rect">
            <a:avLst/>
          </a:prstGeom>
        </p:spPr>
      </p:pic>
      <p:sp>
        <p:nvSpPr>
          <p:cNvPr id="3" name="文本框 2"/>
          <p:cNvSpPr txBox="1"/>
          <p:nvPr/>
        </p:nvSpPr>
        <p:spPr>
          <a:xfrm>
            <a:off x="9890125" y="4243705"/>
            <a:ext cx="1551940" cy="1732280"/>
          </a:xfrm>
          <a:prstGeom prst="rect">
            <a:avLst/>
          </a:prstGeom>
          <a:noFill/>
        </p:spPr>
        <p:txBody>
          <a:bodyPr wrap="square" rtlCol="0">
            <a:noAutofit/>
          </a:bodyPr>
          <a:p>
            <a:pPr>
              <a:lnSpc>
                <a:spcPct val="150000"/>
              </a:lnSpc>
            </a:pPr>
            <a:r>
              <a:rPr lang="zh-CN" altLang="en-US" sz="24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 SWI-R</a:t>
            </a:r>
            <a:endParaRPr lang="en-US" altLang="zh-CN" sz="2400">
              <a:latin typeface="Arial" panose="020B0604020202020204" pitchFamily="34" charset="0"/>
              <a:cs typeface="Arial" panose="020B0604020202020204" pitchFamily="34" charset="0"/>
            </a:endParaRPr>
          </a:p>
          <a:p>
            <a:pPr>
              <a:lnSpc>
                <a:spcPct val="150000"/>
              </a:lnSpc>
            </a:pPr>
            <a:r>
              <a:rPr lang="zh-CN" altLang="en-US" sz="2400">
                <a:latin typeface="Arial" panose="020B0604020202020204" pitchFamily="34" charset="0"/>
                <a:cs typeface="Arial" panose="020B0604020202020204" pitchFamily="34" charset="0"/>
                <a:sym typeface="+mn-ea"/>
              </a:rPr>
              <a:t>→</a:t>
            </a:r>
            <a:r>
              <a:rPr lang="en-US" altLang="zh-CN" sz="2400">
                <a:latin typeface="Arial" panose="020B0604020202020204" pitchFamily="34" charset="0"/>
                <a:cs typeface="Arial" panose="020B0604020202020204" pitchFamily="34" charset="0"/>
                <a:sym typeface="+mn-ea"/>
              </a:rPr>
              <a:t> SWI-O</a:t>
            </a:r>
            <a:endParaRPr lang="en-US" altLang="zh-CN" sz="2400">
              <a:latin typeface="Arial" panose="020B0604020202020204" pitchFamily="34" charset="0"/>
              <a:cs typeface="Arial" panose="020B0604020202020204" pitchFamily="34" charset="0"/>
              <a:sym typeface="+mn-ea"/>
            </a:endParaRPr>
          </a:p>
          <a:p>
            <a:pPr>
              <a:lnSpc>
                <a:spcPct val="150000"/>
              </a:lnSpc>
            </a:pPr>
            <a:r>
              <a:rPr lang="zh-CN" altLang="en-US" sz="2400">
                <a:latin typeface="Arial" panose="020B0604020202020204" pitchFamily="34" charset="0"/>
                <a:cs typeface="Arial" panose="020B0604020202020204" pitchFamily="34" charset="0"/>
                <a:sym typeface="+mn-ea"/>
              </a:rPr>
              <a:t>→</a:t>
            </a:r>
            <a:r>
              <a:rPr lang="en-US" altLang="zh-CN" sz="2400">
                <a:latin typeface="Arial" panose="020B0604020202020204" pitchFamily="34" charset="0"/>
                <a:cs typeface="Arial" panose="020B0604020202020204" pitchFamily="34" charset="0"/>
                <a:sym typeface="+mn-ea"/>
              </a:rPr>
              <a:t> SWI-A</a:t>
            </a:r>
            <a:endParaRPr lang="en-US" altLang="zh-CN" sz="2400">
              <a:latin typeface="Arial" panose="020B0604020202020204" pitchFamily="34" charset="0"/>
              <a:cs typeface="Arial" panose="020B0604020202020204" pitchFamily="34" charset="0"/>
            </a:endParaRPr>
          </a:p>
          <a:p>
            <a:pPr>
              <a:lnSpc>
                <a:spcPct val="150000"/>
              </a:lnSpc>
            </a:pPr>
            <a:endParaRPr lang="en-US" altLang="zh-CN" sz="2400">
              <a:latin typeface="Arial" panose="020B0604020202020204" pitchFamily="34" charset="0"/>
              <a:cs typeface="Arial" panose="020B0604020202020204" pitchFamily="34"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3710" y="1056640"/>
            <a:ext cx="4064000" cy="521970"/>
          </a:xfrm>
          <a:prstGeom prst="rect">
            <a:avLst/>
          </a:prstGeom>
          <a:noFill/>
        </p:spPr>
        <p:txBody>
          <a:bodyPr wrap="square" rtlCol="0">
            <a:spAutoFit/>
          </a:bodyPr>
          <a:p>
            <a:pPr marL="457200" lvl="0" indent="-457200" algn="l">
              <a:buClrTx/>
              <a:buSzTx/>
              <a:buFont typeface="Wingdings" panose="05000000000000000000" charset="0"/>
              <a:buChar char="Ø"/>
            </a:pPr>
            <a:r>
              <a:rPr lang="en-US" altLang="zh-CN" sz="2800">
                <a:latin typeface="Times New Roman" panose="02020603050405020304" charset="0"/>
                <a:cs typeface="Times New Roman" panose="02020603050405020304" charset="0"/>
                <a:sym typeface="+mn-ea"/>
              </a:rPr>
              <a:t>B</a:t>
            </a:r>
            <a:r>
              <a:rPr lang="en-US" altLang="zh-CN" sz="2800">
                <a:latin typeface="Times New Roman" panose="02020603050405020304" charset="0"/>
                <a:cs typeface="Times New Roman" panose="02020603050405020304" charset="0"/>
                <a:sym typeface="+mn-ea"/>
              </a:rPr>
              <a:t>aseline</a:t>
            </a:r>
            <a:r>
              <a:rPr lang="en-US" altLang="zh-CN" sz="2800">
                <a:latin typeface="Times New Roman" panose="02020603050405020304" charset="0"/>
                <a:cs typeface="Times New Roman" panose="02020603050405020304" charset="0"/>
                <a:sym typeface="+mn-ea"/>
              </a:rPr>
              <a:t>s</a:t>
            </a:r>
            <a:endParaRPr lang="en-US" altLang="zh-CN" sz="2800">
              <a:latin typeface="Times New Roman" panose="02020603050405020304" charset="0"/>
              <a:cs typeface="Times New Roman" panose="02020603050405020304" charset="0"/>
              <a:sym typeface="+mn-ea"/>
            </a:endParaRPr>
          </a:p>
        </p:txBody>
      </p:sp>
      <p:sp>
        <p:nvSpPr>
          <p:cNvPr id="3" name="文本框 2"/>
          <p:cNvSpPr txBox="1"/>
          <p:nvPr/>
        </p:nvSpPr>
        <p:spPr>
          <a:xfrm>
            <a:off x="473710" y="1443990"/>
            <a:ext cx="11468100" cy="2306955"/>
          </a:xfrm>
          <a:prstGeom prst="rect">
            <a:avLst/>
          </a:prstGeom>
          <a:noFill/>
        </p:spPr>
        <p:txBody>
          <a:bodyPr wrap="square" rtlCol="0">
            <a:spAutoFit/>
          </a:bodyPr>
          <a:p>
            <a:pPr>
              <a:lnSpc>
                <a:spcPct val="150000"/>
              </a:lnSpc>
            </a:pPr>
            <a:r>
              <a:rPr lang="en-US" altLang="zh-CN" sz="2400">
                <a:latin typeface="Times New Roman" panose="02020603050405020304" charset="0"/>
                <a:cs typeface="Times New Roman" panose="02020603050405020304" charset="0"/>
              </a:rPr>
              <a:t>(1) JointPL: prompting an LLM to generate attributes jointly.</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(2) SeqPL: prompting an LLM to generate attributes sequentially, conditioned on previous attributes in linear order. </a:t>
            </a:r>
            <a:endParaRPr lang="en-US" altLang="zh-CN" sz="2400">
              <a:latin typeface="Times New Roman" panose="02020603050405020304" charset="0"/>
              <a:cs typeface="Times New Roman" panose="02020603050405020304" charset="0"/>
            </a:endParaRPr>
          </a:p>
          <a:p>
            <a:pPr>
              <a:lnSpc>
                <a:spcPct val="150000"/>
              </a:lnSpc>
            </a:pPr>
            <a:r>
              <a:rPr lang="en-US" altLang="zh-CN" sz="2400">
                <a:latin typeface="Times New Roman" panose="02020603050405020304" charset="0"/>
                <a:cs typeface="Times New Roman" panose="02020603050405020304" charset="0"/>
              </a:rPr>
              <a:t>(3) IndePL: prompting an LLM to generate attributes independently. </a:t>
            </a:r>
            <a:endParaRPr lang="en-US" altLang="zh-CN" sz="2400">
              <a:latin typeface="Times New Roman" panose="02020603050405020304" charset="0"/>
              <a:cs typeface="Times New Roman" panose="02020603050405020304" charset="0"/>
            </a:endParaRPr>
          </a:p>
        </p:txBody>
      </p:sp>
      <p:sp>
        <p:nvSpPr>
          <p:cNvPr id="4" name="文本框 3"/>
          <p:cNvSpPr txBox="1"/>
          <p:nvPr/>
        </p:nvSpPr>
        <p:spPr>
          <a:xfrm>
            <a:off x="473710" y="3684905"/>
            <a:ext cx="4064000"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rPr>
              <a:t>Results</a:t>
            </a:r>
            <a:endParaRPr lang="en-US" altLang="zh-CN"/>
          </a:p>
        </p:txBody>
      </p:sp>
      <p:pic>
        <p:nvPicPr>
          <p:cNvPr id="5" name="图片 4"/>
          <p:cNvPicPr>
            <a:picLocks noChangeAspect="1"/>
          </p:cNvPicPr>
          <p:nvPr/>
        </p:nvPicPr>
        <p:blipFill>
          <a:blip r:embed="rId1"/>
          <a:stretch>
            <a:fillRect/>
          </a:stretch>
        </p:blipFill>
        <p:spPr>
          <a:xfrm>
            <a:off x="473710" y="4346575"/>
            <a:ext cx="10267950" cy="2095500"/>
          </a:xfrm>
          <a:prstGeom prst="rect">
            <a:avLst/>
          </a:prstGeom>
        </p:spPr>
      </p:pic>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Evaluations - User Profiles</a:t>
            </a:r>
            <a:endParaRPr lang="en-US" altLang="zh-CN" sz="3600" b="1">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Evaluations - User Messages</a:t>
            </a:r>
            <a:endParaRPr lang="en-US" altLang="zh-CN" sz="3600" b="1">
              <a:latin typeface="Times New Roman" panose="02020603050405020304" charset="0"/>
              <a:cs typeface="Times New Roman" panose="02020603050405020304" charset="0"/>
            </a:endParaRPr>
          </a:p>
        </p:txBody>
      </p:sp>
      <p:sp>
        <p:nvSpPr>
          <p:cNvPr id="2" name="文本框 1"/>
          <p:cNvSpPr txBox="1"/>
          <p:nvPr/>
        </p:nvSpPr>
        <p:spPr>
          <a:xfrm>
            <a:off x="473710" y="1450340"/>
            <a:ext cx="11159490" cy="5035550"/>
          </a:xfrm>
          <a:prstGeom prst="rect">
            <a:avLst/>
          </a:prstGeom>
          <a:noFill/>
        </p:spPr>
        <p:txBody>
          <a:bodyPr wrap="square" rtlCol="0">
            <a:noAutofit/>
          </a:bodyPr>
          <a:p>
            <a:pPr indent="0">
              <a:lnSpc>
                <a:spcPct val="150000"/>
              </a:lnSpc>
            </a:pPr>
            <a:r>
              <a:rPr lang="en-US" altLang="zh-CN" sz="2400">
                <a:latin typeface="Times New Roman" panose="02020603050405020304" charset="0"/>
                <a:cs typeface="Times New Roman" panose="02020603050405020304" charset="0"/>
              </a:rPr>
              <a:t>Human evaluators, on a scale from 1 to 5(in a </a:t>
            </a:r>
            <a:r>
              <a:rPr lang="en-US" altLang="zh-CN" sz="2400">
                <a:latin typeface="Times New Roman" panose="02020603050405020304" charset="0"/>
                <a:cs typeface="Times New Roman" panose="02020603050405020304" charset="0"/>
                <a:sym typeface="+mn-ea"/>
              </a:rPr>
              <a:t>trajectorie</a:t>
            </a:r>
            <a:r>
              <a:rPr lang="en-US" altLang="zh-CN" sz="2400">
                <a:latin typeface="Times New Roman" panose="02020603050405020304" charset="0"/>
                <a:cs typeface="Times New Roman" panose="02020603050405020304" charset="0"/>
              </a:rPr>
              <a:t>): </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F-Human (fluency)</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R-Human (rationality)</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N-Human (naturalness)</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I-Human (informativeness)</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endParaRPr lang="en-US" altLang="zh-CN" sz="2400">
              <a:latin typeface="Times New Roman" panose="02020603050405020304" charset="0"/>
              <a:cs typeface="Times New Roman" panose="02020603050405020304" charset="0"/>
            </a:endParaRPr>
          </a:p>
          <a:p>
            <a:pPr indent="0">
              <a:lnSpc>
                <a:spcPct val="150000"/>
              </a:lnSpc>
              <a:buFont typeface="Wingdings" panose="05000000000000000000" charset="0"/>
              <a:buNone/>
            </a:pPr>
            <a:r>
              <a:rPr lang="en-US" altLang="zh-CN" sz="2400">
                <a:latin typeface="Times New Roman" panose="02020603050405020304" charset="0"/>
                <a:cs typeface="Times New Roman" panose="02020603050405020304" charset="0"/>
              </a:rPr>
              <a:t>Diversity(across trajectories)</a:t>
            </a:r>
            <a:endParaRPr lang="en-US" altLang="zh-CN" sz="2400">
              <a:latin typeface="Times New Roman" panose="02020603050405020304" charset="0"/>
              <a:cs typeface="Times New Roman" panose="02020603050405020304" charset="0"/>
            </a:endParaRPr>
          </a:p>
          <a:p>
            <a:pPr marL="342900" indent="-342900">
              <a:lnSpc>
                <a:spcPct val="150000"/>
              </a:lnSpc>
              <a:buFont typeface="Wingdings" panose="05000000000000000000" charset="0"/>
              <a:buChar char="ü"/>
            </a:pPr>
            <a:r>
              <a:rPr lang="en-US" altLang="zh-CN" sz="2400">
                <a:latin typeface="Times New Roman" panose="02020603050405020304" charset="0"/>
                <a:cs typeface="Times New Roman" panose="02020603050405020304" charset="0"/>
              </a:rPr>
              <a:t>Extract all entities and calculate their average Shannon-Wiener Index per 10,000 tokens of user messages, referred to as SWIP</a:t>
            </a:r>
            <a:endParaRPr lang="en-US" altLang="zh-CN" sz="2400">
              <a:latin typeface="Times New Roman" panose="02020603050405020304" charset="0"/>
              <a:cs typeface="Times New Roman" panose="02020603050405020304" charset="0"/>
            </a:endParaRPr>
          </a:p>
        </p:txBody>
      </p:sp>
      <p:sp>
        <p:nvSpPr>
          <p:cNvPr id="3" name="文本框 2"/>
          <p:cNvSpPr txBox="1"/>
          <p:nvPr/>
        </p:nvSpPr>
        <p:spPr>
          <a:xfrm>
            <a:off x="473710" y="1056640"/>
            <a:ext cx="4064000" cy="79883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sym typeface="+mn-ea"/>
              </a:rPr>
              <a:t>Metrics</a:t>
            </a:r>
            <a:endParaRPr lang="en-US" altLang="zh-CN"/>
          </a:p>
          <a:p>
            <a:endParaRPr lang="zh-CN" altLang="en-US"/>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Evaluations - User Messages</a:t>
            </a:r>
            <a:endParaRPr lang="en-US" altLang="zh-CN" sz="3600" b="1">
              <a:latin typeface="Times New Roman" panose="02020603050405020304" charset="0"/>
              <a:cs typeface="Times New Roman" panose="02020603050405020304" charset="0"/>
            </a:endParaRPr>
          </a:p>
        </p:txBody>
      </p:sp>
      <p:sp>
        <p:nvSpPr>
          <p:cNvPr id="3" name="文本框 2"/>
          <p:cNvSpPr txBox="1"/>
          <p:nvPr/>
        </p:nvSpPr>
        <p:spPr>
          <a:xfrm>
            <a:off x="473710" y="1094105"/>
            <a:ext cx="4064000"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rPr>
              <a:t>Baselines</a:t>
            </a:r>
            <a:endParaRPr lang="en-US" altLang="zh-CN"/>
          </a:p>
        </p:txBody>
      </p:sp>
      <p:sp>
        <p:nvSpPr>
          <p:cNvPr id="4" name="文本框 3"/>
          <p:cNvSpPr txBox="1"/>
          <p:nvPr/>
        </p:nvSpPr>
        <p:spPr>
          <a:xfrm>
            <a:off x="473710" y="1667510"/>
            <a:ext cx="10463530" cy="1938020"/>
          </a:xfrm>
          <a:prstGeom prst="rect">
            <a:avLst/>
          </a:prstGeom>
          <a:noFill/>
        </p:spPr>
        <p:txBody>
          <a:bodyPr wrap="square" rtlCol="0">
            <a:spAutoFit/>
          </a:bodyPr>
          <a:p>
            <a:pPr>
              <a:lnSpc>
                <a:spcPct val="150000"/>
              </a:lnSpc>
            </a:pPr>
            <a:r>
              <a:rPr lang="en-US" altLang="zh-CN" sz="2000">
                <a:latin typeface="Times New Roman" panose="02020603050405020304" charset="0"/>
                <a:cs typeface="Times New Roman" panose="02020603050405020304" charset="0"/>
              </a:rPr>
              <a:t>(1) ZeroCons: no constraints on attributes when prompting LLMs.</a:t>
            </a:r>
            <a:endParaRPr lang="en-US" altLang="zh-CN" sz="2000">
              <a:latin typeface="Times New Roman" panose="02020603050405020304" charset="0"/>
              <a:cs typeface="Times New Roman" panose="02020603050405020304" charset="0"/>
            </a:endParaRPr>
          </a:p>
          <a:p>
            <a:pPr>
              <a:lnSpc>
                <a:spcPct val="150000"/>
              </a:lnSpc>
            </a:pPr>
            <a:r>
              <a:rPr lang="en-US" altLang="zh-CN" sz="2000">
                <a:latin typeface="Times New Roman" panose="02020603050405020304" charset="0"/>
                <a:cs typeface="Times New Roman" panose="02020603050405020304" charset="0"/>
              </a:rPr>
              <a:t>(2) PartCons: partial attributes of user profiles are constrained in prompts for LLMs. </a:t>
            </a:r>
            <a:endParaRPr lang="en-US" altLang="zh-CN" sz="2000">
              <a:latin typeface="Times New Roman" panose="02020603050405020304" charset="0"/>
              <a:cs typeface="Times New Roman" panose="02020603050405020304" charset="0"/>
            </a:endParaRPr>
          </a:p>
          <a:p>
            <a:pPr>
              <a:lnSpc>
                <a:spcPct val="150000"/>
              </a:lnSpc>
            </a:pPr>
            <a:r>
              <a:rPr lang="en-US" altLang="zh-CN" sz="2000">
                <a:latin typeface="Times New Roman" panose="02020603050405020304" charset="0"/>
                <a:cs typeface="Times New Roman" panose="02020603050405020304" charset="0"/>
              </a:rPr>
              <a:t>(3) SoftCons: full attributes of user profiles are constrained in prompts but they are not forcibly for generation.</a:t>
            </a:r>
            <a:endParaRPr lang="en-US" altLang="zh-CN" sz="2000">
              <a:latin typeface="Times New Roman" panose="02020603050405020304" charset="0"/>
              <a:cs typeface="Times New Roman" panose="02020603050405020304" charset="0"/>
            </a:endParaRPr>
          </a:p>
        </p:txBody>
      </p:sp>
      <p:sp>
        <p:nvSpPr>
          <p:cNvPr id="5" name="文本框 4"/>
          <p:cNvSpPr txBox="1"/>
          <p:nvPr/>
        </p:nvSpPr>
        <p:spPr>
          <a:xfrm>
            <a:off x="473710" y="3610610"/>
            <a:ext cx="2611755" cy="521970"/>
          </a:xfrm>
          <a:prstGeom prst="rect">
            <a:avLst/>
          </a:prstGeom>
          <a:noFill/>
        </p:spPr>
        <p:txBody>
          <a:bodyPr wrap="square" rtlCol="0">
            <a:spAutoFit/>
          </a:bodyPr>
          <a:p>
            <a:pPr marL="457200" indent="-457200">
              <a:buFont typeface="Wingdings" panose="05000000000000000000" charset="0"/>
              <a:buChar char="Ø"/>
            </a:pPr>
            <a:r>
              <a:rPr lang="en-US" altLang="zh-CN" sz="2800">
                <a:latin typeface="Times New Roman" panose="02020603050405020304" charset="0"/>
                <a:cs typeface="Times New Roman" panose="02020603050405020304" charset="0"/>
                <a:sym typeface="+mn-ea"/>
              </a:rPr>
              <a:t>Results</a:t>
            </a:r>
            <a:endParaRPr lang="zh-CN" altLang="en-US"/>
          </a:p>
        </p:txBody>
      </p:sp>
      <p:pic>
        <p:nvPicPr>
          <p:cNvPr id="6" name="图片 5"/>
          <p:cNvPicPr>
            <a:picLocks noChangeAspect="1"/>
          </p:cNvPicPr>
          <p:nvPr/>
        </p:nvPicPr>
        <p:blipFill>
          <a:blip r:embed="rId1"/>
          <a:stretch>
            <a:fillRect/>
          </a:stretch>
        </p:blipFill>
        <p:spPr>
          <a:xfrm>
            <a:off x="796290" y="4430395"/>
            <a:ext cx="10307320" cy="1988820"/>
          </a:xfrm>
          <a:prstGeom prst="rect">
            <a:avLst/>
          </a:prstGeom>
        </p:spPr>
      </p:pic>
      <p:pic>
        <p:nvPicPr>
          <p:cNvPr id="2" name="图片 1"/>
          <p:cNvPicPr>
            <a:picLocks noChangeAspect="1"/>
          </p:cNvPicPr>
          <p:nvPr/>
        </p:nvPicPr>
        <p:blipFill>
          <a:blip r:embed="rId2"/>
          <a:stretch>
            <a:fillRect/>
          </a:stretch>
        </p:blipFill>
        <p:spPr>
          <a:xfrm>
            <a:off x="4258945" y="3160395"/>
            <a:ext cx="6751320" cy="1270000"/>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Evaluations - Questions and Answers</a:t>
            </a:r>
            <a:endParaRPr lang="en-US" altLang="zh-CN" sz="3600" b="1">
              <a:latin typeface="Times New Roman" panose="02020603050405020304" charset="0"/>
              <a:cs typeface="Times New Roman" panose="02020603050405020304" charset="0"/>
            </a:endParaRPr>
          </a:p>
        </p:txBody>
      </p:sp>
      <p:sp>
        <p:nvSpPr>
          <p:cNvPr id="3" name="文本框 2"/>
          <p:cNvSpPr txBox="1"/>
          <p:nvPr/>
        </p:nvSpPr>
        <p:spPr>
          <a:xfrm>
            <a:off x="473710" y="1362710"/>
            <a:ext cx="11304270" cy="82994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They sample approximately 20% of all the trajectories in MemDaily and employ human evaluators to verify the correctness of their ground truths. </a:t>
            </a:r>
            <a:endParaRPr lang="en-US" altLang="zh-CN" sz="2400">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1"/>
          <a:stretch>
            <a:fillRect/>
          </a:stretch>
        </p:blipFill>
        <p:spPr>
          <a:xfrm>
            <a:off x="335280" y="2568575"/>
            <a:ext cx="11704320" cy="3419475"/>
          </a:xfrm>
          <a:prstGeom prst="rect">
            <a:avLst/>
          </a:prstGeom>
        </p:spPr>
      </p:pic>
    </p:spTree>
    <p:custDataLst>
      <p:tags r:id="rId2"/>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Experimental Settings</a:t>
            </a:r>
            <a:endParaRPr lang="en-US" altLang="zh-CN" sz="3600" b="1">
              <a:latin typeface="Times New Roman" panose="02020603050405020304" charset="0"/>
              <a:cs typeface="Times New Roman" panose="02020603050405020304" charset="0"/>
            </a:endParaRPr>
          </a:p>
        </p:txBody>
      </p:sp>
      <p:sp>
        <p:nvSpPr>
          <p:cNvPr id="2" name="文本框 1"/>
          <p:cNvSpPr txBox="1"/>
          <p:nvPr/>
        </p:nvSpPr>
        <p:spPr>
          <a:xfrm>
            <a:off x="473710" y="1181735"/>
            <a:ext cx="4064000" cy="521970"/>
          </a:xfrm>
          <a:prstGeom prst="rect">
            <a:avLst/>
          </a:prstGeom>
          <a:noFill/>
        </p:spPr>
        <p:txBody>
          <a:bodyPr wrap="square" rtlCol="0">
            <a:spAutoFit/>
          </a:bodyPr>
          <a:p>
            <a:pPr marL="457200" indent="-457200">
              <a:buFont typeface="Wingdings" panose="05000000000000000000" charset="0"/>
              <a:buChar char="Ø"/>
            </a:pPr>
            <a:r>
              <a:rPr lang="en-US" altLang="zh-CN" sz="2800" b="1">
                <a:latin typeface="Times New Roman" panose="02020603050405020304" charset="0"/>
                <a:cs typeface="Times New Roman" panose="02020603050405020304" charset="0"/>
              </a:rPr>
              <a:t>Levels of Difficulty</a:t>
            </a:r>
            <a:endParaRPr lang="en-US" altLang="zh-CN" sz="2800" b="1">
              <a:latin typeface="Times New Roman" panose="02020603050405020304" charset="0"/>
              <a:cs typeface="Times New Roman" panose="02020603050405020304" charset="0"/>
            </a:endParaRPr>
          </a:p>
        </p:txBody>
      </p:sp>
      <p:sp>
        <p:nvSpPr>
          <p:cNvPr id="3" name="文本框 2"/>
          <p:cNvSpPr txBox="1"/>
          <p:nvPr/>
        </p:nvSpPr>
        <p:spPr>
          <a:xfrm>
            <a:off x="558165" y="1739265"/>
            <a:ext cx="10364470" cy="829945"/>
          </a:xfrm>
          <a:prstGeom prst="rect">
            <a:avLst/>
          </a:prstGeom>
          <a:noFill/>
        </p:spPr>
        <p:txBody>
          <a:bodyPr wrap="square" rtlCol="0">
            <a:spAutoFit/>
          </a:bodyPr>
          <a:p>
            <a:r>
              <a:rPr lang="en-US" altLang="zh-CN" sz="2400">
                <a:latin typeface="Times New Roman" panose="02020603050405020304" charset="0"/>
                <a:cs typeface="Times New Roman" panose="02020603050405020304" charset="0"/>
              </a:rPr>
              <a:t>They collect </a:t>
            </a:r>
            <a:r>
              <a:rPr lang="en-US" altLang="zh-CN" sz="2400" b="1">
                <a:latin typeface="Times New Roman" panose="02020603050405020304" charset="0"/>
                <a:cs typeface="Times New Roman" panose="02020603050405020304" charset="0"/>
              </a:rPr>
              <a:t>question-irrelevant posts</a:t>
            </a:r>
            <a:r>
              <a:rPr lang="en-US" altLang="zh-CN" sz="2400">
                <a:latin typeface="Times New Roman" panose="02020603050405020304" charset="0"/>
                <a:cs typeface="Times New Roman" panose="02020603050405020304" charset="0"/>
              </a:rPr>
              <a:t> from social media platforms, and randomly incorporate them into user messages by controlling their proportions.</a:t>
            </a:r>
            <a:endParaRPr lang="en-US" altLang="zh-CN" sz="2400">
              <a:latin typeface="Times New Roman" panose="02020603050405020304" charset="0"/>
              <a:cs typeface="Times New Roman" panose="02020603050405020304" charset="0"/>
            </a:endParaRPr>
          </a:p>
        </p:txBody>
      </p:sp>
      <p:sp>
        <p:nvSpPr>
          <p:cNvPr id="4" name="文本框 3"/>
          <p:cNvSpPr txBox="1"/>
          <p:nvPr/>
        </p:nvSpPr>
        <p:spPr>
          <a:xfrm>
            <a:off x="558165" y="2740660"/>
            <a:ext cx="10257790" cy="368300"/>
          </a:xfrm>
          <a:prstGeom prst="rect">
            <a:avLst/>
          </a:prstGeom>
          <a:noFill/>
        </p:spPr>
        <p:txBody>
          <a:bodyPr wrap="square" rtlCol="0">
            <a:spAutoFit/>
          </a:bodyPr>
          <a:p>
            <a:pPr marL="285750" indent="-285750">
              <a:buFont typeface="Arial" panose="020B0604020202020204" pitchFamily="34" charset="0"/>
              <a:buChar char="•"/>
            </a:pPr>
            <a:r>
              <a:rPr lang="en-US" altLang="zh-CN">
                <a:latin typeface="Times New Roman" panose="02020603050405020304" charset="0"/>
                <a:cs typeface="Times New Roman" panose="02020603050405020304" charset="0"/>
              </a:rPr>
              <a:t>MemDaily-vanilla, MemDaily-10, MemDaily-50, MemDaily-100, MemDaily-200</a:t>
            </a:r>
            <a:endParaRPr lang="en-US" altLang="zh-CN">
              <a:latin typeface="Times New Roman" panose="02020603050405020304" charset="0"/>
              <a:cs typeface="Times New Roman" panose="02020603050405020304" charset="0"/>
            </a:endParaRPr>
          </a:p>
        </p:txBody>
      </p:sp>
      <p:sp>
        <p:nvSpPr>
          <p:cNvPr id="5" name="文本框 4"/>
          <p:cNvSpPr txBox="1"/>
          <p:nvPr/>
        </p:nvSpPr>
        <p:spPr>
          <a:xfrm>
            <a:off x="558165" y="3280410"/>
            <a:ext cx="2284095" cy="521970"/>
          </a:xfrm>
          <a:prstGeom prst="rect">
            <a:avLst/>
          </a:prstGeom>
          <a:noFill/>
        </p:spPr>
        <p:txBody>
          <a:bodyPr wrap="square" rtlCol="0">
            <a:spAutoFit/>
          </a:bodyPr>
          <a:p>
            <a:pPr marL="342900" indent="-342900">
              <a:buFont typeface="Wingdings" panose="05000000000000000000" charset="0"/>
              <a:buChar char="Ø"/>
            </a:pPr>
            <a:r>
              <a:rPr lang="en-US" altLang="zh-CN" sz="2800" b="1">
                <a:latin typeface="Times New Roman" panose="02020603050405020304" charset="0"/>
                <a:cs typeface="Times New Roman" panose="02020603050405020304" charset="0"/>
              </a:rPr>
              <a:t>Metrics</a:t>
            </a:r>
            <a:endParaRPr lang="en-US" altLang="zh-CN" sz="2800" b="1">
              <a:latin typeface="Times New Roman" panose="02020603050405020304" charset="0"/>
              <a:cs typeface="Times New Roman" panose="02020603050405020304" charset="0"/>
            </a:endParaRPr>
          </a:p>
        </p:txBody>
      </p:sp>
      <p:sp>
        <p:nvSpPr>
          <p:cNvPr id="6" name="文本框 5"/>
          <p:cNvSpPr txBox="1"/>
          <p:nvPr/>
        </p:nvSpPr>
        <p:spPr>
          <a:xfrm>
            <a:off x="473710" y="3719830"/>
            <a:ext cx="10756900" cy="3138170"/>
          </a:xfrm>
          <a:prstGeom prst="rect">
            <a:avLst/>
          </a:prstGeom>
          <a:noFill/>
        </p:spPr>
        <p:txBody>
          <a:bodyPr wrap="square" rtlCol="0" anchor="t">
            <a:spAutoFit/>
          </a:bodyPr>
          <a:p>
            <a:pPr marL="342900" indent="-342900">
              <a:lnSpc>
                <a:spcPct val="150000"/>
              </a:lnSpc>
              <a:buFont typeface="Wingdings" panose="05000000000000000000" charset="0"/>
              <a:buChar char="p"/>
            </a:pPr>
            <a:r>
              <a:rPr lang="en-US" altLang="zh-CN" sz="2200">
                <a:latin typeface="Times New Roman" panose="02020603050405020304" charset="0"/>
                <a:cs typeface="Times New Roman" panose="02020603050405020304" charset="0"/>
                <a:sym typeface="+mn-ea"/>
              </a:rPr>
              <a:t>Effectiveness (store and utilize factual information)</a:t>
            </a:r>
            <a:endParaRPr lang="en-US" altLang="zh-CN" sz="2200">
              <a:latin typeface="Times New Roman" panose="02020603050405020304" charset="0"/>
              <a:cs typeface="Times New Roman" panose="02020603050405020304" charset="0"/>
            </a:endParaRPr>
          </a:p>
          <a:p>
            <a:pPr lvl="1" indent="0">
              <a:lnSpc>
                <a:spcPct val="150000"/>
              </a:lnSpc>
              <a:buFont typeface="Wingdings" panose="05000000000000000000" charset="0"/>
              <a:buNone/>
            </a:pPr>
            <a:r>
              <a:rPr lang="en-US" altLang="zh-CN" sz="2200">
                <a:latin typeface="Times New Roman" panose="02020603050405020304" charset="0"/>
                <a:cs typeface="Times New Roman" panose="02020603050405020304" charset="0"/>
                <a:sym typeface="+mn-ea"/>
              </a:rPr>
              <a:t>Accuracy</a:t>
            </a:r>
            <a:endParaRPr lang="en-US" altLang="zh-CN" sz="2200">
              <a:latin typeface="Times New Roman" panose="02020603050405020304" charset="0"/>
              <a:cs typeface="Times New Roman" panose="02020603050405020304" charset="0"/>
            </a:endParaRPr>
          </a:p>
          <a:p>
            <a:pPr lvl="1" indent="0">
              <a:lnSpc>
                <a:spcPct val="150000"/>
              </a:lnSpc>
              <a:buFont typeface="Wingdings" panose="05000000000000000000" charset="0"/>
              <a:buNone/>
            </a:pPr>
            <a:r>
              <a:rPr lang="en-US" altLang="zh-CN" sz="2200">
                <a:latin typeface="Times New Roman" panose="02020603050405020304" charset="0"/>
                <a:cs typeface="Times New Roman" panose="02020603050405020304" charset="0"/>
                <a:sym typeface="+mn-ea"/>
              </a:rPr>
              <a:t>Recall@5</a:t>
            </a:r>
            <a:endParaRPr lang="en-US" altLang="zh-CN" sz="2200">
              <a:latin typeface="Times New Roman" panose="02020603050405020304" charset="0"/>
              <a:cs typeface="Times New Roman" panose="02020603050405020304" charset="0"/>
            </a:endParaRPr>
          </a:p>
          <a:p>
            <a:pPr marL="342900" lvl="0" indent="-342900">
              <a:lnSpc>
                <a:spcPct val="150000"/>
              </a:lnSpc>
              <a:buFont typeface="Wingdings" panose="05000000000000000000" charset="0"/>
              <a:buChar char="p"/>
            </a:pPr>
            <a:r>
              <a:rPr lang="en-US" altLang="zh-CN" sz="2200">
                <a:latin typeface="Times New Roman" panose="02020603050405020304" charset="0"/>
                <a:cs typeface="Times New Roman" panose="02020603050405020304" charset="0"/>
                <a:sym typeface="+mn-ea"/>
              </a:rPr>
              <a:t>Efficiency (the time cost associated with storing and utilizing information)</a:t>
            </a:r>
            <a:endParaRPr lang="en-US" altLang="zh-CN" sz="2200">
              <a:latin typeface="Times New Roman" panose="02020603050405020304" charset="0"/>
              <a:cs typeface="Times New Roman" panose="02020603050405020304" charset="0"/>
            </a:endParaRPr>
          </a:p>
          <a:p>
            <a:pPr lvl="0" indent="457200">
              <a:lnSpc>
                <a:spcPct val="150000"/>
              </a:lnSpc>
              <a:buFont typeface="Wingdings" panose="05000000000000000000" charset="0"/>
              <a:buNone/>
            </a:pPr>
            <a:r>
              <a:rPr lang="en-US" altLang="zh-CN" sz="2200">
                <a:latin typeface="Times New Roman" panose="02020603050405020304" charset="0"/>
                <a:cs typeface="Times New Roman" panose="02020603050405020304" charset="0"/>
                <a:sym typeface="+mn-ea"/>
              </a:rPr>
              <a:t>Response Time</a:t>
            </a:r>
            <a:endParaRPr lang="en-US" altLang="zh-CN" sz="2200">
              <a:latin typeface="Times New Roman" panose="02020603050405020304" charset="0"/>
              <a:cs typeface="Times New Roman" panose="02020603050405020304" charset="0"/>
            </a:endParaRPr>
          </a:p>
          <a:p>
            <a:pPr lvl="0" indent="457200">
              <a:lnSpc>
                <a:spcPct val="150000"/>
              </a:lnSpc>
              <a:buFont typeface="Wingdings" panose="05000000000000000000" charset="0"/>
              <a:buNone/>
            </a:pPr>
            <a:r>
              <a:rPr lang="en-US" altLang="zh-CN" sz="2200">
                <a:latin typeface="Times New Roman" panose="02020603050405020304" charset="0"/>
                <a:cs typeface="Times New Roman" panose="02020603050405020304" charset="0"/>
                <a:sym typeface="+mn-ea"/>
              </a:rPr>
              <a:t>Adaptation Time</a:t>
            </a:r>
            <a:endParaRPr lang="en-US" altLang="zh-CN" sz="2200">
              <a:latin typeface="Times New Roman" panose="02020603050405020304" charset="0"/>
              <a:cs typeface="Times New Roman" panose="02020603050405020304" charset="0"/>
              <a:sym typeface="+mn-ea"/>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Experimental Settings</a:t>
            </a:r>
            <a:endParaRPr lang="en-US" altLang="zh-CN" sz="3600" b="1">
              <a:latin typeface="Times New Roman" panose="02020603050405020304" charset="0"/>
              <a:cs typeface="Times New Roman" panose="02020603050405020304" charset="0"/>
            </a:endParaRPr>
          </a:p>
        </p:txBody>
      </p:sp>
      <p:sp>
        <p:nvSpPr>
          <p:cNvPr id="5" name="文本框 4"/>
          <p:cNvSpPr txBox="1"/>
          <p:nvPr/>
        </p:nvSpPr>
        <p:spPr>
          <a:xfrm>
            <a:off x="473710" y="1270635"/>
            <a:ext cx="2284095" cy="521970"/>
          </a:xfrm>
          <a:prstGeom prst="rect">
            <a:avLst/>
          </a:prstGeom>
          <a:noFill/>
        </p:spPr>
        <p:txBody>
          <a:bodyPr wrap="square" rtlCol="0">
            <a:spAutoFit/>
          </a:bodyPr>
          <a:p>
            <a:pPr marL="342900" indent="-342900">
              <a:buFont typeface="Wingdings" panose="05000000000000000000" charset="0"/>
              <a:buChar char="Ø"/>
            </a:pPr>
            <a:r>
              <a:rPr lang="en-US" altLang="zh-CN" sz="2800" b="1">
                <a:latin typeface="Times New Roman" panose="02020603050405020304" charset="0"/>
                <a:cs typeface="Times New Roman" panose="02020603050405020304" charset="0"/>
              </a:rPr>
              <a:t>Baselines</a:t>
            </a:r>
            <a:endParaRPr lang="en-US" altLang="zh-CN" sz="2800" b="1">
              <a:latin typeface="Times New Roman" panose="02020603050405020304" charset="0"/>
              <a:cs typeface="Times New Roman" panose="02020603050405020304" charset="0"/>
            </a:endParaRPr>
          </a:p>
        </p:txBody>
      </p:sp>
      <p:sp>
        <p:nvSpPr>
          <p:cNvPr id="6" name="文本框 5"/>
          <p:cNvSpPr txBox="1"/>
          <p:nvPr/>
        </p:nvSpPr>
        <p:spPr>
          <a:xfrm>
            <a:off x="473710" y="1922145"/>
            <a:ext cx="11383645" cy="3843655"/>
          </a:xfrm>
          <a:prstGeom prst="rect">
            <a:avLst/>
          </a:prstGeom>
          <a:noFill/>
        </p:spPr>
        <p:txBody>
          <a:bodyPr wrap="square" rtlCol="0">
            <a:noAutofit/>
          </a:bodyPr>
          <a:p>
            <a:pPr>
              <a:lnSpc>
                <a:spcPct val="150000"/>
              </a:lnSpc>
            </a:pPr>
            <a:r>
              <a:rPr lang="en-US" altLang="zh-CN" sz="2200">
                <a:latin typeface="Times New Roman" panose="02020603050405020304" charset="0"/>
                <a:cs typeface="Times New Roman" panose="02020603050405020304" charset="0"/>
              </a:rPr>
              <a:t>(1) </a:t>
            </a:r>
            <a:r>
              <a:rPr lang="en-US" altLang="zh-CN" sz="2200" b="1">
                <a:latin typeface="Times New Roman" panose="02020603050405020304" charset="0"/>
                <a:cs typeface="Times New Roman" panose="02020603050405020304" charset="0"/>
              </a:rPr>
              <a:t>Full Memory (FullMem)</a:t>
            </a:r>
            <a:r>
              <a:rPr lang="en-US" altLang="zh-CN" sz="2200">
                <a:latin typeface="Times New Roman" panose="02020603050405020304" charset="0"/>
                <a:cs typeface="Times New Roman" panose="02020603050405020304" charset="0"/>
              </a:rPr>
              <a:t>: all previous messages are concatenated into the prompt. </a:t>
            </a:r>
            <a:endParaRPr lang="en-US" altLang="zh-CN" sz="2200">
              <a:latin typeface="Times New Roman" panose="02020603050405020304" charset="0"/>
              <a:cs typeface="Times New Roman" panose="02020603050405020304" charset="0"/>
            </a:endParaRPr>
          </a:p>
          <a:p>
            <a:pPr>
              <a:lnSpc>
                <a:spcPct val="150000"/>
              </a:lnSpc>
            </a:pPr>
            <a:r>
              <a:rPr lang="en-US" altLang="zh-CN" sz="2200">
                <a:latin typeface="Times New Roman" panose="02020603050405020304" charset="0"/>
                <a:cs typeface="Times New Roman" panose="02020603050405020304" charset="0"/>
              </a:rPr>
              <a:t>(2) </a:t>
            </a:r>
            <a:r>
              <a:rPr lang="en-US" altLang="zh-CN" sz="2200" b="1">
                <a:latin typeface="Times New Roman" panose="02020603050405020304" charset="0"/>
                <a:cs typeface="Times New Roman" panose="02020603050405020304" charset="0"/>
              </a:rPr>
              <a:t>Recent Memory (ReceMem)</a:t>
            </a:r>
            <a:r>
              <a:rPr lang="en-US" altLang="zh-CN" sz="2200">
                <a:latin typeface="Times New Roman" panose="02020603050405020304" charset="0"/>
                <a:cs typeface="Times New Roman" panose="02020603050405020304" charset="0"/>
              </a:rPr>
              <a:t>: the most recent k messages </a:t>
            </a:r>
            <a:r>
              <a:rPr lang="en-US" altLang="zh-CN" sz="2200">
                <a:latin typeface="Times New Roman" panose="02020603050405020304" charset="0"/>
                <a:cs typeface="Times New Roman" panose="02020603050405020304" charset="0"/>
                <a:sym typeface="+mn-ea"/>
              </a:rPr>
              <a:t>are concatenated into the prompt.</a:t>
            </a:r>
            <a:endParaRPr lang="en-US" altLang="zh-CN" sz="2200">
              <a:latin typeface="Times New Roman" panose="02020603050405020304" charset="0"/>
              <a:cs typeface="Times New Roman" panose="02020603050405020304" charset="0"/>
            </a:endParaRPr>
          </a:p>
          <a:p>
            <a:pPr>
              <a:lnSpc>
                <a:spcPct val="150000"/>
              </a:lnSpc>
            </a:pPr>
            <a:r>
              <a:rPr lang="en-US" altLang="zh-CN" sz="2200">
                <a:latin typeface="Times New Roman" panose="02020603050405020304" charset="0"/>
                <a:cs typeface="Times New Roman" panose="02020603050405020304" charset="0"/>
              </a:rPr>
              <a:t>(3) </a:t>
            </a:r>
            <a:r>
              <a:rPr lang="en-US" altLang="zh-CN" sz="2200" b="1">
                <a:latin typeface="Times New Roman" panose="02020603050405020304" charset="0"/>
                <a:cs typeface="Times New Roman" panose="02020603050405020304" charset="0"/>
              </a:rPr>
              <a:t>Retrieved Memory (RetrMem)</a:t>
            </a:r>
            <a:r>
              <a:rPr lang="en-US" altLang="zh-CN" sz="2200">
                <a:latin typeface="Times New Roman" panose="02020603050405020304" charset="0"/>
                <a:cs typeface="Times New Roman" panose="02020603050405020304" charset="0"/>
              </a:rPr>
              <a:t>: stores all previous messages and retrieves the top-k relevant messages.</a:t>
            </a:r>
            <a:endParaRPr lang="en-US" altLang="zh-CN" sz="2200">
              <a:latin typeface="Times New Roman" panose="02020603050405020304" charset="0"/>
              <a:cs typeface="Times New Roman" panose="02020603050405020304" charset="0"/>
            </a:endParaRPr>
          </a:p>
          <a:p>
            <a:pPr>
              <a:lnSpc>
                <a:spcPct val="150000"/>
              </a:lnSpc>
            </a:pPr>
            <a:r>
              <a:rPr lang="en-US" altLang="zh-CN" sz="2200">
                <a:latin typeface="Times New Roman" panose="02020603050405020304" charset="0"/>
                <a:cs typeface="Times New Roman" panose="02020603050405020304" charset="0"/>
              </a:rPr>
              <a:t>(4) </a:t>
            </a:r>
            <a:r>
              <a:rPr lang="en-US" altLang="zh-CN" sz="2200" b="1">
                <a:latin typeface="Times New Roman" panose="02020603050405020304" charset="0"/>
                <a:cs typeface="Times New Roman" panose="02020603050405020304" charset="0"/>
              </a:rPr>
              <a:t>None Memory (NonMem)</a:t>
            </a:r>
            <a:r>
              <a:rPr lang="en-US" altLang="zh-CN" sz="2200">
                <a:latin typeface="Times New Roman" panose="02020603050405020304" charset="0"/>
                <a:cs typeface="Times New Roman" panose="02020603050405020304" charset="0"/>
              </a:rPr>
              <a:t>: does not use memory.</a:t>
            </a:r>
            <a:endParaRPr lang="en-US" altLang="zh-CN" sz="2200">
              <a:latin typeface="Times New Roman" panose="02020603050405020304" charset="0"/>
              <a:cs typeface="Times New Roman" panose="02020603050405020304" charset="0"/>
            </a:endParaRPr>
          </a:p>
          <a:p>
            <a:pPr>
              <a:lnSpc>
                <a:spcPct val="150000"/>
              </a:lnSpc>
            </a:pPr>
            <a:r>
              <a:rPr lang="en-US" altLang="zh-CN" sz="2200">
                <a:latin typeface="Times New Roman" panose="02020603050405020304" charset="0"/>
                <a:cs typeface="Times New Roman" panose="02020603050405020304" charset="0"/>
              </a:rPr>
              <a:t>(5) </a:t>
            </a:r>
            <a:r>
              <a:rPr lang="en-US" altLang="zh-CN" sz="2200" b="1">
                <a:latin typeface="Times New Roman" panose="02020603050405020304" charset="0"/>
                <a:cs typeface="Times New Roman" panose="02020603050405020304" charset="0"/>
              </a:rPr>
              <a:t>Noisy Memory(NoisyMem)</a:t>
            </a:r>
            <a:r>
              <a:rPr lang="en-US" altLang="zh-CN" sz="2200">
                <a:latin typeface="Times New Roman" panose="02020603050405020304" charset="0"/>
                <a:cs typeface="Times New Roman" panose="02020603050405020304" charset="0"/>
              </a:rPr>
              <a:t>: receives only untargeted messages. </a:t>
            </a:r>
            <a:endParaRPr lang="en-US" altLang="zh-CN" sz="2200">
              <a:latin typeface="Times New Roman" panose="02020603050405020304" charset="0"/>
              <a:cs typeface="Times New Roman" panose="02020603050405020304" charset="0"/>
            </a:endParaRPr>
          </a:p>
          <a:p>
            <a:pPr>
              <a:lnSpc>
                <a:spcPct val="150000"/>
              </a:lnSpc>
            </a:pPr>
            <a:r>
              <a:rPr lang="en-US" altLang="zh-CN" sz="2200">
                <a:latin typeface="Times New Roman" panose="02020603050405020304" charset="0"/>
                <a:cs typeface="Times New Roman" panose="02020603050405020304" charset="0"/>
              </a:rPr>
              <a:t>(6) </a:t>
            </a:r>
            <a:r>
              <a:rPr lang="en-US" altLang="zh-CN" sz="2200" b="1">
                <a:latin typeface="Times New Roman" panose="02020603050405020304" charset="0"/>
                <a:cs typeface="Times New Roman" panose="02020603050405020304" charset="0"/>
              </a:rPr>
              <a:t>Oracle Memory (OracleMem)</a:t>
            </a:r>
            <a:r>
              <a:rPr lang="en-US" altLang="zh-CN" sz="2200">
                <a:latin typeface="Times New Roman" panose="02020603050405020304" charset="0"/>
                <a:cs typeface="Times New Roman" panose="02020603050405020304" charset="0"/>
              </a:rPr>
              <a:t>: receives only targeted messages. </a:t>
            </a:r>
            <a:endParaRPr lang="en-US" altLang="zh-CN" sz="2200">
              <a:latin typeface="Times New Roman" panose="02020603050405020304" charset="0"/>
              <a:cs typeface="Times New Roman" panose="02020603050405020304" charset="0"/>
            </a:endParaRPr>
          </a:p>
        </p:txBody>
      </p:sp>
      <p:sp>
        <p:nvSpPr>
          <p:cNvPr id="7" name="文本框 6"/>
          <p:cNvSpPr txBox="1"/>
          <p:nvPr/>
        </p:nvSpPr>
        <p:spPr>
          <a:xfrm>
            <a:off x="473710" y="5895340"/>
            <a:ext cx="8110855" cy="39878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ps. use the open-source GLM-4-9B as the foundational model for inference.</a:t>
            </a:r>
            <a:endParaRPr lang="en-US" altLang="zh-CN" sz="2000">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455993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Results</a:t>
            </a:r>
            <a:endParaRPr lang="en-US" altLang="zh-CN" sz="3600" b="1">
              <a:latin typeface="Times New Roman" panose="02020603050405020304" charset="0"/>
              <a:cs typeface="Times New Roman" panose="02020603050405020304" charset="0"/>
            </a:endParaRPr>
          </a:p>
        </p:txBody>
      </p:sp>
      <p:pic>
        <p:nvPicPr>
          <p:cNvPr id="2" name="图片 1"/>
          <p:cNvPicPr>
            <a:picLocks noChangeAspect="1"/>
          </p:cNvPicPr>
          <p:nvPr/>
        </p:nvPicPr>
        <p:blipFill>
          <a:blip r:embed="rId1"/>
          <a:stretch>
            <a:fillRect/>
          </a:stretch>
        </p:blipFill>
        <p:spPr>
          <a:xfrm>
            <a:off x="1557655" y="1683385"/>
            <a:ext cx="9076690" cy="4841240"/>
          </a:xfrm>
          <a:prstGeom prst="rect">
            <a:avLst/>
          </a:prstGeom>
        </p:spPr>
      </p:pic>
      <p:sp>
        <p:nvSpPr>
          <p:cNvPr id="3" name="文本框 2"/>
          <p:cNvSpPr txBox="1"/>
          <p:nvPr/>
        </p:nvSpPr>
        <p:spPr>
          <a:xfrm>
            <a:off x="2995295" y="1201420"/>
            <a:ext cx="6536055" cy="39878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Table 6: Results of </a:t>
            </a:r>
            <a:r>
              <a:rPr lang="en-US" altLang="zh-CN" sz="2000" b="1" i="1" u="sng">
                <a:solidFill>
                  <a:schemeClr val="tx1"/>
                </a:solidFill>
                <a:latin typeface="Times New Roman" panose="02020603050405020304" charset="0"/>
                <a:cs typeface="Times New Roman" panose="02020603050405020304" charset="0"/>
              </a:rPr>
              <a:t>accuracy for factual question-answering</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Results</a:t>
            </a:r>
            <a:endParaRPr lang="en-US" altLang="zh-CN" sz="3600" b="1">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1"/>
          <a:srcRect t="1111"/>
          <a:stretch>
            <a:fillRect/>
          </a:stretch>
        </p:blipFill>
        <p:spPr>
          <a:xfrm>
            <a:off x="644525" y="2047875"/>
            <a:ext cx="10901680" cy="3801110"/>
          </a:xfrm>
          <a:prstGeom prst="rect">
            <a:avLst/>
          </a:prstGeom>
        </p:spPr>
      </p:pic>
      <p:sp>
        <p:nvSpPr>
          <p:cNvPr id="5" name="文本框 4"/>
          <p:cNvSpPr txBox="1"/>
          <p:nvPr/>
        </p:nvSpPr>
        <p:spPr>
          <a:xfrm>
            <a:off x="3007995" y="1517650"/>
            <a:ext cx="6175375" cy="39878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Table 7: Results of </a:t>
            </a:r>
            <a:r>
              <a:rPr lang="en-US" altLang="zh-CN" sz="2000" b="1" i="1" u="sng">
                <a:latin typeface="Times New Roman" panose="02020603050405020304" charset="0"/>
                <a:cs typeface="Times New Roman" panose="02020603050405020304" charset="0"/>
              </a:rPr>
              <a:t>recall@5 for target message retrieval</a:t>
            </a:r>
            <a:r>
              <a:rPr lang="en-US" altLang="zh-CN" sz="2000">
                <a:latin typeface="Times New Roman" panose="02020603050405020304" charset="0"/>
                <a:cs typeface="Times New Roman" panose="02020603050405020304" charset="0"/>
              </a:rPr>
              <a:t>.</a:t>
            </a:r>
            <a:endParaRPr lang="en-US" altLang="zh-CN" sz="20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Results</a:t>
            </a:r>
            <a:endParaRPr lang="en-US" altLang="zh-CN" sz="3600" b="1">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1"/>
          <a:stretch>
            <a:fillRect/>
          </a:stretch>
        </p:blipFill>
        <p:spPr>
          <a:xfrm>
            <a:off x="1285875" y="1494790"/>
            <a:ext cx="9620250" cy="5144770"/>
          </a:xfrm>
          <a:prstGeom prst="rect">
            <a:avLst/>
          </a:prstGeom>
        </p:spPr>
      </p:pic>
      <p:sp>
        <p:nvSpPr>
          <p:cNvPr id="5" name="文本框 4"/>
          <p:cNvSpPr txBox="1"/>
          <p:nvPr/>
        </p:nvSpPr>
        <p:spPr>
          <a:xfrm>
            <a:off x="1952625" y="1041400"/>
            <a:ext cx="8286750" cy="39878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Table 8: Results of </a:t>
            </a:r>
            <a:r>
              <a:rPr lang="en-US" altLang="zh-CN" sz="2000" b="1" i="1" u="sng">
                <a:latin typeface="Times New Roman" panose="02020603050405020304" charset="0"/>
                <a:cs typeface="Times New Roman" panose="02020603050405020304" charset="0"/>
              </a:rPr>
              <a:t>response time for generating answers</a:t>
            </a:r>
            <a:r>
              <a:rPr lang="en-US" altLang="zh-CN" sz="2000">
                <a:latin typeface="Times New Roman" panose="02020603050405020304" charset="0"/>
                <a:cs typeface="Times New Roman" panose="02020603050405020304" charset="0"/>
              </a:rPr>
              <a:t> (seconds per query).</a:t>
            </a:r>
            <a:endParaRPr lang="en-US" altLang="zh-CN" sz="20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Benchmark - Results</a:t>
            </a:r>
            <a:endParaRPr lang="en-US" altLang="zh-CN" sz="3600" b="1">
              <a:latin typeface="Times New Roman" panose="02020603050405020304" charset="0"/>
              <a:cs typeface="Times New Roman" panose="02020603050405020304" charset="0"/>
            </a:endParaRPr>
          </a:p>
        </p:txBody>
      </p:sp>
      <p:pic>
        <p:nvPicPr>
          <p:cNvPr id="4" name="图片 3"/>
          <p:cNvPicPr>
            <a:picLocks noChangeAspect="1"/>
          </p:cNvPicPr>
          <p:nvPr/>
        </p:nvPicPr>
        <p:blipFill>
          <a:blip r:embed="rId1"/>
          <a:stretch>
            <a:fillRect/>
          </a:stretch>
        </p:blipFill>
        <p:spPr>
          <a:xfrm>
            <a:off x="556895" y="1957705"/>
            <a:ext cx="11228705" cy="3384550"/>
          </a:xfrm>
          <a:prstGeom prst="rect">
            <a:avLst/>
          </a:prstGeom>
        </p:spPr>
      </p:pic>
      <p:sp>
        <p:nvSpPr>
          <p:cNvPr id="5" name="文本框 4"/>
          <p:cNvSpPr txBox="1"/>
          <p:nvPr/>
        </p:nvSpPr>
        <p:spPr>
          <a:xfrm>
            <a:off x="1880870" y="1435100"/>
            <a:ext cx="8430260" cy="398780"/>
          </a:xfrm>
          <a:prstGeom prst="rect">
            <a:avLst/>
          </a:prstGeom>
          <a:noFill/>
        </p:spPr>
        <p:txBody>
          <a:bodyPr wrap="square" rtlCol="0">
            <a:spAutoFit/>
          </a:bodyPr>
          <a:p>
            <a:r>
              <a:rPr lang="en-US" altLang="zh-CN" sz="2000">
                <a:latin typeface="Times New Roman" panose="02020603050405020304" charset="0"/>
                <a:cs typeface="Times New Roman" panose="02020603050405020304" charset="0"/>
              </a:rPr>
              <a:t>Table 9: Results of </a:t>
            </a:r>
            <a:r>
              <a:rPr lang="en-US" altLang="zh-CN" sz="2000" b="1" i="1" u="sng">
                <a:latin typeface="Times New Roman" panose="02020603050405020304" charset="0"/>
                <a:cs typeface="Times New Roman" panose="02020603050405020304" charset="0"/>
              </a:rPr>
              <a:t>adaptation time for storing messages</a:t>
            </a:r>
            <a:r>
              <a:rPr lang="en-US" altLang="zh-CN" sz="2000">
                <a:latin typeface="Times New Roman" panose="02020603050405020304" charset="0"/>
                <a:cs typeface="Times New Roman" panose="02020603050405020304" charset="0"/>
              </a:rPr>
              <a:t> (seconds per message).</a:t>
            </a:r>
            <a:endParaRPr lang="en-US" altLang="zh-CN" sz="2000">
              <a:latin typeface="Times New Roman" panose="02020603050405020304" charset="0"/>
              <a:cs typeface="Times New Roman" panose="02020603050405020304" charset="0"/>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73710" y="868045"/>
            <a:ext cx="8229600" cy="3240405"/>
          </a:xfrm>
          <a:prstGeom prst="rect">
            <a:avLst/>
          </a:prstGeom>
          <a:noFill/>
        </p:spPr>
        <p:txBody>
          <a:bodyPr wrap="square" rtlCol="0">
            <a:noAutofit/>
          </a:bodyPr>
          <a:p>
            <a:pPr marL="457200" indent="-457200">
              <a:lnSpc>
                <a:spcPct val="300000"/>
              </a:lnSpc>
              <a:buFont typeface="Wingdings" panose="05000000000000000000" charset="0"/>
              <a:buChar char="Ø"/>
            </a:pPr>
            <a:r>
              <a:rPr lang="en-US" altLang="zh-CN" sz="3200">
                <a:latin typeface="Times New Roman" panose="02020603050405020304" charset="0"/>
                <a:cs typeface="Times New Roman" panose="02020603050405020304" charset="0"/>
              </a:rPr>
              <a:t>No higher-level and abstract information</a:t>
            </a:r>
            <a:endParaRPr lang="en-US" altLang="zh-CN" sz="3200">
              <a:latin typeface="Times New Roman" panose="02020603050405020304" charset="0"/>
              <a:cs typeface="Times New Roman" panose="02020603050405020304" charset="0"/>
            </a:endParaRPr>
          </a:p>
          <a:p>
            <a:pPr marL="457200" indent="-457200">
              <a:lnSpc>
                <a:spcPct val="300000"/>
              </a:lnSpc>
              <a:buFont typeface="Wingdings" panose="05000000000000000000" charset="0"/>
              <a:buChar char="Ø"/>
            </a:pPr>
            <a:r>
              <a:rPr lang="en-US" altLang="zh-CN" sz="3200">
                <a:latin typeface="Times New Roman" panose="02020603050405020304" charset="0"/>
                <a:cs typeface="Times New Roman" panose="02020603050405020304" charset="0"/>
              </a:rPr>
              <a:t>No dialogue forms</a:t>
            </a:r>
            <a:endParaRPr lang="en-US" altLang="zh-CN" sz="3200">
              <a:latin typeface="Times New Roman" panose="02020603050405020304" charset="0"/>
              <a:cs typeface="Times New Roman" panose="02020603050405020304" charset="0"/>
            </a:endParaRPr>
          </a:p>
        </p:txBody>
      </p:sp>
      <p:sp>
        <p:nvSpPr>
          <p:cNvPr id="8" name="文本框 7"/>
          <p:cNvSpPr txBox="1"/>
          <p:nvPr/>
        </p:nvSpPr>
        <p:spPr>
          <a:xfrm>
            <a:off x="473710" y="341630"/>
            <a:ext cx="9270365" cy="645160"/>
          </a:xfrm>
          <a:prstGeom prst="rect">
            <a:avLst/>
          </a:prstGeom>
          <a:noFill/>
        </p:spPr>
        <p:txBody>
          <a:bodyPr wrap="square" rtlCol="0">
            <a:spAutoFit/>
          </a:bodyPr>
          <a:p>
            <a:pPr marL="0" indent="0"/>
            <a:r>
              <a:rPr lang="en-US" altLang="zh-CN" sz="3600" b="1">
                <a:latin typeface="Times New Roman" panose="02020603050405020304" charset="0"/>
                <a:cs typeface="Times New Roman" panose="02020603050405020304" charset="0"/>
              </a:rPr>
              <a:t>Limitations</a:t>
            </a:r>
            <a:endParaRPr lang="en-US" altLang="zh-CN" sz="3600" b="1">
              <a:latin typeface="Times New Roman" panose="02020603050405020304" charset="0"/>
              <a:cs typeface="Times New Roman" panose="02020603050405020304"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565525" y="2715895"/>
            <a:ext cx="5060950" cy="1198880"/>
          </a:xfrm>
          <a:prstGeom prst="rect">
            <a:avLst/>
          </a:prstGeom>
          <a:noFill/>
        </p:spPr>
        <p:txBody>
          <a:bodyPr wrap="square" rtlCol="0">
            <a:spAutoFit/>
          </a:bodyPr>
          <a:p>
            <a:r>
              <a:rPr lang="en-US" altLang="zh-CN" sz="7200">
                <a:ln w="15875"/>
                <a:gradFill>
                  <a:gsLst>
                    <a:gs pos="0">
                      <a:schemeClr val="accent1">
                        <a:lumOff val="-19996"/>
                        <a:satOff val="20000"/>
                      </a:schemeClr>
                    </a:gs>
                    <a:gs pos="100000">
                      <a:schemeClr val="accent1">
                        <a:lumOff val="15000"/>
                        <a:satOff val="-14996"/>
                      </a:schemeClr>
                    </a:gs>
                  </a:gsLst>
                  <a:lin ang="0" scaled="0"/>
                </a:gradFill>
                <a:effectLst/>
              </a:rPr>
              <a:t>Thank you !</a:t>
            </a:r>
            <a:endParaRPr lang="en-US" altLang="zh-CN" sz="7200">
              <a:ln w="15875"/>
              <a:gradFill>
                <a:gsLst>
                  <a:gs pos="0">
                    <a:schemeClr val="accent1">
                      <a:lumOff val="-19996"/>
                      <a:satOff val="20000"/>
                    </a:schemeClr>
                  </a:gs>
                  <a:gs pos="100000">
                    <a:schemeClr val="accent1">
                      <a:lumOff val="15000"/>
                      <a:satOff val="-14996"/>
                    </a:schemeClr>
                  </a:gs>
                </a:gsLst>
                <a:lin ang="0" scaled="0"/>
              </a:gradFill>
              <a:effectLst/>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p="http://schemas.openxmlformats.org/presentationml/2006/main">
  <p:tag name="KSO_WM_DIAGRAM_VIRTUALLY_FRAME" val="{&quot;height&quot;:550.7,&quot;left&quot;:391.15,&quot;top&quot;:14.2,&quot;width&quot;:532.05}"/>
</p:tagLst>
</file>

<file path=ppt/tags/tag74.xml><?xml version="1.0" encoding="utf-8"?>
<p:tagLst xmlns:p="http://schemas.openxmlformats.org/presentationml/2006/main">
  <p:tag name="KSO_WM_DIAGRAM_VIRTUALLY_FRAME" val="{&quot;height&quot;:550.7,&quot;left&quot;:391.15,&quot;top&quot;:14.2,&quot;width&quot;:532.05}"/>
</p:tagLst>
</file>

<file path=ppt/tags/tag75.xml><?xml version="1.0" encoding="utf-8"?>
<p:tagLst xmlns:p="http://schemas.openxmlformats.org/presentationml/2006/main">
  <p:tag name="KSO_WM_DIAGRAM_VIRTUALLY_FRAME" val="{&quot;height&quot;:550.7,&quot;left&quot;:391.15,&quot;top&quot;:14.2,&quot;width&quot;:532.05}"/>
</p:tagLst>
</file>

<file path=ppt/tags/tag76.xml><?xml version="1.0" encoding="utf-8"?>
<p:tagLst xmlns:p="http://schemas.openxmlformats.org/presentationml/2006/main">
  <p:tag name="KSO_WM_DIAGRAM_VIRTUALLY_FRAME" val="{&quot;height&quot;:550.7,&quot;left&quot;:391.15,&quot;top&quot;:14.2,&quot;width&quot;:532.05}"/>
</p:tagLst>
</file>

<file path=ppt/tags/tag77.xml><?xml version="1.0" encoding="utf-8"?>
<p:tagLst xmlns:p="http://schemas.openxmlformats.org/presentationml/2006/main">
  <p:tag name="KSO_WM_DIAGRAM_VIRTUALLY_FRAME" val="{&quot;height&quot;:550.7,&quot;left&quot;:391.15,&quot;top&quot;:14.2,&quot;width&quot;:532.05}"/>
</p:tagLst>
</file>

<file path=ppt/tags/tag78.xml><?xml version="1.0" encoding="utf-8"?>
<p:tagLst xmlns:p="http://schemas.openxmlformats.org/presentationml/2006/main">
  <p:tag name="KSO_WM_DIAGRAM_VIRTUALLY_FRAME" val="{&quot;height&quot;:550.7,&quot;left&quot;:391.15,&quot;top&quot;:14.2,&quot;width&quot;:532.05}"/>
</p:tagLst>
</file>

<file path=ppt/tags/tag79.xml><?xml version="1.0" encoding="utf-8"?>
<p:tagLst xmlns:p="http://schemas.openxmlformats.org/presentationml/2006/main">
  <p:tag name="KSO_WM_DIAGRAM_VIRTUALLY_FRAME" val="{&quot;height&quot;:550.7,&quot;left&quot;:391.15,&quot;top&quot;:14.2,&quot;width&quot;:532.05}"/>
</p:tagLst>
</file>

<file path=ppt/tags/tag80.xml><?xml version="1.0" encoding="utf-8"?>
<p:tagLst xmlns:p="http://schemas.openxmlformats.org/presentationml/2006/main">
  <p:tag name="KSO_WM_DIAGRAM_VIRTUALLY_FRAME" val="{&quot;height&quot;:550.7,&quot;left&quot;:391.15,&quot;top&quot;:14.2,&quot;width&quot;:532.05}"/>
</p:tagLst>
</file>

<file path=ppt/tags/tag81.xml><?xml version="1.0" encoding="utf-8"?>
<p:tagLst xmlns:p="http://schemas.openxmlformats.org/presentationml/2006/main">
  <p:tag name="KSO_WM_DIAGRAM_VIRTUALLY_FRAME" val="{&quot;height&quot;:550.7,&quot;left&quot;:391.15,&quot;top&quot;:14.2,&quot;width&quot;:532.05}"/>
</p:tagLst>
</file>

<file path=ppt/tags/tag82.xml><?xml version="1.0" encoding="utf-8"?>
<p:tagLst xmlns:p="http://schemas.openxmlformats.org/presentationml/2006/main">
  <p:tag name="KSO_WM_DIAGRAM_VIRTUALLY_FRAME" val="{&quot;height&quot;:550.7,&quot;left&quot;:391.15,&quot;top&quot;:14.2,&quot;width&quot;:532.05}"/>
</p:tagLst>
</file>

<file path=ppt/tags/tag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7528</Words>
  <Application>WPS 演示</Application>
  <PresentationFormat>宽屏</PresentationFormat>
  <Paragraphs>223</Paragraphs>
  <Slides>24</Slides>
  <Notes>4</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24</vt:i4>
      </vt:variant>
    </vt:vector>
  </HeadingPairs>
  <TitlesOfParts>
    <vt:vector size="40" baseType="lpstr">
      <vt:lpstr>Arial</vt:lpstr>
      <vt:lpstr>宋体</vt:lpstr>
      <vt:lpstr>Wingdings</vt:lpstr>
      <vt:lpstr>Wingdings</vt:lpstr>
      <vt:lpstr>Times New Roman</vt:lpstr>
      <vt:lpstr>sans-serif</vt:lpstr>
      <vt:lpstr>Segoe Print</vt:lpstr>
      <vt:lpstr>monospace</vt:lpstr>
      <vt:lpstr>Comic Sans MS</vt:lpstr>
      <vt:lpstr>Inter</vt:lpstr>
      <vt:lpstr>MV Boli</vt:lpstr>
      <vt:lpstr>Cambria Math</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杜祥云</cp:lastModifiedBy>
  <cp:revision>203</cp:revision>
  <dcterms:created xsi:type="dcterms:W3CDTF">2019-06-19T02:08:00Z</dcterms:created>
  <dcterms:modified xsi:type="dcterms:W3CDTF">2025-10-26T18:36:47Z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0B44830DDC8C48D7A8FF723B5999E35E_11</vt:lpwstr>
  </property>
</Properties>
</file>