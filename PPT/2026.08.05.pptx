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85" r:id="rId21"/>
    <p:sldId id="284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857250" y="512445"/>
            <a:ext cx="1047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200" b="1" spc="375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PVLDB 2026 </a:t>
            </a:r>
            <a:endParaRPr lang="en-US" sz="3200" b="1" spc="375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1172825" y="6496050"/>
            <a:ext cx="561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2026-08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765" y="1450975"/>
            <a:ext cx="10948035" cy="43357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圆角矩形 237"/>
          <p:cNvSpPr/>
          <p:nvPr/>
        </p:nvSpPr>
        <p:spPr>
          <a:xfrm>
            <a:off x="457200" y="266700"/>
            <a:ext cx="741997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590550" y="304800"/>
            <a:ext cx="715327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Background: DBMS Configuration Tuning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457200" y="1809750"/>
            <a:ext cx="6076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· </a:t>
            </a: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Hundreds of knobs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628650" y="2190750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MySQL exposes 400+ knobs that jointly shape system behavior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457200" y="2514600"/>
            <a:ext cx="6076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· </a:t>
            </a: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Huge performance impact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28650" y="2895600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Good vs. bad configurations can differ by orders of magnitude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457200" y="3219450"/>
            <a:ext cx="6076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· </a:t>
            </a: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Context-dependent optimum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628650" y="3600450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No global best — only the best under the current workload &amp; hardware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457200" y="3924300"/>
            <a:ext cx="6076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· </a:t>
            </a: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NP-hard search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628650" y="4305300"/>
            <a:ext cx="5905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Exploding combinatorial space forces strategic search, not enumeration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8" name="圆角矩形 247"/>
          <p:cNvSpPr/>
          <p:nvPr/>
        </p:nvSpPr>
        <p:spPr>
          <a:xfrm>
            <a:off x="6877050" y="2225675"/>
            <a:ext cx="4857750" cy="2146300"/>
          </a:xfrm>
          <a:prstGeom prst="roundRect">
            <a:avLst>
              <a:gd name="adj" fmla="val 196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7877175" y="2740025"/>
            <a:ext cx="28670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θ* = argmax  f(c, θ)</a:t>
            </a:r>
            <a:endParaRPr lang="en-US" sz="25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7800975" y="3282950"/>
            <a:ext cx="3009900" cy="552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θ: configuration (Θ = Θ₁ × ··· × Θₘ)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c: runtime metrics + workload characteristics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圆角矩形 419"/>
          <p:cNvSpPr/>
          <p:nvPr/>
        </p:nvSpPr>
        <p:spPr>
          <a:xfrm>
            <a:off x="457200" y="266700"/>
            <a:ext cx="84582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590550" y="304800"/>
            <a:ext cx="8191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Paradigm ① Data-Driven: DBMS as a Black Box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457200" y="1349375"/>
            <a:ext cx="1127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BO / RL / transfer learning: pure search without looking inside, trial-and-error toward the optimum</a:t>
            </a:r>
            <a:endParaRPr lang="en-US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3" name="圆角矩形 422"/>
          <p:cNvSpPr/>
          <p:nvPr/>
        </p:nvSpPr>
        <p:spPr>
          <a:xfrm>
            <a:off x="1781175" y="1896110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2009775" y="2029460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Configuration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3609975" y="201993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6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6" name="圆角矩形 425"/>
          <p:cNvSpPr/>
          <p:nvPr/>
        </p:nvSpPr>
        <p:spPr>
          <a:xfrm>
            <a:off x="3933825" y="1896110"/>
            <a:ext cx="20002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4162425" y="2029460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Workload Replay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6048375" y="201993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6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9" name="圆角矩形 428"/>
          <p:cNvSpPr/>
          <p:nvPr/>
        </p:nvSpPr>
        <p:spPr>
          <a:xfrm>
            <a:off x="6372225" y="1896110"/>
            <a:ext cx="1628775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6600825" y="2029460"/>
            <a:ext cx="1171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Performance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8115300" y="2019935"/>
            <a:ext cx="209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6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2" name="圆角矩形 431"/>
          <p:cNvSpPr/>
          <p:nvPr/>
        </p:nvSpPr>
        <p:spPr>
          <a:xfrm>
            <a:off x="8439150" y="1896110"/>
            <a:ext cx="1714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8667750" y="2029460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Update Model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10267950" y="2019935"/>
            <a:ext cx="1428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⟳</a:t>
            </a:r>
            <a:endParaRPr sz="16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742950" y="2658110"/>
            <a:ext cx="10706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Costly sampling</a:t>
            </a: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　</a:t>
            </a:r>
            <a:r>
              <a:rPr lang="en-US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every observation requires a full workload replay — minutes per iteration</a:t>
            </a:r>
            <a:endParaRPr lang="en-US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742950" y="3157220"/>
            <a:ext cx="10706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Unsafe exploration</a:t>
            </a: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　</a:t>
            </a:r>
            <a:r>
              <a:rPr lang="en-US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without priors, early iterations evaluate many bad configs, even hurting performance</a:t>
            </a:r>
            <a:endParaRPr lang="en-US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742950" y="3724910"/>
            <a:ext cx="10706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Poor transferability</a:t>
            </a: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　</a:t>
            </a:r>
            <a:r>
              <a:rPr lang="en-US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Transfer can degrade when source and target workloads differ</a:t>
            </a:r>
            <a:endParaRPr lang="en-US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矩形 4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41" name="圆角矩形 440"/>
          <p:cNvSpPr/>
          <p:nvPr/>
        </p:nvSpPr>
        <p:spPr>
          <a:xfrm>
            <a:off x="457200" y="266700"/>
            <a:ext cx="99441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590550" y="304800"/>
            <a:ext cx="96774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Paradigm ② Manual-Driven: Knowledgeable, but Coarse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457200" y="1009650"/>
            <a:ext cx="11277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DB-BERT / GPTuner: LLMs extract tuning heuristics from manuals &amp; blogs to prune the search space</a:t>
            </a:r>
            <a:endParaRPr lang="en-US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4" name="圆角矩形 443"/>
          <p:cNvSpPr/>
          <p:nvPr/>
        </p:nvSpPr>
        <p:spPr>
          <a:xfrm>
            <a:off x="457200" y="1409700"/>
            <a:ext cx="5524500" cy="2823210"/>
          </a:xfrm>
          <a:prstGeom prst="roundRect">
            <a:avLst>
              <a:gd name="adj" fmla="val 209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685800" y="163830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What manuals offer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685800" y="2028825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✓ Value ranges / recommended / special values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685800" y="2371725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✓ Narrow an infinite space into searchable intervals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685800" y="2714625"/>
            <a:ext cx="50673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e.g., buffer pool suggested at 70~80% of memory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9" name="圆角矩形 448"/>
          <p:cNvSpPr/>
          <p:nvPr/>
        </p:nvSpPr>
        <p:spPr>
          <a:xfrm>
            <a:off x="6210300" y="1409700"/>
            <a:ext cx="5524500" cy="2823210"/>
          </a:xfrm>
          <a:prstGeom prst="roundRect">
            <a:avLst>
              <a:gd name="adj" fmla="val 2096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6438900" y="1638300"/>
            <a:ext cx="5067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What is missing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6438900" y="2028825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Incomplete coverage: &lt;50% knobs have valid ranges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6438900" y="2371725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Context-agnostic: blind to current workload &amp; bottleneck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6438900" y="2714625"/>
            <a:ext cx="5067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✗ No context-specific trigger, direction, or step size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457200" y="6143625"/>
            <a:ext cx="11277600" cy="485775"/>
          </a:xfrm>
          <a:prstGeom prst="roundRect">
            <a:avLst>
              <a:gd name="adj" fmla="val 15686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2726690" y="6276975"/>
            <a:ext cx="56388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A broad legal range ≠ the right </a:t>
            </a:r>
            <a:r>
              <a:rPr lang="en-US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value under the current bottleneck</a:t>
            </a:r>
            <a:endParaRPr lang="en-US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圆角矩形 458"/>
          <p:cNvSpPr/>
          <p:nvPr/>
        </p:nvSpPr>
        <p:spPr>
          <a:xfrm>
            <a:off x="457200" y="266700"/>
            <a:ext cx="80772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590550" y="304800"/>
            <a:ext cx="7810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Motivating Example: innodb_spin_wait_delay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64" name="圆角矩形 463"/>
          <p:cNvSpPr/>
          <p:nvPr/>
        </p:nvSpPr>
        <p:spPr>
          <a:xfrm>
            <a:off x="457200" y="5734050"/>
            <a:ext cx="4619625" cy="895350"/>
          </a:xfrm>
          <a:prstGeom prst="roundRect">
            <a:avLst>
              <a:gd name="adj" fmla="val 851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666750" y="5867400"/>
            <a:ext cx="4200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Manual view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666750" y="6124575"/>
            <a:ext cx="4200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range [0,1000] · default 6 · qualitative trade-off only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67" name="圆角矩形 466"/>
          <p:cNvSpPr/>
          <p:nvPr/>
        </p:nvSpPr>
        <p:spPr>
          <a:xfrm>
            <a:off x="5267325" y="5734050"/>
            <a:ext cx="6467475" cy="895350"/>
          </a:xfrm>
          <a:prstGeom prst="roundRect">
            <a:avLst>
              <a:gd name="adj" fmla="val 8511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5476875" y="5867400"/>
            <a:ext cx="6048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Code view (this paper)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5476875" y="6124575"/>
            <a:ext cx="6048375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The knob trades off ut_delay vs. sync_array_wait_event; the runtime state decides whether to increase or decrease</a:t>
            </a:r>
            <a:endParaRPr lang="en-US" sz="12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945"/>
            <a:ext cx="11307445" cy="3881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圆角矩形 472"/>
          <p:cNvSpPr/>
          <p:nvPr/>
        </p:nvSpPr>
        <p:spPr>
          <a:xfrm>
            <a:off x="457200" y="266700"/>
            <a:ext cx="634365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590550" y="304800"/>
            <a:ext cx="60769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Three Challenges → Three Designs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75" name="圆角矩形 474"/>
          <p:cNvSpPr/>
          <p:nvPr/>
        </p:nvSpPr>
        <p:spPr>
          <a:xfrm>
            <a:off x="457200" y="1704975"/>
            <a:ext cx="11277600" cy="1152525"/>
          </a:xfrm>
          <a:prstGeom prst="roundRect">
            <a:avLst>
              <a:gd name="adj" fmla="val 8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04850" y="1876425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C1 · Code Understanding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04850" y="2209800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Challenge: locate knob-controlled execution paths in millions of LOC — feeding everything to an LLM drowns the context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704850" y="2486025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 </a:t>
            </a: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Design: static taint analysis scopes the region; dual LLM agents read code on demand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79" name="圆角矩形 478"/>
          <p:cNvSpPr/>
          <p:nvPr/>
        </p:nvSpPr>
        <p:spPr>
          <a:xfrm>
            <a:off x="457200" y="3333750"/>
            <a:ext cx="11277600" cy="1152525"/>
          </a:xfrm>
          <a:prstGeom prst="roundRect">
            <a:avLst>
              <a:gd name="adj" fmla="val 8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04850" y="3505200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C2 · Quantitative Guidance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704850" y="3838575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Challenge: semantic insights give direction only — they must become executable triggers, directions, and step sizes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04850" y="4114800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 </a:t>
            </a: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Design: semantic sampling experiments + customized association rule mining (ARM)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3" name="圆角矩形 482"/>
          <p:cNvSpPr/>
          <p:nvPr/>
        </p:nvSpPr>
        <p:spPr>
          <a:xfrm>
            <a:off x="457200" y="4857750"/>
            <a:ext cx="11277600" cy="1152525"/>
          </a:xfrm>
          <a:prstGeom prst="roundRect">
            <a:avLst>
              <a:gd name="adj" fmla="val 82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04850" y="5029200"/>
            <a:ext cx="107823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C3 · Reliability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704850" y="5362575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Challenge: LLMs hallucinate, and tuning is high-stakes — bad configs can crash throughput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704850" y="5638800"/>
            <a:ext cx="10782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 </a:t>
            </a:r>
            <a:r>
              <a:rPr lang="en-US" sz="16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Design: rule-level confidence maintenance, continuously validated by real feedback</a:t>
            </a:r>
            <a:endParaRPr lang="en-US" sz="16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矩形 4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91" name="圆角矩形 490"/>
          <p:cNvSpPr/>
          <p:nvPr/>
        </p:nvSpPr>
        <p:spPr>
          <a:xfrm>
            <a:off x="457200" y="266700"/>
            <a:ext cx="641032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590550" y="304800"/>
            <a:ext cx="614362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Preliminaries: Problem Formulation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3" name="圆角矩形 492"/>
          <p:cNvSpPr/>
          <p:nvPr/>
        </p:nvSpPr>
        <p:spPr>
          <a:xfrm>
            <a:off x="457200" y="2552700"/>
            <a:ext cx="11277600" cy="1095375"/>
          </a:xfrm>
          <a:prstGeom prst="roundRect">
            <a:avLst>
              <a:gd name="adj" fmla="val 10435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4667250" y="2762250"/>
            <a:ext cx="28670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θ* = argmax  f(c, θ)</a:t>
            </a:r>
            <a:endParaRPr lang="en-US" sz="25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3495675" y="3248025"/>
            <a:ext cx="52101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Given context c, search for the configuration θ* that maximizes performance f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6" name="圆角矩形 495"/>
          <p:cNvSpPr/>
          <p:nvPr/>
        </p:nvSpPr>
        <p:spPr>
          <a:xfrm>
            <a:off x="647700" y="3857625"/>
            <a:ext cx="53530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876300" y="4029075"/>
            <a:ext cx="48958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Decision ① Knob Selection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876300" y="4314825"/>
            <a:ext cx="4895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Among hundreds of knobs, which few are worth tuning?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9" name="圆角矩形 498"/>
          <p:cNvSpPr/>
          <p:nvPr/>
        </p:nvSpPr>
        <p:spPr>
          <a:xfrm>
            <a:off x="6191250" y="3857625"/>
            <a:ext cx="535305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419850" y="4029075"/>
            <a:ext cx="48958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Decision ② Value Recommendation</a:t>
            </a:r>
            <a:endParaRPr lang="en-US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419850" y="4314825"/>
            <a:ext cx="4895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For the chosen knobs — which direction, and by how much?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457200" y="4886325"/>
            <a:ext cx="11277600" cy="20002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SysInsight answers both with "code knowledge"</a:t>
            </a:r>
            <a:endParaRPr lang="en-US" sz="127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圆角矩形 505"/>
          <p:cNvSpPr/>
          <p:nvPr/>
        </p:nvSpPr>
        <p:spPr>
          <a:xfrm>
            <a:off x="457200" y="266700"/>
            <a:ext cx="753427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590550" y="304800"/>
            <a:ext cx="726757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Preliminaries: How Knobs Affect Behavior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457200" y="1009650"/>
            <a:ext cx="5505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Explicit Control · Branch Switch</a:t>
            </a:r>
            <a:endParaRPr lang="en-US" sz="16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6229350" y="1009650"/>
            <a:ext cx="55054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Implicit Control · Frequency / Timing</a:t>
            </a:r>
            <a:endParaRPr lang="en-US" sz="16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" y="1813560"/>
            <a:ext cx="5779135" cy="26117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2057400"/>
            <a:ext cx="5556250" cy="236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圆角矩形 520"/>
          <p:cNvSpPr/>
          <p:nvPr/>
        </p:nvSpPr>
        <p:spPr>
          <a:xfrm>
            <a:off x="457200" y="266700"/>
            <a:ext cx="38100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590550" y="304800"/>
            <a:ext cx="35433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SysInsight Overview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4015"/>
            <a:ext cx="11579225" cy="41802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457200" y="266700"/>
            <a:ext cx="88392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90550" y="304800"/>
            <a:ext cx="8572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C1 · From Source Code to Hypotheses (Overview)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57200" y="1933575"/>
            <a:ext cx="697547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47700" y="2114550"/>
            <a:ext cx="2190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DBMS Source Code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506470" y="2106930"/>
            <a:ext cx="3857625" cy="279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millions of LOC → cannot fit in one prompt</a:t>
            </a:r>
            <a:endParaRPr lang="zh-CN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723900" y="2562225"/>
            <a:ext cx="6315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125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57200" y="2809875"/>
            <a:ext cx="6974840" cy="55181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647700" y="2895600"/>
            <a:ext cx="2190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① ConfMapper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3575050" y="2981325"/>
            <a:ext cx="3857625" cy="241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map each knob to its internal variable</a:t>
            </a:r>
            <a:endParaRPr lang="zh-CN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723900" y="3295650"/>
            <a:ext cx="6315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125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57200" y="3543300"/>
            <a:ext cx="697484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647700" y="3724275"/>
            <a:ext cx="2190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② Static Taint Analysis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575050" y="3733800"/>
            <a:ext cx="38576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trace data + control dependencies</a:t>
            </a:r>
            <a:endParaRPr lang="zh-CN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723900" y="4171950"/>
            <a:ext cx="6315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125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57200" y="4419600"/>
            <a:ext cx="697484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47700" y="4600575"/>
            <a:ext cx="2190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③ Dual LLM Agents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575050" y="4610100"/>
            <a:ext cx="38576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retrieve context → summarize causal links</a:t>
            </a:r>
            <a:endParaRPr lang="zh-CN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723900" y="5048250"/>
            <a:ext cx="6315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125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57200" y="5295900"/>
            <a:ext cx="6974840" cy="551815"/>
          </a:xfrm>
          <a:prstGeom prst="roundRect">
            <a:avLst>
              <a:gd name="adj" fmla="val 18605"/>
            </a:avLst>
          </a:prstGeom>
          <a:solidFill>
            <a:srgbClr val="D4F4F2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47700" y="5400675"/>
            <a:ext cx="2190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Output: Hypothesis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3575050" y="5505450"/>
            <a:ext cx="38576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directional advice → C2</a:t>
            </a:r>
            <a:endParaRPr lang="zh-CN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572375" y="2628900"/>
            <a:ext cx="4391025" cy="238125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800975" y="2857500"/>
            <a:ext cx="39338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Two deliverables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7800975" y="3200400"/>
            <a:ext cx="39338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Mapping: bottleneck function ↔ controllable knobs</a:t>
            </a:r>
            <a:endParaRPr lang="zh-CN" sz="15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800975" y="4191000"/>
            <a:ext cx="3933825" cy="355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Hypothesis: condition → tuning direction</a:t>
            </a:r>
            <a:endParaRPr lang="zh-CN" sz="1500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 39"/>
          <p:cNvSpPr/>
          <p:nvPr/>
        </p:nvSpPr>
        <p:spPr>
          <a:xfrm>
            <a:off x="457200" y="266700"/>
            <a:ext cx="856742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90550" y="304800"/>
            <a:ext cx="732472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C1 · Static Mapping Output: Real JSON Example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57200" y="2466975"/>
            <a:ext cx="574357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47700" y="2562225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knob</a:t>
            </a:r>
            <a:endParaRPr lang="en-US" sz="14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1943100" y="2571750"/>
            <a:ext cx="406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innodb_spin_wait_delay</a:t>
            </a:r>
            <a:endParaRPr lang="en-US" sz="13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723900" y="2924175"/>
            <a:ext cx="5476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0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457200" y="3162300"/>
            <a:ext cx="574357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647700" y="325755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ConfMapper</a:t>
            </a:r>
            <a:endParaRPr lang="en-US" sz="14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943100" y="3267075"/>
            <a:ext cx="406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finds its Sys_var_* definition</a:t>
            </a:r>
            <a:endParaRPr lang="zh-CN" sz="13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723900" y="3619500"/>
            <a:ext cx="5476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0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457200" y="3857625"/>
            <a:ext cx="574357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647700" y="3952875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Data flow</a:t>
            </a:r>
            <a:endParaRPr lang="en-US" sz="14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1943100" y="3962400"/>
            <a:ext cx="406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srv_spin_wait_delay  →  rw_lock_x_lock_func()</a:t>
            </a:r>
            <a:endParaRPr lang="zh-CN" sz="13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723900" y="4314825"/>
            <a:ext cx="5476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↓</a:t>
            </a:r>
            <a:endParaRPr sz="105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57200" y="4552950"/>
            <a:ext cx="5743575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647700" y="4648200"/>
            <a:ext cx="1143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Control flow</a:t>
            </a:r>
            <a:endParaRPr lang="en-US" sz="14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1943100" y="4657725"/>
            <a:ext cx="40671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ut_delay() + ut::random_from_interval_fast()</a:t>
            </a:r>
            <a:endParaRPr lang="zh-CN" sz="13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57200" y="5010150"/>
            <a:ext cx="57435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One JSON record per knob → later invert to f → K_f</a:t>
            </a:r>
            <a:endParaRPr lang="zh-CN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6505575" y="1009650"/>
            <a:ext cx="5229225" cy="4914900"/>
          </a:xfrm>
          <a:prstGeom prst="roundRect">
            <a:avLst>
              <a:gd name="adj" fmla="val 1938"/>
            </a:avLst>
          </a:prstGeom>
          <a:solidFill>
            <a:srgbClr val="FAFAFA"/>
          </a:solidFill>
          <a:ln w="25400">
            <a:solidFill>
              <a:srgbClr val="C9CDD3"/>
            </a:solidFill>
            <a:prstDash val="dash"/>
          </a:ln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6832600" y="1371600"/>
            <a:ext cx="4572000" cy="3556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600" b="1">
                <a:solidFill/>
              </a:rPr>
              <a:t>Actual JSON excerpt: static mapping record</a:t>
            </a:r>
            <a:endParaRPr lang="en-US" sz="1600" b="1">
              <a:solidFill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6832600" y="2006600"/>
            <a:ext cx="4572000" cy="27940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050">
                <a:solidFill/>
              </a:rPr>
              <a:t>{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"knob_name": "innodb_spin_wait_delay",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"data_flow_functions_num": 10,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"control_flow_functions": [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  "ut::random_from_interval_fast",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  "ut_delay"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],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"control_flow_functions_num": 2,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  "total_functions_num": 12</a:t>
            </a:r>
            <a:endParaRPr lang="en-US" sz="1050">
              <a:solidFill/>
            </a:endParaRPr>
          </a:p>
          <a:p>
            <a:r>
              <a:rPr lang="en-US" sz="1050">
                <a:solidFill/>
              </a:rPr>
              <a:t>}</a:t>
            </a:r>
            <a:endParaRPr lang="en-US" sz="1050">
              <a:solidFill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圆角矩形 65"/>
          <p:cNvSpPr/>
          <p:nvPr/>
        </p:nvSpPr>
        <p:spPr>
          <a:xfrm>
            <a:off x="457200" y="266700"/>
            <a:ext cx="863155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590550" y="304800"/>
            <a:ext cx="8509000" cy="469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C1 · Dual Agents: From Code to Tuning Advice</a:t>
            </a:r>
            <a:endParaRPr lang="zh-CN" sz="3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57200" y="1009650"/>
            <a:ext cx="5114925" cy="4981575"/>
          </a:xfrm>
          <a:prstGeom prst="roundRect">
            <a:avLst>
              <a:gd name="adj" fmla="val 1912"/>
            </a:avLst>
          </a:prstGeom>
          <a:solidFill>
            <a:srgbClr val="EAF8F7">
              <a:alpha val="10000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85800" y="1238250"/>
            <a:ext cx="4657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1. Retrieval Agent</a:t>
            </a:r>
            <a:endParaRPr lang="zh-CN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685800" y="186690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START  knob-controlled parent function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685800" y="242570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ASK  Which code do I still need?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685800" y="298450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FETCH  requested function bodies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685800" y="354330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LOOP  append code until context is enough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5880100" y="3136900"/>
            <a:ext cx="406400" cy="431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00" b="1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lang="zh-CN" sz="2800" b="1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619875" y="1009650"/>
            <a:ext cx="5114925" cy="4981575"/>
          </a:xfrm>
          <a:prstGeom prst="roundRect">
            <a:avLst>
              <a:gd name="adj" fmla="val 191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6848475" y="1238250"/>
            <a:ext cx="46577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2. Summarization Agent</a:t>
            </a:r>
            <a:endParaRPr lang="zh-CN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6848475" y="194564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INPUT  retrieved code context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848475" y="269494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EXPLAIN  knob → function → performance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6848475" y="3444240"/>
            <a:ext cx="4657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OUTPUT  condition → tune knob ↑ / ↓</a:t>
            </a:r>
            <a:endParaRPr lang="zh-CN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457200" y="6181725"/>
            <a:ext cx="11277600" cy="447675"/>
          </a:xfrm>
          <a:prstGeom prst="roundRect">
            <a:avLst>
              <a:gd name="adj" fmla="val 17021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168400" y="6305550"/>
            <a:ext cx="9855200" cy="254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Output: a directional hypothesis — thresholds and step sizes are learned later in C2</a:t>
            </a:r>
            <a:endParaRPr lang="zh-CN" sz="15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" name="文本框 1" descr="{&quot;isTemplate&quot;:true,&quot;type&quot;:&quot;text&quot;}"/>
          <p:cNvSpPr txBox="1"/>
          <p:nvPr/>
        </p:nvSpPr>
        <p:spPr>
          <a:xfrm>
            <a:off x="5537200" y="2984500"/>
            <a:ext cx="990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 b="1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retrieved </a:t>
            </a:r>
            <a:r>
              <a:rPr lang="zh-CN" sz="1400" b="1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code</a:t>
            </a:r>
            <a:endParaRPr lang="zh-CN" sz="1400" b="1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圆角矩形 85"/>
          <p:cNvSpPr/>
          <p:nvPr/>
        </p:nvSpPr>
        <p:spPr>
          <a:xfrm>
            <a:off x="457200" y="266700"/>
            <a:ext cx="830897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590550" y="304800"/>
            <a:ext cx="8024495" cy="43815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3000" b="1">
                <a:solidFill/>
              </a:rPr>
              <a:t>C1 Output Example: innodb_spin_wait_delay</a:t>
            </a:r>
            <a:endParaRPr lang="en-US" sz="3000" b="1">
              <a:solidFill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457200" y="2266950"/>
            <a:ext cx="6010275" cy="1323975"/>
          </a:xfrm>
          <a:prstGeom prst="roundRect">
            <a:avLst>
              <a:gd name="adj" fmla="val 719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647700" y="2457450"/>
            <a:ext cx="5629275" cy="219075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600" b="1">
                <a:solidFill/>
              </a:rPr>
              <a:t>LLM analysis: causal mechanism</a:t>
            </a:r>
            <a:endParaRPr lang="en-US" sz="1600" b="1">
              <a:solidFill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47700" y="2752725"/>
            <a:ext cx="5629275" cy="381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r>
              <a:rPr lang="en-US" sz="1400">
                <a:solidFill/>
              </a:rPr>
              <a:t>Higher delay -&gt; fewer switches, but more CPU spinning</a:t>
            </a:r>
            <a:endParaRPr lang="en-US" sz="1400">
              <a:solidFill/>
            </a:endParaRPr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47700" y="3209925"/>
            <a:ext cx="5629275" cy="1905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400">
                <a:solidFill/>
              </a:rPr>
              <a:t>Lower delay -&gt; less spinning, but more wake-ups</a:t>
            </a:r>
            <a:endParaRPr lang="en-US" sz="1400">
              <a:solidFill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457200" y="3724275"/>
            <a:ext cx="6010275" cy="1133475"/>
          </a:xfrm>
          <a:prstGeom prst="roundRect">
            <a:avLst>
              <a:gd name="adj" fmla="val 8403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647700" y="3914775"/>
            <a:ext cx="5629275" cy="219075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600" b="1">
                <a:solidFill/>
              </a:rPr>
              <a:t>Actual hypothesis output</a:t>
            </a:r>
            <a:endParaRPr lang="en-US" sz="1600" b="1">
              <a:solidFill/>
            </a:endParaRPr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647700" y="4210050"/>
            <a:ext cx="5629275" cy="1905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400">
                <a:solidFill/>
              </a:rPr>
              <a:t>ut_delay() high  -&gt;  decrease</a:t>
            </a:r>
            <a:endParaRPr lang="en-US" sz="1400">
              <a:solidFill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647700" y="4476750"/>
            <a:ext cx="5629275" cy="1905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400">
                <a:solidFill/>
              </a:rPr>
              <a:t>sync_array_wait_event() dominates  -&gt;  increase</a:t>
            </a:r>
            <a:endParaRPr lang="en-US" sz="1400">
              <a:solidFill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457200" y="4991100"/>
            <a:ext cx="6010275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r>
              <a:rPr lang="en-US" sz="1400" b="1">
                <a:solidFill/>
              </a:rPr>
              <a:t>No numeric threshold or step size - C2 learns both from trials</a:t>
            </a:r>
            <a:endParaRPr lang="en-US" sz="1400" b="1">
              <a:solidFill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6734175" y="1009650"/>
            <a:ext cx="5000625" cy="5619750"/>
          </a:xfrm>
          <a:prstGeom prst="roundRect">
            <a:avLst>
              <a:gd name="adj" fmla="val 1905"/>
            </a:avLst>
          </a:prstGeom>
          <a:solidFill>
            <a:srgbClr val="FAFAFA"/>
          </a:solidFill>
          <a:ln w="25400">
            <a:solidFill>
              <a:srgbClr val="C9CDD3"/>
            </a:solidFill>
            <a:prstDash val="dash"/>
          </a:ln>
        </p:spPr>
        <p:txBody>
          <a:bodyPr/>
          <a:p/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7048500" y="1473200"/>
            <a:ext cx="4064000" cy="3048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600" b="1">
                <a:solidFill/>
              </a:rPr>
              <a:t>Retrieved code context</a:t>
            </a:r>
            <a:endParaRPr lang="en-US" sz="1600" b="1">
              <a:solidFill/>
            </a:endParaRPr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7048500" y="2133600"/>
            <a:ext cx="4127500" cy="2603500"/>
          </a:xfrm>
          <a:prstGeom prst="rect">
            <a:avLst/>
          </a:prstGeom>
        </p:spPr>
        <p:txBody>
          <a:bodyPr wrap="none" lIns="0" tIns="0" rIns="0" bIns="0"/>
          <a:p>
            <a:r>
              <a:rPr lang="en-US" sz="1400">
                <a:solidFill/>
              </a:rPr>
              <a:t>rw_lock_x_lock_wait_func(...)</a:t>
            </a:r>
            <a:endParaRPr lang="en-US" sz="1400">
              <a:solidFill/>
            </a:endParaRPr>
          </a:p>
          <a:p>
            <a:r>
              <a:rPr lang="en-US" sz="1400">
                <a:solidFill/>
              </a:rPr>
              <a:t>if (srv_spin_wait_delay) {</a:t>
            </a:r>
            <a:endParaRPr lang="en-US" sz="1400">
              <a:solidFill/>
            </a:endParaRPr>
          </a:p>
          <a:p>
            <a:r>
              <a:rPr lang="en-US" sz="1400">
                <a:solidFill/>
              </a:rPr>
              <a:t>  ut_delay(random(...));</a:t>
            </a:r>
            <a:endParaRPr lang="en-US" sz="1400">
              <a:solidFill/>
            </a:endParaRPr>
          </a:p>
          <a:p>
            <a:r>
              <a:rPr lang="en-US" sz="1400">
                <a:solidFill/>
              </a:rPr>
              <a:t>}</a:t>
            </a:r>
            <a:endParaRPr lang="en-US" sz="1400">
              <a:solidFill/>
            </a:endParaRPr>
          </a:p>
          <a:p>
            <a:r>
              <a:rPr lang="en-US" sz="1400">
                <a:solidFill/>
              </a:rPr>
              <a:t>sync_array_wait_event();</a:t>
            </a:r>
            <a:endParaRPr lang="en-US" sz="1400">
              <a:solidFill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圆角矩形 102"/>
          <p:cNvSpPr/>
          <p:nvPr/>
        </p:nvSpPr>
        <p:spPr>
          <a:xfrm>
            <a:off x="457200" y="266700"/>
            <a:ext cx="73533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590550" y="304800"/>
            <a:ext cx="70866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C2 · From Hypotheses to Verifiable Rules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457200" y="1403350"/>
            <a:ext cx="7769860" cy="69024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647700" y="1631950"/>
            <a:ext cx="2473960" cy="263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Tuning Hypothesis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3435985" y="1624965"/>
            <a:ext cx="4666615" cy="22606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C1 output: direction only, no threshold or step size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09" name="圆角矩形 108"/>
          <p:cNvSpPr/>
          <p:nvPr/>
        </p:nvSpPr>
        <p:spPr>
          <a:xfrm>
            <a:off x="457200" y="2257425"/>
            <a:ext cx="7769860" cy="69024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647700" y="2453640"/>
            <a:ext cx="2473960" cy="263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① Semantic Sampling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3435985" y="2385695"/>
            <a:ext cx="4666615" cy="43942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try configurations along the hypothesized direction, collect real feedback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457200" y="3192145"/>
            <a:ext cx="7769860" cy="69024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647700" y="3371215"/>
            <a:ext cx="2473960" cy="263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② Observations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3435985" y="3198495"/>
            <a:ext cx="4666615" cy="43942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each = runtime context + adjustment action + performance change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457200" y="4129405"/>
            <a:ext cx="7769860" cy="69024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47700" y="4308475"/>
            <a:ext cx="2473960" cy="263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③ Customized ARM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3435985" y="4194810"/>
            <a:ext cx="4666615" cy="43942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generalize what successful observations share into quantified rules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457200" y="5186680"/>
            <a:ext cx="7769860" cy="690245"/>
          </a:xfrm>
          <a:prstGeom prst="roundRect">
            <a:avLst>
              <a:gd name="adj" fmla="val 14545"/>
            </a:avLst>
          </a:prstGeom>
          <a:solidFill>
            <a:srgbClr val="D4F4F2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647700" y="5365750"/>
            <a:ext cx="2473960" cy="263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Output: Tuning Rule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435985" y="5331460"/>
            <a:ext cx="4666615" cy="43942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6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conditions ⇒ adjustment (direction + magnitude), with confidence</a:t>
            </a:r>
            <a:endParaRPr lang="en-US" sz="16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圆角矩形 130"/>
          <p:cNvSpPr/>
          <p:nvPr/>
        </p:nvSpPr>
        <p:spPr>
          <a:xfrm>
            <a:off x="457200" y="266700"/>
            <a:ext cx="772477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590550" y="304800"/>
            <a:ext cx="7458075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C2 · Concrete Rule: Context -&gt; Adjustment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457200" y="2466975"/>
            <a:ext cx="11277600" cy="838200"/>
          </a:xfrm>
          <a:prstGeom prst="roundRect">
            <a:avLst>
              <a:gd name="adj" fmla="val 11364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2066925" y="2638425"/>
            <a:ext cx="8058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Runtime context (function ratios)  -&gt;  recommended knob adjustment</a:t>
            </a:r>
            <a:endParaRPr lang="en-US" sz="157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3343275" y="2962275"/>
            <a:ext cx="5505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Example input: current perf profile satisfies the left-hand condition</a:t>
            </a:r>
            <a:endParaRPr lang="en-US" sz="112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457200" y="3476625"/>
            <a:ext cx="11277600" cy="752475"/>
          </a:xfrm>
          <a:prstGeom prst="roundRect">
            <a:avLst>
              <a:gd name="adj" fmla="val 12658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2219325" y="3629025"/>
            <a:ext cx="582930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r(sync_array_wait_event) &gt; 0.3% AND r(ut_delay) &lt; 1%  -&gt;  increase innodb_spin_wait_delay by (0, 10]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3762375" y="3905250"/>
            <a:ext cx="4676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9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Output format: function-state thresholds + an executable knob range</a:t>
            </a:r>
            <a:endParaRPr lang="en-US" sz="109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39" name="圆角矩形 138"/>
          <p:cNvSpPr/>
          <p:nvPr/>
        </p:nvSpPr>
        <p:spPr>
          <a:xfrm>
            <a:off x="457200" y="4400550"/>
            <a:ext cx="55435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685800" y="4552950"/>
            <a:ext cx="508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Coverage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685800" y="4829175"/>
            <a:ext cx="5086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How often the runtime context occurs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42" name="圆角矩形 141"/>
          <p:cNvSpPr/>
          <p:nvPr/>
        </p:nvSpPr>
        <p:spPr>
          <a:xfrm>
            <a:off x="6191250" y="4400550"/>
            <a:ext cx="5543550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6419850" y="4552950"/>
            <a:ext cx="508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Confidence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6419850" y="4829175"/>
            <a:ext cx="5086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Success rate when this action is applied</a:t>
            </a:r>
            <a:endParaRPr lang="en-US" sz="12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8" name="圆角矩形 147"/>
          <p:cNvSpPr/>
          <p:nvPr/>
        </p:nvSpPr>
        <p:spPr>
          <a:xfrm>
            <a:off x="457200" y="266700"/>
            <a:ext cx="744855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590550" y="304800"/>
            <a:ext cx="71818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C2 · Example: Observation Pair -&gt; Rule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0" name="圆角矩形 149"/>
          <p:cNvSpPr/>
          <p:nvPr/>
        </p:nvSpPr>
        <p:spPr>
          <a:xfrm>
            <a:off x="457200" y="1009650"/>
            <a:ext cx="2505075" cy="4381500"/>
          </a:xfrm>
          <a:prstGeom prst="roundRect">
            <a:avLst>
              <a:gd name="adj" fmla="val 380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47700" y="1200150"/>
            <a:ext cx="212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① Pairwise Augmentation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47700" y="1504950"/>
            <a:ext cx="2124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Pair lower h_j with better h_i; keep only large gains</a:t>
            </a:r>
            <a:endParaRPr lang="en-US" sz="1125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647700" y="4762500"/>
            <a:ext cx="212407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Record = context of h_j + knob change in h_i</a:t>
            </a:r>
            <a:endParaRPr lang="en-US" sz="101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3076575" y="30861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50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3381375" y="1009650"/>
            <a:ext cx="2505075" cy="4381500"/>
          </a:xfrm>
          <a:prstGeom prst="roundRect">
            <a:avLst>
              <a:gd name="adj" fmla="val 380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3571875" y="1200150"/>
            <a:ext cx="212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② Encoding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3571875" y="1504950"/>
            <a:ext cx="2124075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Encode function ratios + normalized knob adjustment</a:t>
            </a:r>
            <a:endParaRPr lang="en-US" sz="1125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3571875" y="4762500"/>
            <a:ext cx="212407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Example: memory knobs are expressed as % of RAM</a:t>
            </a:r>
            <a:endParaRPr lang="en-US" sz="101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6000750" y="30861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50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6305550" y="1009650"/>
            <a:ext cx="2505075" cy="4381500"/>
          </a:xfrm>
          <a:prstGeom prst="roundRect">
            <a:avLst>
              <a:gd name="adj" fmla="val 380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496050" y="1200150"/>
            <a:ext cx="2124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③ LSQM Discretization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6496050" y="1504950"/>
            <a:ext cx="2124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Group values with similar performance effects</a:t>
            </a:r>
            <a:endParaRPr lang="en-US" sz="1125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496050" y="4762500"/>
            <a:ext cx="212407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Paper example: 1%, 12%, 30% may share one interval</a:t>
            </a:r>
            <a:endParaRPr lang="en-US" sz="101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924925" y="3086100"/>
            <a:ext cx="190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BA99C"/>
                </a:solidFill>
                <a:latin typeface="Arial" panose="020B0604020202090204"/>
                <a:ea typeface="Arial" panose="020B0604020202090204"/>
              </a:rPr>
              <a:t>→</a:t>
            </a:r>
            <a:endParaRPr sz="1500">
              <a:solidFill>
                <a:srgbClr val="2BA99C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9229725" y="1009650"/>
            <a:ext cx="2505075" cy="4381500"/>
          </a:xfrm>
          <a:prstGeom prst="roundRect">
            <a:avLst>
              <a:gd name="adj" fmla="val 3802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9420225" y="1200150"/>
            <a:ext cx="2124075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④ Target-Constrained FP-Growth</a:t>
            </a:r>
            <a:endParaRPr lang="en-US" sz="13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9420225" y="1714500"/>
            <a:ext cx="2124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Mine frequent context + knob-action patterns</a:t>
            </a:r>
            <a:endParaRPr lang="en-US" sz="1125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9420225" y="4762500"/>
            <a:ext cx="2124075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1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Rule output: r(f) in [l,u] -&gt; knob adjustment</a:t>
            </a:r>
            <a:endParaRPr lang="en-US" sz="101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457200" y="5581650"/>
            <a:ext cx="11277600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25400">
            <a:solidFill>
              <a:srgbClr val="C9CDD3"/>
            </a:solidFill>
            <a:prstDash val="dash"/>
          </a:ln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4810125" y="5915025"/>
            <a:ext cx="2581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Illustrative pattern from the paper</a:t>
            </a:r>
            <a:endParaRPr lang="zh-CN" sz="12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4962525" y="6143625"/>
            <a:ext cx="2276475" cy="482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A at 2.5%, 3%, 4% + decrease x by ~10%
=&gt; infer a broader context interval [2%,4%]</a:t>
            </a:r>
            <a:endParaRPr lang="en-US" sz="101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矩形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5" name="圆角矩形 174"/>
          <p:cNvSpPr/>
          <p:nvPr/>
        </p:nvSpPr>
        <p:spPr>
          <a:xfrm>
            <a:off x="457200" y="266700"/>
            <a:ext cx="56769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590550" y="304800"/>
            <a:ext cx="54102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C2 · What Real Rules Look Like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77" name="圆角矩形 176"/>
          <p:cNvSpPr/>
          <p:nvPr/>
        </p:nvSpPr>
        <p:spPr>
          <a:xfrm>
            <a:off x="457200" y="2495550"/>
            <a:ext cx="11277600" cy="809625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2305050" y="2667000"/>
            <a:ext cx="7581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Antecedent (workload + function-state predicates) ⇒ Consequent (knob adjustments)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257675" y="2962275"/>
            <a:ext cx="3686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Rule quality is measured by coverage and confidence; performance improvement validates each application</a:t>
            </a:r>
            <a:endParaRPr lang="en-US" sz="1125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457200" y="3495675"/>
            <a:ext cx="364807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47700" y="3638550"/>
            <a:ext cx="3267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1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Workload predicate</a:t>
            </a:r>
            <a:endParaRPr lang="en-US" sz="131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647700" y="389572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9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e.g., OLTP workload, thread count, or arrival-rate condition</a:t>
            </a:r>
            <a:endParaRPr lang="en-US" sz="109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3" name="圆角矩形 182"/>
          <p:cNvSpPr/>
          <p:nvPr/>
        </p:nvSpPr>
        <p:spPr>
          <a:xfrm>
            <a:off x="4276725" y="3495675"/>
            <a:ext cx="3638550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4467225" y="3638550"/>
            <a:ext cx="3257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1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Function-state predicate</a:t>
            </a:r>
            <a:endParaRPr lang="en-US" sz="131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4467225" y="3895725"/>
            <a:ext cx="32575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9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a sampled function ratio constrained to an interval — the runtime context</a:t>
            </a:r>
            <a:endParaRPr lang="en-US" sz="109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8086725" y="3495675"/>
            <a:ext cx="364807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277225" y="3638550"/>
            <a:ext cx="3267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1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Knob-adjustment item</a:t>
            </a:r>
            <a:endParaRPr lang="en-US" sz="131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277225" y="3895725"/>
            <a:ext cx="32670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9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increase / decrease a knob by a recommended range</a:t>
            </a:r>
            <a:endParaRPr lang="en-US" sz="109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457200" y="4695825"/>
            <a:ext cx="11277600" cy="447675"/>
          </a:xfrm>
          <a:prstGeom prst="roundRect">
            <a:avLst>
              <a:gd name="adj" fmla="val 17021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2971800" y="4819650"/>
            <a:ext cx="6248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Performance improvement is used to estimate confidence; it is not part of the rule consequent</a:t>
            </a:r>
            <a:endParaRPr lang="en-US" sz="127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圆角矩形 193"/>
          <p:cNvSpPr/>
          <p:nvPr/>
        </p:nvSpPr>
        <p:spPr>
          <a:xfrm>
            <a:off x="457200" y="266700"/>
            <a:ext cx="786765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590550" y="304800"/>
            <a:ext cx="76009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C3 · Online Tuning: One Iteration 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96" name="圆角矩形 195"/>
          <p:cNvSpPr/>
          <p:nvPr/>
        </p:nvSpPr>
        <p:spPr>
          <a:xfrm>
            <a:off x="457200" y="1281430"/>
            <a:ext cx="8808085" cy="69977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647700" y="1447165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① perf Sampling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4133850" y="1490980"/>
            <a:ext cx="4191000" cy="333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run the workload on the current config; collect function-level CPU shares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99" name="圆角矩形 198"/>
          <p:cNvSpPr/>
          <p:nvPr/>
        </p:nvSpPr>
        <p:spPr>
          <a:xfrm>
            <a:off x="457200" y="2296795"/>
            <a:ext cx="8808720" cy="65341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647700" y="2407285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② Diagnose Bottleneck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133850" y="2400300"/>
            <a:ext cx="4191000" cy="3333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differential profiling (with baseline) or SHAP (without) locates bottlenecks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2" name="圆角矩形 201"/>
          <p:cNvSpPr/>
          <p:nvPr/>
        </p:nvSpPr>
        <p:spPr>
          <a:xfrm>
            <a:off x="457200" y="3187700"/>
            <a:ext cx="8816340" cy="56896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647700" y="3266440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③ Reverse Lookup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4133850" y="3349625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use C1's function–knob mapping to find the knobs to tune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457200" y="4041775"/>
            <a:ext cx="8815705" cy="54800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647700" y="4127500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④ Retrieval + Prompt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133850" y="4205605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top-k rules by EI, assembled with hypotheses into the prompt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08" name="圆角矩形 207"/>
          <p:cNvSpPr/>
          <p:nvPr/>
        </p:nvSpPr>
        <p:spPr>
          <a:xfrm>
            <a:off x="457200" y="4942205"/>
            <a:ext cx="8815705" cy="50546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47700" y="5034280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⑤ Execute &amp; Evaluate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4133850" y="5074285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apply the LLM-suggested configuration and observe the change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11" name="圆角矩形 210"/>
          <p:cNvSpPr/>
          <p:nvPr/>
        </p:nvSpPr>
        <p:spPr>
          <a:xfrm>
            <a:off x="457200" y="5847715"/>
            <a:ext cx="8808720" cy="629285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47700" y="6002020"/>
            <a:ext cx="18573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0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⑥ Feedback Update</a:t>
            </a:r>
            <a:endParaRPr lang="en-US" sz="200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4133850" y="6071870"/>
            <a:ext cx="4191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0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update hit rules' confidence; periodically re-run ARM</a:t>
            </a:r>
            <a:endParaRPr lang="en-US" sz="140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lipboard_Screenshot_17859163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155" y="974725"/>
            <a:ext cx="6633845" cy="5480685"/>
          </a:xfrm>
          <a:prstGeom prst="rect">
            <a:avLst/>
          </a:prstGeom>
        </p:spPr>
      </p:pic>
      <p:sp>
        <p:nvSpPr>
          <p:cNvPr id="194" name="圆角矩形 193"/>
          <p:cNvSpPr/>
          <p:nvPr/>
        </p:nvSpPr>
        <p:spPr>
          <a:xfrm>
            <a:off x="457200" y="266700"/>
            <a:ext cx="786765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590550" y="304800"/>
            <a:ext cx="76009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C3 · Online Tuning: One Iteration </a:t>
            </a:r>
            <a:endParaRPr lang="en-US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470" y="1543685"/>
            <a:ext cx="9497060" cy="44272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圆角矩形 312"/>
          <p:cNvSpPr/>
          <p:nvPr/>
        </p:nvSpPr>
        <p:spPr>
          <a:xfrm>
            <a:off x="457200" y="266700"/>
            <a:ext cx="1025588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590550" y="304800"/>
            <a:ext cx="1041527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Case Study</a:t>
            </a: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· </a:t>
            </a: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What Mined Knowledge Looks Like</a:t>
            </a:r>
            <a:endParaRPr lang="zh-CN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5680"/>
            <a:ext cx="11269980" cy="53435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圆角矩形 326"/>
          <p:cNvSpPr/>
          <p:nvPr/>
        </p:nvSpPr>
        <p:spPr>
          <a:xfrm>
            <a:off x="457200" y="266700"/>
            <a:ext cx="362775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590550" y="304800"/>
            <a:ext cx="349504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Experimental Setup</a:t>
            </a:r>
            <a:endParaRPr lang="zh-CN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57200" y="2371725"/>
            <a:ext cx="3629025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666750" y="2562225"/>
            <a:ext cx="3209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DBMS</a:t>
            </a:r>
            <a:endParaRPr lang="en-US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666750" y="2790825"/>
            <a:ext cx="3209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MySQL 8.0.36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66750" y="3067050"/>
            <a:ext cx="3209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44 </a:t>
            </a: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44 </a:t>
            </a:r>
            <a:r>
              <a:rPr lang="en-US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knobs · </a:t>
            </a: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default configuration as the starting point</a:t>
            </a:r>
            <a:endParaRPr lang="zh-CN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4276725" y="2371725"/>
            <a:ext cx="3638550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486275" y="2562225"/>
            <a:ext cx="3219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Workloads</a:t>
            </a:r>
            <a:endParaRPr lang="zh-CN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4486275" y="2790825"/>
            <a:ext cx="3219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TPC-C · SYSBENCH · TPC-H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4486275" y="3067050"/>
            <a:ext cx="321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SF 200 · read-write · SF 1</a:t>
            </a:r>
            <a:endParaRPr lang="en-US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7" name="圆角矩形 336"/>
          <p:cNvSpPr/>
          <p:nvPr/>
        </p:nvSpPr>
        <p:spPr>
          <a:xfrm>
            <a:off x="8105775" y="2371725"/>
            <a:ext cx="3629025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8315325" y="2562225"/>
            <a:ext cx="3209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Hardware</a:t>
            </a:r>
            <a:endParaRPr lang="zh-CN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8315325" y="2790825"/>
            <a:ext cx="3209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4 cores / 16 GB </a:t>
            </a:r>
            <a:r>
              <a:rPr lang="zh-CN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and</a:t>
            </a: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16 cores / 64 GB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8315325" y="3067050"/>
            <a:ext cx="3209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two cloud-instance configurations</a:t>
            </a:r>
            <a:endParaRPr lang="zh-CN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1" name="圆角矩形 340"/>
          <p:cNvSpPr/>
          <p:nvPr/>
        </p:nvSpPr>
        <p:spPr>
          <a:xfrm>
            <a:off x="457200" y="3609975"/>
            <a:ext cx="3629025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66750" y="3800475"/>
            <a:ext cx="3209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Baselines</a:t>
            </a:r>
            <a:endParaRPr lang="zh-CN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6750" y="4029075"/>
            <a:ext cx="3209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GPTuner · DB-BERT · SMAC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666750" y="4305300"/>
            <a:ext cx="3209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DDPG++ · ResTune · OtterTune</a:t>
            </a:r>
            <a:endParaRPr lang="en-US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5" name="圆角矩形 344"/>
          <p:cNvSpPr/>
          <p:nvPr/>
        </p:nvSpPr>
        <p:spPr>
          <a:xfrm>
            <a:off x="4276725" y="3609975"/>
            <a:ext cx="3638550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4486275" y="3800475"/>
            <a:ext cx="3219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Protocol</a:t>
            </a:r>
            <a:endParaRPr lang="zh-CN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486275" y="4029075"/>
            <a:ext cx="32194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3 </a:t>
            </a:r>
            <a:r>
              <a:rPr lang="zh-CN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sessions</a:t>
            </a: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× 20 </a:t>
            </a:r>
            <a:r>
              <a:rPr lang="zh-CN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iterations</a:t>
            </a:r>
            <a:endParaRPr lang="zh-CN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4486275" y="4305300"/>
            <a:ext cx="3219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target-workload historical data excluded</a:t>
            </a:r>
            <a:endParaRPr lang="zh-CN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8105775" y="3609975"/>
            <a:ext cx="3629025" cy="1047750"/>
          </a:xfrm>
          <a:prstGeom prst="roundRect">
            <a:avLst>
              <a:gd name="adj" fmla="val 9091"/>
            </a:avLst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8315325" y="3800475"/>
            <a:ext cx="3209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AA1A9"/>
                </a:solidFill>
                <a:latin typeface="Arial" panose="020B0604020202090204"/>
                <a:ea typeface="Arial" panose="020B0604020202090204"/>
              </a:rPr>
              <a:t>Backend LLM</a:t>
            </a:r>
            <a:endParaRPr lang="en-US" sz="1125">
              <a:solidFill>
                <a:srgbClr val="9AA1A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8315325" y="4029075"/>
            <a:ext cx="32099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GPT-4o-mini</a:t>
            </a:r>
            <a:endParaRPr lang="en-US" sz="1425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315325" y="4305300"/>
            <a:ext cx="3209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used for SysInsight</a:t>
            </a:r>
            <a:r>
              <a:rPr lang="en-US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 + </a:t>
            </a:r>
            <a:r>
              <a:rPr lang="zh-CN" sz="1050">
                <a:solidFill>
                  <a:srgbClr val="595959"/>
                </a:solidFill>
                <a:latin typeface="Arial" panose="020B0604020202090204"/>
                <a:ea typeface="Arial" panose="020B0604020202090204"/>
              </a:rPr>
              <a:t>and GPTuner</a:t>
            </a:r>
            <a:endParaRPr lang="zh-CN" sz="1050">
              <a:solidFill>
                <a:srgbClr val="595959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圆角矩形 357"/>
          <p:cNvSpPr/>
          <p:nvPr/>
        </p:nvSpPr>
        <p:spPr>
          <a:xfrm>
            <a:off x="457200" y="266700"/>
            <a:ext cx="934593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590550" y="304800"/>
            <a:ext cx="43053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Results</a:t>
            </a: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· </a:t>
            </a: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Faster Convergence, Better Configurations</a:t>
            </a:r>
            <a:endParaRPr lang="zh-CN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1990"/>
            <a:ext cx="10701020" cy="295338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圆角矩形 369"/>
          <p:cNvSpPr/>
          <p:nvPr/>
        </p:nvSpPr>
        <p:spPr>
          <a:xfrm>
            <a:off x="457200" y="266700"/>
            <a:ext cx="7061200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590550" y="304800"/>
            <a:ext cx="32194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Results</a:t>
            </a: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· </a:t>
            </a: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Fewer Harmful Configurations</a:t>
            </a:r>
            <a:endParaRPr lang="zh-CN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0" y="1555750"/>
            <a:ext cx="6604000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圆角矩形 381"/>
          <p:cNvSpPr/>
          <p:nvPr/>
        </p:nvSpPr>
        <p:spPr>
          <a:xfrm>
            <a:off x="457200" y="266700"/>
            <a:ext cx="5899785" cy="514350"/>
          </a:xfrm>
          <a:prstGeom prst="roundRect">
            <a:avLst>
              <a:gd name="adj" fmla="val 7407"/>
            </a:avLst>
          </a:prstGeom>
          <a:solidFill>
            <a:srgbClr val="D4F4F2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90550" y="304800"/>
            <a:ext cx="321945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Results</a:t>
            </a:r>
            <a:r>
              <a:rPr lang="en-US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 · </a:t>
            </a:r>
            <a:r>
              <a:rPr lang="zh-CN" sz="2850" b="1">
                <a:solidFill>
                  <a:srgbClr val="1F2329"/>
                </a:solidFill>
                <a:latin typeface="Arial" panose="020B0604020202090204"/>
                <a:ea typeface="Arial" panose="020B0604020202090204"/>
              </a:rPr>
              <a:t>Scalability and Ablation</a:t>
            </a:r>
            <a:endParaRPr lang="zh-CN" sz="2850" b="1">
              <a:solidFill>
                <a:srgbClr val="1F2329"/>
              </a:solidFill>
              <a:latin typeface="Arial" panose="020B0604020202090204"/>
              <a:ea typeface="Arial" panose="020B060402020209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215" y="925830"/>
            <a:ext cx="7481570" cy="27660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565" y="3855720"/>
            <a:ext cx="5638800" cy="28409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7944</Words>
  <Application>WPS 演示</Application>
  <PresentationFormat/>
  <Paragraphs>424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宋体-简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nunuui</cp:lastModifiedBy>
  <cp:revision>26</cp:revision>
  <dcterms:created xsi:type="dcterms:W3CDTF">2026-08-05T07:53:05Z</dcterms:created>
  <dcterms:modified xsi:type="dcterms:W3CDTF">2026-08-05T07:53:05Z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9878944D28B89FFAD4D0726A6BD5A788_42</vt:lpwstr>
  </property>
  <property fmtid="{D5CDD505-2E9C-101B-9397-08002B2CF9AE}" pid="3" name="KSOProductBuildVer">
    <vt:lpwstr>2052-7.2.2.8955</vt:lpwstr>
  </property>
</Properties>
</file>